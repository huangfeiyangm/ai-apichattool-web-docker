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783" autoAdjust="0"/>
  </p:normalViewPr>
  <p:slideViewPr>
    <p:cSldViewPr snapToGrid="0" snapToObjects="1">
      <p:cViewPr varScale="1">
        <p:scale>
          <a:sx n="70" d="100"/>
          <a:sy n="70" d="100"/>
        </p:scale>
        <p:origin x="4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92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7" Type="http://schemas.openxmlformats.org/officeDocument/2006/relationships/hyperlink" Target="https://dev.mysql.com/doc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nt.design/" TargetMode="External"/><Relationship Id="rId5" Type="http://schemas.openxmlformats.org/officeDocument/2006/relationships/hyperlink" Target="https://fastapi.tiangolo.com/" TargetMode="External"/><Relationship Id="rId4" Type="http://schemas.openxmlformats.org/officeDocument/2006/relationships/hyperlink" Target="https://www.typescriptlang.org/do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40.jpg"/>
          <p:cNvPicPr>
            <a:picLocks noChangeAspect="1"/>
          </p:cNvPicPr>
          <p:nvPr/>
        </p:nvPicPr>
        <p:blipFill>
          <a:blip r:embed="rId4"/>
          <a:srcRect t="83" b="8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" y="1707515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7240270" y="6099810"/>
            <a:ext cx="3091815" cy="221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汇报日期：2025/01/07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7"/>
          <p:cNvSpPr/>
          <p:nvPr/>
        </p:nvSpPr>
        <p:spPr>
          <a:xfrm>
            <a:off x="617220" y="2134235"/>
            <a:ext cx="7715885" cy="152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多端大模型统一平台</a:t>
            </a:r>
            <a:b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</a:br>
            <a:r>
              <a:rPr lang="zh-CN" alt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项目总结</a:t>
            </a:r>
            <a:endParaRPr lang="en-US" sz="1600" dirty="0"/>
          </a:p>
        </p:txBody>
      </p:sp>
      <p:pic>
        <p:nvPicPr>
          <p:cNvPr id="12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B864DA0-D152-5F88-B27A-C4F3FDBDCFA6}"/>
              </a:ext>
            </a:extLst>
          </p:cNvPr>
          <p:cNvSpPr txBox="1"/>
          <p:nvPr/>
        </p:nvSpPr>
        <p:spPr>
          <a:xfrm>
            <a:off x="610277" y="3972492"/>
            <a:ext cx="1694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组别</a:t>
            </a:r>
            <a:r>
              <a:rPr lang="en-US" altLang="zh-CN" sz="2400" dirty="0"/>
              <a:t>:G10</a:t>
            </a:r>
            <a:r>
              <a:rPr lang="zh-CN" altLang="en-US" sz="2400" dirty="0"/>
              <a:t>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 err="1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81000" y="1066735"/>
            <a:ext cx="1066800" cy="57150"/>
          </a:xfrm>
          <a:custGeom>
            <a:avLst/>
            <a:gdLst/>
            <a:ahLst/>
            <a:cxnLst/>
            <a:rect l="l" t="t" r="r" b="b"/>
            <a:pathLst>
              <a:path w="1066800" h="57150">
                <a:moveTo>
                  <a:pt x="0" y="0"/>
                </a:moveTo>
                <a:lnTo>
                  <a:pt x="1066800" y="0"/>
                </a:lnTo>
                <a:lnTo>
                  <a:pt x="1066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" name="Shape 2"/>
          <p:cNvSpPr/>
          <p:nvPr/>
        </p:nvSpPr>
        <p:spPr>
          <a:xfrm>
            <a:off x="399020" y="1428589"/>
            <a:ext cx="5542520" cy="1066800"/>
          </a:xfrm>
          <a:custGeom>
            <a:avLst/>
            <a:gdLst/>
            <a:ahLst/>
            <a:cxnLst/>
            <a:rect l="l" t="t" r="r" b="b"/>
            <a:pathLst>
              <a:path w="5542520" h="1066800">
                <a:moveTo>
                  <a:pt x="36041" y="0"/>
                </a:moveTo>
                <a:lnTo>
                  <a:pt x="5428223" y="0"/>
                </a:lnTo>
                <a:cubicBezTo>
                  <a:pt x="5491348" y="0"/>
                  <a:pt x="5542520" y="51172"/>
                  <a:pt x="5542520" y="114297"/>
                </a:cubicBezTo>
                <a:lnTo>
                  <a:pt x="5542520" y="952503"/>
                </a:lnTo>
                <a:cubicBezTo>
                  <a:pt x="5542520" y="1015628"/>
                  <a:pt x="5491348" y="1066800"/>
                  <a:pt x="5428223" y="1066800"/>
                </a:cubicBez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99020" y="1428589"/>
            <a:ext cx="36041" cy="1066800"/>
          </a:xfrm>
          <a:custGeom>
            <a:avLst/>
            <a:gdLst/>
            <a:ahLst/>
            <a:cxnLst/>
            <a:rect l="l" t="t" r="r" b="b"/>
            <a:pathLst>
              <a:path w="36041" h="1066800">
                <a:moveTo>
                  <a:pt x="36041" y="0"/>
                </a:moveTo>
                <a:lnTo>
                  <a:pt x="36041" y="0"/>
                </a:lnTo>
                <a:lnTo>
                  <a:pt x="36041" y="1066800"/>
                </a:ln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7" name="Shape 4"/>
          <p:cNvSpPr/>
          <p:nvPr/>
        </p:nvSpPr>
        <p:spPr>
          <a:xfrm>
            <a:off x="607540" y="16190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8" name="Text 5"/>
          <p:cNvSpPr/>
          <p:nvPr/>
        </p:nvSpPr>
        <p:spPr>
          <a:xfrm>
            <a:off x="743658" y="1752391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07592" y="1657141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07592" y="2038141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背景与目标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66388" y="1428589"/>
            <a:ext cx="5542520" cy="1066800"/>
          </a:xfrm>
          <a:custGeom>
            <a:avLst/>
            <a:gdLst/>
            <a:ahLst/>
            <a:cxnLst/>
            <a:rect l="l" t="t" r="r" b="b"/>
            <a:pathLst>
              <a:path w="5542520" h="1066800">
                <a:moveTo>
                  <a:pt x="36041" y="0"/>
                </a:moveTo>
                <a:lnTo>
                  <a:pt x="5428223" y="0"/>
                </a:lnTo>
                <a:cubicBezTo>
                  <a:pt x="5491348" y="0"/>
                  <a:pt x="5542520" y="51172"/>
                  <a:pt x="5542520" y="114297"/>
                </a:cubicBezTo>
                <a:lnTo>
                  <a:pt x="5542520" y="952503"/>
                </a:lnTo>
                <a:cubicBezTo>
                  <a:pt x="5542520" y="1015628"/>
                  <a:pt x="5491348" y="1066800"/>
                  <a:pt x="5428223" y="1066800"/>
                </a:cubicBez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6388" y="1428589"/>
            <a:ext cx="36041" cy="1066800"/>
          </a:xfrm>
          <a:custGeom>
            <a:avLst/>
            <a:gdLst/>
            <a:ahLst/>
            <a:cxnLst/>
            <a:rect l="l" t="t" r="r" b="b"/>
            <a:pathLst>
              <a:path w="36041" h="1066800">
                <a:moveTo>
                  <a:pt x="36041" y="0"/>
                </a:moveTo>
                <a:lnTo>
                  <a:pt x="36041" y="0"/>
                </a:lnTo>
                <a:lnTo>
                  <a:pt x="36041" y="1066800"/>
                </a:ln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74908" y="16190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4" name="Text 11"/>
          <p:cNvSpPr/>
          <p:nvPr/>
        </p:nvSpPr>
        <p:spPr>
          <a:xfrm>
            <a:off x="6611026" y="1752391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74960" y="1657141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技术复盘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74960" y="2038141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架构与亮点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99020" y="2685744"/>
            <a:ext cx="5542520" cy="1066800"/>
          </a:xfrm>
          <a:custGeom>
            <a:avLst/>
            <a:gdLst/>
            <a:ahLst/>
            <a:cxnLst/>
            <a:rect l="l" t="t" r="r" b="b"/>
            <a:pathLst>
              <a:path w="5542520" h="1066800">
                <a:moveTo>
                  <a:pt x="36041" y="0"/>
                </a:moveTo>
                <a:lnTo>
                  <a:pt x="5428223" y="0"/>
                </a:lnTo>
                <a:cubicBezTo>
                  <a:pt x="5491348" y="0"/>
                  <a:pt x="5542520" y="51172"/>
                  <a:pt x="5542520" y="114297"/>
                </a:cubicBezTo>
                <a:lnTo>
                  <a:pt x="5542520" y="952503"/>
                </a:lnTo>
                <a:cubicBezTo>
                  <a:pt x="5542520" y="1015628"/>
                  <a:pt x="5491348" y="1066800"/>
                  <a:pt x="5428223" y="1066800"/>
                </a:cubicBez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99020" y="2685744"/>
            <a:ext cx="36041" cy="1066800"/>
          </a:xfrm>
          <a:custGeom>
            <a:avLst/>
            <a:gdLst/>
            <a:ahLst/>
            <a:cxnLst/>
            <a:rect l="l" t="t" r="r" b="b"/>
            <a:pathLst>
              <a:path w="36041" h="1066800">
                <a:moveTo>
                  <a:pt x="36041" y="0"/>
                </a:moveTo>
                <a:lnTo>
                  <a:pt x="36041" y="0"/>
                </a:lnTo>
                <a:lnTo>
                  <a:pt x="36041" y="1066800"/>
                </a:ln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9" name="Shape 16"/>
          <p:cNvSpPr/>
          <p:nvPr/>
        </p:nvSpPr>
        <p:spPr>
          <a:xfrm>
            <a:off x="607540" y="287624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0" name="Text 17"/>
          <p:cNvSpPr/>
          <p:nvPr/>
        </p:nvSpPr>
        <p:spPr>
          <a:xfrm>
            <a:off x="743658" y="3009546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07592" y="2914296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工程实践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07592" y="3295296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软件开发全流程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66388" y="2685744"/>
            <a:ext cx="5542520" cy="1066800"/>
          </a:xfrm>
          <a:custGeom>
            <a:avLst/>
            <a:gdLst/>
            <a:ahLst/>
            <a:cxnLst/>
            <a:rect l="l" t="t" r="r" b="b"/>
            <a:pathLst>
              <a:path w="5542520" h="1066800">
                <a:moveTo>
                  <a:pt x="36041" y="0"/>
                </a:moveTo>
                <a:lnTo>
                  <a:pt x="5428223" y="0"/>
                </a:lnTo>
                <a:cubicBezTo>
                  <a:pt x="5491348" y="0"/>
                  <a:pt x="5542520" y="51172"/>
                  <a:pt x="5542520" y="114297"/>
                </a:cubicBezTo>
                <a:lnTo>
                  <a:pt x="5542520" y="952503"/>
                </a:lnTo>
                <a:cubicBezTo>
                  <a:pt x="5542520" y="1015628"/>
                  <a:pt x="5491348" y="1066800"/>
                  <a:pt x="5428223" y="1066800"/>
                </a:cubicBez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66388" y="2685744"/>
            <a:ext cx="36041" cy="1066800"/>
          </a:xfrm>
          <a:custGeom>
            <a:avLst/>
            <a:gdLst/>
            <a:ahLst/>
            <a:cxnLst/>
            <a:rect l="l" t="t" r="r" b="b"/>
            <a:pathLst>
              <a:path w="36041" h="1066800">
                <a:moveTo>
                  <a:pt x="36041" y="0"/>
                </a:moveTo>
                <a:lnTo>
                  <a:pt x="36041" y="0"/>
                </a:lnTo>
                <a:lnTo>
                  <a:pt x="36041" y="1066800"/>
                </a:ln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5" name="Shape 22"/>
          <p:cNvSpPr/>
          <p:nvPr/>
        </p:nvSpPr>
        <p:spPr>
          <a:xfrm>
            <a:off x="6474908" y="287624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6" name="Text 23"/>
          <p:cNvSpPr/>
          <p:nvPr/>
        </p:nvSpPr>
        <p:spPr>
          <a:xfrm>
            <a:off x="6611026" y="3009546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274960" y="2914296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团队与项目管理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274960" y="3295296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协作模式与质量保证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99020" y="3942899"/>
            <a:ext cx="5542520" cy="1066800"/>
          </a:xfrm>
          <a:custGeom>
            <a:avLst/>
            <a:gdLst/>
            <a:ahLst/>
            <a:cxnLst/>
            <a:rect l="l" t="t" r="r" b="b"/>
            <a:pathLst>
              <a:path w="5542520" h="1066800">
                <a:moveTo>
                  <a:pt x="36041" y="0"/>
                </a:moveTo>
                <a:lnTo>
                  <a:pt x="5428223" y="0"/>
                </a:lnTo>
                <a:cubicBezTo>
                  <a:pt x="5491348" y="0"/>
                  <a:pt x="5542520" y="51172"/>
                  <a:pt x="5542520" y="114297"/>
                </a:cubicBezTo>
                <a:lnTo>
                  <a:pt x="5542520" y="952503"/>
                </a:lnTo>
                <a:cubicBezTo>
                  <a:pt x="5542520" y="1015628"/>
                  <a:pt x="5491348" y="1066800"/>
                  <a:pt x="5428223" y="1066800"/>
                </a:cubicBez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99020" y="3942899"/>
            <a:ext cx="36041" cy="1066800"/>
          </a:xfrm>
          <a:custGeom>
            <a:avLst/>
            <a:gdLst/>
            <a:ahLst/>
            <a:cxnLst/>
            <a:rect l="l" t="t" r="r" b="b"/>
            <a:pathLst>
              <a:path w="36041" h="1066800">
                <a:moveTo>
                  <a:pt x="36041" y="0"/>
                </a:moveTo>
                <a:lnTo>
                  <a:pt x="36041" y="0"/>
                </a:lnTo>
                <a:lnTo>
                  <a:pt x="36041" y="1066800"/>
                </a:ln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1" name="Shape 28"/>
          <p:cNvSpPr/>
          <p:nvPr/>
        </p:nvSpPr>
        <p:spPr>
          <a:xfrm>
            <a:off x="607540" y="413339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2" name="Text 29"/>
          <p:cNvSpPr/>
          <p:nvPr/>
        </p:nvSpPr>
        <p:spPr>
          <a:xfrm>
            <a:off x="743658" y="4266701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407592" y="4171451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主要交付物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407592" y="4552451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系统与文档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266388" y="3942899"/>
            <a:ext cx="5542520" cy="1066800"/>
          </a:xfrm>
          <a:custGeom>
            <a:avLst/>
            <a:gdLst/>
            <a:ahLst/>
            <a:cxnLst/>
            <a:rect l="l" t="t" r="r" b="b"/>
            <a:pathLst>
              <a:path w="5542520" h="1066800">
                <a:moveTo>
                  <a:pt x="36041" y="0"/>
                </a:moveTo>
                <a:lnTo>
                  <a:pt x="5428223" y="0"/>
                </a:lnTo>
                <a:cubicBezTo>
                  <a:pt x="5491348" y="0"/>
                  <a:pt x="5542520" y="51172"/>
                  <a:pt x="5542520" y="114297"/>
                </a:cubicBezTo>
                <a:lnTo>
                  <a:pt x="5542520" y="952503"/>
                </a:lnTo>
                <a:cubicBezTo>
                  <a:pt x="5542520" y="1015628"/>
                  <a:pt x="5491348" y="1066800"/>
                  <a:pt x="5428223" y="1066800"/>
                </a:cubicBez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66388" y="3942899"/>
            <a:ext cx="36041" cy="1066800"/>
          </a:xfrm>
          <a:custGeom>
            <a:avLst/>
            <a:gdLst/>
            <a:ahLst/>
            <a:cxnLst/>
            <a:rect l="l" t="t" r="r" b="b"/>
            <a:pathLst>
              <a:path w="36041" h="1066800">
                <a:moveTo>
                  <a:pt x="36041" y="0"/>
                </a:moveTo>
                <a:lnTo>
                  <a:pt x="36041" y="0"/>
                </a:lnTo>
                <a:lnTo>
                  <a:pt x="36041" y="1066800"/>
                </a:lnTo>
                <a:lnTo>
                  <a:pt x="36041" y="1066800"/>
                </a:lnTo>
                <a:cubicBezTo>
                  <a:pt x="16136" y="1066800"/>
                  <a:pt x="0" y="1050664"/>
                  <a:pt x="0" y="10307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7" name="Shape 34"/>
          <p:cNvSpPr/>
          <p:nvPr/>
        </p:nvSpPr>
        <p:spPr>
          <a:xfrm>
            <a:off x="6474908" y="413339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8" name="Text 35"/>
          <p:cNvSpPr/>
          <p:nvPr/>
        </p:nvSpPr>
        <p:spPr>
          <a:xfrm>
            <a:off x="6611026" y="4266701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274960" y="4171451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收获、反思与展望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274960" y="4552451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成长与规划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1000" y="457264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152400" y="0"/>
                </a:moveTo>
                <a:lnTo>
                  <a:pt x="304800" y="0"/>
                </a:lnTo>
                <a:cubicBezTo>
                  <a:pt x="388912" y="0"/>
                  <a:pt x="457200" y="68288"/>
                  <a:pt x="457200" y="152400"/>
                </a:cubicBezTo>
                <a:lnTo>
                  <a:pt x="457200" y="152400"/>
                </a:lnTo>
                <a:cubicBezTo>
                  <a:pt x="457200" y="236512"/>
                  <a:pt x="388912" y="304800"/>
                  <a:pt x="304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457264"/>
            <a:ext cx="533400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55476" y="381000"/>
            <a:ext cx="5191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项目概述:解决什么痛点?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3000" y="914367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7" name="Shape 4"/>
          <p:cNvSpPr/>
          <p:nvPr/>
        </p:nvSpPr>
        <p:spPr>
          <a:xfrm>
            <a:off x="381000" y="1198991"/>
            <a:ext cx="5600700" cy="1694420"/>
          </a:xfrm>
          <a:custGeom>
            <a:avLst/>
            <a:gdLst/>
            <a:ahLst/>
            <a:cxnLst/>
            <a:rect l="l" t="t" r="r" b="b"/>
            <a:pathLst>
              <a:path w="5600700" h="1694420">
                <a:moveTo>
                  <a:pt x="36041" y="0"/>
                </a:moveTo>
                <a:lnTo>
                  <a:pt x="5564659" y="0"/>
                </a:lnTo>
                <a:cubicBezTo>
                  <a:pt x="5584564" y="0"/>
                  <a:pt x="5600700" y="16136"/>
                  <a:pt x="5600700" y="36041"/>
                </a:cubicBezTo>
                <a:lnTo>
                  <a:pt x="5600700" y="1580115"/>
                </a:lnTo>
                <a:cubicBezTo>
                  <a:pt x="5600700" y="1643244"/>
                  <a:pt x="5549524" y="1694420"/>
                  <a:pt x="5486394" y="1694420"/>
                </a:cubicBezTo>
                <a:lnTo>
                  <a:pt x="114306" y="1694420"/>
                </a:lnTo>
                <a:cubicBezTo>
                  <a:pt x="51176" y="1694420"/>
                  <a:pt x="0" y="1643244"/>
                  <a:pt x="0" y="1580115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81000" y="1198991"/>
            <a:ext cx="5600700" cy="36041"/>
          </a:xfrm>
          <a:custGeom>
            <a:avLst/>
            <a:gdLst/>
            <a:ahLst/>
            <a:cxnLst/>
            <a:rect l="l" t="t" r="r" b="b"/>
            <a:pathLst>
              <a:path w="5600700" h="36041">
                <a:moveTo>
                  <a:pt x="36041" y="0"/>
                </a:moveTo>
                <a:lnTo>
                  <a:pt x="5564659" y="0"/>
                </a:lnTo>
                <a:cubicBezTo>
                  <a:pt x="5584564" y="0"/>
                  <a:pt x="5600700" y="16136"/>
                  <a:pt x="5600700" y="36041"/>
                </a:cubicBezTo>
                <a:lnTo>
                  <a:pt x="5600700" y="36041"/>
                </a:lnTo>
                <a:lnTo>
                  <a:pt x="0" y="36041"/>
                </a:ln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9" name="Shape 6"/>
          <p:cNvSpPr/>
          <p:nvPr/>
        </p:nvSpPr>
        <p:spPr>
          <a:xfrm>
            <a:off x="609600" y="141700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10" name="Text 7"/>
          <p:cNvSpPr/>
          <p:nvPr/>
        </p:nvSpPr>
        <p:spPr>
          <a:xfrm>
            <a:off x="1042923" y="1407512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问题背景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1500" y="1864695"/>
            <a:ext cx="53054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当前AI大模型服务呈现出</a:t>
            </a:r>
            <a:r>
              <a:rPr lang="en-US" sz="1350" b="1" dirty="0">
                <a:solidFill>
                  <a:srgbClr val="DC354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多样化和分散化</a:t>
            </a:r>
            <a:r>
              <a:rPr lang="en-US" sz="135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的特征。GPT、DeepSeek、文心一言等各类模型各自拥有独立的平台和接口，导致用户需要在不同平台间频繁切换和重复登录，</a:t>
            </a:r>
            <a:r>
              <a:rPr lang="en-US" sz="1350" dirty="0">
                <a:solidFill>
                  <a:srgbClr val="DC3545"/>
                </a:solidFill>
                <a:highlight>
                  <a:srgbClr val="DC3545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350" dirty="0">
                <a:solidFill>
                  <a:srgbClr val="DC3545"/>
                </a:solidFill>
                <a:highlight>
                  <a:srgbClr val="DC3545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操作不方便</a:t>
            </a:r>
            <a:r>
              <a:rPr lang="en-US" sz="1350" dirty="0">
                <a:solidFill>
                  <a:srgbClr val="DC3545"/>
                </a:solidFill>
                <a:highlight>
                  <a:srgbClr val="DC3545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35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3099245"/>
            <a:ext cx="5600700" cy="1694420"/>
          </a:xfrm>
          <a:custGeom>
            <a:avLst/>
            <a:gdLst/>
            <a:ahLst/>
            <a:cxnLst/>
            <a:rect l="l" t="t" r="r" b="b"/>
            <a:pathLst>
              <a:path w="5600700" h="1694420">
                <a:moveTo>
                  <a:pt x="36041" y="0"/>
                </a:moveTo>
                <a:lnTo>
                  <a:pt x="5564659" y="0"/>
                </a:lnTo>
                <a:cubicBezTo>
                  <a:pt x="5584564" y="0"/>
                  <a:pt x="5600700" y="16136"/>
                  <a:pt x="5600700" y="36041"/>
                </a:cubicBezTo>
                <a:lnTo>
                  <a:pt x="5600700" y="1580115"/>
                </a:lnTo>
                <a:cubicBezTo>
                  <a:pt x="5600700" y="1643244"/>
                  <a:pt x="5549524" y="1694420"/>
                  <a:pt x="5486394" y="1694420"/>
                </a:cubicBezTo>
                <a:lnTo>
                  <a:pt x="114306" y="1694420"/>
                </a:lnTo>
                <a:cubicBezTo>
                  <a:pt x="51176" y="1694420"/>
                  <a:pt x="0" y="1643244"/>
                  <a:pt x="0" y="1580115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81000" y="3099245"/>
            <a:ext cx="5600700" cy="36041"/>
          </a:xfrm>
          <a:custGeom>
            <a:avLst/>
            <a:gdLst/>
            <a:ahLst/>
            <a:cxnLst/>
            <a:rect l="l" t="t" r="r" b="b"/>
            <a:pathLst>
              <a:path w="5600700" h="36041">
                <a:moveTo>
                  <a:pt x="36041" y="0"/>
                </a:moveTo>
                <a:lnTo>
                  <a:pt x="5564659" y="0"/>
                </a:lnTo>
                <a:cubicBezTo>
                  <a:pt x="5584564" y="0"/>
                  <a:pt x="5600700" y="16136"/>
                  <a:pt x="5600700" y="36041"/>
                </a:cubicBezTo>
                <a:lnTo>
                  <a:pt x="5600700" y="36041"/>
                </a:lnTo>
                <a:lnTo>
                  <a:pt x="0" y="36041"/>
                </a:ln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4" name="Shape 11"/>
          <p:cNvSpPr/>
          <p:nvPr/>
        </p:nvSpPr>
        <p:spPr>
          <a:xfrm>
            <a:off x="573881" y="331725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5" name="Text 12"/>
          <p:cNvSpPr/>
          <p:nvPr/>
        </p:nvSpPr>
        <p:spPr>
          <a:xfrm>
            <a:off x="1042923" y="3307766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用户定位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1500" y="3764949"/>
            <a:ext cx="53054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主要服务</a:t>
            </a:r>
            <a:r>
              <a:rPr lang="en-US" sz="1350" dirty="0">
                <a:solidFill>
                  <a:srgbClr val="343A40"/>
                </a:solidFill>
                <a:highlight>
                  <a:srgbClr val="FFC10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在校大学生 </a:t>
            </a:r>
            <a:r>
              <a:rPr lang="en-US" sz="135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群体。作为AI工具的活跃使用者，学生群体需要便捷、高效地接触和使用多个大模型服务，以完成学术研究、课程项目和个人探索等多种任务。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0235" y="1180971"/>
            <a:ext cx="5600700" cy="2000250"/>
          </a:xfrm>
          <a:custGeom>
            <a:avLst/>
            <a:gdLst/>
            <a:ahLst/>
            <a:cxnLst/>
            <a:rect l="l" t="t" r="r" b="b"/>
            <a:pathLst>
              <a:path w="5600700" h="2000250">
                <a:moveTo>
                  <a:pt x="114294" y="0"/>
                </a:moveTo>
                <a:lnTo>
                  <a:pt x="5486406" y="0"/>
                </a:lnTo>
                <a:cubicBezTo>
                  <a:pt x="5549486" y="0"/>
                  <a:pt x="5600700" y="51214"/>
                  <a:pt x="5600700" y="114294"/>
                </a:cubicBezTo>
                <a:lnTo>
                  <a:pt x="5600700" y="1885956"/>
                </a:lnTo>
                <a:cubicBezTo>
                  <a:pt x="5600700" y="1949036"/>
                  <a:pt x="5549486" y="2000250"/>
                  <a:pt x="5486406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0056B3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8835" y="138096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9" name="Text 16"/>
          <p:cNvSpPr/>
          <p:nvPr/>
        </p:nvSpPr>
        <p:spPr>
          <a:xfrm>
            <a:off x="6872158" y="1371471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项目目标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735" y="1828655"/>
            <a:ext cx="5305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构建一个</a:t>
            </a:r>
            <a:r>
              <a:rPr lang="en-US" sz="1350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统一、易用、高效</a:t>
            </a:r>
            <a:r>
              <a:rPr lang="en-US" sz="13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的多模型对话平台，整合多个主流大模型服务，为用户提供无缝的交互体验。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735" y="2538043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380998"/>
                </a:lnTo>
                <a:cubicBezTo>
                  <a:pt x="5219700" y="423083"/>
                  <a:pt x="5185583" y="457200"/>
                  <a:pt x="514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514971" y="2652278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通过单一入口访问多个AI模型，降低使用门槛，提升学习效率。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10235" y="3376065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114292" y="0"/>
                </a:moveTo>
                <a:lnTo>
                  <a:pt x="5486408" y="0"/>
                </a:lnTo>
                <a:cubicBezTo>
                  <a:pt x="5549530" y="0"/>
                  <a:pt x="5600700" y="51170"/>
                  <a:pt x="5600700" y="114292"/>
                </a:cubicBezTo>
                <a:lnTo>
                  <a:pt x="5600700" y="1752608"/>
                </a:lnTo>
                <a:cubicBezTo>
                  <a:pt x="5600700" y="1815730"/>
                  <a:pt x="5549530" y="1866900"/>
                  <a:pt x="5486408" y="1866900"/>
                </a:cubicBezTo>
                <a:lnTo>
                  <a:pt x="114292" y="1866900"/>
                </a:lnTo>
                <a:cubicBezTo>
                  <a:pt x="51170" y="1866900"/>
                  <a:pt x="0" y="1815730"/>
                  <a:pt x="0" y="175260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343A4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38835" y="357605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5131" y="18864"/>
                </a:moveTo>
                <a:cubicBezTo>
                  <a:pt x="67642" y="15460"/>
                  <a:pt x="71661" y="13395"/>
                  <a:pt x="75902" y="13395"/>
                </a:cubicBezTo>
                <a:lnTo>
                  <a:pt x="209848" y="13395"/>
                </a:lnTo>
                <a:cubicBezTo>
                  <a:pt x="214089" y="13395"/>
                  <a:pt x="218108" y="15404"/>
                  <a:pt x="220619" y="18864"/>
                </a:cubicBezTo>
                <a:lnTo>
                  <a:pt x="283127" y="103696"/>
                </a:lnTo>
                <a:cubicBezTo>
                  <a:pt x="286922" y="108831"/>
                  <a:pt x="286531" y="115919"/>
                  <a:pt x="282290" y="120662"/>
                </a:cubicBezTo>
                <a:lnTo>
                  <a:pt x="152809" y="263537"/>
                </a:lnTo>
                <a:cubicBezTo>
                  <a:pt x="150298" y="266328"/>
                  <a:pt x="146670" y="267946"/>
                  <a:pt x="142875" y="267946"/>
                </a:cubicBezTo>
                <a:cubicBezTo>
                  <a:pt x="139080" y="267946"/>
                  <a:pt x="135508" y="266328"/>
                  <a:pt x="132941" y="263537"/>
                </a:cubicBezTo>
                <a:lnTo>
                  <a:pt x="3460" y="120662"/>
                </a:lnTo>
                <a:cubicBezTo>
                  <a:pt x="-837" y="115919"/>
                  <a:pt x="-1172" y="108831"/>
                  <a:pt x="2623" y="103696"/>
                </a:cubicBezTo>
                <a:lnTo>
                  <a:pt x="65131" y="18864"/>
                </a:lnTo>
                <a:close/>
                <a:moveTo>
                  <a:pt x="86618" y="41077"/>
                </a:moveTo>
                <a:cubicBezTo>
                  <a:pt x="84776" y="42472"/>
                  <a:pt x="84274" y="44983"/>
                  <a:pt x="85446" y="46937"/>
                </a:cubicBezTo>
                <a:lnTo>
                  <a:pt x="117481" y="100347"/>
                </a:lnTo>
                <a:lnTo>
                  <a:pt x="35328" y="107156"/>
                </a:lnTo>
                <a:cubicBezTo>
                  <a:pt x="33040" y="107324"/>
                  <a:pt x="31254" y="109277"/>
                  <a:pt x="31254" y="111621"/>
                </a:cubicBezTo>
                <a:cubicBezTo>
                  <a:pt x="31254" y="113965"/>
                  <a:pt x="33040" y="115863"/>
                  <a:pt x="35328" y="116086"/>
                </a:cubicBezTo>
                <a:lnTo>
                  <a:pt x="142484" y="125016"/>
                </a:lnTo>
                <a:cubicBezTo>
                  <a:pt x="142708" y="125016"/>
                  <a:pt x="142987" y="125016"/>
                  <a:pt x="143210" y="125016"/>
                </a:cubicBezTo>
                <a:lnTo>
                  <a:pt x="250366" y="116086"/>
                </a:lnTo>
                <a:cubicBezTo>
                  <a:pt x="252654" y="115919"/>
                  <a:pt x="254440" y="113965"/>
                  <a:pt x="254440" y="111621"/>
                </a:cubicBezTo>
                <a:cubicBezTo>
                  <a:pt x="254440" y="109277"/>
                  <a:pt x="252654" y="107379"/>
                  <a:pt x="250366" y="107156"/>
                </a:cubicBezTo>
                <a:lnTo>
                  <a:pt x="168213" y="100292"/>
                </a:lnTo>
                <a:lnTo>
                  <a:pt x="200248" y="46937"/>
                </a:lnTo>
                <a:cubicBezTo>
                  <a:pt x="201420" y="44983"/>
                  <a:pt x="200918" y="42416"/>
                  <a:pt x="199076" y="41077"/>
                </a:cubicBezTo>
                <a:cubicBezTo>
                  <a:pt x="197234" y="39737"/>
                  <a:pt x="194667" y="39960"/>
                  <a:pt x="193104" y="41635"/>
                </a:cubicBezTo>
                <a:lnTo>
                  <a:pt x="142875" y="96106"/>
                </a:lnTo>
                <a:lnTo>
                  <a:pt x="92590" y="41635"/>
                </a:lnTo>
                <a:cubicBezTo>
                  <a:pt x="91027" y="39960"/>
                  <a:pt x="88460" y="39737"/>
                  <a:pt x="86618" y="41077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5" name="Text 22"/>
          <p:cNvSpPr/>
          <p:nvPr/>
        </p:nvSpPr>
        <p:spPr>
          <a:xfrm>
            <a:off x="6872158" y="356656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00735" y="410942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7" name="Text 24"/>
          <p:cNvSpPr/>
          <p:nvPr/>
        </p:nvSpPr>
        <p:spPr>
          <a:xfrm>
            <a:off x="6610221" y="4023750"/>
            <a:ext cx="270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一次登录</a:t>
            </a:r>
            <a:r>
              <a:rPr lang="en-US" sz="13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,即可访问多个主流大模型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00735" y="449026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9" name="Text 26"/>
          <p:cNvSpPr/>
          <p:nvPr/>
        </p:nvSpPr>
        <p:spPr>
          <a:xfrm>
            <a:off x="6610221" y="4404588"/>
            <a:ext cx="270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统一界面与交互体验,</a:t>
            </a:r>
            <a:r>
              <a:rPr lang="en-US" sz="1350" dirty="0">
                <a:solidFill>
                  <a:srgbClr val="FFC107"/>
                </a:solidFill>
                <a:highlight>
                  <a:srgbClr val="FFC10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降低学习成本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00735" y="487110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1" name="Text 28"/>
          <p:cNvSpPr/>
          <p:nvPr/>
        </p:nvSpPr>
        <p:spPr>
          <a:xfrm>
            <a:off x="6610221" y="4785427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集中管理对话历史,提升工作效率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1000" y="457265"/>
            <a:ext cx="485775" cy="304800"/>
          </a:xfrm>
          <a:custGeom>
            <a:avLst/>
            <a:gdLst/>
            <a:ahLst/>
            <a:cxnLst/>
            <a:rect l="l" t="t" r="r" b="b"/>
            <a:pathLst>
              <a:path w="485775" h="304800">
                <a:moveTo>
                  <a:pt x="152400" y="0"/>
                </a:moveTo>
                <a:lnTo>
                  <a:pt x="333375" y="0"/>
                </a:lnTo>
                <a:cubicBezTo>
                  <a:pt x="417487" y="0"/>
                  <a:pt x="485775" y="68288"/>
                  <a:pt x="485775" y="152400"/>
                </a:cubicBezTo>
                <a:lnTo>
                  <a:pt x="485775" y="152400"/>
                </a:lnTo>
                <a:cubicBezTo>
                  <a:pt x="485775" y="236512"/>
                  <a:pt x="417487" y="304800"/>
                  <a:pt x="3333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457265"/>
            <a:ext cx="561975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81220" y="381000"/>
            <a:ext cx="726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 err="1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我们的实践路径:标准软件</a:t>
            </a:r>
            <a:r>
              <a:rPr lang="zh-CN" altLang="en-US" sz="36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工程思想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3000" y="914367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pic>
        <p:nvPicPr>
          <p:cNvPr id="7" name="Image 1" descr="https://kimi-img.moonshot.cn/pub/slides/26-01-04-17:39:02-d5d3adhg4pnvd71t51i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142919"/>
            <a:ext cx="11430000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381000" y="4000419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9" name="Text 5"/>
          <p:cNvSpPr/>
          <p:nvPr/>
        </p:nvSpPr>
        <p:spPr>
          <a:xfrm>
            <a:off x="495268" y="415278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总阶段数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19068" y="4419391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7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276551" y="4000419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2" name="Text 8"/>
          <p:cNvSpPr/>
          <p:nvPr/>
        </p:nvSpPr>
        <p:spPr>
          <a:xfrm>
            <a:off x="3390819" y="415278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总任务数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14619" y="4419391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37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172184" y="4000419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5" name="Text 11"/>
          <p:cNvSpPr/>
          <p:nvPr/>
        </p:nvSpPr>
        <p:spPr>
          <a:xfrm>
            <a:off x="6286451" y="415278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43A4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文档产出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210251" y="4419391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9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067735" y="4000419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18" name="Text 14"/>
          <p:cNvSpPr/>
          <p:nvPr/>
        </p:nvSpPr>
        <p:spPr>
          <a:xfrm>
            <a:off x="9182003" y="415278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测试用例通过率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105803" y="4419391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&gt;90%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81000" y="5219442"/>
            <a:ext cx="11430000" cy="857250"/>
          </a:xfrm>
          <a:custGeom>
            <a:avLst/>
            <a:gdLst/>
            <a:ahLst/>
            <a:cxnLst/>
            <a:rect l="l" t="t" r="r" b="b"/>
            <a:pathLst>
              <a:path w="11430000" h="857250">
                <a:moveTo>
                  <a:pt x="114297" y="0"/>
                </a:moveTo>
                <a:lnTo>
                  <a:pt x="11315703" y="0"/>
                </a:lnTo>
                <a:cubicBezTo>
                  <a:pt x="11378785" y="0"/>
                  <a:pt x="11430000" y="51215"/>
                  <a:pt x="11430000" y="114297"/>
                </a:cubicBezTo>
                <a:lnTo>
                  <a:pt x="11430000" y="742953"/>
                </a:lnTo>
                <a:cubicBezTo>
                  <a:pt x="11430000" y="806035"/>
                  <a:pt x="11378785" y="857250"/>
                  <a:pt x="11315703" y="857250"/>
                </a:cubicBezTo>
                <a:lnTo>
                  <a:pt x="114297" y="857250"/>
                </a:lnTo>
                <a:cubicBezTo>
                  <a:pt x="51215" y="857250"/>
                  <a:pt x="0" y="806035"/>
                  <a:pt x="0" y="7429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343A4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80993" y="54027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2" name="Text 18"/>
          <p:cNvSpPr/>
          <p:nvPr/>
        </p:nvSpPr>
        <p:spPr>
          <a:xfrm>
            <a:off x="857218" y="5371809"/>
            <a:ext cx="108870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方法论:</a:t>
            </a:r>
            <a:r>
              <a:rPr lang="en-US" sz="13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我们严格按照</a:t>
            </a:r>
            <a:r>
              <a:rPr lang="en-US" sz="135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瀑布模型与迭代思想相结合</a:t>
            </a:r>
            <a:r>
              <a:rPr lang="en-US" sz="13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的流程推进，每个阶段都有规范的文档产出，确保项目可控、质量可追溯。这种系统化的方法论是项目成功的基石。</a:t>
            </a:r>
            <a:endParaRPr lang="en-US" sz="1600" dirty="0"/>
          </a:p>
        </p:txBody>
      </p:sp>
      <p:pic>
        <p:nvPicPr>
          <p:cNvPr id="24" name="图片 23" descr="图形用户界面, 应用程序, 表格, Excel&#10;&#10;AI 生成的内容可能不正确。">
            <a:extLst>
              <a:ext uri="{FF2B5EF4-FFF2-40B4-BE49-F238E27FC236}">
                <a16:creationId xmlns:a16="http://schemas.microsoft.com/office/drawing/2014/main" id="{D1463BC0-BFD7-663F-C6C0-6C9D6D5C4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43064"/>
            <a:ext cx="12192000" cy="5633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1000" y="457263"/>
            <a:ext cx="485775" cy="304800"/>
          </a:xfrm>
          <a:custGeom>
            <a:avLst/>
            <a:gdLst/>
            <a:ahLst/>
            <a:cxnLst/>
            <a:rect l="l" t="t" r="r" b="b"/>
            <a:pathLst>
              <a:path w="485775" h="304800">
                <a:moveTo>
                  <a:pt x="152400" y="0"/>
                </a:moveTo>
                <a:lnTo>
                  <a:pt x="333375" y="0"/>
                </a:lnTo>
                <a:cubicBezTo>
                  <a:pt x="417487" y="0"/>
                  <a:pt x="485775" y="68288"/>
                  <a:pt x="485775" y="152400"/>
                </a:cubicBezTo>
                <a:lnTo>
                  <a:pt x="485775" y="152400"/>
                </a:lnTo>
                <a:cubicBezTo>
                  <a:pt x="485775" y="236512"/>
                  <a:pt x="417487" y="304800"/>
                  <a:pt x="3333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457263"/>
            <a:ext cx="561975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85162" y="381000"/>
            <a:ext cx="4067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阶段一:谋定而后动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3000" y="914367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7" name="Shape 4"/>
          <p:cNvSpPr/>
          <p:nvPr/>
        </p:nvSpPr>
        <p:spPr>
          <a:xfrm>
            <a:off x="381000" y="1160939"/>
            <a:ext cx="5600700" cy="5218670"/>
          </a:xfrm>
          <a:custGeom>
            <a:avLst/>
            <a:gdLst/>
            <a:ahLst/>
            <a:cxnLst/>
            <a:rect l="l" t="t" r="r" b="b"/>
            <a:pathLst>
              <a:path w="5600700" h="5218670">
                <a:moveTo>
                  <a:pt x="36041" y="0"/>
                </a:moveTo>
                <a:lnTo>
                  <a:pt x="5564659" y="0"/>
                </a:lnTo>
                <a:cubicBezTo>
                  <a:pt x="5584564" y="0"/>
                  <a:pt x="5600700" y="16136"/>
                  <a:pt x="5600700" y="36041"/>
                </a:cubicBezTo>
                <a:lnTo>
                  <a:pt x="5600700" y="5104381"/>
                </a:lnTo>
                <a:cubicBezTo>
                  <a:pt x="5600700" y="5167501"/>
                  <a:pt x="5549531" y="5218670"/>
                  <a:pt x="5486411" y="5218670"/>
                </a:cubicBezTo>
                <a:lnTo>
                  <a:pt x="114289" y="5218670"/>
                </a:lnTo>
                <a:cubicBezTo>
                  <a:pt x="51169" y="5218670"/>
                  <a:pt x="0" y="5167501"/>
                  <a:pt x="0" y="5104381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81000" y="1160939"/>
            <a:ext cx="5600700" cy="36041"/>
          </a:xfrm>
          <a:custGeom>
            <a:avLst/>
            <a:gdLst/>
            <a:ahLst/>
            <a:cxnLst/>
            <a:rect l="l" t="t" r="r" b="b"/>
            <a:pathLst>
              <a:path w="5600700" h="36041">
                <a:moveTo>
                  <a:pt x="36041" y="0"/>
                </a:moveTo>
                <a:lnTo>
                  <a:pt x="5564659" y="0"/>
                </a:lnTo>
                <a:cubicBezTo>
                  <a:pt x="5584564" y="0"/>
                  <a:pt x="5600700" y="16136"/>
                  <a:pt x="5600700" y="36041"/>
                </a:cubicBezTo>
                <a:lnTo>
                  <a:pt x="5600700" y="36041"/>
                </a:lnTo>
                <a:lnTo>
                  <a:pt x="0" y="36041"/>
                </a:ln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9" name="Shape 6"/>
          <p:cNvSpPr/>
          <p:nvPr/>
        </p:nvSpPr>
        <p:spPr>
          <a:xfrm>
            <a:off x="609600" y="139801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4675" y="20259"/>
                </a:moveTo>
                <a:cubicBezTo>
                  <a:pt x="80758" y="24501"/>
                  <a:pt x="82209" y="32872"/>
                  <a:pt x="77967" y="38900"/>
                </a:cubicBezTo>
                <a:lnTo>
                  <a:pt x="46713" y="83548"/>
                </a:lnTo>
                <a:cubicBezTo>
                  <a:pt x="44425" y="86785"/>
                  <a:pt x="40853" y="88850"/>
                  <a:pt x="36891" y="89185"/>
                </a:cubicBezTo>
                <a:cubicBezTo>
                  <a:pt x="32928" y="89520"/>
                  <a:pt x="29021" y="88181"/>
                  <a:pt x="26231" y="85390"/>
                </a:cubicBezTo>
                <a:lnTo>
                  <a:pt x="3907" y="63066"/>
                </a:lnTo>
                <a:cubicBezTo>
                  <a:pt x="-1284" y="57820"/>
                  <a:pt x="-1284" y="49337"/>
                  <a:pt x="3907" y="44090"/>
                </a:cubicBezTo>
                <a:cubicBezTo>
                  <a:pt x="9097" y="38844"/>
                  <a:pt x="17636" y="38900"/>
                  <a:pt x="22882" y="44090"/>
                </a:cubicBezTo>
                <a:lnTo>
                  <a:pt x="33933" y="55141"/>
                </a:lnTo>
                <a:lnTo>
                  <a:pt x="56034" y="23552"/>
                </a:lnTo>
                <a:cubicBezTo>
                  <a:pt x="60275" y="17469"/>
                  <a:pt x="68647" y="16018"/>
                  <a:pt x="74675" y="20259"/>
                </a:cubicBezTo>
                <a:close/>
                <a:moveTo>
                  <a:pt x="74675" y="109556"/>
                </a:moveTo>
                <a:cubicBezTo>
                  <a:pt x="80758" y="113798"/>
                  <a:pt x="82209" y="122169"/>
                  <a:pt x="77967" y="128197"/>
                </a:cubicBezTo>
                <a:lnTo>
                  <a:pt x="46713" y="172845"/>
                </a:lnTo>
                <a:cubicBezTo>
                  <a:pt x="44425" y="176082"/>
                  <a:pt x="40853" y="178147"/>
                  <a:pt x="36891" y="178482"/>
                </a:cubicBezTo>
                <a:cubicBezTo>
                  <a:pt x="32928" y="178817"/>
                  <a:pt x="29021" y="177478"/>
                  <a:pt x="26231" y="174687"/>
                </a:cubicBezTo>
                <a:lnTo>
                  <a:pt x="3907" y="152363"/>
                </a:lnTo>
                <a:cubicBezTo>
                  <a:pt x="-1339" y="147117"/>
                  <a:pt x="-1339" y="138633"/>
                  <a:pt x="3907" y="133443"/>
                </a:cubicBezTo>
                <a:cubicBezTo>
                  <a:pt x="9153" y="128253"/>
                  <a:pt x="17636" y="128197"/>
                  <a:pt x="22827" y="133443"/>
                </a:cubicBezTo>
                <a:lnTo>
                  <a:pt x="33877" y="144494"/>
                </a:lnTo>
                <a:lnTo>
                  <a:pt x="55978" y="112905"/>
                </a:lnTo>
                <a:cubicBezTo>
                  <a:pt x="60220" y="106821"/>
                  <a:pt x="68591" y="105370"/>
                  <a:pt x="74619" y="109612"/>
                </a:cubicBezTo>
                <a:close/>
                <a:moveTo>
                  <a:pt x="125016" y="53578"/>
                </a:moveTo>
                <a:cubicBezTo>
                  <a:pt x="125016" y="43700"/>
                  <a:pt x="132997" y="35719"/>
                  <a:pt x="142875" y="35719"/>
                </a:cubicBezTo>
                <a:lnTo>
                  <a:pt x="267891" y="35719"/>
                </a:lnTo>
                <a:cubicBezTo>
                  <a:pt x="277769" y="35719"/>
                  <a:pt x="285750" y="43700"/>
                  <a:pt x="285750" y="53578"/>
                </a:cubicBezTo>
                <a:cubicBezTo>
                  <a:pt x="285750" y="63457"/>
                  <a:pt x="277769" y="71438"/>
                  <a:pt x="267891" y="71438"/>
                </a:cubicBezTo>
                <a:lnTo>
                  <a:pt x="142875" y="71438"/>
                </a:lnTo>
                <a:cubicBezTo>
                  <a:pt x="132997" y="71438"/>
                  <a:pt x="125016" y="63457"/>
                  <a:pt x="125016" y="53578"/>
                </a:cubicBezTo>
                <a:close/>
                <a:moveTo>
                  <a:pt x="125016" y="142875"/>
                </a:moveTo>
                <a:cubicBezTo>
                  <a:pt x="125016" y="132997"/>
                  <a:pt x="132997" y="125016"/>
                  <a:pt x="142875" y="125016"/>
                </a:cubicBezTo>
                <a:lnTo>
                  <a:pt x="267891" y="125016"/>
                </a:lnTo>
                <a:cubicBezTo>
                  <a:pt x="277769" y="125016"/>
                  <a:pt x="285750" y="132997"/>
                  <a:pt x="285750" y="142875"/>
                </a:cubicBezTo>
                <a:cubicBezTo>
                  <a:pt x="285750" y="152753"/>
                  <a:pt x="277769" y="160734"/>
                  <a:pt x="267891" y="160734"/>
                </a:cubicBezTo>
                <a:lnTo>
                  <a:pt x="142875" y="160734"/>
                </a:lnTo>
                <a:cubicBezTo>
                  <a:pt x="132997" y="160734"/>
                  <a:pt x="125016" y="152753"/>
                  <a:pt x="125016" y="142875"/>
                </a:cubicBezTo>
                <a:close/>
                <a:moveTo>
                  <a:pt x="89297" y="232172"/>
                </a:moveTo>
                <a:cubicBezTo>
                  <a:pt x="89297" y="222293"/>
                  <a:pt x="97278" y="214313"/>
                  <a:pt x="107156" y="214313"/>
                </a:cubicBezTo>
                <a:lnTo>
                  <a:pt x="267891" y="214313"/>
                </a:lnTo>
                <a:cubicBezTo>
                  <a:pt x="277769" y="214313"/>
                  <a:pt x="285750" y="222293"/>
                  <a:pt x="285750" y="232172"/>
                </a:cubicBezTo>
                <a:cubicBezTo>
                  <a:pt x="285750" y="242050"/>
                  <a:pt x="277769" y="250031"/>
                  <a:pt x="267891" y="250031"/>
                </a:cubicBezTo>
                <a:lnTo>
                  <a:pt x="107156" y="250031"/>
                </a:lnTo>
                <a:cubicBezTo>
                  <a:pt x="97278" y="250031"/>
                  <a:pt x="89297" y="242050"/>
                  <a:pt x="89297" y="232172"/>
                </a:cubicBezTo>
                <a:close/>
                <a:moveTo>
                  <a:pt x="35719" y="209848"/>
                </a:moveTo>
                <a:cubicBezTo>
                  <a:pt x="48040" y="209848"/>
                  <a:pt x="58043" y="219851"/>
                  <a:pt x="58043" y="232172"/>
                </a:cubicBezTo>
                <a:cubicBezTo>
                  <a:pt x="58043" y="244493"/>
                  <a:pt x="48040" y="254496"/>
                  <a:pt x="35719" y="254496"/>
                </a:cubicBezTo>
                <a:cubicBezTo>
                  <a:pt x="23398" y="254496"/>
                  <a:pt x="13395" y="244493"/>
                  <a:pt x="13395" y="232172"/>
                </a:cubicBezTo>
                <a:cubicBezTo>
                  <a:pt x="13395" y="219851"/>
                  <a:pt x="23398" y="209848"/>
                  <a:pt x="35719" y="209848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0" name="Text 7"/>
          <p:cNvSpPr/>
          <p:nvPr/>
        </p:nvSpPr>
        <p:spPr>
          <a:xfrm>
            <a:off x="1042923" y="1369461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项目计划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9520" y="1864695"/>
            <a:ext cx="36041" cy="838200"/>
          </a:xfrm>
          <a:custGeom>
            <a:avLst/>
            <a:gdLst/>
            <a:ahLst/>
            <a:cxnLst/>
            <a:rect l="l" t="t" r="r" b="b"/>
            <a:pathLst>
              <a:path w="36041" h="838200">
                <a:moveTo>
                  <a:pt x="0" y="0"/>
                </a:moveTo>
                <a:lnTo>
                  <a:pt x="36041" y="0"/>
                </a:lnTo>
                <a:lnTo>
                  <a:pt x="36041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2" name="Text 9"/>
          <p:cNvSpPr/>
          <p:nvPr/>
        </p:nvSpPr>
        <p:spPr>
          <a:xfrm>
            <a:off x="759908" y="1864695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WBS工作分解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9908" y="2207563"/>
            <a:ext cx="5105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将项目分解为</a:t>
            </a:r>
            <a:r>
              <a:rPr lang="en-US" sz="1200" b="1" dirty="0">
                <a:solidFill>
                  <a:srgbClr val="0056B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7大阶段、37项具体任务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，覆盖从需求分析到部署运维的全生命周期。每项任务都有明确的交付物和验收标准。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89520" y="2855005"/>
            <a:ext cx="36041" cy="838200"/>
          </a:xfrm>
          <a:custGeom>
            <a:avLst/>
            <a:gdLst/>
            <a:ahLst/>
            <a:cxnLst/>
            <a:rect l="l" t="t" r="r" b="b"/>
            <a:pathLst>
              <a:path w="36041" h="838200">
                <a:moveTo>
                  <a:pt x="0" y="0"/>
                </a:moveTo>
                <a:lnTo>
                  <a:pt x="36041" y="0"/>
                </a:lnTo>
                <a:lnTo>
                  <a:pt x="36041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5" name="Text 12"/>
          <p:cNvSpPr/>
          <p:nvPr/>
        </p:nvSpPr>
        <p:spPr>
          <a:xfrm>
            <a:off x="759908" y="2855005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甘特图规划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9908" y="3197872"/>
            <a:ext cx="5105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制定详细的时间进度表，</a:t>
            </a:r>
            <a:r>
              <a:rPr lang="en-US" sz="1200" dirty="0">
                <a:solidFill>
                  <a:srgbClr val="343A40"/>
                </a:solidFill>
                <a:highlight>
                  <a:srgbClr val="FFC10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明确每个任务的起止时间、持续周期和责任人 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，并设置关键里程碑节点用于进度检查。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89520" y="3845316"/>
            <a:ext cx="36041" cy="838200"/>
          </a:xfrm>
          <a:custGeom>
            <a:avLst/>
            <a:gdLst/>
            <a:ahLst/>
            <a:cxnLst/>
            <a:rect l="l" t="t" r="r" b="b"/>
            <a:pathLst>
              <a:path w="36041" h="838200">
                <a:moveTo>
                  <a:pt x="0" y="0"/>
                </a:moveTo>
                <a:lnTo>
                  <a:pt x="36041" y="0"/>
                </a:lnTo>
                <a:lnTo>
                  <a:pt x="36041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18" name="Text 15"/>
          <p:cNvSpPr/>
          <p:nvPr/>
        </p:nvSpPr>
        <p:spPr>
          <a:xfrm>
            <a:off x="759908" y="3845316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责任分配矩阵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59908" y="4188184"/>
            <a:ext cx="5105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清晰定义团队成员的职责边界，确保每项任务都有明确的负责人和协作者，避免责任模糊。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71500" y="5657880"/>
            <a:ext cx="5219700" cy="533400"/>
          </a:xfrm>
          <a:custGeom>
            <a:avLst/>
            <a:gdLst/>
            <a:ahLst/>
            <a:cxnLst/>
            <a:rect l="l" t="t" r="r" b="b"/>
            <a:pathLst>
              <a:path w="5219700" h="5334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457198"/>
                </a:lnTo>
                <a:cubicBezTo>
                  <a:pt x="5219700" y="499283"/>
                  <a:pt x="5185583" y="533400"/>
                  <a:pt x="51434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21" name="Shape 18"/>
          <p:cNvSpPr/>
          <p:nvPr/>
        </p:nvSpPr>
        <p:spPr>
          <a:xfrm>
            <a:off x="742918" y="58411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2" name="Text 19"/>
          <p:cNvSpPr/>
          <p:nvPr/>
        </p:nvSpPr>
        <p:spPr>
          <a:xfrm>
            <a:off x="971518" y="581025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关键成果:</a:t>
            </a: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详细的项目管理文档,为后续阶段提供清晰的路线图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10235" y="1160939"/>
            <a:ext cx="5600700" cy="5218670"/>
          </a:xfrm>
          <a:custGeom>
            <a:avLst/>
            <a:gdLst/>
            <a:ahLst/>
            <a:cxnLst/>
            <a:rect l="l" t="t" r="r" b="b"/>
            <a:pathLst>
              <a:path w="5600700" h="5218670">
                <a:moveTo>
                  <a:pt x="36041" y="0"/>
                </a:moveTo>
                <a:lnTo>
                  <a:pt x="5564659" y="0"/>
                </a:lnTo>
                <a:cubicBezTo>
                  <a:pt x="5584564" y="0"/>
                  <a:pt x="5600700" y="16136"/>
                  <a:pt x="5600700" y="36041"/>
                </a:cubicBezTo>
                <a:lnTo>
                  <a:pt x="5600700" y="5104381"/>
                </a:lnTo>
                <a:cubicBezTo>
                  <a:pt x="5600700" y="5167501"/>
                  <a:pt x="5549531" y="5218670"/>
                  <a:pt x="5486411" y="5218670"/>
                </a:cubicBezTo>
                <a:lnTo>
                  <a:pt x="114289" y="5218670"/>
                </a:lnTo>
                <a:cubicBezTo>
                  <a:pt x="51169" y="5218670"/>
                  <a:pt x="0" y="5167501"/>
                  <a:pt x="0" y="5104381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0235" y="1160939"/>
            <a:ext cx="5600700" cy="36041"/>
          </a:xfrm>
          <a:custGeom>
            <a:avLst/>
            <a:gdLst/>
            <a:ahLst/>
            <a:cxnLst/>
            <a:rect l="l" t="t" r="r" b="b"/>
            <a:pathLst>
              <a:path w="5600700" h="36041">
                <a:moveTo>
                  <a:pt x="36041" y="0"/>
                </a:moveTo>
                <a:lnTo>
                  <a:pt x="5564659" y="0"/>
                </a:lnTo>
                <a:cubicBezTo>
                  <a:pt x="5584564" y="0"/>
                  <a:pt x="5600700" y="16136"/>
                  <a:pt x="5600700" y="36041"/>
                </a:cubicBezTo>
                <a:lnTo>
                  <a:pt x="5600700" y="36041"/>
                </a:lnTo>
                <a:lnTo>
                  <a:pt x="0" y="36041"/>
                </a:ln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5" name="Shape 22"/>
          <p:cNvSpPr/>
          <p:nvPr/>
        </p:nvSpPr>
        <p:spPr>
          <a:xfrm>
            <a:off x="6403117" y="1398019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6" name="Text 23"/>
          <p:cNvSpPr/>
          <p:nvPr/>
        </p:nvSpPr>
        <p:spPr>
          <a:xfrm>
            <a:off x="6872158" y="1369461"/>
            <a:ext cx="1571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可行性分析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00735" y="1864695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五维度可行性评估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00735" y="2245614"/>
            <a:ext cx="981075" cy="581025"/>
          </a:xfrm>
          <a:custGeom>
            <a:avLst/>
            <a:gdLst/>
            <a:ahLst/>
            <a:cxnLst/>
            <a:rect l="l" t="t" r="r" b="b"/>
            <a:pathLst>
              <a:path w="981075" h="581025">
                <a:moveTo>
                  <a:pt x="76201" y="0"/>
                </a:moveTo>
                <a:lnTo>
                  <a:pt x="904874" y="0"/>
                </a:lnTo>
                <a:cubicBezTo>
                  <a:pt x="946930" y="0"/>
                  <a:pt x="981075" y="34145"/>
                  <a:pt x="981075" y="76201"/>
                </a:cubicBezTo>
                <a:lnTo>
                  <a:pt x="981075" y="504824"/>
                </a:lnTo>
                <a:cubicBezTo>
                  <a:pt x="981075" y="546880"/>
                  <a:pt x="946930" y="581025"/>
                  <a:pt x="9048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9" name="Shape 26"/>
          <p:cNvSpPr/>
          <p:nvPr/>
        </p:nvSpPr>
        <p:spPr>
          <a:xfrm>
            <a:off x="6796940" y="232179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0" name="Text 27"/>
          <p:cNvSpPr/>
          <p:nvPr/>
        </p:nvSpPr>
        <p:spPr>
          <a:xfrm>
            <a:off x="6443582" y="25555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459909" y="2245614"/>
            <a:ext cx="981075" cy="581025"/>
          </a:xfrm>
          <a:custGeom>
            <a:avLst/>
            <a:gdLst/>
            <a:ahLst/>
            <a:cxnLst/>
            <a:rect l="l" t="t" r="r" b="b"/>
            <a:pathLst>
              <a:path w="981075" h="581025">
                <a:moveTo>
                  <a:pt x="76201" y="0"/>
                </a:moveTo>
                <a:lnTo>
                  <a:pt x="904874" y="0"/>
                </a:lnTo>
                <a:cubicBezTo>
                  <a:pt x="946930" y="0"/>
                  <a:pt x="981075" y="34145"/>
                  <a:pt x="981075" y="76201"/>
                </a:cubicBezTo>
                <a:lnTo>
                  <a:pt x="981075" y="504824"/>
                </a:lnTo>
                <a:cubicBezTo>
                  <a:pt x="981075" y="546880"/>
                  <a:pt x="946930" y="581025"/>
                  <a:pt x="9048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2" name="Shape 29"/>
          <p:cNvSpPr/>
          <p:nvPr/>
        </p:nvSpPr>
        <p:spPr>
          <a:xfrm>
            <a:off x="7891832" y="2321798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3" name="Text 30"/>
          <p:cNvSpPr/>
          <p:nvPr/>
        </p:nvSpPr>
        <p:spPr>
          <a:xfrm>
            <a:off x="7502755" y="25555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519082" y="2245614"/>
            <a:ext cx="981075" cy="581025"/>
          </a:xfrm>
          <a:custGeom>
            <a:avLst/>
            <a:gdLst/>
            <a:ahLst/>
            <a:cxnLst/>
            <a:rect l="l" t="t" r="r" b="b"/>
            <a:pathLst>
              <a:path w="981075" h="581025">
                <a:moveTo>
                  <a:pt x="76201" y="0"/>
                </a:moveTo>
                <a:lnTo>
                  <a:pt x="904874" y="0"/>
                </a:lnTo>
                <a:cubicBezTo>
                  <a:pt x="946930" y="0"/>
                  <a:pt x="981075" y="34145"/>
                  <a:pt x="981075" y="76201"/>
                </a:cubicBezTo>
                <a:lnTo>
                  <a:pt x="981075" y="504824"/>
                </a:lnTo>
                <a:cubicBezTo>
                  <a:pt x="981075" y="546880"/>
                  <a:pt x="946930" y="581025"/>
                  <a:pt x="9048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5" name="Shape 32"/>
          <p:cNvSpPr/>
          <p:nvPr/>
        </p:nvSpPr>
        <p:spPr>
          <a:xfrm>
            <a:off x="8915287" y="232179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2591" y="3535"/>
                </a:moveTo>
                <a:cubicBezTo>
                  <a:pt x="73707" y="-1972"/>
                  <a:pt x="78581" y="-5953"/>
                  <a:pt x="84237" y="-5953"/>
                </a:cubicBezTo>
                <a:lnTo>
                  <a:pt x="106487" y="-5953"/>
                </a:lnTo>
                <a:cubicBezTo>
                  <a:pt x="112142" y="-5953"/>
                  <a:pt x="117016" y="-1972"/>
                  <a:pt x="118132" y="3535"/>
                </a:cubicBezTo>
                <a:lnTo>
                  <a:pt x="123527" y="29580"/>
                </a:lnTo>
                <a:cubicBezTo>
                  <a:pt x="128774" y="31812"/>
                  <a:pt x="133685" y="34677"/>
                  <a:pt x="138150" y="38063"/>
                </a:cubicBezTo>
                <a:lnTo>
                  <a:pt x="163376" y="29691"/>
                </a:lnTo>
                <a:cubicBezTo>
                  <a:pt x="168734" y="27905"/>
                  <a:pt x="174613" y="30138"/>
                  <a:pt x="177440" y="35049"/>
                </a:cubicBezTo>
                <a:lnTo>
                  <a:pt x="188565" y="54322"/>
                </a:lnTo>
                <a:cubicBezTo>
                  <a:pt x="191393" y="59234"/>
                  <a:pt x="190388" y="65410"/>
                  <a:pt x="186147" y="69168"/>
                </a:cubicBezTo>
                <a:lnTo>
                  <a:pt x="166315" y="86804"/>
                </a:lnTo>
                <a:cubicBezTo>
                  <a:pt x="166650" y="89557"/>
                  <a:pt x="166799" y="92385"/>
                  <a:pt x="166799" y="95250"/>
                </a:cubicBezTo>
                <a:cubicBezTo>
                  <a:pt x="166799" y="98115"/>
                  <a:pt x="166613" y="100943"/>
                  <a:pt x="166315" y="103696"/>
                </a:cubicBezTo>
                <a:lnTo>
                  <a:pt x="186184" y="121369"/>
                </a:lnTo>
                <a:cubicBezTo>
                  <a:pt x="190426" y="125127"/>
                  <a:pt x="191393" y="131341"/>
                  <a:pt x="188602" y="136215"/>
                </a:cubicBezTo>
                <a:lnTo>
                  <a:pt x="177478" y="155488"/>
                </a:lnTo>
                <a:cubicBezTo>
                  <a:pt x="174650" y="160362"/>
                  <a:pt x="168771" y="162632"/>
                  <a:pt x="163413" y="160846"/>
                </a:cubicBezTo>
                <a:lnTo>
                  <a:pt x="138187" y="152474"/>
                </a:lnTo>
                <a:cubicBezTo>
                  <a:pt x="133685" y="155860"/>
                  <a:pt x="128774" y="158688"/>
                  <a:pt x="123565" y="160958"/>
                </a:cubicBezTo>
                <a:lnTo>
                  <a:pt x="118207" y="186965"/>
                </a:lnTo>
                <a:cubicBezTo>
                  <a:pt x="117053" y="192509"/>
                  <a:pt x="112179" y="196453"/>
                  <a:pt x="106561" y="196453"/>
                </a:cubicBezTo>
                <a:lnTo>
                  <a:pt x="84311" y="196453"/>
                </a:lnTo>
                <a:cubicBezTo>
                  <a:pt x="78656" y="196453"/>
                  <a:pt x="73782" y="192472"/>
                  <a:pt x="72665" y="186965"/>
                </a:cubicBezTo>
                <a:lnTo>
                  <a:pt x="67308" y="160958"/>
                </a:lnTo>
                <a:cubicBezTo>
                  <a:pt x="62061" y="158725"/>
                  <a:pt x="57187" y="155860"/>
                  <a:pt x="52685" y="152474"/>
                </a:cubicBezTo>
                <a:lnTo>
                  <a:pt x="27347" y="160846"/>
                </a:lnTo>
                <a:cubicBezTo>
                  <a:pt x="21989" y="162632"/>
                  <a:pt x="16111" y="160400"/>
                  <a:pt x="13283" y="155488"/>
                </a:cubicBezTo>
                <a:lnTo>
                  <a:pt x="2158" y="136215"/>
                </a:lnTo>
                <a:cubicBezTo>
                  <a:pt x="-670" y="131304"/>
                  <a:pt x="335" y="125127"/>
                  <a:pt x="4576" y="121369"/>
                </a:cubicBezTo>
                <a:lnTo>
                  <a:pt x="24445" y="103696"/>
                </a:lnTo>
                <a:cubicBezTo>
                  <a:pt x="24110" y="100943"/>
                  <a:pt x="23961" y="98115"/>
                  <a:pt x="23961" y="95250"/>
                </a:cubicBezTo>
                <a:cubicBezTo>
                  <a:pt x="23961" y="92385"/>
                  <a:pt x="24147" y="89557"/>
                  <a:pt x="24445" y="86804"/>
                </a:cubicBezTo>
                <a:lnTo>
                  <a:pt x="4576" y="69131"/>
                </a:lnTo>
                <a:cubicBezTo>
                  <a:pt x="335" y="65373"/>
                  <a:pt x="-633" y="59159"/>
                  <a:pt x="2158" y="54285"/>
                </a:cubicBezTo>
                <a:lnTo>
                  <a:pt x="13283" y="35012"/>
                </a:lnTo>
                <a:cubicBezTo>
                  <a:pt x="16111" y="30100"/>
                  <a:pt x="21989" y="27868"/>
                  <a:pt x="27347" y="29654"/>
                </a:cubicBezTo>
                <a:lnTo>
                  <a:pt x="52574" y="38026"/>
                </a:lnTo>
                <a:cubicBezTo>
                  <a:pt x="57076" y="34640"/>
                  <a:pt x="61987" y="31812"/>
                  <a:pt x="67196" y="29542"/>
                </a:cubicBezTo>
                <a:lnTo>
                  <a:pt x="72591" y="3535"/>
                </a:lnTo>
                <a:close/>
                <a:moveTo>
                  <a:pt x="95362" y="125016"/>
                </a:moveTo>
                <a:cubicBezTo>
                  <a:pt x="105996" y="124976"/>
                  <a:pt x="115801" y="119266"/>
                  <a:pt x="121084" y="110036"/>
                </a:cubicBezTo>
                <a:cubicBezTo>
                  <a:pt x="126366" y="100807"/>
                  <a:pt x="126324" y="89460"/>
                  <a:pt x="120972" y="80271"/>
                </a:cubicBezTo>
                <a:cubicBezTo>
                  <a:pt x="115620" y="71081"/>
                  <a:pt x="105773" y="65444"/>
                  <a:pt x="95138" y="65484"/>
                </a:cubicBezTo>
                <a:cubicBezTo>
                  <a:pt x="84504" y="65524"/>
                  <a:pt x="74699" y="71234"/>
                  <a:pt x="69416" y="80464"/>
                </a:cubicBezTo>
                <a:cubicBezTo>
                  <a:pt x="64134" y="89693"/>
                  <a:pt x="64176" y="101040"/>
                  <a:pt x="69528" y="110229"/>
                </a:cubicBezTo>
                <a:cubicBezTo>
                  <a:pt x="74880" y="119419"/>
                  <a:pt x="84727" y="125056"/>
                  <a:pt x="95362" y="125016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6" name="Text 33"/>
          <p:cNvSpPr/>
          <p:nvPr/>
        </p:nvSpPr>
        <p:spPr>
          <a:xfrm>
            <a:off x="8561929" y="25555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9578256" y="2245614"/>
            <a:ext cx="981075" cy="581025"/>
          </a:xfrm>
          <a:custGeom>
            <a:avLst/>
            <a:gdLst/>
            <a:ahLst/>
            <a:cxnLst/>
            <a:rect l="l" t="t" r="r" b="b"/>
            <a:pathLst>
              <a:path w="981075" h="581025">
                <a:moveTo>
                  <a:pt x="76201" y="0"/>
                </a:moveTo>
                <a:lnTo>
                  <a:pt x="904874" y="0"/>
                </a:lnTo>
                <a:cubicBezTo>
                  <a:pt x="946930" y="0"/>
                  <a:pt x="981075" y="34145"/>
                  <a:pt x="981075" y="76201"/>
                </a:cubicBezTo>
                <a:lnTo>
                  <a:pt x="981075" y="504824"/>
                </a:lnTo>
                <a:cubicBezTo>
                  <a:pt x="981075" y="546880"/>
                  <a:pt x="946930" y="581025"/>
                  <a:pt x="9048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8" name="Shape 35"/>
          <p:cNvSpPr/>
          <p:nvPr/>
        </p:nvSpPr>
        <p:spPr>
          <a:xfrm>
            <a:off x="9962555" y="232179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3103" y="57076"/>
                </a:moveTo>
                <a:lnTo>
                  <a:pt x="56145" y="50118"/>
                </a:lnTo>
                <a:cubicBezTo>
                  <a:pt x="51495" y="45467"/>
                  <a:pt x="51495" y="37914"/>
                  <a:pt x="56145" y="33263"/>
                </a:cubicBezTo>
                <a:lnTo>
                  <a:pt x="98822" y="-9451"/>
                </a:lnTo>
                <a:cubicBezTo>
                  <a:pt x="103473" y="-14101"/>
                  <a:pt x="111026" y="-14101"/>
                  <a:pt x="115677" y="-9451"/>
                </a:cubicBezTo>
                <a:lnTo>
                  <a:pt x="122634" y="-2456"/>
                </a:lnTo>
                <a:cubicBezTo>
                  <a:pt x="127285" y="2195"/>
                  <a:pt x="127285" y="9748"/>
                  <a:pt x="122634" y="14399"/>
                </a:cubicBezTo>
                <a:lnTo>
                  <a:pt x="79958" y="57076"/>
                </a:lnTo>
                <a:cubicBezTo>
                  <a:pt x="75307" y="61726"/>
                  <a:pt x="67754" y="61726"/>
                  <a:pt x="63103" y="57076"/>
                </a:cubicBezTo>
                <a:close/>
                <a:moveTo>
                  <a:pt x="102691" y="78767"/>
                </a:moveTo>
                <a:lnTo>
                  <a:pt x="91008" y="67084"/>
                </a:lnTo>
                <a:lnTo>
                  <a:pt x="132680" y="25412"/>
                </a:lnTo>
                <a:lnTo>
                  <a:pt x="177105" y="69838"/>
                </a:lnTo>
                <a:lnTo>
                  <a:pt x="135434" y="111509"/>
                </a:lnTo>
                <a:lnTo>
                  <a:pt x="123751" y="99826"/>
                </a:lnTo>
                <a:lnTo>
                  <a:pt x="37430" y="186147"/>
                </a:lnTo>
                <a:cubicBezTo>
                  <a:pt x="31626" y="191951"/>
                  <a:pt x="22213" y="191951"/>
                  <a:pt x="16371" y="186147"/>
                </a:cubicBezTo>
                <a:cubicBezTo>
                  <a:pt x="10530" y="180342"/>
                  <a:pt x="10567" y="170929"/>
                  <a:pt x="16371" y="165088"/>
                </a:cubicBezTo>
                <a:lnTo>
                  <a:pt x="102691" y="78767"/>
                </a:lnTo>
                <a:close/>
                <a:moveTo>
                  <a:pt x="145442" y="139378"/>
                </a:moveTo>
                <a:cubicBezTo>
                  <a:pt x="140791" y="134727"/>
                  <a:pt x="140791" y="127174"/>
                  <a:pt x="145442" y="122523"/>
                </a:cubicBezTo>
                <a:lnTo>
                  <a:pt x="188119" y="79846"/>
                </a:lnTo>
                <a:cubicBezTo>
                  <a:pt x="192770" y="75195"/>
                  <a:pt x="200323" y="75195"/>
                  <a:pt x="204974" y="79846"/>
                </a:cubicBezTo>
                <a:lnTo>
                  <a:pt x="211931" y="86804"/>
                </a:lnTo>
                <a:cubicBezTo>
                  <a:pt x="216582" y="91455"/>
                  <a:pt x="216582" y="99008"/>
                  <a:pt x="211931" y="103659"/>
                </a:cubicBezTo>
                <a:lnTo>
                  <a:pt x="169255" y="146372"/>
                </a:lnTo>
                <a:cubicBezTo>
                  <a:pt x="164604" y="151023"/>
                  <a:pt x="157051" y="151023"/>
                  <a:pt x="152400" y="146372"/>
                </a:cubicBezTo>
                <a:lnTo>
                  <a:pt x="145442" y="139415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9" name="Text 36"/>
          <p:cNvSpPr/>
          <p:nvPr/>
        </p:nvSpPr>
        <p:spPr>
          <a:xfrm>
            <a:off x="9621102" y="25555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法律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0637430" y="2245614"/>
            <a:ext cx="981075" cy="581025"/>
          </a:xfrm>
          <a:custGeom>
            <a:avLst/>
            <a:gdLst/>
            <a:ahLst/>
            <a:cxnLst/>
            <a:rect l="l" t="t" r="r" b="b"/>
            <a:pathLst>
              <a:path w="981075" h="581025">
                <a:moveTo>
                  <a:pt x="76201" y="0"/>
                </a:moveTo>
                <a:lnTo>
                  <a:pt x="904874" y="0"/>
                </a:lnTo>
                <a:cubicBezTo>
                  <a:pt x="946930" y="0"/>
                  <a:pt x="981075" y="34145"/>
                  <a:pt x="981075" y="76201"/>
                </a:cubicBezTo>
                <a:lnTo>
                  <a:pt x="981075" y="504824"/>
                </a:lnTo>
                <a:cubicBezTo>
                  <a:pt x="981075" y="546880"/>
                  <a:pt x="946930" y="581025"/>
                  <a:pt x="9048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1" name="Shape 38"/>
          <p:cNvSpPr/>
          <p:nvPr/>
        </p:nvSpPr>
        <p:spPr>
          <a:xfrm>
            <a:off x="11009902" y="232179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42" name="Text 39"/>
          <p:cNvSpPr/>
          <p:nvPr/>
        </p:nvSpPr>
        <p:spPr>
          <a:xfrm>
            <a:off x="10680276" y="25555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社会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418756" y="2974551"/>
            <a:ext cx="36041" cy="1485900"/>
          </a:xfrm>
          <a:custGeom>
            <a:avLst/>
            <a:gdLst/>
            <a:ahLst/>
            <a:cxnLst/>
            <a:rect l="l" t="t" r="r" b="b"/>
            <a:pathLst>
              <a:path w="36041" h="1485900">
                <a:moveTo>
                  <a:pt x="0" y="0"/>
                </a:moveTo>
                <a:lnTo>
                  <a:pt x="36041" y="0"/>
                </a:lnTo>
                <a:lnTo>
                  <a:pt x="36041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44" name="Text 41"/>
          <p:cNvSpPr/>
          <p:nvPr/>
        </p:nvSpPr>
        <p:spPr>
          <a:xfrm>
            <a:off x="6589144" y="2974551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技术方案对比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589144" y="3317418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对比分析了三种主流技术方案：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589144" y="368876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47" name="Text 44"/>
          <p:cNvSpPr/>
          <p:nvPr/>
        </p:nvSpPr>
        <p:spPr>
          <a:xfrm>
            <a:off x="6760577" y="3622153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传统单体架构 - 扩展性差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589144" y="399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49" name="Text 46"/>
          <p:cNvSpPr/>
          <p:nvPr/>
        </p:nvSpPr>
        <p:spPr>
          <a:xfrm>
            <a:off x="6760577" y="3926891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微服务架构 - 复杂度较高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589144" y="429823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1" name="Text 48"/>
          <p:cNvSpPr/>
          <p:nvPr/>
        </p:nvSpPr>
        <p:spPr>
          <a:xfrm>
            <a:off x="6760577" y="4231625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前后端分离的集中式代理架构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</a:t>
            </a:r>
            <a:r>
              <a:rPr lang="en-US" sz="1200" dirty="0">
                <a:solidFill>
                  <a:srgbClr val="343A40"/>
                </a:solidFill>
                <a:highlight>
                  <a:srgbClr val="FFC10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平衡性能与可维护性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400735" y="5657880"/>
            <a:ext cx="5219700" cy="533400"/>
          </a:xfrm>
          <a:custGeom>
            <a:avLst/>
            <a:gdLst/>
            <a:ahLst/>
            <a:cxnLst/>
            <a:rect l="l" t="t" r="r" b="b"/>
            <a:pathLst>
              <a:path w="5219700" h="5334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457198"/>
                </a:lnTo>
                <a:cubicBezTo>
                  <a:pt x="5219700" y="499283"/>
                  <a:pt x="5185583" y="533400"/>
                  <a:pt x="51434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3" name="Shape 50"/>
          <p:cNvSpPr/>
          <p:nvPr/>
        </p:nvSpPr>
        <p:spPr>
          <a:xfrm>
            <a:off x="6572153" y="58411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4" name="Text 51"/>
          <p:cNvSpPr/>
          <p:nvPr/>
        </p:nvSpPr>
        <p:spPr>
          <a:xfrm>
            <a:off x="6800753" y="581025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最终选择:</a:t>
            </a: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前后端分离的集中式代理架构,兼顾开发效率与系统性能</a:t>
            </a:r>
            <a:endParaRPr lang="en-US" sz="1600" dirty="0"/>
          </a:p>
        </p:txBody>
      </p:sp>
      <p:sp>
        <p:nvSpPr>
          <p:cNvPr id="58" name="Shape 0">
            <a:extLst>
              <a:ext uri="{FF2B5EF4-FFF2-40B4-BE49-F238E27FC236}">
                <a16:creationId xmlns:a16="http://schemas.microsoft.com/office/drawing/2014/main" id="{26B05013-2C8B-E3F6-1375-23ECF0D05BDA}"/>
              </a:ext>
            </a:extLst>
          </p:cNvPr>
          <p:cNvSpPr/>
          <p:nvPr/>
        </p:nvSpPr>
        <p:spPr>
          <a:xfrm>
            <a:off x="381000" y="457265"/>
            <a:ext cx="485775" cy="304800"/>
          </a:xfrm>
          <a:custGeom>
            <a:avLst/>
            <a:gdLst/>
            <a:ahLst/>
            <a:cxnLst/>
            <a:rect l="l" t="t" r="r" b="b"/>
            <a:pathLst>
              <a:path w="485775" h="304800">
                <a:moveTo>
                  <a:pt x="152400" y="0"/>
                </a:moveTo>
                <a:lnTo>
                  <a:pt x="333375" y="0"/>
                </a:lnTo>
                <a:cubicBezTo>
                  <a:pt x="417487" y="0"/>
                  <a:pt x="485775" y="68288"/>
                  <a:pt x="485775" y="152400"/>
                </a:cubicBezTo>
                <a:lnTo>
                  <a:pt x="485775" y="152400"/>
                </a:lnTo>
                <a:cubicBezTo>
                  <a:pt x="485775" y="236512"/>
                  <a:pt x="417487" y="304800"/>
                  <a:pt x="3333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6B76613B-B378-D6BF-BCEA-145A7C23C02B}"/>
              </a:ext>
            </a:extLst>
          </p:cNvPr>
          <p:cNvSpPr/>
          <p:nvPr/>
        </p:nvSpPr>
        <p:spPr>
          <a:xfrm>
            <a:off x="381000" y="457265"/>
            <a:ext cx="561975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1000" y="457263"/>
            <a:ext cx="485775" cy="304800"/>
          </a:xfrm>
          <a:custGeom>
            <a:avLst/>
            <a:gdLst/>
            <a:ahLst/>
            <a:cxnLst/>
            <a:rect l="l" t="t" r="r" b="b"/>
            <a:pathLst>
              <a:path w="485775" h="304800">
                <a:moveTo>
                  <a:pt x="152400" y="0"/>
                </a:moveTo>
                <a:lnTo>
                  <a:pt x="333375" y="0"/>
                </a:lnTo>
                <a:cubicBezTo>
                  <a:pt x="417487" y="0"/>
                  <a:pt x="485775" y="68288"/>
                  <a:pt x="485775" y="152400"/>
                </a:cubicBezTo>
                <a:lnTo>
                  <a:pt x="485775" y="152400"/>
                </a:lnTo>
                <a:cubicBezTo>
                  <a:pt x="485775" y="236512"/>
                  <a:pt x="417487" y="304800"/>
                  <a:pt x="3333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457263"/>
            <a:ext cx="561975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84840" y="381000"/>
            <a:ext cx="4524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阶段二:从抽象到蓝图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3000" y="914367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7" name="Shape 4"/>
          <p:cNvSpPr/>
          <p:nvPr/>
        </p:nvSpPr>
        <p:spPr>
          <a:xfrm>
            <a:off x="381000" y="1122806"/>
            <a:ext cx="5619750" cy="3332720"/>
          </a:xfrm>
          <a:custGeom>
            <a:avLst/>
            <a:gdLst/>
            <a:ahLst/>
            <a:cxnLst/>
            <a:rect l="l" t="t" r="r" b="b"/>
            <a:pathLst>
              <a:path w="5619750" h="3332720">
                <a:moveTo>
                  <a:pt x="36041" y="0"/>
                </a:moveTo>
                <a:lnTo>
                  <a:pt x="5583709" y="0"/>
                </a:lnTo>
                <a:cubicBezTo>
                  <a:pt x="5603614" y="0"/>
                  <a:pt x="5619750" y="16136"/>
                  <a:pt x="5619750" y="36041"/>
                </a:cubicBezTo>
                <a:lnTo>
                  <a:pt x="5619750" y="3218408"/>
                </a:lnTo>
                <a:cubicBezTo>
                  <a:pt x="5619750" y="3281541"/>
                  <a:pt x="5568571" y="3332720"/>
                  <a:pt x="5505438" y="3332720"/>
                </a:cubicBezTo>
                <a:lnTo>
                  <a:pt x="114312" y="3332720"/>
                </a:lnTo>
                <a:cubicBezTo>
                  <a:pt x="51179" y="3332720"/>
                  <a:pt x="0" y="3281541"/>
                  <a:pt x="0" y="3218408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81000" y="1122806"/>
            <a:ext cx="5619750" cy="36041"/>
          </a:xfrm>
          <a:custGeom>
            <a:avLst/>
            <a:gdLst/>
            <a:ahLst/>
            <a:cxnLst/>
            <a:rect l="l" t="t" r="r" b="b"/>
            <a:pathLst>
              <a:path w="5619750" h="36041">
                <a:moveTo>
                  <a:pt x="36041" y="0"/>
                </a:moveTo>
                <a:lnTo>
                  <a:pt x="5583709" y="0"/>
                </a:lnTo>
                <a:cubicBezTo>
                  <a:pt x="5603614" y="0"/>
                  <a:pt x="5619750" y="16136"/>
                  <a:pt x="5619750" y="36041"/>
                </a:cubicBezTo>
                <a:lnTo>
                  <a:pt x="5619750" y="36041"/>
                </a:lnTo>
                <a:lnTo>
                  <a:pt x="0" y="36041"/>
                </a:ln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9" name="Shape 6"/>
          <p:cNvSpPr/>
          <p:nvPr/>
        </p:nvSpPr>
        <p:spPr>
          <a:xfrm>
            <a:off x="590518" y="1331247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0" name="Text 7"/>
          <p:cNvSpPr/>
          <p:nvPr/>
        </p:nvSpPr>
        <p:spPr>
          <a:xfrm>
            <a:off x="933353" y="129319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需求分析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1388" y="1712247"/>
            <a:ext cx="36041" cy="762000"/>
          </a:xfrm>
          <a:custGeom>
            <a:avLst/>
            <a:gdLst/>
            <a:ahLst/>
            <a:cxnLst/>
            <a:rect l="l" t="t" r="r" b="b"/>
            <a:pathLst>
              <a:path w="36041" h="762000">
                <a:moveTo>
                  <a:pt x="0" y="0"/>
                </a:moveTo>
                <a:lnTo>
                  <a:pt x="36041" y="0"/>
                </a:lnTo>
                <a:lnTo>
                  <a:pt x="3604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2" name="Text 9"/>
          <p:cNvSpPr/>
          <p:nvPr/>
        </p:nvSpPr>
        <p:spPr>
          <a:xfrm>
            <a:off x="683644" y="1712247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《软件需求规格说明书》(SRS)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3644" y="2016902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产出国家标准的SRS文档，</a:t>
            </a: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明确定义功能需求、非功能需求和接口规范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，为后续设计与开发提供权威依据。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33368" y="2588242"/>
            <a:ext cx="2600325" cy="838200"/>
          </a:xfrm>
          <a:custGeom>
            <a:avLst/>
            <a:gdLst/>
            <a:ahLst/>
            <a:cxnLst/>
            <a:rect l="l" t="t" r="r" b="b"/>
            <a:pathLst>
              <a:path w="2600325" h="838200">
                <a:moveTo>
                  <a:pt x="76201" y="0"/>
                </a:moveTo>
                <a:lnTo>
                  <a:pt x="2524124" y="0"/>
                </a:lnTo>
                <a:cubicBezTo>
                  <a:pt x="2566209" y="0"/>
                  <a:pt x="2600325" y="34116"/>
                  <a:pt x="2600325" y="76201"/>
                </a:cubicBezTo>
                <a:lnTo>
                  <a:pt x="2600325" y="761999"/>
                </a:lnTo>
                <a:cubicBezTo>
                  <a:pt x="2600325" y="804084"/>
                  <a:pt x="2566209" y="838200"/>
                  <a:pt x="25241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5" name="Text 12"/>
          <p:cNvSpPr/>
          <p:nvPr/>
        </p:nvSpPr>
        <p:spPr>
          <a:xfrm>
            <a:off x="609503" y="2702477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用户类型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6166" y="2969079"/>
            <a:ext cx="2514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47993" y="2588242"/>
            <a:ext cx="2600325" cy="838200"/>
          </a:xfrm>
          <a:custGeom>
            <a:avLst/>
            <a:gdLst/>
            <a:ahLst/>
            <a:cxnLst/>
            <a:rect l="l" t="t" r="r" b="b"/>
            <a:pathLst>
              <a:path w="2600325" h="838200">
                <a:moveTo>
                  <a:pt x="76201" y="0"/>
                </a:moveTo>
                <a:lnTo>
                  <a:pt x="2524124" y="0"/>
                </a:lnTo>
                <a:cubicBezTo>
                  <a:pt x="2566209" y="0"/>
                  <a:pt x="2600325" y="34116"/>
                  <a:pt x="2600325" y="76201"/>
                </a:cubicBezTo>
                <a:lnTo>
                  <a:pt x="2600325" y="761999"/>
                </a:lnTo>
                <a:cubicBezTo>
                  <a:pt x="2600325" y="804084"/>
                  <a:pt x="2566209" y="838200"/>
                  <a:pt x="25241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8" name="Text 15"/>
          <p:cNvSpPr/>
          <p:nvPr/>
        </p:nvSpPr>
        <p:spPr>
          <a:xfrm>
            <a:off x="3324128" y="2702477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功能模块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290791" y="2969079"/>
            <a:ext cx="2514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8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51388" y="3540421"/>
            <a:ext cx="36041" cy="762000"/>
          </a:xfrm>
          <a:custGeom>
            <a:avLst/>
            <a:gdLst/>
            <a:ahLst/>
            <a:cxnLst/>
            <a:rect l="l" t="t" r="r" b="b"/>
            <a:pathLst>
              <a:path w="36041" h="762000">
                <a:moveTo>
                  <a:pt x="0" y="0"/>
                </a:moveTo>
                <a:lnTo>
                  <a:pt x="36041" y="0"/>
                </a:lnTo>
                <a:lnTo>
                  <a:pt x="3604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1" name="Text 18"/>
          <p:cNvSpPr/>
          <p:nvPr/>
        </p:nvSpPr>
        <p:spPr>
          <a:xfrm>
            <a:off x="683644" y="3540421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原型设计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3644" y="3845072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200" dirty="0">
                <a:solidFill>
                  <a:srgbClr val="343A40"/>
                </a:solidFill>
                <a:highlight>
                  <a:srgbClr val="FFC10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高保真原型图 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进行用户需求验证，收集早期反馈并迭代优化，确保设计方向正确。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1000" y="4606914"/>
            <a:ext cx="5619750" cy="800100"/>
          </a:xfrm>
          <a:custGeom>
            <a:avLst/>
            <a:gdLst/>
            <a:ahLst/>
            <a:cxnLst/>
            <a:rect l="l" t="t" r="r" b="b"/>
            <a:pathLst>
              <a:path w="5619750" h="800100">
                <a:moveTo>
                  <a:pt x="114302" y="0"/>
                </a:moveTo>
                <a:lnTo>
                  <a:pt x="5505448" y="0"/>
                </a:lnTo>
                <a:cubicBezTo>
                  <a:pt x="5568533" y="0"/>
                  <a:pt x="5619750" y="51217"/>
                  <a:pt x="5619750" y="114302"/>
                </a:cubicBezTo>
                <a:lnTo>
                  <a:pt x="5619750" y="685798"/>
                </a:lnTo>
                <a:cubicBezTo>
                  <a:pt x="5619750" y="748883"/>
                  <a:pt x="5568533" y="800100"/>
                  <a:pt x="55054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43A4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0993" y="476443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5" name="Text 22"/>
          <p:cNvSpPr/>
          <p:nvPr/>
        </p:nvSpPr>
        <p:spPr>
          <a:xfrm>
            <a:off x="828643" y="4759282"/>
            <a:ext cx="5095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核心成果:</a:t>
            </a: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将用户需求转化为清晰、无歧义的技术规格,为系统设计奠定基础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91250" y="1122806"/>
            <a:ext cx="5619750" cy="4285220"/>
          </a:xfrm>
          <a:custGeom>
            <a:avLst/>
            <a:gdLst/>
            <a:ahLst/>
            <a:cxnLst/>
            <a:rect l="l" t="t" r="r" b="b"/>
            <a:pathLst>
              <a:path w="5619750" h="4285220">
                <a:moveTo>
                  <a:pt x="36041" y="0"/>
                </a:moveTo>
                <a:lnTo>
                  <a:pt x="5583709" y="0"/>
                </a:lnTo>
                <a:cubicBezTo>
                  <a:pt x="5603614" y="0"/>
                  <a:pt x="5619750" y="16136"/>
                  <a:pt x="5619750" y="36041"/>
                </a:cubicBezTo>
                <a:lnTo>
                  <a:pt x="5619750" y="4170933"/>
                </a:lnTo>
                <a:cubicBezTo>
                  <a:pt x="5619750" y="4234052"/>
                  <a:pt x="5568582" y="4285220"/>
                  <a:pt x="5505463" y="4285220"/>
                </a:cubicBezTo>
                <a:lnTo>
                  <a:pt x="114287" y="4285220"/>
                </a:lnTo>
                <a:cubicBezTo>
                  <a:pt x="51168" y="4285220"/>
                  <a:pt x="0" y="4234052"/>
                  <a:pt x="0" y="4170933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91250" y="1122806"/>
            <a:ext cx="5619750" cy="36041"/>
          </a:xfrm>
          <a:custGeom>
            <a:avLst/>
            <a:gdLst/>
            <a:ahLst/>
            <a:cxnLst/>
            <a:rect l="l" t="t" r="r" b="b"/>
            <a:pathLst>
              <a:path w="5619750" h="36041">
                <a:moveTo>
                  <a:pt x="36041" y="0"/>
                </a:moveTo>
                <a:lnTo>
                  <a:pt x="5583709" y="0"/>
                </a:lnTo>
                <a:cubicBezTo>
                  <a:pt x="5603614" y="0"/>
                  <a:pt x="5619750" y="16136"/>
                  <a:pt x="5619750" y="36041"/>
                </a:cubicBezTo>
                <a:lnTo>
                  <a:pt x="5619750" y="36041"/>
                </a:lnTo>
                <a:lnTo>
                  <a:pt x="0" y="36041"/>
                </a:ln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8" name="Shape 25"/>
          <p:cNvSpPr/>
          <p:nvPr/>
        </p:nvSpPr>
        <p:spPr>
          <a:xfrm>
            <a:off x="6372192" y="13312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9" name="Text 26"/>
          <p:cNvSpPr/>
          <p:nvPr/>
        </p:nvSpPr>
        <p:spPr>
          <a:xfrm>
            <a:off x="6743603" y="129319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总体设计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61638" y="1712247"/>
            <a:ext cx="36041" cy="762000"/>
          </a:xfrm>
          <a:custGeom>
            <a:avLst/>
            <a:gdLst/>
            <a:ahLst/>
            <a:cxnLst/>
            <a:rect l="l" t="t" r="r" b="b"/>
            <a:pathLst>
              <a:path w="36041" h="762000">
                <a:moveTo>
                  <a:pt x="0" y="0"/>
                </a:moveTo>
                <a:lnTo>
                  <a:pt x="36041" y="0"/>
                </a:lnTo>
                <a:lnTo>
                  <a:pt x="3604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1" name="Text 28"/>
          <p:cNvSpPr/>
          <p:nvPr/>
        </p:nvSpPr>
        <p:spPr>
          <a:xfrm>
            <a:off x="6493894" y="1712247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《概要设计说明书》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493894" y="2016902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产出国家标准的概要设计文档，</a:t>
            </a:r>
            <a:r>
              <a:rPr lang="en-US" sz="1200" b="1" dirty="0">
                <a:solidFill>
                  <a:srgbClr val="0056B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定义系统架构、模块划分和接口规范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，为详细设计提供顶层指导。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61638" y="2588242"/>
            <a:ext cx="36041" cy="914400"/>
          </a:xfrm>
          <a:custGeom>
            <a:avLst/>
            <a:gdLst/>
            <a:ahLst/>
            <a:cxnLst/>
            <a:rect l="l" t="t" r="r" b="b"/>
            <a:pathLst>
              <a:path w="36041" h="914400">
                <a:moveTo>
                  <a:pt x="0" y="0"/>
                </a:moveTo>
                <a:lnTo>
                  <a:pt x="36041" y="0"/>
                </a:lnTo>
                <a:lnTo>
                  <a:pt x="36041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4" name="Text 31"/>
          <p:cNvSpPr/>
          <p:nvPr/>
        </p:nvSpPr>
        <p:spPr>
          <a:xfrm>
            <a:off x="6493894" y="2588242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前后端分离架构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493894" y="2892898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</a:t>
            </a:r>
            <a:r>
              <a:rPr lang="en-US" sz="1200" dirty="0">
                <a:solidFill>
                  <a:srgbClr val="343A40"/>
                </a:solidFill>
                <a:highlight>
                  <a:srgbClr val="FFC10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前后端分离 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的技术架构，实现职责分离与并行开发，提升团队效率。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93894" y="3197633"/>
            <a:ext cx="1666875" cy="304800"/>
          </a:xfrm>
          <a:custGeom>
            <a:avLst/>
            <a:gdLst/>
            <a:ahLst/>
            <a:cxnLst/>
            <a:rect l="l" t="t" r="r" b="b"/>
            <a:pathLst>
              <a:path w="1666875" h="304800">
                <a:moveTo>
                  <a:pt x="38100" y="0"/>
                </a:moveTo>
                <a:lnTo>
                  <a:pt x="1628775" y="0"/>
                </a:lnTo>
                <a:cubicBezTo>
                  <a:pt x="1649803" y="0"/>
                  <a:pt x="1666875" y="17072"/>
                  <a:pt x="1666875" y="38100"/>
                </a:cubicBezTo>
                <a:lnTo>
                  <a:pt x="1666875" y="266700"/>
                </a:lnTo>
                <a:cubicBezTo>
                  <a:pt x="1666875" y="287728"/>
                  <a:pt x="1649803" y="304800"/>
                  <a:pt x="16287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37" name="Text 34"/>
          <p:cNvSpPr/>
          <p:nvPr/>
        </p:nvSpPr>
        <p:spPr>
          <a:xfrm>
            <a:off x="6460556" y="3197633"/>
            <a:ext cx="1733550" cy="304800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表示层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240814" y="3197633"/>
            <a:ext cx="1666875" cy="304800"/>
          </a:xfrm>
          <a:custGeom>
            <a:avLst/>
            <a:gdLst/>
            <a:ahLst/>
            <a:cxnLst/>
            <a:rect l="l" t="t" r="r" b="b"/>
            <a:pathLst>
              <a:path w="1666875" h="304800">
                <a:moveTo>
                  <a:pt x="38100" y="0"/>
                </a:moveTo>
                <a:lnTo>
                  <a:pt x="1628775" y="0"/>
                </a:lnTo>
                <a:cubicBezTo>
                  <a:pt x="1649803" y="0"/>
                  <a:pt x="1666875" y="17072"/>
                  <a:pt x="1666875" y="38100"/>
                </a:cubicBezTo>
                <a:lnTo>
                  <a:pt x="1666875" y="266700"/>
                </a:lnTo>
                <a:cubicBezTo>
                  <a:pt x="1666875" y="287728"/>
                  <a:pt x="1649803" y="304800"/>
                  <a:pt x="16287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9" name="Text 36"/>
          <p:cNvSpPr/>
          <p:nvPr/>
        </p:nvSpPr>
        <p:spPr>
          <a:xfrm>
            <a:off x="8207476" y="3197633"/>
            <a:ext cx="1733550" cy="304800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业务逻辑层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987815" y="3197633"/>
            <a:ext cx="1666875" cy="304800"/>
          </a:xfrm>
          <a:custGeom>
            <a:avLst/>
            <a:gdLst/>
            <a:ahLst/>
            <a:cxnLst/>
            <a:rect l="l" t="t" r="r" b="b"/>
            <a:pathLst>
              <a:path w="1666875" h="304800">
                <a:moveTo>
                  <a:pt x="38100" y="0"/>
                </a:moveTo>
                <a:lnTo>
                  <a:pt x="1628775" y="0"/>
                </a:lnTo>
                <a:cubicBezTo>
                  <a:pt x="1649803" y="0"/>
                  <a:pt x="1666875" y="17072"/>
                  <a:pt x="1666875" y="38100"/>
                </a:cubicBezTo>
                <a:lnTo>
                  <a:pt x="1666875" y="266700"/>
                </a:lnTo>
                <a:cubicBezTo>
                  <a:pt x="1666875" y="287728"/>
                  <a:pt x="1649803" y="304800"/>
                  <a:pt x="16287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41" name="Text 38"/>
          <p:cNvSpPr/>
          <p:nvPr/>
        </p:nvSpPr>
        <p:spPr>
          <a:xfrm>
            <a:off x="9954477" y="3197633"/>
            <a:ext cx="1733550" cy="304800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数据访问层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361638" y="3616603"/>
            <a:ext cx="36041" cy="1638300"/>
          </a:xfrm>
          <a:custGeom>
            <a:avLst/>
            <a:gdLst/>
            <a:ahLst/>
            <a:cxnLst/>
            <a:rect l="l" t="t" r="r" b="b"/>
            <a:pathLst>
              <a:path w="36041" h="1638300">
                <a:moveTo>
                  <a:pt x="0" y="0"/>
                </a:moveTo>
                <a:lnTo>
                  <a:pt x="36041" y="0"/>
                </a:lnTo>
                <a:lnTo>
                  <a:pt x="36041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43" name="Text 40"/>
          <p:cNvSpPr/>
          <p:nvPr/>
        </p:nvSpPr>
        <p:spPr>
          <a:xfrm>
            <a:off x="6493894" y="3616603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数据库ER模型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493894" y="3921258"/>
            <a:ext cx="5238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设计系统ER图，定义用户、对话、消息等核心实体及关系，为数据持久化提供坚实基础。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493894" y="4949619"/>
            <a:ext cx="1238250" cy="304800"/>
          </a:xfrm>
          <a:custGeom>
            <a:avLst/>
            <a:gdLst/>
            <a:ahLst/>
            <a:cxnLst/>
            <a:rect l="l" t="t" r="r" b="b"/>
            <a:pathLst>
              <a:path w="1238250" h="304800">
                <a:moveTo>
                  <a:pt x="38100" y="0"/>
                </a:moveTo>
                <a:lnTo>
                  <a:pt x="1200150" y="0"/>
                </a:lnTo>
                <a:cubicBezTo>
                  <a:pt x="1221178" y="0"/>
                  <a:pt x="1238250" y="17072"/>
                  <a:pt x="1238250" y="38100"/>
                </a:cubicBezTo>
                <a:lnTo>
                  <a:pt x="1238250" y="266700"/>
                </a:lnTo>
                <a:cubicBezTo>
                  <a:pt x="1238250" y="287728"/>
                  <a:pt x="1221178" y="304800"/>
                  <a:pt x="12001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6" name="Text 43"/>
          <p:cNvSpPr/>
          <p:nvPr/>
        </p:nvSpPr>
        <p:spPr>
          <a:xfrm>
            <a:off x="6460556" y="4949619"/>
            <a:ext cx="1304925" cy="304800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用户表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804064" y="4949619"/>
            <a:ext cx="1238250" cy="304800"/>
          </a:xfrm>
          <a:custGeom>
            <a:avLst/>
            <a:gdLst/>
            <a:ahLst/>
            <a:cxnLst/>
            <a:rect l="l" t="t" r="r" b="b"/>
            <a:pathLst>
              <a:path w="1238250" h="304800">
                <a:moveTo>
                  <a:pt x="38100" y="0"/>
                </a:moveTo>
                <a:lnTo>
                  <a:pt x="1200150" y="0"/>
                </a:lnTo>
                <a:cubicBezTo>
                  <a:pt x="1221178" y="0"/>
                  <a:pt x="1238250" y="17072"/>
                  <a:pt x="1238250" y="38100"/>
                </a:cubicBezTo>
                <a:lnTo>
                  <a:pt x="1238250" y="266700"/>
                </a:lnTo>
                <a:cubicBezTo>
                  <a:pt x="1238250" y="287728"/>
                  <a:pt x="1221178" y="304800"/>
                  <a:pt x="12001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8" name="Text 45"/>
          <p:cNvSpPr/>
          <p:nvPr/>
        </p:nvSpPr>
        <p:spPr>
          <a:xfrm>
            <a:off x="7770726" y="4949619"/>
            <a:ext cx="1304925" cy="304800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对话表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9114315" y="4949619"/>
            <a:ext cx="1238250" cy="304800"/>
          </a:xfrm>
          <a:custGeom>
            <a:avLst/>
            <a:gdLst/>
            <a:ahLst/>
            <a:cxnLst/>
            <a:rect l="l" t="t" r="r" b="b"/>
            <a:pathLst>
              <a:path w="1238250" h="304800">
                <a:moveTo>
                  <a:pt x="38100" y="0"/>
                </a:moveTo>
                <a:lnTo>
                  <a:pt x="1200150" y="0"/>
                </a:lnTo>
                <a:cubicBezTo>
                  <a:pt x="1221178" y="0"/>
                  <a:pt x="1238250" y="17072"/>
                  <a:pt x="1238250" y="38100"/>
                </a:cubicBezTo>
                <a:lnTo>
                  <a:pt x="1238250" y="266700"/>
                </a:lnTo>
                <a:cubicBezTo>
                  <a:pt x="1238250" y="287728"/>
                  <a:pt x="1221178" y="304800"/>
                  <a:pt x="12001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0" name="Text 47"/>
          <p:cNvSpPr/>
          <p:nvPr/>
        </p:nvSpPr>
        <p:spPr>
          <a:xfrm>
            <a:off x="9080977" y="4949619"/>
            <a:ext cx="1304925" cy="304800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消息表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0424565" y="4949619"/>
            <a:ext cx="1238250" cy="304800"/>
          </a:xfrm>
          <a:custGeom>
            <a:avLst/>
            <a:gdLst/>
            <a:ahLst/>
            <a:cxnLst/>
            <a:rect l="l" t="t" r="r" b="b"/>
            <a:pathLst>
              <a:path w="1238250" h="304800">
                <a:moveTo>
                  <a:pt x="38100" y="0"/>
                </a:moveTo>
                <a:lnTo>
                  <a:pt x="1200150" y="0"/>
                </a:lnTo>
                <a:cubicBezTo>
                  <a:pt x="1221178" y="0"/>
                  <a:pt x="1238250" y="17072"/>
                  <a:pt x="1238250" y="38100"/>
                </a:cubicBezTo>
                <a:lnTo>
                  <a:pt x="1238250" y="266700"/>
                </a:lnTo>
                <a:cubicBezTo>
                  <a:pt x="1238250" y="287728"/>
                  <a:pt x="1221178" y="304800"/>
                  <a:pt x="12001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2" name="Text 49"/>
          <p:cNvSpPr/>
          <p:nvPr/>
        </p:nvSpPr>
        <p:spPr>
          <a:xfrm>
            <a:off x="10391227" y="4949619"/>
            <a:ext cx="1304925" cy="304800"/>
          </a:xfrm>
          <a:prstGeom prst="rect">
            <a:avLst/>
          </a:prstGeom>
          <a:noFill/>
          <a:ln/>
        </p:spPr>
        <p:txBody>
          <a:bodyPr wrap="square" lIns="57150" tIns="57150" rIns="57150" bIns="5715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配置表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1000" y="457265"/>
            <a:ext cx="495300" cy="304800"/>
          </a:xfrm>
          <a:custGeom>
            <a:avLst/>
            <a:gdLst/>
            <a:ahLst/>
            <a:cxnLst/>
            <a:rect l="l" t="t" r="r" b="b"/>
            <a:pathLst>
              <a:path w="495300" h="304800">
                <a:moveTo>
                  <a:pt x="152400" y="0"/>
                </a:moveTo>
                <a:lnTo>
                  <a:pt x="342900" y="0"/>
                </a:lnTo>
                <a:cubicBezTo>
                  <a:pt x="427012" y="0"/>
                  <a:pt x="495300" y="68288"/>
                  <a:pt x="495300" y="152400"/>
                </a:cubicBezTo>
                <a:lnTo>
                  <a:pt x="495300" y="152400"/>
                </a:lnTo>
                <a:cubicBezTo>
                  <a:pt x="495300" y="236512"/>
                  <a:pt x="427012" y="304800"/>
                  <a:pt x="3429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457265"/>
            <a:ext cx="571500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86529" y="381000"/>
            <a:ext cx="4524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阶段三:从蓝图到产品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3000" y="914367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7" name="Shape 4"/>
          <p:cNvSpPr/>
          <p:nvPr/>
        </p:nvSpPr>
        <p:spPr>
          <a:xfrm>
            <a:off x="381000" y="1122809"/>
            <a:ext cx="3705225" cy="4094720"/>
          </a:xfrm>
          <a:custGeom>
            <a:avLst/>
            <a:gdLst/>
            <a:ahLst/>
            <a:cxnLst/>
            <a:rect l="l" t="t" r="r" b="b"/>
            <a:pathLst>
              <a:path w="3705225" h="4094720">
                <a:moveTo>
                  <a:pt x="36041" y="0"/>
                </a:moveTo>
                <a:lnTo>
                  <a:pt x="3669184" y="0"/>
                </a:lnTo>
                <a:cubicBezTo>
                  <a:pt x="3689089" y="0"/>
                  <a:pt x="3705225" y="16136"/>
                  <a:pt x="3705225" y="36041"/>
                </a:cubicBezTo>
                <a:lnTo>
                  <a:pt x="3705225" y="3980414"/>
                </a:lnTo>
                <a:cubicBezTo>
                  <a:pt x="3705225" y="4043544"/>
                  <a:pt x="3654048" y="4094720"/>
                  <a:pt x="3590919" y="4094720"/>
                </a:cubicBezTo>
                <a:lnTo>
                  <a:pt x="114306" y="4094720"/>
                </a:lnTo>
                <a:cubicBezTo>
                  <a:pt x="51177" y="4094720"/>
                  <a:pt x="0" y="4043544"/>
                  <a:pt x="0" y="3980414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81000" y="1122809"/>
            <a:ext cx="3705225" cy="36041"/>
          </a:xfrm>
          <a:custGeom>
            <a:avLst/>
            <a:gdLst/>
            <a:ahLst/>
            <a:cxnLst/>
            <a:rect l="l" t="t" r="r" b="b"/>
            <a:pathLst>
              <a:path w="3705225" h="36041">
                <a:moveTo>
                  <a:pt x="36041" y="0"/>
                </a:moveTo>
                <a:lnTo>
                  <a:pt x="3669184" y="0"/>
                </a:lnTo>
                <a:cubicBezTo>
                  <a:pt x="3689089" y="0"/>
                  <a:pt x="3705225" y="16136"/>
                  <a:pt x="3705225" y="36041"/>
                </a:cubicBezTo>
                <a:lnTo>
                  <a:pt x="3705225" y="36041"/>
                </a:lnTo>
                <a:lnTo>
                  <a:pt x="0" y="36041"/>
                </a:ln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9" name="Shape 6"/>
          <p:cNvSpPr/>
          <p:nvPr/>
        </p:nvSpPr>
        <p:spPr>
          <a:xfrm>
            <a:off x="561943" y="13312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0380" y="0"/>
                </a:moveTo>
                <a:cubicBezTo>
                  <a:pt x="188952" y="0"/>
                  <a:pt x="197168" y="3393"/>
                  <a:pt x="203195" y="9465"/>
                </a:cubicBezTo>
                <a:lnTo>
                  <a:pt x="219135" y="25405"/>
                </a:lnTo>
                <a:cubicBezTo>
                  <a:pt x="225207" y="31433"/>
                  <a:pt x="228600" y="39648"/>
                  <a:pt x="228600" y="48220"/>
                </a:cubicBezTo>
                <a:cubicBezTo>
                  <a:pt x="228600" y="56793"/>
                  <a:pt x="225207" y="65008"/>
                  <a:pt x="219135" y="71036"/>
                </a:cubicBezTo>
                <a:lnTo>
                  <a:pt x="199087" y="91083"/>
                </a:lnTo>
                <a:lnTo>
                  <a:pt x="137517" y="29513"/>
                </a:lnTo>
                <a:lnTo>
                  <a:pt x="157564" y="9465"/>
                </a:lnTo>
                <a:cubicBezTo>
                  <a:pt x="163592" y="3393"/>
                  <a:pt x="171807" y="0"/>
                  <a:pt x="180380" y="0"/>
                </a:cubicBezTo>
                <a:close/>
                <a:moveTo>
                  <a:pt x="26298" y="140687"/>
                </a:moveTo>
                <a:lnTo>
                  <a:pt x="122381" y="44648"/>
                </a:lnTo>
                <a:lnTo>
                  <a:pt x="183952" y="106219"/>
                </a:lnTo>
                <a:lnTo>
                  <a:pt x="87913" y="202302"/>
                </a:lnTo>
                <a:cubicBezTo>
                  <a:pt x="83135" y="207079"/>
                  <a:pt x="77153" y="210562"/>
                  <a:pt x="70634" y="212393"/>
                </a:cubicBezTo>
                <a:lnTo>
                  <a:pt x="13573" y="228198"/>
                </a:lnTo>
                <a:cubicBezTo>
                  <a:pt x="9867" y="229225"/>
                  <a:pt x="5849" y="228198"/>
                  <a:pt x="3125" y="225430"/>
                </a:cubicBezTo>
                <a:cubicBezTo>
                  <a:pt x="402" y="222662"/>
                  <a:pt x="-670" y="218688"/>
                  <a:pt x="357" y="214982"/>
                </a:cubicBezTo>
                <a:lnTo>
                  <a:pt x="16252" y="157966"/>
                </a:lnTo>
                <a:cubicBezTo>
                  <a:pt x="18083" y="151448"/>
                  <a:pt x="21521" y="145509"/>
                  <a:pt x="26343" y="140687"/>
                </a:cubicBezTo>
                <a:close/>
                <a:moveTo>
                  <a:pt x="100638" y="36076"/>
                </a:moveTo>
                <a:lnTo>
                  <a:pt x="36076" y="100638"/>
                </a:lnTo>
                <a:lnTo>
                  <a:pt x="5224" y="69786"/>
                </a:lnTo>
                <a:cubicBezTo>
                  <a:pt x="-1741" y="62820"/>
                  <a:pt x="-1741" y="51524"/>
                  <a:pt x="5224" y="44514"/>
                </a:cubicBezTo>
                <a:lnTo>
                  <a:pt x="44514" y="5224"/>
                </a:lnTo>
                <a:cubicBezTo>
                  <a:pt x="51480" y="-1741"/>
                  <a:pt x="62776" y="-1741"/>
                  <a:pt x="69786" y="5224"/>
                </a:cubicBezTo>
                <a:lnTo>
                  <a:pt x="72420" y="7858"/>
                </a:lnTo>
                <a:lnTo>
                  <a:pt x="47283" y="32995"/>
                </a:lnTo>
                <a:cubicBezTo>
                  <a:pt x="43800" y="36478"/>
                  <a:pt x="43800" y="42148"/>
                  <a:pt x="47283" y="45631"/>
                </a:cubicBezTo>
                <a:cubicBezTo>
                  <a:pt x="50765" y="49113"/>
                  <a:pt x="56436" y="49113"/>
                  <a:pt x="59918" y="45631"/>
                </a:cubicBezTo>
                <a:lnTo>
                  <a:pt x="85055" y="20494"/>
                </a:lnTo>
                <a:lnTo>
                  <a:pt x="100638" y="36076"/>
                </a:lnTo>
                <a:close/>
                <a:moveTo>
                  <a:pt x="192524" y="127962"/>
                </a:moveTo>
                <a:lnTo>
                  <a:pt x="208106" y="143545"/>
                </a:lnTo>
                <a:lnTo>
                  <a:pt x="182969" y="168682"/>
                </a:lnTo>
                <a:cubicBezTo>
                  <a:pt x="179487" y="172164"/>
                  <a:pt x="179487" y="177835"/>
                  <a:pt x="182969" y="181317"/>
                </a:cubicBezTo>
                <a:cubicBezTo>
                  <a:pt x="186452" y="184800"/>
                  <a:pt x="192122" y="184800"/>
                  <a:pt x="195605" y="181317"/>
                </a:cubicBezTo>
                <a:lnTo>
                  <a:pt x="220742" y="156180"/>
                </a:lnTo>
                <a:lnTo>
                  <a:pt x="223376" y="158814"/>
                </a:lnTo>
                <a:cubicBezTo>
                  <a:pt x="230341" y="165780"/>
                  <a:pt x="230341" y="177076"/>
                  <a:pt x="223376" y="184086"/>
                </a:cubicBezTo>
                <a:lnTo>
                  <a:pt x="184086" y="223376"/>
                </a:lnTo>
                <a:cubicBezTo>
                  <a:pt x="177120" y="230341"/>
                  <a:pt x="165824" y="230341"/>
                  <a:pt x="158814" y="223376"/>
                </a:cubicBezTo>
                <a:lnTo>
                  <a:pt x="127962" y="192524"/>
                </a:lnTo>
                <a:lnTo>
                  <a:pt x="192524" y="127962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02" y="129319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详细设计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1388" y="1712244"/>
            <a:ext cx="36041" cy="762000"/>
          </a:xfrm>
          <a:custGeom>
            <a:avLst/>
            <a:gdLst/>
            <a:ahLst/>
            <a:cxnLst/>
            <a:rect l="l" t="t" r="r" b="b"/>
            <a:pathLst>
              <a:path w="36041" h="762000">
                <a:moveTo>
                  <a:pt x="0" y="0"/>
                </a:moveTo>
                <a:lnTo>
                  <a:pt x="36041" y="0"/>
                </a:lnTo>
                <a:lnTo>
                  <a:pt x="3604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2" name="Text 9"/>
          <p:cNvSpPr/>
          <p:nvPr/>
        </p:nvSpPr>
        <p:spPr>
          <a:xfrm>
            <a:off x="683644" y="1712244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《详细设计说明书》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3644" y="2016900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产出国家标准的详细设计文档，</a:t>
            </a: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对8个程序模块逐一进行算法和逻辑流程设计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1388" y="2588242"/>
            <a:ext cx="36041" cy="838200"/>
          </a:xfrm>
          <a:custGeom>
            <a:avLst/>
            <a:gdLst/>
            <a:ahLst/>
            <a:cxnLst/>
            <a:rect l="l" t="t" r="r" b="b"/>
            <a:pathLst>
              <a:path w="36041" h="838200">
                <a:moveTo>
                  <a:pt x="0" y="0"/>
                </a:moveTo>
                <a:lnTo>
                  <a:pt x="36041" y="0"/>
                </a:lnTo>
                <a:lnTo>
                  <a:pt x="36041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5" name="Text 12"/>
          <p:cNvSpPr/>
          <p:nvPr/>
        </p:nvSpPr>
        <p:spPr>
          <a:xfrm>
            <a:off x="683644" y="2588242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设计工具与方法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3644" y="2959508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7" name="Text 14"/>
          <p:cNvSpPr/>
          <p:nvPr/>
        </p:nvSpPr>
        <p:spPr>
          <a:xfrm>
            <a:off x="855078" y="2892898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PDL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程序设计语言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3644" y="3264243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9" name="Text 16"/>
          <p:cNvSpPr/>
          <p:nvPr/>
        </p:nvSpPr>
        <p:spPr>
          <a:xfrm>
            <a:off x="855078" y="3197633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流程图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可视化逻辑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51388" y="3544708"/>
            <a:ext cx="36041" cy="762000"/>
          </a:xfrm>
          <a:custGeom>
            <a:avLst/>
            <a:gdLst/>
            <a:ahLst/>
            <a:cxnLst/>
            <a:rect l="l" t="t" r="r" b="b"/>
            <a:pathLst>
              <a:path w="36041" h="762000">
                <a:moveTo>
                  <a:pt x="0" y="0"/>
                </a:moveTo>
                <a:lnTo>
                  <a:pt x="36041" y="0"/>
                </a:lnTo>
                <a:lnTo>
                  <a:pt x="3604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1" name="Text 18"/>
          <p:cNvSpPr/>
          <p:nvPr/>
        </p:nvSpPr>
        <p:spPr>
          <a:xfrm>
            <a:off x="683644" y="3544708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模块设计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3644" y="3849364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包括用户认证、模型管理、对话管理等核心模块。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41762" y="1122809"/>
            <a:ext cx="3705225" cy="4094720"/>
          </a:xfrm>
          <a:custGeom>
            <a:avLst/>
            <a:gdLst/>
            <a:ahLst/>
            <a:cxnLst/>
            <a:rect l="l" t="t" r="r" b="b"/>
            <a:pathLst>
              <a:path w="3705225" h="4094720">
                <a:moveTo>
                  <a:pt x="36041" y="0"/>
                </a:moveTo>
                <a:lnTo>
                  <a:pt x="3669184" y="0"/>
                </a:lnTo>
                <a:cubicBezTo>
                  <a:pt x="3689089" y="0"/>
                  <a:pt x="3705225" y="16136"/>
                  <a:pt x="3705225" y="36041"/>
                </a:cubicBezTo>
                <a:lnTo>
                  <a:pt x="3705225" y="3980414"/>
                </a:lnTo>
                <a:cubicBezTo>
                  <a:pt x="3705225" y="4043544"/>
                  <a:pt x="3654048" y="4094720"/>
                  <a:pt x="3590919" y="4094720"/>
                </a:cubicBezTo>
                <a:lnTo>
                  <a:pt x="114306" y="4094720"/>
                </a:lnTo>
                <a:cubicBezTo>
                  <a:pt x="51177" y="4094720"/>
                  <a:pt x="0" y="4043544"/>
                  <a:pt x="0" y="3980414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241762" y="1122809"/>
            <a:ext cx="3705225" cy="36041"/>
          </a:xfrm>
          <a:custGeom>
            <a:avLst/>
            <a:gdLst/>
            <a:ahLst/>
            <a:cxnLst/>
            <a:rect l="l" t="t" r="r" b="b"/>
            <a:pathLst>
              <a:path w="3705225" h="36041">
                <a:moveTo>
                  <a:pt x="36041" y="0"/>
                </a:moveTo>
                <a:lnTo>
                  <a:pt x="3669184" y="0"/>
                </a:lnTo>
                <a:cubicBezTo>
                  <a:pt x="3689089" y="0"/>
                  <a:pt x="3705225" y="16136"/>
                  <a:pt x="3705225" y="36041"/>
                </a:cubicBezTo>
                <a:lnTo>
                  <a:pt x="3705225" y="36041"/>
                </a:lnTo>
                <a:lnTo>
                  <a:pt x="0" y="36041"/>
                </a:ln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5" name="Shape 22"/>
          <p:cNvSpPr/>
          <p:nvPr/>
        </p:nvSpPr>
        <p:spPr>
          <a:xfrm>
            <a:off x="4408418" y="133124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6" name="Text 23"/>
          <p:cNvSpPr/>
          <p:nvPr/>
        </p:nvSpPr>
        <p:spPr>
          <a:xfrm>
            <a:off x="4756064" y="129319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系统实现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12150" y="1712244"/>
            <a:ext cx="36041" cy="1600200"/>
          </a:xfrm>
          <a:custGeom>
            <a:avLst/>
            <a:gdLst/>
            <a:ahLst/>
            <a:cxnLst/>
            <a:rect l="l" t="t" r="r" b="b"/>
            <a:pathLst>
              <a:path w="36041" h="1600200">
                <a:moveTo>
                  <a:pt x="0" y="0"/>
                </a:moveTo>
                <a:lnTo>
                  <a:pt x="36041" y="0"/>
                </a:lnTo>
                <a:lnTo>
                  <a:pt x="36041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8" name="Text 25"/>
          <p:cNvSpPr/>
          <p:nvPr/>
        </p:nvSpPr>
        <p:spPr>
          <a:xfrm>
            <a:off x="4544406" y="1712244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544406" y="2016900"/>
            <a:ext cx="3257550" cy="609600"/>
          </a:xfrm>
          <a:custGeom>
            <a:avLst/>
            <a:gdLst/>
            <a:ahLst/>
            <a:cxnLst/>
            <a:rect l="l" t="t" r="r" b="b"/>
            <a:pathLst>
              <a:path w="3257550" h="609600">
                <a:moveTo>
                  <a:pt x="76200" y="0"/>
                </a:moveTo>
                <a:lnTo>
                  <a:pt x="3181350" y="0"/>
                </a:lnTo>
                <a:cubicBezTo>
                  <a:pt x="3223406" y="0"/>
                  <a:pt x="3257550" y="34144"/>
                  <a:pt x="3257550" y="76200"/>
                </a:cubicBezTo>
                <a:lnTo>
                  <a:pt x="3257550" y="533400"/>
                </a:lnTo>
                <a:cubicBezTo>
                  <a:pt x="3257550" y="575456"/>
                  <a:pt x="3223406" y="609600"/>
                  <a:pt x="31813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30" name="Text 27"/>
          <p:cNvSpPr/>
          <p:nvPr/>
        </p:nvSpPr>
        <p:spPr>
          <a:xfrm>
            <a:off x="4620590" y="2093086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620590" y="2359689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 + TypeScript + Vite + AntD + Zustand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544406" y="2702556"/>
            <a:ext cx="3257550" cy="609600"/>
          </a:xfrm>
          <a:custGeom>
            <a:avLst/>
            <a:gdLst/>
            <a:ahLst/>
            <a:cxnLst/>
            <a:rect l="l" t="t" r="r" b="b"/>
            <a:pathLst>
              <a:path w="3257550" h="609600">
                <a:moveTo>
                  <a:pt x="76200" y="0"/>
                </a:moveTo>
                <a:lnTo>
                  <a:pt x="3181350" y="0"/>
                </a:lnTo>
                <a:cubicBezTo>
                  <a:pt x="3223406" y="0"/>
                  <a:pt x="3257550" y="34144"/>
                  <a:pt x="3257550" y="76200"/>
                </a:cubicBezTo>
                <a:lnTo>
                  <a:pt x="3257550" y="533400"/>
                </a:lnTo>
                <a:cubicBezTo>
                  <a:pt x="3257550" y="575456"/>
                  <a:pt x="3223406" y="609600"/>
                  <a:pt x="31813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3" name="Text 30"/>
          <p:cNvSpPr/>
          <p:nvPr/>
        </p:nvSpPr>
        <p:spPr>
          <a:xfrm>
            <a:off x="4620590" y="2778742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620590" y="3045344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 + MySQL + JWT + 密码加盐哈希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412150" y="3426265"/>
            <a:ext cx="36041" cy="762000"/>
          </a:xfrm>
          <a:custGeom>
            <a:avLst/>
            <a:gdLst/>
            <a:ahLst/>
            <a:cxnLst/>
            <a:rect l="l" t="t" r="r" b="b"/>
            <a:pathLst>
              <a:path w="36041" h="762000">
                <a:moveTo>
                  <a:pt x="0" y="0"/>
                </a:moveTo>
                <a:lnTo>
                  <a:pt x="36041" y="0"/>
                </a:lnTo>
                <a:lnTo>
                  <a:pt x="3604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6" name="Text 33"/>
          <p:cNvSpPr/>
          <p:nvPr/>
        </p:nvSpPr>
        <p:spPr>
          <a:xfrm>
            <a:off x="4544406" y="3426265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开发模式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544406" y="3730916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highlight>
                  <a:srgbClr val="FFC10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前后端并行开发 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200" dirty="0" err="1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通过API</a:t>
            </a:r>
            <a:r>
              <a:rPr lang="zh-CN" alt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</a:t>
            </a:r>
            <a:r>
              <a:rPr lang="en-US" sz="1200" dirty="0" err="1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契约协作，提升效率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412150" y="4302258"/>
            <a:ext cx="36041" cy="762000"/>
          </a:xfrm>
          <a:custGeom>
            <a:avLst/>
            <a:gdLst/>
            <a:ahLst/>
            <a:cxnLst/>
            <a:rect l="l" t="t" r="r" b="b"/>
            <a:pathLst>
              <a:path w="36041" h="762000">
                <a:moveTo>
                  <a:pt x="0" y="0"/>
                </a:moveTo>
                <a:lnTo>
                  <a:pt x="36041" y="0"/>
                </a:lnTo>
                <a:lnTo>
                  <a:pt x="3604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39" name="Text 36"/>
          <p:cNvSpPr/>
          <p:nvPr/>
        </p:nvSpPr>
        <p:spPr>
          <a:xfrm>
            <a:off x="4544406" y="4302258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完成功能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544406" y="4606914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 err="1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实现所有核心功能，包括</a:t>
            </a:r>
            <a:r>
              <a:rPr lang="zh-CN" alt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额外添加的读取上下文功能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102525" y="1122809"/>
            <a:ext cx="3705225" cy="4094720"/>
          </a:xfrm>
          <a:custGeom>
            <a:avLst/>
            <a:gdLst/>
            <a:ahLst/>
            <a:cxnLst/>
            <a:rect l="l" t="t" r="r" b="b"/>
            <a:pathLst>
              <a:path w="3705225" h="4094720">
                <a:moveTo>
                  <a:pt x="36041" y="0"/>
                </a:moveTo>
                <a:lnTo>
                  <a:pt x="3669184" y="0"/>
                </a:lnTo>
                <a:cubicBezTo>
                  <a:pt x="3689089" y="0"/>
                  <a:pt x="3705225" y="16136"/>
                  <a:pt x="3705225" y="36041"/>
                </a:cubicBezTo>
                <a:lnTo>
                  <a:pt x="3705225" y="3980414"/>
                </a:lnTo>
                <a:cubicBezTo>
                  <a:pt x="3705225" y="4043544"/>
                  <a:pt x="3654048" y="4094720"/>
                  <a:pt x="3590919" y="4094720"/>
                </a:cubicBezTo>
                <a:lnTo>
                  <a:pt x="114306" y="4094720"/>
                </a:lnTo>
                <a:cubicBezTo>
                  <a:pt x="51177" y="4094720"/>
                  <a:pt x="0" y="4043544"/>
                  <a:pt x="0" y="3980414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8102525" y="1122809"/>
            <a:ext cx="3705225" cy="36041"/>
          </a:xfrm>
          <a:custGeom>
            <a:avLst/>
            <a:gdLst/>
            <a:ahLst/>
            <a:cxnLst/>
            <a:rect l="l" t="t" r="r" b="b"/>
            <a:pathLst>
              <a:path w="3705225" h="36041">
                <a:moveTo>
                  <a:pt x="36041" y="0"/>
                </a:moveTo>
                <a:lnTo>
                  <a:pt x="3669184" y="0"/>
                </a:lnTo>
                <a:cubicBezTo>
                  <a:pt x="3689089" y="0"/>
                  <a:pt x="3705225" y="16136"/>
                  <a:pt x="3705225" y="36041"/>
                </a:cubicBezTo>
                <a:lnTo>
                  <a:pt x="3705225" y="36041"/>
                </a:lnTo>
                <a:lnTo>
                  <a:pt x="0" y="36041"/>
                </a:ln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43" name="Shape 40"/>
          <p:cNvSpPr/>
          <p:nvPr/>
        </p:nvSpPr>
        <p:spPr>
          <a:xfrm>
            <a:off x="8283468" y="13312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2966" y="4197"/>
                </a:moveTo>
                <a:cubicBezTo>
                  <a:pt x="147384" y="-1384"/>
                  <a:pt x="138321" y="-1384"/>
                  <a:pt x="132740" y="4197"/>
                </a:cubicBezTo>
                <a:cubicBezTo>
                  <a:pt x="127159" y="9778"/>
                  <a:pt x="127159" y="18842"/>
                  <a:pt x="132740" y="24423"/>
                </a:cubicBezTo>
                <a:lnTo>
                  <a:pt x="136937" y="28575"/>
                </a:lnTo>
                <a:lnTo>
                  <a:pt x="12546" y="152966"/>
                </a:lnTo>
                <a:cubicBezTo>
                  <a:pt x="4509" y="161002"/>
                  <a:pt x="0" y="171896"/>
                  <a:pt x="0" y="183282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45318" y="228600"/>
                </a:lnTo>
                <a:cubicBezTo>
                  <a:pt x="56704" y="228600"/>
                  <a:pt x="67598" y="224091"/>
                  <a:pt x="75634" y="216054"/>
                </a:cubicBezTo>
                <a:lnTo>
                  <a:pt x="200025" y="91663"/>
                </a:lnTo>
                <a:lnTo>
                  <a:pt x="204222" y="95860"/>
                </a:lnTo>
                <a:cubicBezTo>
                  <a:pt x="209803" y="101441"/>
                  <a:pt x="218867" y="101441"/>
                  <a:pt x="224448" y="95860"/>
                </a:cubicBezTo>
                <a:cubicBezTo>
                  <a:pt x="230029" y="90279"/>
                  <a:pt x="230029" y="81216"/>
                  <a:pt x="224448" y="75634"/>
                </a:cubicBezTo>
                <a:lnTo>
                  <a:pt x="153010" y="4197"/>
                </a:lnTo>
                <a:close/>
                <a:moveTo>
                  <a:pt x="91663" y="114300"/>
                </a:moveTo>
                <a:lnTo>
                  <a:pt x="157163" y="48801"/>
                </a:lnTo>
                <a:lnTo>
                  <a:pt x="179799" y="71438"/>
                </a:lnTo>
                <a:lnTo>
                  <a:pt x="136937" y="114300"/>
                </a:lnTo>
                <a:lnTo>
                  <a:pt x="91619" y="11430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44" name="Text 41"/>
          <p:cNvSpPr/>
          <p:nvPr/>
        </p:nvSpPr>
        <p:spPr>
          <a:xfrm>
            <a:off x="8616826" y="129319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系统测试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272913" y="1712244"/>
            <a:ext cx="36041" cy="1143000"/>
          </a:xfrm>
          <a:custGeom>
            <a:avLst/>
            <a:gdLst/>
            <a:ahLst/>
            <a:cxnLst/>
            <a:rect l="l" t="t" r="r" b="b"/>
            <a:pathLst>
              <a:path w="36041" h="1143000">
                <a:moveTo>
                  <a:pt x="0" y="0"/>
                </a:moveTo>
                <a:lnTo>
                  <a:pt x="36041" y="0"/>
                </a:lnTo>
                <a:lnTo>
                  <a:pt x="36041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46" name="Text 43"/>
          <p:cNvSpPr/>
          <p:nvPr/>
        </p:nvSpPr>
        <p:spPr>
          <a:xfrm>
            <a:off x="8405168" y="1712244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三级测试体系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405168" y="208351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48" name="Text 45"/>
          <p:cNvSpPr/>
          <p:nvPr/>
        </p:nvSpPr>
        <p:spPr>
          <a:xfrm>
            <a:off x="8576603" y="201690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单元测试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模块功能验证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405168" y="2388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0" name="Text 47"/>
          <p:cNvSpPr/>
          <p:nvPr/>
        </p:nvSpPr>
        <p:spPr>
          <a:xfrm>
            <a:off x="8576603" y="2321635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集成测试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模块间接口验证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405168" y="2692984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2" name="Text 49"/>
          <p:cNvSpPr/>
          <p:nvPr/>
        </p:nvSpPr>
        <p:spPr>
          <a:xfrm>
            <a:off x="8576603" y="2626375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端到端功能验证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272913" y="2969158"/>
            <a:ext cx="36041" cy="533400"/>
          </a:xfrm>
          <a:custGeom>
            <a:avLst/>
            <a:gdLst/>
            <a:ahLst/>
            <a:cxnLst/>
            <a:rect l="l" t="t" r="r" b="b"/>
            <a:pathLst>
              <a:path w="36041" h="533400">
                <a:moveTo>
                  <a:pt x="0" y="0"/>
                </a:moveTo>
                <a:lnTo>
                  <a:pt x="36041" y="0"/>
                </a:lnTo>
                <a:lnTo>
                  <a:pt x="36041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54" name="Text 51"/>
          <p:cNvSpPr/>
          <p:nvPr/>
        </p:nvSpPr>
        <p:spPr>
          <a:xfrm>
            <a:off x="8405168" y="2969158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测试维度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405168" y="3273814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</a:t>
            </a: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功能、性能、安全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三大维度。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381000" y="5368751"/>
            <a:ext cx="11430000" cy="581025"/>
          </a:xfrm>
          <a:custGeom>
            <a:avLst/>
            <a:gdLst/>
            <a:ahLst/>
            <a:cxnLst/>
            <a:rect l="l" t="t" r="r" b="b"/>
            <a:pathLst>
              <a:path w="11430000" h="581025">
                <a:moveTo>
                  <a:pt x="114299" y="0"/>
                </a:moveTo>
                <a:lnTo>
                  <a:pt x="11315701" y="0"/>
                </a:lnTo>
                <a:cubicBezTo>
                  <a:pt x="11378826" y="0"/>
                  <a:pt x="11430000" y="51174"/>
                  <a:pt x="11430000" y="114299"/>
                </a:cubicBezTo>
                <a:lnTo>
                  <a:pt x="11430000" y="466726"/>
                </a:lnTo>
                <a:cubicBezTo>
                  <a:pt x="11430000" y="529851"/>
                  <a:pt x="11378826" y="581025"/>
                  <a:pt x="11315701" y="581025"/>
                </a:cubicBezTo>
                <a:lnTo>
                  <a:pt x="114299" y="581025"/>
                </a:lnTo>
                <a:cubicBezTo>
                  <a:pt x="51174" y="581025"/>
                  <a:pt x="0" y="529851"/>
                  <a:pt x="0" y="466726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343A4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569087" y="555201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61" name="Text 58"/>
          <p:cNvSpPr/>
          <p:nvPr/>
        </p:nvSpPr>
        <p:spPr>
          <a:xfrm>
            <a:off x="857218" y="5521119"/>
            <a:ext cx="108870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工程理念:</a:t>
            </a:r>
            <a:r>
              <a:rPr lang="en-US" sz="13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350" dirty="0" err="1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设计是编码的图纸，测试是质量的保障</a:t>
            </a:r>
            <a:r>
              <a:rPr lang="en-US" sz="13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r>
              <a:rPr lang="zh-CN" altLang="en-US" sz="13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尽量做到</a:t>
            </a:r>
            <a:r>
              <a:rPr lang="en-US" sz="1350" dirty="0" err="1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每一行代码都有据可依，每一个功能都经过验证</a:t>
            </a:r>
            <a:r>
              <a:rPr lang="en-US" sz="13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F2B0F007-EB3A-8BCF-A226-20C6820665D7}"/>
              </a:ext>
            </a:extLst>
          </p:cNvPr>
          <p:cNvSpPr/>
          <p:nvPr/>
        </p:nvSpPr>
        <p:spPr>
          <a:xfrm>
            <a:off x="381000" y="457265"/>
            <a:ext cx="485775" cy="304800"/>
          </a:xfrm>
          <a:custGeom>
            <a:avLst/>
            <a:gdLst/>
            <a:ahLst/>
            <a:cxnLst/>
            <a:rect l="l" t="t" r="r" b="b"/>
            <a:pathLst>
              <a:path w="485775" h="304800">
                <a:moveTo>
                  <a:pt x="152400" y="0"/>
                </a:moveTo>
                <a:lnTo>
                  <a:pt x="333375" y="0"/>
                </a:lnTo>
                <a:cubicBezTo>
                  <a:pt x="417487" y="0"/>
                  <a:pt x="485775" y="68288"/>
                  <a:pt x="485775" y="152400"/>
                </a:cubicBezTo>
                <a:lnTo>
                  <a:pt x="485775" y="152400"/>
                </a:lnTo>
                <a:cubicBezTo>
                  <a:pt x="485775" y="236512"/>
                  <a:pt x="417487" y="304800"/>
                  <a:pt x="3333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F8EBFC58-BF18-98B4-CD0A-328EFB23329A}"/>
              </a:ext>
            </a:extLst>
          </p:cNvPr>
          <p:cNvSpPr/>
          <p:nvPr/>
        </p:nvSpPr>
        <p:spPr>
          <a:xfrm>
            <a:off x="381000" y="457265"/>
            <a:ext cx="561975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173" y="381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我们的交付物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3000" y="914367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7" name="Shape 4"/>
          <p:cNvSpPr/>
          <p:nvPr/>
        </p:nvSpPr>
        <p:spPr>
          <a:xfrm>
            <a:off x="381000" y="1142916"/>
            <a:ext cx="5143500" cy="4733925"/>
          </a:xfrm>
          <a:custGeom>
            <a:avLst/>
            <a:gdLst/>
            <a:ahLst/>
            <a:cxnLst/>
            <a:rect l="l" t="t" r="r" b="b"/>
            <a:pathLst>
              <a:path w="5143500" h="4733925">
                <a:moveTo>
                  <a:pt x="114277" y="0"/>
                </a:moveTo>
                <a:lnTo>
                  <a:pt x="5029223" y="0"/>
                </a:lnTo>
                <a:cubicBezTo>
                  <a:pt x="5092336" y="0"/>
                  <a:pt x="5143500" y="51164"/>
                  <a:pt x="5143500" y="114277"/>
                </a:cubicBezTo>
                <a:lnTo>
                  <a:pt x="5143500" y="4619648"/>
                </a:lnTo>
                <a:cubicBezTo>
                  <a:pt x="5143500" y="4682761"/>
                  <a:pt x="5092336" y="4733925"/>
                  <a:pt x="5029223" y="4733925"/>
                </a:cubicBezTo>
                <a:lnTo>
                  <a:pt x="114277" y="4733925"/>
                </a:lnTo>
                <a:cubicBezTo>
                  <a:pt x="51164" y="4733925"/>
                  <a:pt x="0" y="4682761"/>
                  <a:pt x="0" y="4619648"/>
                </a:cubicBezTo>
                <a:lnTo>
                  <a:pt x="0" y="114277"/>
                </a:lnTo>
                <a:cubicBezTo>
                  <a:pt x="0" y="51206"/>
                  <a:pt x="51206" y="0"/>
                  <a:pt x="114277" y="0"/>
                </a:cubicBezTo>
                <a:close/>
              </a:path>
            </a:pathLst>
          </a:custGeom>
          <a:solidFill>
            <a:srgbClr val="343A4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9600" y="136197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9" name="Text 6"/>
          <p:cNvSpPr/>
          <p:nvPr/>
        </p:nvSpPr>
        <p:spPr>
          <a:xfrm>
            <a:off x="1042923" y="1333416"/>
            <a:ext cx="1571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可运行系统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500" y="2248730"/>
            <a:ext cx="4762500" cy="2495087"/>
          </a:xfrm>
          <a:custGeom>
            <a:avLst/>
            <a:gdLst/>
            <a:ahLst/>
            <a:cxnLst/>
            <a:rect l="l" t="t" r="r" b="b"/>
            <a:pathLst>
              <a:path w="4762500" h="3248025">
                <a:moveTo>
                  <a:pt x="76199" y="0"/>
                </a:moveTo>
                <a:lnTo>
                  <a:pt x="4686301" y="0"/>
                </a:lnTo>
                <a:cubicBezTo>
                  <a:pt x="4728385" y="0"/>
                  <a:pt x="4762500" y="34115"/>
                  <a:pt x="4762500" y="76199"/>
                </a:cubicBezTo>
                <a:lnTo>
                  <a:pt x="4762500" y="3171826"/>
                </a:lnTo>
                <a:cubicBezTo>
                  <a:pt x="4762500" y="3213910"/>
                  <a:pt x="4728385" y="3248025"/>
                  <a:pt x="4686301" y="3248025"/>
                </a:cubicBezTo>
                <a:lnTo>
                  <a:pt x="76199" y="3248025"/>
                </a:lnTo>
                <a:cubicBezTo>
                  <a:pt x="34115" y="3248025"/>
                  <a:pt x="0" y="3213910"/>
                  <a:pt x="0" y="31718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2" name="Text 8"/>
          <p:cNvSpPr/>
          <p:nvPr/>
        </p:nvSpPr>
        <p:spPr>
          <a:xfrm>
            <a:off x="571500" y="5194018"/>
            <a:ext cx="4838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已部署上线的完整Web应用，</a:t>
            </a:r>
            <a:r>
              <a:rPr lang="en-US" sz="1200" dirty="0">
                <a:solidFill>
                  <a:srgbClr val="FFC107"/>
                </a:solidFill>
                <a:highlight>
                  <a:srgbClr val="FFC10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支持多模型对话、历史管理、用户认证等核心功能 </a:t>
            </a: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，用户可直接访问使用。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715000" y="1160937"/>
            <a:ext cx="6096000" cy="3046970"/>
          </a:xfrm>
          <a:custGeom>
            <a:avLst/>
            <a:gdLst/>
            <a:ahLst/>
            <a:cxnLst/>
            <a:rect l="l" t="t" r="r" b="b"/>
            <a:pathLst>
              <a:path w="6096000" h="3046970">
                <a:moveTo>
                  <a:pt x="36041" y="0"/>
                </a:moveTo>
                <a:lnTo>
                  <a:pt x="6059959" y="0"/>
                </a:lnTo>
                <a:cubicBezTo>
                  <a:pt x="6079864" y="0"/>
                  <a:pt x="6096000" y="16136"/>
                  <a:pt x="6096000" y="36041"/>
                </a:cubicBezTo>
                <a:lnTo>
                  <a:pt x="6096000" y="2932678"/>
                </a:lnTo>
                <a:cubicBezTo>
                  <a:pt x="6096000" y="2995800"/>
                  <a:pt x="6044830" y="3046970"/>
                  <a:pt x="5981708" y="3046970"/>
                </a:cubicBezTo>
                <a:lnTo>
                  <a:pt x="114292" y="3046970"/>
                </a:lnTo>
                <a:cubicBezTo>
                  <a:pt x="51170" y="3046970"/>
                  <a:pt x="0" y="2995800"/>
                  <a:pt x="0" y="2932678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715000" y="1160937"/>
            <a:ext cx="6096000" cy="36041"/>
          </a:xfrm>
          <a:custGeom>
            <a:avLst/>
            <a:gdLst/>
            <a:ahLst/>
            <a:cxnLst/>
            <a:rect l="l" t="t" r="r" b="b"/>
            <a:pathLst>
              <a:path w="6096000" h="36041">
                <a:moveTo>
                  <a:pt x="36041" y="0"/>
                </a:moveTo>
                <a:lnTo>
                  <a:pt x="6059959" y="0"/>
                </a:lnTo>
                <a:cubicBezTo>
                  <a:pt x="6079864" y="0"/>
                  <a:pt x="6096000" y="16136"/>
                  <a:pt x="6096000" y="36041"/>
                </a:cubicBezTo>
                <a:lnTo>
                  <a:pt x="6096000" y="36041"/>
                </a:lnTo>
                <a:lnTo>
                  <a:pt x="0" y="36041"/>
                </a:ln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24" name="Shape 20"/>
          <p:cNvSpPr/>
          <p:nvPr/>
        </p:nvSpPr>
        <p:spPr>
          <a:xfrm>
            <a:off x="5919788" y="140750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5003" y="100727"/>
                </a:moveTo>
                <a:lnTo>
                  <a:pt x="14466" y="132249"/>
                </a:lnTo>
                <a:lnTo>
                  <a:pt x="14466" y="42863"/>
                </a:lnTo>
                <a:cubicBezTo>
                  <a:pt x="14466" y="27102"/>
                  <a:pt x="27280" y="14288"/>
                  <a:pt x="43041" y="14288"/>
                </a:cubicBezTo>
                <a:lnTo>
                  <a:pt x="104968" y="14288"/>
                </a:lnTo>
                <a:cubicBezTo>
                  <a:pt x="111130" y="14288"/>
                  <a:pt x="117157" y="16297"/>
                  <a:pt x="122113" y="20003"/>
                </a:cubicBezTo>
                <a:lnTo>
                  <a:pt x="139258" y="32861"/>
                </a:lnTo>
                <a:cubicBezTo>
                  <a:pt x="141714" y="34736"/>
                  <a:pt x="144750" y="35719"/>
                  <a:pt x="147831" y="35719"/>
                </a:cubicBezTo>
                <a:lnTo>
                  <a:pt x="200204" y="35719"/>
                </a:lnTo>
                <a:cubicBezTo>
                  <a:pt x="215964" y="35719"/>
                  <a:pt x="228779" y="48533"/>
                  <a:pt x="228779" y="64294"/>
                </a:cubicBezTo>
                <a:lnTo>
                  <a:pt x="228779" y="71438"/>
                </a:lnTo>
                <a:lnTo>
                  <a:pt x="65633" y="71438"/>
                </a:lnTo>
                <a:cubicBezTo>
                  <a:pt x="47193" y="71438"/>
                  <a:pt x="30807" y="83225"/>
                  <a:pt x="24958" y="100727"/>
                </a:cubicBezTo>
                <a:close/>
                <a:moveTo>
                  <a:pt x="213330" y="200025"/>
                </a:moveTo>
                <a:lnTo>
                  <a:pt x="44202" y="200025"/>
                </a:lnTo>
                <a:cubicBezTo>
                  <a:pt x="29557" y="200025"/>
                  <a:pt x="19243" y="185693"/>
                  <a:pt x="23887" y="171807"/>
                </a:cubicBezTo>
                <a:lnTo>
                  <a:pt x="45318" y="107513"/>
                </a:lnTo>
                <a:cubicBezTo>
                  <a:pt x="48220" y="98762"/>
                  <a:pt x="56436" y="92869"/>
                  <a:pt x="65633" y="92869"/>
                </a:cubicBezTo>
                <a:lnTo>
                  <a:pt x="234761" y="92869"/>
                </a:lnTo>
                <a:cubicBezTo>
                  <a:pt x="249406" y="92869"/>
                  <a:pt x="259720" y="107201"/>
                  <a:pt x="255077" y="121087"/>
                </a:cubicBezTo>
                <a:lnTo>
                  <a:pt x="233645" y="185380"/>
                </a:lnTo>
                <a:cubicBezTo>
                  <a:pt x="230743" y="194131"/>
                  <a:pt x="222528" y="200025"/>
                  <a:pt x="213330" y="200025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25" name="Text 21"/>
          <p:cNvSpPr/>
          <p:nvPr/>
        </p:nvSpPr>
        <p:spPr>
          <a:xfrm>
            <a:off x="6305485" y="1369461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全套工程文档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905500" y="1788509"/>
            <a:ext cx="579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产出</a:t>
            </a: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9份核心工程文档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，覆盖项目全生命周期，符合国家软件工程标准：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923520" y="2131298"/>
            <a:ext cx="36041" cy="552450"/>
          </a:xfrm>
          <a:custGeom>
            <a:avLst/>
            <a:gdLst/>
            <a:ahLst/>
            <a:cxnLst/>
            <a:rect l="l" t="t" r="r" b="b"/>
            <a:pathLst>
              <a:path w="36041" h="552450">
                <a:moveTo>
                  <a:pt x="0" y="0"/>
                </a:moveTo>
                <a:lnTo>
                  <a:pt x="36041" y="0"/>
                </a:lnTo>
                <a:lnTo>
                  <a:pt x="36041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28" name="Text 24"/>
          <p:cNvSpPr/>
          <p:nvPr/>
        </p:nvSpPr>
        <p:spPr>
          <a:xfrm>
            <a:off x="6017724" y="2169351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 项目计划书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7866571" y="2131298"/>
            <a:ext cx="36041" cy="552450"/>
          </a:xfrm>
          <a:custGeom>
            <a:avLst/>
            <a:gdLst/>
            <a:ahLst/>
            <a:cxnLst/>
            <a:rect l="l" t="t" r="r" b="b"/>
            <a:pathLst>
              <a:path w="36041" h="552450">
                <a:moveTo>
                  <a:pt x="0" y="0"/>
                </a:moveTo>
                <a:lnTo>
                  <a:pt x="36041" y="0"/>
                </a:lnTo>
                <a:lnTo>
                  <a:pt x="36041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0" name="Text 26"/>
          <p:cNvSpPr/>
          <p:nvPr/>
        </p:nvSpPr>
        <p:spPr>
          <a:xfrm>
            <a:off x="7960776" y="2169351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 可行性分析报告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9809624" y="2131298"/>
            <a:ext cx="36041" cy="552450"/>
          </a:xfrm>
          <a:custGeom>
            <a:avLst/>
            <a:gdLst/>
            <a:ahLst/>
            <a:cxnLst/>
            <a:rect l="l" t="t" r="r" b="b"/>
            <a:pathLst>
              <a:path w="36041" h="552450">
                <a:moveTo>
                  <a:pt x="0" y="0"/>
                </a:moveTo>
                <a:lnTo>
                  <a:pt x="36041" y="0"/>
                </a:lnTo>
                <a:lnTo>
                  <a:pt x="36041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2" name="Text 28"/>
          <p:cNvSpPr/>
          <p:nvPr/>
        </p:nvSpPr>
        <p:spPr>
          <a:xfrm>
            <a:off x="9903828" y="2169351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 软件需求规格说明书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5923520" y="2799578"/>
            <a:ext cx="36041" cy="552450"/>
          </a:xfrm>
          <a:custGeom>
            <a:avLst/>
            <a:gdLst/>
            <a:ahLst/>
            <a:cxnLst/>
            <a:rect l="l" t="t" r="r" b="b"/>
            <a:pathLst>
              <a:path w="36041" h="552450">
                <a:moveTo>
                  <a:pt x="0" y="0"/>
                </a:moveTo>
                <a:lnTo>
                  <a:pt x="36041" y="0"/>
                </a:lnTo>
                <a:lnTo>
                  <a:pt x="36041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34" name="Text 30"/>
          <p:cNvSpPr/>
          <p:nvPr/>
        </p:nvSpPr>
        <p:spPr>
          <a:xfrm>
            <a:off x="6017724" y="2837627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04. 概要设计说明书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7866571" y="2799578"/>
            <a:ext cx="36041" cy="552450"/>
          </a:xfrm>
          <a:custGeom>
            <a:avLst/>
            <a:gdLst/>
            <a:ahLst/>
            <a:cxnLst/>
            <a:rect l="l" t="t" r="r" b="b"/>
            <a:pathLst>
              <a:path w="36041" h="552450">
                <a:moveTo>
                  <a:pt x="0" y="0"/>
                </a:moveTo>
                <a:lnTo>
                  <a:pt x="36041" y="0"/>
                </a:lnTo>
                <a:lnTo>
                  <a:pt x="36041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36" name="Text 32"/>
          <p:cNvSpPr/>
          <p:nvPr/>
        </p:nvSpPr>
        <p:spPr>
          <a:xfrm>
            <a:off x="7960776" y="2837627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05. 详细设计说明书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9809624" y="2799578"/>
            <a:ext cx="36041" cy="552450"/>
          </a:xfrm>
          <a:custGeom>
            <a:avLst/>
            <a:gdLst/>
            <a:ahLst/>
            <a:cxnLst/>
            <a:rect l="l" t="t" r="r" b="b"/>
            <a:pathLst>
              <a:path w="36041" h="552450">
                <a:moveTo>
                  <a:pt x="0" y="0"/>
                </a:moveTo>
                <a:lnTo>
                  <a:pt x="36041" y="0"/>
                </a:lnTo>
                <a:lnTo>
                  <a:pt x="36041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8" name="Text 34"/>
          <p:cNvSpPr/>
          <p:nvPr/>
        </p:nvSpPr>
        <p:spPr>
          <a:xfrm>
            <a:off x="9903828" y="2837627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06. 测试计划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5923520" y="3467937"/>
            <a:ext cx="36041" cy="552450"/>
          </a:xfrm>
          <a:custGeom>
            <a:avLst/>
            <a:gdLst/>
            <a:ahLst/>
            <a:cxnLst/>
            <a:rect l="l" t="t" r="r" b="b"/>
            <a:pathLst>
              <a:path w="36041" h="552450">
                <a:moveTo>
                  <a:pt x="0" y="0"/>
                </a:moveTo>
                <a:lnTo>
                  <a:pt x="36041" y="0"/>
                </a:lnTo>
                <a:lnTo>
                  <a:pt x="36041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40" name="Text 36"/>
          <p:cNvSpPr/>
          <p:nvPr/>
        </p:nvSpPr>
        <p:spPr>
          <a:xfrm>
            <a:off x="6017724" y="3505986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07. 测试报告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7866571" y="3467937"/>
            <a:ext cx="36041" cy="552450"/>
          </a:xfrm>
          <a:custGeom>
            <a:avLst/>
            <a:gdLst/>
            <a:ahLst/>
            <a:cxnLst/>
            <a:rect l="l" t="t" r="r" b="b"/>
            <a:pathLst>
              <a:path w="36041" h="552450">
                <a:moveTo>
                  <a:pt x="0" y="0"/>
                </a:moveTo>
                <a:lnTo>
                  <a:pt x="36041" y="0"/>
                </a:lnTo>
                <a:lnTo>
                  <a:pt x="36041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42" name="Text 38"/>
          <p:cNvSpPr/>
          <p:nvPr/>
        </p:nvSpPr>
        <p:spPr>
          <a:xfrm>
            <a:off x="7960776" y="3505986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08. 用户手册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9809624" y="3467937"/>
            <a:ext cx="36041" cy="552450"/>
          </a:xfrm>
          <a:custGeom>
            <a:avLst/>
            <a:gdLst/>
            <a:ahLst/>
            <a:cxnLst/>
            <a:rect l="l" t="t" r="r" b="b"/>
            <a:pathLst>
              <a:path w="36041" h="552450">
                <a:moveTo>
                  <a:pt x="0" y="0"/>
                </a:moveTo>
                <a:lnTo>
                  <a:pt x="36041" y="0"/>
                </a:lnTo>
                <a:lnTo>
                  <a:pt x="36041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44" name="Text 40"/>
          <p:cNvSpPr/>
          <p:nvPr/>
        </p:nvSpPr>
        <p:spPr>
          <a:xfrm>
            <a:off x="9903828" y="3505986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09. 项目总结报告</a:t>
            </a: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5715000" y="4382945"/>
            <a:ext cx="6096000" cy="1999220"/>
          </a:xfrm>
          <a:custGeom>
            <a:avLst/>
            <a:gdLst/>
            <a:ahLst/>
            <a:cxnLst/>
            <a:rect l="l" t="t" r="r" b="b"/>
            <a:pathLst>
              <a:path w="6096000" h="1999220">
                <a:moveTo>
                  <a:pt x="36041" y="0"/>
                </a:moveTo>
                <a:lnTo>
                  <a:pt x="6059959" y="0"/>
                </a:lnTo>
                <a:cubicBezTo>
                  <a:pt x="6079864" y="0"/>
                  <a:pt x="6096000" y="16136"/>
                  <a:pt x="6096000" y="36041"/>
                </a:cubicBezTo>
                <a:lnTo>
                  <a:pt x="6096000" y="1884925"/>
                </a:lnTo>
                <a:cubicBezTo>
                  <a:pt x="6096000" y="1948048"/>
                  <a:pt x="6044828" y="1999220"/>
                  <a:pt x="5981705" y="1999220"/>
                </a:cubicBezTo>
                <a:lnTo>
                  <a:pt x="114295" y="1999220"/>
                </a:lnTo>
                <a:cubicBezTo>
                  <a:pt x="51172" y="1999220"/>
                  <a:pt x="0" y="1948048"/>
                  <a:pt x="0" y="1884925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5715000" y="4382945"/>
            <a:ext cx="6096000" cy="36041"/>
          </a:xfrm>
          <a:custGeom>
            <a:avLst/>
            <a:gdLst/>
            <a:ahLst/>
            <a:cxnLst/>
            <a:rect l="l" t="t" r="r" b="b"/>
            <a:pathLst>
              <a:path w="6096000" h="36041">
                <a:moveTo>
                  <a:pt x="36041" y="0"/>
                </a:moveTo>
                <a:lnTo>
                  <a:pt x="6059959" y="0"/>
                </a:lnTo>
                <a:cubicBezTo>
                  <a:pt x="6079864" y="0"/>
                  <a:pt x="6096000" y="16136"/>
                  <a:pt x="6096000" y="36041"/>
                </a:cubicBezTo>
                <a:lnTo>
                  <a:pt x="6096000" y="36041"/>
                </a:lnTo>
                <a:lnTo>
                  <a:pt x="0" y="36041"/>
                </a:ln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7" name="Shape 43"/>
          <p:cNvSpPr/>
          <p:nvPr/>
        </p:nvSpPr>
        <p:spPr>
          <a:xfrm>
            <a:off x="5934075" y="462951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25003"/>
                </a:moveTo>
                <a:lnTo>
                  <a:pt x="78581" y="42863"/>
                </a:lnTo>
                <a:lnTo>
                  <a:pt x="150019" y="42863"/>
                </a:lnTo>
                <a:lnTo>
                  <a:pt x="150019" y="25003"/>
                </a:lnTo>
                <a:cubicBezTo>
                  <a:pt x="150019" y="23039"/>
                  <a:pt x="148411" y="21431"/>
                  <a:pt x="146447" y="21431"/>
                </a:cubicBezTo>
                <a:lnTo>
                  <a:pt x="82153" y="21431"/>
                </a:lnTo>
                <a:cubicBezTo>
                  <a:pt x="80189" y="21431"/>
                  <a:pt x="78581" y="23039"/>
                  <a:pt x="78581" y="25003"/>
                </a:cubicBezTo>
                <a:close/>
                <a:moveTo>
                  <a:pt x="57150" y="42863"/>
                </a:moveTo>
                <a:lnTo>
                  <a:pt x="57150" y="25003"/>
                </a:lnTo>
                <a:cubicBezTo>
                  <a:pt x="57150" y="11207"/>
                  <a:pt x="68357" y="0"/>
                  <a:pt x="82153" y="0"/>
                </a:cubicBezTo>
                <a:lnTo>
                  <a:pt x="146447" y="0"/>
                </a:lnTo>
                <a:cubicBezTo>
                  <a:pt x="160243" y="0"/>
                  <a:pt x="171450" y="11207"/>
                  <a:pt x="171450" y="25003"/>
                </a:cubicBezTo>
                <a:lnTo>
                  <a:pt x="171450" y="42863"/>
                </a:lnTo>
                <a:lnTo>
                  <a:pt x="183996" y="42863"/>
                </a:lnTo>
                <a:cubicBezTo>
                  <a:pt x="189667" y="42863"/>
                  <a:pt x="195114" y="45140"/>
                  <a:pt x="199132" y="49158"/>
                </a:cubicBezTo>
                <a:lnTo>
                  <a:pt x="222305" y="72330"/>
                </a:lnTo>
                <a:cubicBezTo>
                  <a:pt x="226323" y="76349"/>
                  <a:pt x="228600" y="81796"/>
                  <a:pt x="228600" y="87466"/>
                </a:cubicBezTo>
                <a:lnTo>
                  <a:pt x="228600" y="121444"/>
                </a:lnTo>
                <a:lnTo>
                  <a:pt x="167878" y="121444"/>
                </a:lnTo>
                <a:lnTo>
                  <a:pt x="167878" y="114300"/>
                </a:lnTo>
                <a:cubicBezTo>
                  <a:pt x="167878" y="108362"/>
                  <a:pt x="163101" y="103584"/>
                  <a:pt x="157163" y="103584"/>
                </a:cubicBezTo>
                <a:cubicBezTo>
                  <a:pt x="151224" y="103584"/>
                  <a:pt x="146447" y="108362"/>
                  <a:pt x="146447" y="114300"/>
                </a:cubicBezTo>
                <a:lnTo>
                  <a:pt x="146447" y="121444"/>
                </a:lnTo>
                <a:lnTo>
                  <a:pt x="82153" y="121444"/>
                </a:lnTo>
                <a:lnTo>
                  <a:pt x="82153" y="114300"/>
                </a:lnTo>
                <a:cubicBezTo>
                  <a:pt x="82153" y="108362"/>
                  <a:pt x="77376" y="103584"/>
                  <a:pt x="71438" y="103584"/>
                </a:cubicBezTo>
                <a:cubicBezTo>
                  <a:pt x="65499" y="103584"/>
                  <a:pt x="60722" y="108362"/>
                  <a:pt x="60722" y="114300"/>
                </a:cubicBezTo>
                <a:lnTo>
                  <a:pt x="60722" y="121444"/>
                </a:lnTo>
                <a:lnTo>
                  <a:pt x="0" y="121444"/>
                </a:lnTo>
                <a:lnTo>
                  <a:pt x="0" y="87466"/>
                </a:lnTo>
                <a:cubicBezTo>
                  <a:pt x="0" y="81796"/>
                  <a:pt x="2277" y="76349"/>
                  <a:pt x="6295" y="72330"/>
                </a:cubicBezTo>
                <a:lnTo>
                  <a:pt x="29468" y="49158"/>
                </a:lnTo>
                <a:cubicBezTo>
                  <a:pt x="33486" y="45140"/>
                  <a:pt x="38933" y="42863"/>
                  <a:pt x="44604" y="42863"/>
                </a:cubicBezTo>
                <a:lnTo>
                  <a:pt x="57150" y="42863"/>
                </a:lnTo>
                <a:close/>
                <a:moveTo>
                  <a:pt x="0" y="185738"/>
                </a:moveTo>
                <a:lnTo>
                  <a:pt x="0" y="142875"/>
                </a:lnTo>
                <a:lnTo>
                  <a:pt x="60722" y="142875"/>
                </a:lnTo>
                <a:lnTo>
                  <a:pt x="60722" y="150019"/>
                </a:lnTo>
                <a:cubicBezTo>
                  <a:pt x="60722" y="155957"/>
                  <a:pt x="65499" y="160734"/>
                  <a:pt x="71438" y="160734"/>
                </a:cubicBezTo>
                <a:cubicBezTo>
                  <a:pt x="77376" y="160734"/>
                  <a:pt x="82153" y="155957"/>
                  <a:pt x="82153" y="150019"/>
                </a:cubicBezTo>
                <a:lnTo>
                  <a:pt x="82153" y="142875"/>
                </a:lnTo>
                <a:lnTo>
                  <a:pt x="146447" y="142875"/>
                </a:lnTo>
                <a:lnTo>
                  <a:pt x="146447" y="150019"/>
                </a:lnTo>
                <a:cubicBezTo>
                  <a:pt x="146447" y="155957"/>
                  <a:pt x="151224" y="160734"/>
                  <a:pt x="157163" y="160734"/>
                </a:cubicBezTo>
                <a:cubicBezTo>
                  <a:pt x="163101" y="160734"/>
                  <a:pt x="167878" y="155957"/>
                  <a:pt x="167878" y="150019"/>
                </a:cubicBezTo>
                <a:lnTo>
                  <a:pt x="167878" y="142875"/>
                </a:lnTo>
                <a:lnTo>
                  <a:pt x="228600" y="142875"/>
                </a:lnTo>
                <a:lnTo>
                  <a:pt x="228600" y="185738"/>
                </a:lnTo>
                <a:cubicBezTo>
                  <a:pt x="228600" y="201498"/>
                  <a:pt x="215786" y="214313"/>
                  <a:pt x="200025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8" name="Text 44"/>
          <p:cNvSpPr/>
          <p:nvPr/>
        </p:nvSpPr>
        <p:spPr>
          <a:xfrm>
            <a:off x="6305485" y="4591469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支撑材料</a:t>
            </a:r>
            <a:endParaRPr lang="en-US" sz="1600" dirty="0"/>
          </a:p>
        </p:txBody>
      </p:sp>
      <p:sp>
        <p:nvSpPr>
          <p:cNvPr id="49" name="Shape 45"/>
          <p:cNvSpPr/>
          <p:nvPr/>
        </p:nvSpPr>
        <p:spPr>
          <a:xfrm>
            <a:off x="5923520" y="5010517"/>
            <a:ext cx="36041" cy="533400"/>
          </a:xfrm>
          <a:custGeom>
            <a:avLst/>
            <a:gdLst/>
            <a:ahLst/>
            <a:cxnLst/>
            <a:rect l="l" t="t" r="r" b="b"/>
            <a:pathLst>
              <a:path w="36041" h="533400">
                <a:moveTo>
                  <a:pt x="0" y="0"/>
                </a:moveTo>
                <a:lnTo>
                  <a:pt x="36041" y="0"/>
                </a:lnTo>
                <a:lnTo>
                  <a:pt x="36041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0" name="Shape 46"/>
          <p:cNvSpPr/>
          <p:nvPr/>
        </p:nvSpPr>
        <p:spPr>
          <a:xfrm>
            <a:off x="6084351" y="506763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1" name="Text 47"/>
          <p:cNvSpPr/>
          <p:nvPr/>
        </p:nvSpPr>
        <p:spPr>
          <a:xfrm>
            <a:off x="6322460" y="5010517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用户手册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6055776" y="5315173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详细的操作指南</a:t>
            </a:r>
            <a:endParaRPr lang="en-US" sz="1600" dirty="0"/>
          </a:p>
        </p:txBody>
      </p:sp>
      <p:sp>
        <p:nvSpPr>
          <p:cNvPr id="53" name="Shape 49"/>
          <p:cNvSpPr/>
          <p:nvPr/>
        </p:nvSpPr>
        <p:spPr>
          <a:xfrm>
            <a:off x="8838138" y="5010517"/>
            <a:ext cx="36041" cy="533400"/>
          </a:xfrm>
          <a:custGeom>
            <a:avLst/>
            <a:gdLst/>
            <a:ahLst/>
            <a:cxnLst/>
            <a:rect l="l" t="t" r="r" b="b"/>
            <a:pathLst>
              <a:path w="36041" h="533400">
                <a:moveTo>
                  <a:pt x="0" y="0"/>
                </a:moveTo>
                <a:lnTo>
                  <a:pt x="36041" y="0"/>
                </a:lnTo>
                <a:lnTo>
                  <a:pt x="36041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4" name="Shape 50"/>
          <p:cNvSpPr/>
          <p:nvPr/>
        </p:nvSpPr>
        <p:spPr>
          <a:xfrm>
            <a:off x="8979919" y="506763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5" name="Text 51"/>
          <p:cNvSpPr/>
          <p:nvPr/>
        </p:nvSpPr>
        <p:spPr>
          <a:xfrm>
            <a:off x="9237077" y="5010517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代码规范</a:t>
            </a:r>
            <a:endParaRPr lang="en-US" sz="1600" dirty="0"/>
          </a:p>
        </p:txBody>
      </p:sp>
      <p:sp>
        <p:nvSpPr>
          <p:cNvPr id="56" name="Text 52"/>
          <p:cNvSpPr/>
          <p:nvPr/>
        </p:nvSpPr>
        <p:spPr>
          <a:xfrm>
            <a:off x="8970394" y="5315173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统一的编码标准</a:t>
            </a:r>
            <a:endParaRPr lang="en-US" sz="1600" dirty="0"/>
          </a:p>
        </p:txBody>
      </p:sp>
      <p:sp>
        <p:nvSpPr>
          <p:cNvPr id="57" name="Shape 53"/>
          <p:cNvSpPr/>
          <p:nvPr/>
        </p:nvSpPr>
        <p:spPr>
          <a:xfrm>
            <a:off x="5923520" y="5657962"/>
            <a:ext cx="36041" cy="533400"/>
          </a:xfrm>
          <a:custGeom>
            <a:avLst/>
            <a:gdLst/>
            <a:ahLst/>
            <a:cxnLst/>
            <a:rect l="l" t="t" r="r" b="b"/>
            <a:pathLst>
              <a:path w="36041" h="533400">
                <a:moveTo>
                  <a:pt x="0" y="0"/>
                </a:moveTo>
                <a:lnTo>
                  <a:pt x="36041" y="0"/>
                </a:lnTo>
                <a:lnTo>
                  <a:pt x="36041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58" name="Shape 54"/>
          <p:cNvSpPr/>
          <p:nvPr/>
        </p:nvSpPr>
        <p:spPr>
          <a:xfrm>
            <a:off x="6074826" y="57150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906" y="14288"/>
                </a:moveTo>
                <a:cubicBezTo>
                  <a:pt x="7947" y="14288"/>
                  <a:pt x="4763" y="17472"/>
                  <a:pt x="4763" y="21431"/>
                </a:cubicBezTo>
                <a:lnTo>
                  <a:pt x="4763" y="35719"/>
                </a:lnTo>
                <a:cubicBezTo>
                  <a:pt x="4763" y="39678"/>
                  <a:pt x="7947" y="42863"/>
                  <a:pt x="11906" y="42863"/>
                </a:cubicBezTo>
                <a:lnTo>
                  <a:pt x="26194" y="42863"/>
                </a:lnTo>
                <a:cubicBezTo>
                  <a:pt x="30153" y="42863"/>
                  <a:pt x="33338" y="39678"/>
                  <a:pt x="33338" y="35719"/>
                </a:cubicBezTo>
                <a:lnTo>
                  <a:pt x="33338" y="21431"/>
                </a:lnTo>
                <a:cubicBezTo>
                  <a:pt x="33338" y="17472"/>
                  <a:pt x="30153" y="14288"/>
                  <a:pt x="26194" y="14288"/>
                </a:cubicBezTo>
                <a:lnTo>
                  <a:pt x="11906" y="14288"/>
                </a:lnTo>
                <a:close/>
                <a:moveTo>
                  <a:pt x="57150" y="19050"/>
                </a:moveTo>
                <a:cubicBezTo>
                  <a:pt x="51881" y="19050"/>
                  <a:pt x="47625" y="23306"/>
                  <a:pt x="47625" y="28575"/>
                </a:cubicBezTo>
                <a:cubicBezTo>
                  <a:pt x="47625" y="33844"/>
                  <a:pt x="51881" y="38100"/>
                  <a:pt x="57150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57150" y="19050"/>
                </a:lnTo>
                <a:close/>
                <a:moveTo>
                  <a:pt x="57150" y="66675"/>
                </a:moveTo>
                <a:cubicBezTo>
                  <a:pt x="51881" y="66675"/>
                  <a:pt x="47625" y="70931"/>
                  <a:pt x="47625" y="76200"/>
                </a:cubicBezTo>
                <a:cubicBezTo>
                  <a:pt x="47625" y="81469"/>
                  <a:pt x="51881" y="85725"/>
                  <a:pt x="57150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57150" y="66675"/>
                </a:lnTo>
                <a:close/>
                <a:moveTo>
                  <a:pt x="57150" y="114300"/>
                </a:moveTo>
                <a:cubicBezTo>
                  <a:pt x="51881" y="114300"/>
                  <a:pt x="47625" y="118556"/>
                  <a:pt x="47625" y="123825"/>
                </a:cubicBezTo>
                <a:cubicBezTo>
                  <a:pt x="47625" y="129094"/>
                  <a:pt x="51881" y="133350"/>
                  <a:pt x="57150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57150" y="114300"/>
                </a:lnTo>
                <a:close/>
                <a:moveTo>
                  <a:pt x="4763" y="69056"/>
                </a:moveTo>
                <a:lnTo>
                  <a:pt x="4763" y="83344"/>
                </a:lnTo>
                <a:cubicBezTo>
                  <a:pt x="4763" y="87303"/>
                  <a:pt x="7947" y="90488"/>
                  <a:pt x="11906" y="90488"/>
                </a:cubicBezTo>
                <a:lnTo>
                  <a:pt x="26194" y="90488"/>
                </a:lnTo>
                <a:cubicBezTo>
                  <a:pt x="30153" y="90488"/>
                  <a:pt x="33338" y="87303"/>
                  <a:pt x="33338" y="83344"/>
                </a:cubicBezTo>
                <a:lnTo>
                  <a:pt x="33338" y="69056"/>
                </a:lnTo>
                <a:cubicBezTo>
                  <a:pt x="33338" y="65097"/>
                  <a:pt x="30153" y="61912"/>
                  <a:pt x="26194" y="61912"/>
                </a:cubicBezTo>
                <a:lnTo>
                  <a:pt x="11906" y="61912"/>
                </a:lnTo>
                <a:cubicBezTo>
                  <a:pt x="7947" y="61912"/>
                  <a:pt x="4763" y="65097"/>
                  <a:pt x="4763" y="69056"/>
                </a:cubicBezTo>
                <a:close/>
                <a:moveTo>
                  <a:pt x="11906" y="109537"/>
                </a:moveTo>
                <a:cubicBezTo>
                  <a:pt x="7947" y="109537"/>
                  <a:pt x="4763" y="112722"/>
                  <a:pt x="4763" y="116681"/>
                </a:cubicBezTo>
                <a:lnTo>
                  <a:pt x="4763" y="130969"/>
                </a:lnTo>
                <a:cubicBezTo>
                  <a:pt x="4763" y="134928"/>
                  <a:pt x="7947" y="138113"/>
                  <a:pt x="11906" y="138113"/>
                </a:cubicBezTo>
                <a:lnTo>
                  <a:pt x="26194" y="138113"/>
                </a:lnTo>
                <a:cubicBezTo>
                  <a:pt x="30153" y="138113"/>
                  <a:pt x="33338" y="134928"/>
                  <a:pt x="33338" y="130969"/>
                </a:cubicBezTo>
                <a:lnTo>
                  <a:pt x="33338" y="116681"/>
                </a:lnTo>
                <a:cubicBezTo>
                  <a:pt x="33338" y="112722"/>
                  <a:pt x="30153" y="109537"/>
                  <a:pt x="26194" y="109537"/>
                </a:cubicBezTo>
                <a:lnTo>
                  <a:pt x="11906" y="109537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59" name="Text 55"/>
          <p:cNvSpPr/>
          <p:nvPr/>
        </p:nvSpPr>
        <p:spPr>
          <a:xfrm>
            <a:off x="6322460" y="5657962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程序清单</a:t>
            </a:r>
            <a:endParaRPr lang="en-US" sz="1600" dirty="0"/>
          </a:p>
        </p:txBody>
      </p:sp>
      <p:sp>
        <p:nvSpPr>
          <p:cNvPr id="60" name="Text 56"/>
          <p:cNvSpPr/>
          <p:nvPr/>
        </p:nvSpPr>
        <p:spPr>
          <a:xfrm>
            <a:off x="6055776" y="5962617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完整的文件结构</a:t>
            </a:r>
            <a:endParaRPr lang="en-US" sz="1600" dirty="0"/>
          </a:p>
        </p:txBody>
      </p:sp>
      <p:sp>
        <p:nvSpPr>
          <p:cNvPr id="61" name="Shape 57"/>
          <p:cNvSpPr/>
          <p:nvPr/>
        </p:nvSpPr>
        <p:spPr>
          <a:xfrm>
            <a:off x="8838138" y="5657962"/>
            <a:ext cx="36041" cy="533400"/>
          </a:xfrm>
          <a:custGeom>
            <a:avLst/>
            <a:gdLst/>
            <a:ahLst/>
            <a:cxnLst/>
            <a:rect l="l" t="t" r="r" b="b"/>
            <a:pathLst>
              <a:path w="36041" h="533400">
                <a:moveTo>
                  <a:pt x="0" y="0"/>
                </a:moveTo>
                <a:lnTo>
                  <a:pt x="36041" y="0"/>
                </a:lnTo>
                <a:lnTo>
                  <a:pt x="36041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62" name="Shape 58"/>
          <p:cNvSpPr/>
          <p:nvPr/>
        </p:nvSpPr>
        <p:spPr>
          <a:xfrm>
            <a:off x="8998969" y="57150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0850" y="70277"/>
                </a:moveTo>
                <a:lnTo>
                  <a:pt x="72628" y="12055"/>
                </a:lnTo>
                <a:cubicBezTo>
                  <a:pt x="71021" y="10418"/>
                  <a:pt x="68818" y="9525"/>
                  <a:pt x="66556" y="9525"/>
                </a:cubicBezTo>
                <a:cubicBezTo>
                  <a:pt x="64294" y="9525"/>
                  <a:pt x="62091" y="10418"/>
                  <a:pt x="60484" y="12025"/>
                </a:cubicBezTo>
                <a:lnTo>
                  <a:pt x="48369" y="24110"/>
                </a:lnTo>
                <a:lnTo>
                  <a:pt x="63698" y="39439"/>
                </a:lnTo>
                <a:cubicBezTo>
                  <a:pt x="71765" y="36731"/>
                  <a:pt x="79385" y="44440"/>
                  <a:pt x="76617" y="52447"/>
                </a:cubicBezTo>
                <a:lnTo>
                  <a:pt x="91410" y="67241"/>
                </a:lnTo>
                <a:cubicBezTo>
                  <a:pt x="101590" y="63728"/>
                  <a:pt x="109627" y="76468"/>
                  <a:pt x="101977" y="84118"/>
                </a:cubicBezTo>
                <a:cubicBezTo>
                  <a:pt x="94089" y="92006"/>
                  <a:pt x="81082" y="83254"/>
                  <a:pt x="85308" y="73015"/>
                </a:cubicBezTo>
                <a:lnTo>
                  <a:pt x="71527" y="59234"/>
                </a:lnTo>
                <a:lnTo>
                  <a:pt x="71527" y="95518"/>
                </a:lnTo>
                <a:cubicBezTo>
                  <a:pt x="79057" y="99239"/>
                  <a:pt x="78165" y="107960"/>
                  <a:pt x="74235" y="111889"/>
                </a:cubicBezTo>
                <a:cubicBezTo>
                  <a:pt x="72330" y="113794"/>
                  <a:pt x="69711" y="114895"/>
                  <a:pt x="67002" y="114895"/>
                </a:cubicBezTo>
                <a:cubicBezTo>
                  <a:pt x="64294" y="114895"/>
                  <a:pt x="61704" y="113824"/>
                  <a:pt x="59769" y="111889"/>
                </a:cubicBezTo>
                <a:cubicBezTo>
                  <a:pt x="54531" y="106650"/>
                  <a:pt x="56465" y="97929"/>
                  <a:pt x="63103" y="95220"/>
                </a:cubicBezTo>
                <a:lnTo>
                  <a:pt x="63103" y="58609"/>
                </a:lnTo>
                <a:cubicBezTo>
                  <a:pt x="56912" y="56078"/>
                  <a:pt x="55781" y="49470"/>
                  <a:pt x="57567" y="45214"/>
                </a:cubicBezTo>
                <a:lnTo>
                  <a:pt x="42446" y="30063"/>
                </a:lnTo>
                <a:lnTo>
                  <a:pt x="2530" y="69979"/>
                </a:lnTo>
                <a:cubicBezTo>
                  <a:pt x="893" y="71616"/>
                  <a:pt x="0" y="73789"/>
                  <a:pt x="0" y="76051"/>
                </a:cubicBezTo>
                <a:cubicBezTo>
                  <a:pt x="0" y="78313"/>
                  <a:pt x="893" y="80516"/>
                  <a:pt x="2530" y="82123"/>
                </a:cubicBezTo>
                <a:lnTo>
                  <a:pt x="60752" y="140375"/>
                </a:lnTo>
                <a:cubicBezTo>
                  <a:pt x="62359" y="141982"/>
                  <a:pt x="64532" y="142875"/>
                  <a:pt x="66824" y="142875"/>
                </a:cubicBezTo>
                <a:cubicBezTo>
                  <a:pt x="69116" y="142875"/>
                  <a:pt x="71289" y="141982"/>
                  <a:pt x="72896" y="140375"/>
                </a:cubicBezTo>
                <a:lnTo>
                  <a:pt x="130850" y="82421"/>
                </a:lnTo>
                <a:cubicBezTo>
                  <a:pt x="132457" y="80814"/>
                  <a:pt x="133350" y="78611"/>
                  <a:pt x="133350" y="76349"/>
                </a:cubicBezTo>
                <a:cubicBezTo>
                  <a:pt x="133350" y="74087"/>
                  <a:pt x="132457" y="71884"/>
                  <a:pt x="130850" y="70277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63" name="Text 59"/>
          <p:cNvSpPr/>
          <p:nvPr/>
        </p:nvSpPr>
        <p:spPr>
          <a:xfrm>
            <a:off x="9237077" y="5657962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源代码仓库</a:t>
            </a:r>
            <a:endParaRPr lang="en-US" sz="1600" dirty="0"/>
          </a:p>
        </p:txBody>
      </p:sp>
      <p:sp>
        <p:nvSpPr>
          <p:cNvPr id="64" name="Text 60"/>
          <p:cNvSpPr/>
          <p:nvPr/>
        </p:nvSpPr>
        <p:spPr>
          <a:xfrm>
            <a:off x="8970394" y="5962617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版本控制的代码库</a:t>
            </a:r>
            <a:endParaRPr lang="en-US" sz="1600" dirty="0"/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6203F9A8-6CCF-E825-2C6C-617D8A168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87" y="2248730"/>
            <a:ext cx="4762500" cy="2495087"/>
          </a:xfrm>
          <a:prstGeom prst="rect">
            <a:avLst/>
          </a:prstGeom>
        </p:spPr>
      </p:pic>
      <p:sp>
        <p:nvSpPr>
          <p:cNvPr id="71" name="Shape 0">
            <a:extLst>
              <a:ext uri="{FF2B5EF4-FFF2-40B4-BE49-F238E27FC236}">
                <a16:creationId xmlns:a16="http://schemas.microsoft.com/office/drawing/2014/main" id="{CAA24A15-D615-AF5A-EBDF-99E7A72E4DA0}"/>
              </a:ext>
            </a:extLst>
          </p:cNvPr>
          <p:cNvSpPr/>
          <p:nvPr/>
        </p:nvSpPr>
        <p:spPr>
          <a:xfrm>
            <a:off x="371707" y="446108"/>
            <a:ext cx="464634" cy="297366"/>
          </a:xfrm>
          <a:custGeom>
            <a:avLst/>
            <a:gdLst/>
            <a:ahLst/>
            <a:cxnLst/>
            <a:rect l="l" t="t" r="r" b="b"/>
            <a:pathLst>
              <a:path w="464634" h="297366">
                <a:moveTo>
                  <a:pt x="148683" y="0"/>
                </a:moveTo>
                <a:lnTo>
                  <a:pt x="315951" y="0"/>
                </a:lnTo>
                <a:cubicBezTo>
                  <a:pt x="398067" y="0"/>
                  <a:pt x="464634" y="66568"/>
                  <a:pt x="464634" y="148683"/>
                </a:cubicBezTo>
                <a:lnTo>
                  <a:pt x="464634" y="148683"/>
                </a:lnTo>
                <a:cubicBezTo>
                  <a:pt x="464634" y="230798"/>
                  <a:pt x="398067" y="297366"/>
                  <a:pt x="315951" y="297366"/>
                </a:cubicBezTo>
                <a:lnTo>
                  <a:pt x="148683" y="297366"/>
                </a:lnTo>
                <a:cubicBezTo>
                  <a:pt x="66568" y="297366"/>
                  <a:pt x="0" y="230798"/>
                  <a:pt x="0" y="148683"/>
                </a:cubicBezTo>
                <a:lnTo>
                  <a:pt x="0" y="148683"/>
                </a:lnTo>
                <a:cubicBezTo>
                  <a:pt x="0" y="66568"/>
                  <a:pt x="66568" y="0"/>
                  <a:pt x="148683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72" name="Text 1">
            <a:extLst>
              <a:ext uri="{FF2B5EF4-FFF2-40B4-BE49-F238E27FC236}">
                <a16:creationId xmlns:a16="http://schemas.microsoft.com/office/drawing/2014/main" id="{E1A920AB-DB4F-D12D-F95F-6C7381C3EAD2}"/>
              </a:ext>
            </a:extLst>
          </p:cNvPr>
          <p:cNvSpPr/>
          <p:nvPr/>
        </p:nvSpPr>
        <p:spPr>
          <a:xfrm>
            <a:off x="371707" y="446108"/>
            <a:ext cx="538976" cy="297366"/>
          </a:xfrm>
          <a:prstGeom prst="rect">
            <a:avLst/>
          </a:prstGeom>
          <a:noFill/>
          <a:ln/>
        </p:spPr>
        <p:txBody>
          <a:bodyPr wrap="square" lIns="148683" tIns="37171" rIns="148683" bIns="37171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7"/>
            <a:ext cx="12192000" cy="6858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773" y="371707"/>
            <a:ext cx="6644268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12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技术实现:稳健的架构与关键技术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15122" y="892066"/>
            <a:ext cx="1040780" cy="37171"/>
          </a:xfrm>
          <a:custGeom>
            <a:avLst/>
            <a:gdLst/>
            <a:ahLst/>
            <a:cxnLst/>
            <a:rect l="l" t="t" r="r" b="b"/>
            <a:pathLst>
              <a:path w="1040780" h="37171">
                <a:moveTo>
                  <a:pt x="0" y="0"/>
                </a:moveTo>
                <a:lnTo>
                  <a:pt x="1040780" y="0"/>
                </a:lnTo>
                <a:lnTo>
                  <a:pt x="1040780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7" name="Shape 4"/>
          <p:cNvSpPr/>
          <p:nvPr/>
        </p:nvSpPr>
        <p:spPr>
          <a:xfrm>
            <a:off x="371707" y="1095419"/>
            <a:ext cx="7573537" cy="2954069"/>
          </a:xfrm>
          <a:custGeom>
            <a:avLst/>
            <a:gdLst/>
            <a:ahLst/>
            <a:cxnLst/>
            <a:rect l="l" t="t" r="r" b="b"/>
            <a:pathLst>
              <a:path w="7573537" h="2954069">
                <a:moveTo>
                  <a:pt x="35161" y="0"/>
                </a:moveTo>
                <a:lnTo>
                  <a:pt x="7538375" y="0"/>
                </a:lnTo>
                <a:cubicBezTo>
                  <a:pt x="7557794" y="0"/>
                  <a:pt x="7573537" y="15742"/>
                  <a:pt x="7573537" y="35161"/>
                </a:cubicBezTo>
                <a:lnTo>
                  <a:pt x="7573537" y="2842552"/>
                </a:lnTo>
                <a:cubicBezTo>
                  <a:pt x="7573537" y="2904141"/>
                  <a:pt x="7523609" y="2954069"/>
                  <a:pt x="7462020" y="2954069"/>
                </a:cubicBezTo>
                <a:lnTo>
                  <a:pt x="111516" y="2954069"/>
                </a:lnTo>
                <a:cubicBezTo>
                  <a:pt x="49927" y="2954069"/>
                  <a:pt x="0" y="2904141"/>
                  <a:pt x="0" y="284255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9390" dist="929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71707" y="1095419"/>
            <a:ext cx="7573537" cy="35161"/>
          </a:xfrm>
          <a:custGeom>
            <a:avLst/>
            <a:gdLst/>
            <a:ahLst/>
            <a:cxnLst/>
            <a:rect l="l" t="t" r="r" b="b"/>
            <a:pathLst>
              <a:path w="7573537" h="35161">
                <a:moveTo>
                  <a:pt x="35161" y="0"/>
                </a:moveTo>
                <a:lnTo>
                  <a:pt x="7538375" y="0"/>
                </a:lnTo>
                <a:cubicBezTo>
                  <a:pt x="7557794" y="0"/>
                  <a:pt x="7573537" y="15742"/>
                  <a:pt x="7573537" y="35161"/>
                </a:cubicBezTo>
                <a:lnTo>
                  <a:pt x="7573537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9" name="Shape 6"/>
          <p:cNvSpPr/>
          <p:nvPr/>
        </p:nvSpPr>
        <p:spPr>
          <a:xfrm>
            <a:off x="548237" y="1298775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101276" y="2265"/>
                </a:moveTo>
                <a:cubicBezTo>
                  <a:pt x="107766" y="-741"/>
                  <a:pt x="115258" y="-741"/>
                  <a:pt x="121749" y="2265"/>
                </a:cubicBezTo>
                <a:lnTo>
                  <a:pt x="216970" y="46260"/>
                </a:lnTo>
                <a:cubicBezTo>
                  <a:pt x="220672" y="47959"/>
                  <a:pt x="223024" y="51662"/>
                  <a:pt x="223024" y="55756"/>
                </a:cubicBezTo>
                <a:cubicBezTo>
                  <a:pt x="223024" y="59851"/>
                  <a:pt x="220672" y="63553"/>
                  <a:pt x="216970" y="65252"/>
                </a:cubicBezTo>
                <a:lnTo>
                  <a:pt x="121749" y="109247"/>
                </a:lnTo>
                <a:cubicBezTo>
                  <a:pt x="115258" y="112253"/>
                  <a:pt x="107766" y="112253"/>
                  <a:pt x="101276" y="109247"/>
                </a:cubicBezTo>
                <a:lnTo>
                  <a:pt x="6055" y="65252"/>
                </a:lnTo>
                <a:cubicBezTo>
                  <a:pt x="2352" y="63510"/>
                  <a:pt x="0" y="59807"/>
                  <a:pt x="0" y="55756"/>
                </a:cubicBezTo>
                <a:cubicBezTo>
                  <a:pt x="0" y="51705"/>
                  <a:pt x="2352" y="47959"/>
                  <a:pt x="6055" y="46260"/>
                </a:cubicBezTo>
                <a:lnTo>
                  <a:pt x="101276" y="2265"/>
                </a:lnTo>
                <a:close/>
                <a:moveTo>
                  <a:pt x="20952" y="95134"/>
                </a:moveTo>
                <a:lnTo>
                  <a:pt x="92520" y="128195"/>
                </a:lnTo>
                <a:cubicBezTo>
                  <a:pt x="104586" y="133771"/>
                  <a:pt x="118482" y="133771"/>
                  <a:pt x="130548" y="128195"/>
                </a:cubicBezTo>
                <a:lnTo>
                  <a:pt x="202116" y="95134"/>
                </a:lnTo>
                <a:lnTo>
                  <a:pt x="216970" y="102016"/>
                </a:lnTo>
                <a:cubicBezTo>
                  <a:pt x="220672" y="103715"/>
                  <a:pt x="223024" y="107418"/>
                  <a:pt x="223024" y="111512"/>
                </a:cubicBezTo>
                <a:cubicBezTo>
                  <a:pt x="223024" y="115607"/>
                  <a:pt x="220672" y="119309"/>
                  <a:pt x="216970" y="121008"/>
                </a:cubicBezTo>
                <a:lnTo>
                  <a:pt x="121749" y="165003"/>
                </a:lnTo>
                <a:cubicBezTo>
                  <a:pt x="115258" y="168009"/>
                  <a:pt x="107766" y="168009"/>
                  <a:pt x="101276" y="165003"/>
                </a:cubicBezTo>
                <a:lnTo>
                  <a:pt x="6055" y="121008"/>
                </a:lnTo>
                <a:cubicBezTo>
                  <a:pt x="2352" y="119266"/>
                  <a:pt x="0" y="115563"/>
                  <a:pt x="0" y="111512"/>
                </a:cubicBezTo>
                <a:cubicBezTo>
                  <a:pt x="0" y="107461"/>
                  <a:pt x="2352" y="103715"/>
                  <a:pt x="6055" y="102016"/>
                </a:cubicBezTo>
                <a:lnTo>
                  <a:pt x="20909" y="95134"/>
                </a:lnTo>
                <a:close/>
                <a:moveTo>
                  <a:pt x="6055" y="157772"/>
                </a:moveTo>
                <a:lnTo>
                  <a:pt x="20909" y="150890"/>
                </a:lnTo>
                <a:lnTo>
                  <a:pt x="92477" y="183952"/>
                </a:lnTo>
                <a:cubicBezTo>
                  <a:pt x="104543" y="189527"/>
                  <a:pt x="118438" y="189527"/>
                  <a:pt x="130504" y="183952"/>
                </a:cubicBezTo>
                <a:lnTo>
                  <a:pt x="202072" y="150890"/>
                </a:lnTo>
                <a:lnTo>
                  <a:pt x="216926" y="157772"/>
                </a:lnTo>
                <a:cubicBezTo>
                  <a:pt x="220629" y="159471"/>
                  <a:pt x="222981" y="163174"/>
                  <a:pt x="222981" y="167268"/>
                </a:cubicBezTo>
                <a:cubicBezTo>
                  <a:pt x="222981" y="171363"/>
                  <a:pt x="220629" y="175065"/>
                  <a:pt x="216926" y="176764"/>
                </a:cubicBezTo>
                <a:lnTo>
                  <a:pt x="121705" y="220759"/>
                </a:lnTo>
                <a:cubicBezTo>
                  <a:pt x="115215" y="223765"/>
                  <a:pt x="107723" y="223765"/>
                  <a:pt x="101232" y="220759"/>
                </a:cubicBezTo>
                <a:lnTo>
                  <a:pt x="6055" y="176764"/>
                </a:lnTo>
                <a:cubicBezTo>
                  <a:pt x="2352" y="175022"/>
                  <a:pt x="0" y="171319"/>
                  <a:pt x="0" y="167268"/>
                </a:cubicBezTo>
                <a:cubicBezTo>
                  <a:pt x="0" y="163217"/>
                  <a:pt x="2352" y="159471"/>
                  <a:pt x="6055" y="157772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0" name="Text 7"/>
          <p:cNvSpPr/>
          <p:nvPr/>
        </p:nvSpPr>
        <p:spPr>
          <a:xfrm>
            <a:off x="910589" y="1261654"/>
            <a:ext cx="100361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71318" y="1820553"/>
            <a:ext cx="7350512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171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前后端分离、分层设计</a:t>
            </a:r>
            <a:r>
              <a:rPr lang="en-US" sz="117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的现代架构模式，实现职责清晰、高内聚低耦合的系统设计。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39318" y="2882629"/>
            <a:ext cx="2378927" cy="594732"/>
          </a:xfrm>
          <a:custGeom>
            <a:avLst/>
            <a:gdLst/>
            <a:ahLst/>
            <a:cxnLst/>
            <a:rect l="l" t="t" r="r" b="b"/>
            <a:pathLst>
              <a:path w="2378927" h="594732">
                <a:moveTo>
                  <a:pt x="74341" y="0"/>
                </a:moveTo>
                <a:lnTo>
                  <a:pt x="2304585" y="0"/>
                </a:lnTo>
                <a:cubicBezTo>
                  <a:pt x="2345643" y="0"/>
                  <a:pt x="2378927" y="33284"/>
                  <a:pt x="2378927" y="74341"/>
                </a:cubicBezTo>
                <a:lnTo>
                  <a:pt x="2378927" y="520390"/>
                </a:lnTo>
                <a:cubicBezTo>
                  <a:pt x="2378927" y="561448"/>
                  <a:pt x="2345643" y="594732"/>
                  <a:pt x="2304585" y="594732"/>
                </a:cubicBezTo>
                <a:lnTo>
                  <a:pt x="74341" y="594732"/>
                </a:lnTo>
                <a:cubicBezTo>
                  <a:pt x="33311" y="594732"/>
                  <a:pt x="0" y="561420"/>
                  <a:pt x="0" y="520390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4" name="Text 10"/>
          <p:cNvSpPr/>
          <p:nvPr/>
        </p:nvSpPr>
        <p:spPr>
          <a:xfrm>
            <a:off x="576473" y="2956953"/>
            <a:ext cx="230458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表示层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81119" y="3217057"/>
            <a:ext cx="2295293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+ TS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988458" y="2882629"/>
            <a:ext cx="2378927" cy="594732"/>
          </a:xfrm>
          <a:custGeom>
            <a:avLst/>
            <a:gdLst/>
            <a:ahLst/>
            <a:cxnLst/>
            <a:rect l="l" t="t" r="r" b="b"/>
            <a:pathLst>
              <a:path w="2378927" h="594732">
                <a:moveTo>
                  <a:pt x="74341" y="0"/>
                </a:moveTo>
                <a:lnTo>
                  <a:pt x="2304585" y="0"/>
                </a:lnTo>
                <a:cubicBezTo>
                  <a:pt x="2345643" y="0"/>
                  <a:pt x="2378927" y="33284"/>
                  <a:pt x="2378927" y="74341"/>
                </a:cubicBezTo>
                <a:lnTo>
                  <a:pt x="2378927" y="520390"/>
                </a:lnTo>
                <a:cubicBezTo>
                  <a:pt x="2378927" y="561448"/>
                  <a:pt x="2345643" y="594732"/>
                  <a:pt x="2304585" y="594732"/>
                </a:cubicBezTo>
                <a:lnTo>
                  <a:pt x="74341" y="594732"/>
                </a:lnTo>
                <a:cubicBezTo>
                  <a:pt x="33311" y="594732"/>
                  <a:pt x="0" y="561420"/>
                  <a:pt x="0" y="520390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7" name="Text 13"/>
          <p:cNvSpPr/>
          <p:nvPr/>
        </p:nvSpPr>
        <p:spPr>
          <a:xfrm>
            <a:off x="3025613" y="2956953"/>
            <a:ext cx="230458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业务逻辑层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030259" y="3217057"/>
            <a:ext cx="2295293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37598" y="2882629"/>
            <a:ext cx="2378927" cy="594732"/>
          </a:xfrm>
          <a:custGeom>
            <a:avLst/>
            <a:gdLst/>
            <a:ahLst/>
            <a:cxnLst/>
            <a:rect l="l" t="t" r="r" b="b"/>
            <a:pathLst>
              <a:path w="2378927" h="594732">
                <a:moveTo>
                  <a:pt x="74341" y="0"/>
                </a:moveTo>
                <a:lnTo>
                  <a:pt x="2304585" y="0"/>
                </a:lnTo>
                <a:cubicBezTo>
                  <a:pt x="2345643" y="0"/>
                  <a:pt x="2378927" y="33284"/>
                  <a:pt x="2378927" y="74341"/>
                </a:cubicBezTo>
                <a:lnTo>
                  <a:pt x="2378927" y="520390"/>
                </a:lnTo>
                <a:cubicBezTo>
                  <a:pt x="2378927" y="561448"/>
                  <a:pt x="2345643" y="594732"/>
                  <a:pt x="2304585" y="594732"/>
                </a:cubicBezTo>
                <a:lnTo>
                  <a:pt x="74341" y="594732"/>
                </a:lnTo>
                <a:cubicBezTo>
                  <a:pt x="33311" y="594732"/>
                  <a:pt x="0" y="561420"/>
                  <a:pt x="0" y="520390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20" name="Text 16"/>
          <p:cNvSpPr/>
          <p:nvPr/>
        </p:nvSpPr>
        <p:spPr>
          <a:xfrm>
            <a:off x="5474752" y="2956953"/>
            <a:ext cx="230458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数据访问层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479399" y="3217057"/>
            <a:ext cx="2295293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371707" y="4215296"/>
            <a:ext cx="3707780" cy="1281386"/>
          </a:xfrm>
          <a:custGeom>
            <a:avLst/>
            <a:gdLst/>
            <a:ahLst/>
            <a:cxnLst/>
            <a:rect l="l" t="t" r="r" b="b"/>
            <a:pathLst>
              <a:path w="3707780" h="1281386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1169879"/>
                </a:lnTo>
                <a:cubicBezTo>
                  <a:pt x="3707780" y="1231463"/>
                  <a:pt x="3657857" y="1281386"/>
                  <a:pt x="3596274" y="1281386"/>
                </a:cubicBezTo>
                <a:lnTo>
                  <a:pt x="111506" y="1281386"/>
                </a:lnTo>
                <a:cubicBezTo>
                  <a:pt x="49923" y="1281386"/>
                  <a:pt x="0" y="1231463"/>
                  <a:pt x="0" y="1169879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9390" dist="929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71707" y="4215296"/>
            <a:ext cx="3707780" cy="35161"/>
          </a:xfrm>
          <a:custGeom>
            <a:avLst/>
            <a:gdLst/>
            <a:ahLst/>
            <a:cxnLst/>
            <a:rect l="l" t="t" r="r" b="b"/>
            <a:pathLst>
              <a:path w="3707780" h="35161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4" name="Shape 20"/>
          <p:cNvSpPr/>
          <p:nvPr/>
        </p:nvSpPr>
        <p:spPr>
          <a:xfrm>
            <a:off x="543591" y="4418653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>
                <a:moveTo>
                  <a:pt x="151805" y="64323"/>
                </a:moveTo>
                <a:cubicBezTo>
                  <a:pt x="149845" y="63669"/>
                  <a:pt x="147884" y="63052"/>
                  <a:pt x="145924" y="62472"/>
                </a:cubicBezTo>
                <a:cubicBezTo>
                  <a:pt x="146251" y="61128"/>
                  <a:pt x="146541" y="59785"/>
                  <a:pt x="146832" y="58442"/>
                </a:cubicBezTo>
                <a:cubicBezTo>
                  <a:pt x="151296" y="36808"/>
                  <a:pt x="148356" y="19420"/>
                  <a:pt x="138446" y="13685"/>
                </a:cubicBezTo>
                <a:cubicBezTo>
                  <a:pt x="128900" y="8204"/>
                  <a:pt x="113327" y="13903"/>
                  <a:pt x="97573" y="27624"/>
                </a:cubicBezTo>
                <a:cubicBezTo>
                  <a:pt x="96012" y="28967"/>
                  <a:pt x="94488" y="30383"/>
                  <a:pt x="93036" y="31798"/>
                </a:cubicBezTo>
                <a:cubicBezTo>
                  <a:pt x="92056" y="30855"/>
                  <a:pt x="91039" y="29911"/>
                  <a:pt x="90023" y="29003"/>
                </a:cubicBezTo>
                <a:cubicBezTo>
                  <a:pt x="73507" y="14338"/>
                  <a:pt x="56954" y="8167"/>
                  <a:pt x="47044" y="13939"/>
                </a:cubicBezTo>
                <a:cubicBezTo>
                  <a:pt x="37534" y="19457"/>
                  <a:pt x="34702" y="35828"/>
                  <a:pt x="38695" y="56301"/>
                </a:cubicBezTo>
                <a:cubicBezTo>
                  <a:pt x="39095" y="58333"/>
                  <a:pt x="39530" y="60330"/>
                  <a:pt x="40038" y="62363"/>
                </a:cubicBezTo>
                <a:cubicBezTo>
                  <a:pt x="37715" y="63016"/>
                  <a:pt x="35428" y="63742"/>
                  <a:pt x="33287" y="64504"/>
                </a:cubicBezTo>
                <a:cubicBezTo>
                  <a:pt x="13903" y="71220"/>
                  <a:pt x="0" y="81819"/>
                  <a:pt x="0" y="92782"/>
                </a:cubicBezTo>
                <a:cubicBezTo>
                  <a:pt x="0" y="104107"/>
                  <a:pt x="14810" y="115469"/>
                  <a:pt x="34956" y="122366"/>
                </a:cubicBezTo>
                <a:cubicBezTo>
                  <a:pt x="36590" y="122910"/>
                  <a:pt x="38223" y="123455"/>
                  <a:pt x="39893" y="123927"/>
                </a:cubicBezTo>
                <a:cubicBezTo>
                  <a:pt x="39349" y="126105"/>
                  <a:pt x="38877" y="128246"/>
                  <a:pt x="38441" y="130461"/>
                </a:cubicBezTo>
                <a:cubicBezTo>
                  <a:pt x="34630" y="150607"/>
                  <a:pt x="37606" y="166579"/>
                  <a:pt x="47117" y="172060"/>
                </a:cubicBezTo>
                <a:cubicBezTo>
                  <a:pt x="56918" y="177723"/>
                  <a:pt x="73398" y="171915"/>
                  <a:pt x="89442" y="157867"/>
                </a:cubicBezTo>
                <a:cubicBezTo>
                  <a:pt x="90713" y="156741"/>
                  <a:pt x="91983" y="155580"/>
                  <a:pt x="93254" y="154346"/>
                </a:cubicBezTo>
                <a:cubicBezTo>
                  <a:pt x="94851" y="155907"/>
                  <a:pt x="96520" y="157395"/>
                  <a:pt x="98190" y="158847"/>
                </a:cubicBezTo>
                <a:cubicBezTo>
                  <a:pt x="113726" y="172205"/>
                  <a:pt x="129081" y="177614"/>
                  <a:pt x="138555" y="172132"/>
                </a:cubicBezTo>
                <a:cubicBezTo>
                  <a:pt x="148356" y="166470"/>
                  <a:pt x="151551" y="149300"/>
                  <a:pt x="147412" y="128391"/>
                </a:cubicBezTo>
                <a:cubicBezTo>
                  <a:pt x="147086" y="126794"/>
                  <a:pt x="146723" y="125161"/>
                  <a:pt x="146323" y="123491"/>
                </a:cubicBezTo>
                <a:cubicBezTo>
                  <a:pt x="147485" y="123164"/>
                  <a:pt x="148610" y="122801"/>
                  <a:pt x="149736" y="122438"/>
                </a:cubicBezTo>
                <a:cubicBezTo>
                  <a:pt x="170680" y="115505"/>
                  <a:pt x="185854" y="104289"/>
                  <a:pt x="185854" y="92782"/>
                </a:cubicBezTo>
                <a:cubicBezTo>
                  <a:pt x="185854" y="81783"/>
                  <a:pt x="171552" y="71111"/>
                  <a:pt x="151805" y="64323"/>
                </a:cubicBezTo>
                <a:close/>
                <a:moveTo>
                  <a:pt x="102691" y="33504"/>
                </a:moveTo>
                <a:cubicBezTo>
                  <a:pt x="116195" y="21743"/>
                  <a:pt x="128791" y="17133"/>
                  <a:pt x="134526" y="20437"/>
                </a:cubicBezTo>
                <a:cubicBezTo>
                  <a:pt x="140661" y="23958"/>
                  <a:pt x="143020" y="38187"/>
                  <a:pt x="139172" y="56881"/>
                </a:cubicBezTo>
                <a:cubicBezTo>
                  <a:pt x="138918" y="58116"/>
                  <a:pt x="138664" y="59313"/>
                  <a:pt x="138338" y="60511"/>
                </a:cubicBezTo>
                <a:cubicBezTo>
                  <a:pt x="130279" y="58696"/>
                  <a:pt x="122112" y="57390"/>
                  <a:pt x="113908" y="56664"/>
                </a:cubicBezTo>
                <a:cubicBezTo>
                  <a:pt x="109189" y="49912"/>
                  <a:pt x="104034" y="43451"/>
                  <a:pt x="98444" y="37389"/>
                </a:cubicBezTo>
                <a:cubicBezTo>
                  <a:pt x="99860" y="36045"/>
                  <a:pt x="101239" y="34775"/>
                  <a:pt x="102691" y="33504"/>
                </a:cubicBezTo>
                <a:close/>
                <a:moveTo>
                  <a:pt x="60693" y="111621"/>
                </a:moveTo>
                <a:cubicBezTo>
                  <a:pt x="62544" y="114779"/>
                  <a:pt x="64432" y="117937"/>
                  <a:pt x="66428" y="121023"/>
                </a:cubicBezTo>
                <a:cubicBezTo>
                  <a:pt x="60765" y="120406"/>
                  <a:pt x="55139" y="119498"/>
                  <a:pt x="49585" y="118300"/>
                </a:cubicBezTo>
                <a:cubicBezTo>
                  <a:pt x="51182" y="113073"/>
                  <a:pt x="53179" y="107664"/>
                  <a:pt x="55502" y="102147"/>
                </a:cubicBezTo>
                <a:cubicBezTo>
                  <a:pt x="57172" y="105341"/>
                  <a:pt x="58878" y="108499"/>
                  <a:pt x="60693" y="111621"/>
                </a:cubicBezTo>
                <a:close/>
                <a:moveTo>
                  <a:pt x="49694" y="67953"/>
                </a:moveTo>
                <a:cubicBezTo>
                  <a:pt x="54921" y="66791"/>
                  <a:pt x="60475" y="65847"/>
                  <a:pt x="66247" y="65121"/>
                </a:cubicBezTo>
                <a:cubicBezTo>
                  <a:pt x="64323" y="68134"/>
                  <a:pt x="62435" y="71220"/>
                  <a:pt x="60657" y="74341"/>
                </a:cubicBezTo>
                <a:cubicBezTo>
                  <a:pt x="58878" y="77427"/>
                  <a:pt x="57135" y="80585"/>
                  <a:pt x="55502" y="83779"/>
                </a:cubicBezTo>
                <a:cubicBezTo>
                  <a:pt x="53215" y="78371"/>
                  <a:pt x="51291" y="73071"/>
                  <a:pt x="49694" y="67953"/>
                </a:cubicBezTo>
                <a:close/>
                <a:moveTo>
                  <a:pt x="59640" y="92963"/>
                </a:moveTo>
                <a:cubicBezTo>
                  <a:pt x="62036" y="87954"/>
                  <a:pt x="64649" y="83053"/>
                  <a:pt x="67408" y="78226"/>
                </a:cubicBezTo>
                <a:cubicBezTo>
                  <a:pt x="70167" y="73398"/>
                  <a:pt x="73144" y="68715"/>
                  <a:pt x="76265" y="64105"/>
                </a:cubicBezTo>
                <a:cubicBezTo>
                  <a:pt x="81710" y="63706"/>
                  <a:pt x="87264" y="63488"/>
                  <a:pt x="92927" y="63488"/>
                </a:cubicBezTo>
                <a:cubicBezTo>
                  <a:pt x="98590" y="63488"/>
                  <a:pt x="104180" y="63706"/>
                  <a:pt x="109588" y="64105"/>
                </a:cubicBezTo>
                <a:cubicBezTo>
                  <a:pt x="112674" y="68679"/>
                  <a:pt x="115614" y="73361"/>
                  <a:pt x="118409" y="78153"/>
                </a:cubicBezTo>
                <a:cubicBezTo>
                  <a:pt x="121204" y="82944"/>
                  <a:pt x="123818" y="87845"/>
                  <a:pt x="126286" y="92818"/>
                </a:cubicBezTo>
                <a:cubicBezTo>
                  <a:pt x="123854" y="97827"/>
                  <a:pt x="121240" y="102764"/>
                  <a:pt x="118445" y="107628"/>
                </a:cubicBezTo>
                <a:cubicBezTo>
                  <a:pt x="115687" y="112456"/>
                  <a:pt x="112746" y="117139"/>
                  <a:pt x="109661" y="121785"/>
                </a:cubicBezTo>
                <a:cubicBezTo>
                  <a:pt x="104252" y="122184"/>
                  <a:pt x="98626" y="122366"/>
                  <a:pt x="92927" y="122366"/>
                </a:cubicBezTo>
                <a:cubicBezTo>
                  <a:pt x="87228" y="122366"/>
                  <a:pt x="81710" y="122184"/>
                  <a:pt x="76374" y="121858"/>
                </a:cubicBezTo>
                <a:cubicBezTo>
                  <a:pt x="73216" y="117248"/>
                  <a:pt x="70240" y="112529"/>
                  <a:pt x="67445" y="107701"/>
                </a:cubicBezTo>
                <a:cubicBezTo>
                  <a:pt x="64649" y="102873"/>
                  <a:pt x="62072" y="97972"/>
                  <a:pt x="59640" y="92963"/>
                </a:cubicBezTo>
                <a:close/>
                <a:moveTo>
                  <a:pt x="125197" y="111548"/>
                </a:moveTo>
                <a:cubicBezTo>
                  <a:pt x="127048" y="108354"/>
                  <a:pt x="128791" y="105123"/>
                  <a:pt x="130497" y="101857"/>
                </a:cubicBezTo>
                <a:cubicBezTo>
                  <a:pt x="132820" y="107120"/>
                  <a:pt x="134853" y="112456"/>
                  <a:pt x="136631" y="117937"/>
                </a:cubicBezTo>
                <a:cubicBezTo>
                  <a:pt x="131005" y="119208"/>
                  <a:pt x="125306" y="120188"/>
                  <a:pt x="119571" y="120841"/>
                </a:cubicBezTo>
                <a:cubicBezTo>
                  <a:pt x="121531" y="117792"/>
                  <a:pt x="123382" y="114670"/>
                  <a:pt x="125197" y="111548"/>
                </a:cubicBezTo>
                <a:close/>
                <a:moveTo>
                  <a:pt x="130424" y="83779"/>
                </a:moveTo>
                <a:cubicBezTo>
                  <a:pt x="128718" y="80585"/>
                  <a:pt x="126976" y="77391"/>
                  <a:pt x="125161" y="74269"/>
                </a:cubicBezTo>
                <a:cubicBezTo>
                  <a:pt x="123382" y="71183"/>
                  <a:pt x="121531" y="68134"/>
                  <a:pt x="119607" y="65121"/>
                </a:cubicBezTo>
                <a:cubicBezTo>
                  <a:pt x="125451" y="65847"/>
                  <a:pt x="131041" y="66827"/>
                  <a:pt x="136268" y="68025"/>
                </a:cubicBezTo>
                <a:cubicBezTo>
                  <a:pt x="134599" y="73398"/>
                  <a:pt x="132639" y="78625"/>
                  <a:pt x="130424" y="83779"/>
                </a:cubicBezTo>
                <a:close/>
                <a:moveTo>
                  <a:pt x="92999" y="42942"/>
                </a:moveTo>
                <a:cubicBezTo>
                  <a:pt x="96811" y="47081"/>
                  <a:pt x="100405" y="51436"/>
                  <a:pt x="103744" y="55938"/>
                </a:cubicBezTo>
                <a:cubicBezTo>
                  <a:pt x="96557" y="55611"/>
                  <a:pt x="89333" y="55611"/>
                  <a:pt x="82146" y="55938"/>
                </a:cubicBezTo>
                <a:cubicBezTo>
                  <a:pt x="85703" y="51255"/>
                  <a:pt x="89369" y="46899"/>
                  <a:pt x="92999" y="42942"/>
                </a:cubicBezTo>
                <a:close/>
                <a:moveTo>
                  <a:pt x="50892" y="20691"/>
                </a:moveTo>
                <a:cubicBezTo>
                  <a:pt x="56990" y="17133"/>
                  <a:pt x="70530" y="22215"/>
                  <a:pt x="84796" y="34848"/>
                </a:cubicBezTo>
                <a:cubicBezTo>
                  <a:pt x="85703" y="35646"/>
                  <a:pt x="86611" y="36517"/>
                  <a:pt x="87554" y="37389"/>
                </a:cubicBezTo>
                <a:cubicBezTo>
                  <a:pt x="81928" y="43451"/>
                  <a:pt x="76737" y="49912"/>
                  <a:pt x="71982" y="56664"/>
                </a:cubicBezTo>
                <a:cubicBezTo>
                  <a:pt x="63778" y="57390"/>
                  <a:pt x="55647" y="58660"/>
                  <a:pt x="47589" y="60439"/>
                </a:cubicBezTo>
                <a:cubicBezTo>
                  <a:pt x="47117" y="58587"/>
                  <a:pt x="46718" y="56700"/>
                  <a:pt x="46318" y="54812"/>
                </a:cubicBezTo>
                <a:cubicBezTo>
                  <a:pt x="42906" y="37243"/>
                  <a:pt x="45157" y="23994"/>
                  <a:pt x="50892" y="20691"/>
                </a:cubicBezTo>
                <a:close/>
                <a:moveTo>
                  <a:pt x="41999" y="116376"/>
                </a:moveTo>
                <a:cubicBezTo>
                  <a:pt x="40474" y="115941"/>
                  <a:pt x="38986" y="115469"/>
                  <a:pt x="37497" y="114961"/>
                </a:cubicBezTo>
                <a:cubicBezTo>
                  <a:pt x="29766" y="112529"/>
                  <a:pt x="20981" y="108681"/>
                  <a:pt x="14629" y="103635"/>
                </a:cubicBezTo>
                <a:cubicBezTo>
                  <a:pt x="10962" y="101094"/>
                  <a:pt x="8494" y="97174"/>
                  <a:pt x="7804" y="92782"/>
                </a:cubicBezTo>
                <a:cubicBezTo>
                  <a:pt x="7804" y="86139"/>
                  <a:pt x="19275" y="77645"/>
                  <a:pt x="35828" y="71873"/>
                </a:cubicBezTo>
                <a:cubicBezTo>
                  <a:pt x="37897" y="71147"/>
                  <a:pt x="40002" y="70494"/>
                  <a:pt x="42107" y="69877"/>
                </a:cubicBezTo>
                <a:cubicBezTo>
                  <a:pt x="44576" y="77754"/>
                  <a:pt x="47552" y="85485"/>
                  <a:pt x="51001" y="92963"/>
                </a:cubicBezTo>
                <a:cubicBezTo>
                  <a:pt x="47516" y="100550"/>
                  <a:pt x="44503" y="108390"/>
                  <a:pt x="41999" y="116376"/>
                </a:cubicBezTo>
                <a:close/>
                <a:moveTo>
                  <a:pt x="84324" y="151950"/>
                </a:moveTo>
                <a:cubicBezTo>
                  <a:pt x="78334" y="157431"/>
                  <a:pt x="71401" y="161787"/>
                  <a:pt x="63851" y="164764"/>
                </a:cubicBezTo>
                <a:cubicBezTo>
                  <a:pt x="59822" y="166688"/>
                  <a:pt x="55175" y="166869"/>
                  <a:pt x="51037" y="165236"/>
                </a:cubicBezTo>
                <a:cubicBezTo>
                  <a:pt x="45266" y="161896"/>
                  <a:pt x="42870" y="149082"/>
                  <a:pt x="46137" y="131840"/>
                </a:cubicBezTo>
                <a:cubicBezTo>
                  <a:pt x="46536" y="129807"/>
                  <a:pt x="46972" y="127774"/>
                  <a:pt x="47480" y="125778"/>
                </a:cubicBezTo>
                <a:cubicBezTo>
                  <a:pt x="55611" y="127520"/>
                  <a:pt x="63815" y="128718"/>
                  <a:pt x="72127" y="129335"/>
                </a:cubicBezTo>
                <a:cubicBezTo>
                  <a:pt x="76919" y="136123"/>
                  <a:pt x="82182" y="142621"/>
                  <a:pt x="87809" y="148719"/>
                </a:cubicBezTo>
                <a:cubicBezTo>
                  <a:pt x="86647" y="149845"/>
                  <a:pt x="85485" y="150933"/>
                  <a:pt x="84324" y="151950"/>
                </a:cubicBezTo>
                <a:close/>
                <a:moveTo>
                  <a:pt x="93217" y="143129"/>
                </a:moveTo>
                <a:cubicBezTo>
                  <a:pt x="89515" y="139136"/>
                  <a:pt x="85812" y="134708"/>
                  <a:pt x="82218" y="129952"/>
                </a:cubicBezTo>
                <a:cubicBezTo>
                  <a:pt x="85703" y="130098"/>
                  <a:pt x="89297" y="130170"/>
                  <a:pt x="92927" y="130170"/>
                </a:cubicBezTo>
                <a:cubicBezTo>
                  <a:pt x="96666" y="130170"/>
                  <a:pt x="100332" y="130098"/>
                  <a:pt x="103962" y="129916"/>
                </a:cubicBezTo>
                <a:cubicBezTo>
                  <a:pt x="100622" y="134526"/>
                  <a:pt x="97029" y="138918"/>
                  <a:pt x="93217" y="143129"/>
                </a:cubicBezTo>
                <a:close/>
                <a:moveTo>
                  <a:pt x="140661" y="154019"/>
                </a:moveTo>
                <a:cubicBezTo>
                  <a:pt x="140334" y="158448"/>
                  <a:pt x="138156" y="162586"/>
                  <a:pt x="134671" y="165381"/>
                </a:cubicBezTo>
                <a:cubicBezTo>
                  <a:pt x="128900" y="168720"/>
                  <a:pt x="116594" y="164364"/>
                  <a:pt x="103308" y="152966"/>
                </a:cubicBezTo>
                <a:cubicBezTo>
                  <a:pt x="101784" y="151659"/>
                  <a:pt x="100259" y="150244"/>
                  <a:pt x="98698" y="148792"/>
                </a:cubicBezTo>
                <a:cubicBezTo>
                  <a:pt x="104252" y="142657"/>
                  <a:pt x="109371" y="136160"/>
                  <a:pt x="114017" y="129335"/>
                </a:cubicBezTo>
                <a:cubicBezTo>
                  <a:pt x="122329" y="128646"/>
                  <a:pt x="130606" y="127375"/>
                  <a:pt x="138773" y="125524"/>
                </a:cubicBezTo>
                <a:cubicBezTo>
                  <a:pt x="139136" y="127012"/>
                  <a:pt x="139463" y="128500"/>
                  <a:pt x="139753" y="129952"/>
                </a:cubicBezTo>
                <a:cubicBezTo>
                  <a:pt x="141532" y="137793"/>
                  <a:pt x="141822" y="145960"/>
                  <a:pt x="140661" y="154019"/>
                </a:cubicBezTo>
                <a:close/>
                <a:moveTo>
                  <a:pt x="147267" y="114997"/>
                </a:moveTo>
                <a:cubicBezTo>
                  <a:pt x="146251" y="115324"/>
                  <a:pt x="145234" y="115650"/>
                  <a:pt x="144182" y="115941"/>
                </a:cubicBezTo>
                <a:cubicBezTo>
                  <a:pt x="141641" y="108027"/>
                  <a:pt x="138519" y="100296"/>
                  <a:pt x="134925" y="92782"/>
                </a:cubicBezTo>
                <a:cubicBezTo>
                  <a:pt x="138410" y="85377"/>
                  <a:pt x="141350" y="77754"/>
                  <a:pt x="143819" y="69949"/>
                </a:cubicBezTo>
                <a:cubicBezTo>
                  <a:pt x="145706" y="70494"/>
                  <a:pt x="147521" y="71075"/>
                  <a:pt x="149264" y="71655"/>
                </a:cubicBezTo>
                <a:cubicBezTo>
                  <a:pt x="166179" y="77463"/>
                  <a:pt x="178049" y="86103"/>
                  <a:pt x="178049" y="92709"/>
                </a:cubicBezTo>
                <a:cubicBezTo>
                  <a:pt x="178049" y="99824"/>
                  <a:pt x="165381" y="109008"/>
                  <a:pt x="147267" y="114997"/>
                </a:cubicBezTo>
                <a:close/>
                <a:moveTo>
                  <a:pt x="92927" y="109552"/>
                </a:moveTo>
                <a:cubicBezTo>
                  <a:pt x="102103" y="109552"/>
                  <a:pt x="109552" y="102103"/>
                  <a:pt x="109552" y="92927"/>
                </a:cubicBezTo>
                <a:cubicBezTo>
                  <a:pt x="109552" y="83751"/>
                  <a:pt x="102103" y="76302"/>
                  <a:pt x="92927" y="76302"/>
                </a:cubicBezTo>
                <a:cubicBezTo>
                  <a:pt x="83751" y="76302"/>
                  <a:pt x="76302" y="83751"/>
                  <a:pt x="76302" y="92927"/>
                </a:cubicBezTo>
                <a:cubicBezTo>
                  <a:pt x="76302" y="102103"/>
                  <a:pt x="83751" y="109552"/>
                  <a:pt x="92927" y="109552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5" name="Text 21"/>
          <p:cNvSpPr/>
          <p:nvPr/>
        </p:nvSpPr>
        <p:spPr>
          <a:xfrm>
            <a:off x="827002" y="4381527"/>
            <a:ext cx="1022195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前端技术栈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27893" y="4753157"/>
            <a:ext cx="15069" cy="260195"/>
          </a:xfrm>
          <a:custGeom>
            <a:avLst/>
            <a:gdLst/>
            <a:ahLst/>
            <a:cxnLst/>
            <a:rect l="l" t="t" r="r" b="b"/>
            <a:pathLst>
              <a:path w="15069" h="260195">
                <a:moveTo>
                  <a:pt x="0" y="0"/>
                </a:moveTo>
                <a:lnTo>
                  <a:pt x="15069" y="0"/>
                </a:lnTo>
                <a:lnTo>
                  <a:pt x="15069" y="260195"/>
                </a:lnTo>
                <a:lnTo>
                  <a:pt x="0" y="260195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7" name="Text 23"/>
          <p:cNvSpPr/>
          <p:nvPr/>
        </p:nvSpPr>
        <p:spPr>
          <a:xfrm>
            <a:off x="609754" y="4790283"/>
            <a:ext cx="1059366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1690499" y="4753157"/>
            <a:ext cx="15069" cy="260195"/>
          </a:xfrm>
          <a:custGeom>
            <a:avLst/>
            <a:gdLst/>
            <a:ahLst/>
            <a:cxnLst/>
            <a:rect l="l" t="t" r="r" b="b"/>
            <a:pathLst>
              <a:path w="15069" h="260195">
                <a:moveTo>
                  <a:pt x="0" y="0"/>
                </a:moveTo>
                <a:lnTo>
                  <a:pt x="15069" y="0"/>
                </a:lnTo>
                <a:lnTo>
                  <a:pt x="15069" y="260195"/>
                </a:lnTo>
                <a:lnTo>
                  <a:pt x="0" y="260195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9" name="Text 25"/>
          <p:cNvSpPr/>
          <p:nvPr/>
        </p:nvSpPr>
        <p:spPr>
          <a:xfrm>
            <a:off x="1772359" y="4790283"/>
            <a:ext cx="1059366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2853105" y="4753157"/>
            <a:ext cx="15069" cy="260195"/>
          </a:xfrm>
          <a:custGeom>
            <a:avLst/>
            <a:gdLst/>
            <a:ahLst/>
            <a:cxnLst/>
            <a:rect l="l" t="t" r="r" b="b"/>
            <a:pathLst>
              <a:path w="15069" h="260195">
                <a:moveTo>
                  <a:pt x="0" y="0"/>
                </a:moveTo>
                <a:lnTo>
                  <a:pt x="15069" y="0"/>
                </a:lnTo>
                <a:lnTo>
                  <a:pt x="15069" y="260195"/>
                </a:lnTo>
                <a:lnTo>
                  <a:pt x="0" y="260195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1" name="Text 27"/>
          <p:cNvSpPr/>
          <p:nvPr/>
        </p:nvSpPr>
        <p:spPr>
          <a:xfrm>
            <a:off x="2934965" y="4790283"/>
            <a:ext cx="1059366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Vite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527893" y="5087585"/>
            <a:ext cx="15069" cy="260195"/>
          </a:xfrm>
          <a:custGeom>
            <a:avLst/>
            <a:gdLst/>
            <a:ahLst/>
            <a:cxnLst/>
            <a:rect l="l" t="t" r="r" b="b"/>
            <a:pathLst>
              <a:path w="15069" h="260195">
                <a:moveTo>
                  <a:pt x="0" y="0"/>
                </a:moveTo>
                <a:lnTo>
                  <a:pt x="15069" y="0"/>
                </a:lnTo>
                <a:lnTo>
                  <a:pt x="15069" y="260195"/>
                </a:lnTo>
                <a:lnTo>
                  <a:pt x="0" y="260195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3" name="Text 29"/>
          <p:cNvSpPr/>
          <p:nvPr/>
        </p:nvSpPr>
        <p:spPr>
          <a:xfrm>
            <a:off x="609754" y="5124710"/>
            <a:ext cx="1059366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 Design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1690499" y="5087585"/>
            <a:ext cx="15069" cy="260195"/>
          </a:xfrm>
          <a:custGeom>
            <a:avLst/>
            <a:gdLst/>
            <a:ahLst/>
            <a:cxnLst/>
            <a:rect l="l" t="t" r="r" b="b"/>
            <a:pathLst>
              <a:path w="15069" h="260195">
                <a:moveTo>
                  <a:pt x="0" y="0"/>
                </a:moveTo>
                <a:lnTo>
                  <a:pt x="15069" y="0"/>
                </a:lnTo>
                <a:lnTo>
                  <a:pt x="15069" y="260195"/>
                </a:lnTo>
                <a:lnTo>
                  <a:pt x="0" y="260195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5" name="Text 31"/>
          <p:cNvSpPr/>
          <p:nvPr/>
        </p:nvSpPr>
        <p:spPr>
          <a:xfrm>
            <a:off x="1772359" y="5124710"/>
            <a:ext cx="1059366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Zustand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2853105" y="5087585"/>
            <a:ext cx="15069" cy="260195"/>
          </a:xfrm>
          <a:custGeom>
            <a:avLst/>
            <a:gdLst/>
            <a:ahLst/>
            <a:cxnLst/>
            <a:rect l="l" t="t" r="r" b="b"/>
            <a:pathLst>
              <a:path w="15069" h="260195">
                <a:moveTo>
                  <a:pt x="0" y="0"/>
                </a:moveTo>
                <a:lnTo>
                  <a:pt x="15069" y="0"/>
                </a:lnTo>
                <a:lnTo>
                  <a:pt x="15069" y="260195"/>
                </a:lnTo>
                <a:lnTo>
                  <a:pt x="0" y="260195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37" name="Text 33"/>
          <p:cNvSpPr/>
          <p:nvPr/>
        </p:nvSpPr>
        <p:spPr>
          <a:xfrm>
            <a:off x="2934965" y="5124710"/>
            <a:ext cx="1059366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Axios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4231232" y="4215296"/>
            <a:ext cx="3707780" cy="1281386"/>
          </a:xfrm>
          <a:custGeom>
            <a:avLst/>
            <a:gdLst/>
            <a:ahLst/>
            <a:cxnLst/>
            <a:rect l="l" t="t" r="r" b="b"/>
            <a:pathLst>
              <a:path w="3707780" h="1281386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1169879"/>
                </a:lnTo>
                <a:cubicBezTo>
                  <a:pt x="3707780" y="1231463"/>
                  <a:pt x="3657857" y="1281386"/>
                  <a:pt x="3596274" y="1281386"/>
                </a:cubicBezTo>
                <a:lnTo>
                  <a:pt x="111506" y="1281386"/>
                </a:lnTo>
                <a:cubicBezTo>
                  <a:pt x="49923" y="1281386"/>
                  <a:pt x="0" y="1231463"/>
                  <a:pt x="0" y="1169879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9390" dist="929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231232" y="4215296"/>
            <a:ext cx="3707780" cy="35161"/>
          </a:xfrm>
          <a:custGeom>
            <a:avLst/>
            <a:gdLst/>
            <a:ahLst/>
            <a:cxnLst/>
            <a:rect l="l" t="t" r="r" b="b"/>
            <a:pathLst>
              <a:path w="3707780" h="35161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40" name="Shape 36"/>
          <p:cNvSpPr/>
          <p:nvPr/>
        </p:nvSpPr>
        <p:spPr>
          <a:xfrm>
            <a:off x="4414731" y="4418653"/>
            <a:ext cx="162622" cy="185854"/>
          </a:xfrm>
          <a:custGeom>
            <a:avLst/>
            <a:gdLst/>
            <a:ahLst/>
            <a:cxnLst/>
            <a:rect l="l" t="t" r="r" b="b"/>
            <a:pathLst>
              <a:path w="162622" h="185854">
                <a:moveTo>
                  <a:pt x="23232" y="11616"/>
                </a:moveTo>
                <a:cubicBezTo>
                  <a:pt x="10418" y="11616"/>
                  <a:pt x="0" y="22034"/>
                  <a:pt x="0" y="34848"/>
                </a:cubicBezTo>
                <a:lnTo>
                  <a:pt x="0" y="58079"/>
                </a:lnTo>
                <a:cubicBezTo>
                  <a:pt x="0" y="70893"/>
                  <a:pt x="10418" y="81311"/>
                  <a:pt x="23232" y="81311"/>
                </a:cubicBezTo>
                <a:lnTo>
                  <a:pt x="139390" y="81311"/>
                </a:lnTo>
                <a:cubicBezTo>
                  <a:pt x="152204" y="81311"/>
                  <a:pt x="162622" y="70893"/>
                  <a:pt x="162622" y="58079"/>
                </a:cubicBezTo>
                <a:lnTo>
                  <a:pt x="162622" y="34848"/>
                </a:lnTo>
                <a:cubicBezTo>
                  <a:pt x="162622" y="22034"/>
                  <a:pt x="152204" y="11616"/>
                  <a:pt x="139390" y="11616"/>
                </a:cubicBezTo>
                <a:lnTo>
                  <a:pt x="23232" y="11616"/>
                </a:lnTo>
                <a:close/>
                <a:moveTo>
                  <a:pt x="101639" y="37752"/>
                </a:moveTo>
                <a:cubicBezTo>
                  <a:pt x="106447" y="37752"/>
                  <a:pt x="110351" y="41655"/>
                  <a:pt x="110351" y="46463"/>
                </a:cubicBezTo>
                <a:cubicBezTo>
                  <a:pt x="110351" y="51272"/>
                  <a:pt x="106447" y="55175"/>
                  <a:pt x="101639" y="55175"/>
                </a:cubicBezTo>
                <a:cubicBezTo>
                  <a:pt x="96830" y="55175"/>
                  <a:pt x="92927" y="51272"/>
                  <a:pt x="92927" y="46463"/>
                </a:cubicBezTo>
                <a:cubicBezTo>
                  <a:pt x="92927" y="41655"/>
                  <a:pt x="96830" y="37752"/>
                  <a:pt x="101639" y="37752"/>
                </a:cubicBezTo>
                <a:close/>
                <a:moveTo>
                  <a:pt x="121966" y="46463"/>
                </a:moveTo>
                <a:cubicBezTo>
                  <a:pt x="121966" y="41655"/>
                  <a:pt x="125870" y="37752"/>
                  <a:pt x="130678" y="37752"/>
                </a:cubicBezTo>
                <a:cubicBezTo>
                  <a:pt x="135487" y="37752"/>
                  <a:pt x="139390" y="41655"/>
                  <a:pt x="139390" y="46463"/>
                </a:cubicBezTo>
                <a:cubicBezTo>
                  <a:pt x="139390" y="51272"/>
                  <a:pt x="135487" y="55175"/>
                  <a:pt x="130678" y="55175"/>
                </a:cubicBezTo>
                <a:cubicBezTo>
                  <a:pt x="125870" y="55175"/>
                  <a:pt x="121966" y="51272"/>
                  <a:pt x="121966" y="46463"/>
                </a:cubicBezTo>
                <a:close/>
                <a:moveTo>
                  <a:pt x="23232" y="104543"/>
                </a:moveTo>
                <a:cubicBezTo>
                  <a:pt x="10418" y="104543"/>
                  <a:pt x="0" y="114961"/>
                  <a:pt x="0" y="127774"/>
                </a:cubicBezTo>
                <a:lnTo>
                  <a:pt x="0" y="151006"/>
                </a:lnTo>
                <a:cubicBezTo>
                  <a:pt x="0" y="163820"/>
                  <a:pt x="10418" y="174238"/>
                  <a:pt x="23232" y="174238"/>
                </a:cubicBezTo>
                <a:lnTo>
                  <a:pt x="139390" y="174238"/>
                </a:lnTo>
                <a:cubicBezTo>
                  <a:pt x="152204" y="174238"/>
                  <a:pt x="162622" y="163820"/>
                  <a:pt x="162622" y="151006"/>
                </a:cubicBezTo>
                <a:lnTo>
                  <a:pt x="162622" y="127774"/>
                </a:lnTo>
                <a:cubicBezTo>
                  <a:pt x="162622" y="114961"/>
                  <a:pt x="152204" y="104543"/>
                  <a:pt x="139390" y="104543"/>
                </a:cubicBezTo>
                <a:lnTo>
                  <a:pt x="23232" y="104543"/>
                </a:lnTo>
                <a:close/>
                <a:moveTo>
                  <a:pt x="101639" y="130678"/>
                </a:moveTo>
                <a:cubicBezTo>
                  <a:pt x="106447" y="130678"/>
                  <a:pt x="110351" y="134582"/>
                  <a:pt x="110351" y="139390"/>
                </a:cubicBezTo>
                <a:cubicBezTo>
                  <a:pt x="110351" y="144198"/>
                  <a:pt x="106447" y="148102"/>
                  <a:pt x="101639" y="148102"/>
                </a:cubicBezTo>
                <a:cubicBezTo>
                  <a:pt x="96830" y="148102"/>
                  <a:pt x="92927" y="144198"/>
                  <a:pt x="92927" y="139390"/>
                </a:cubicBezTo>
                <a:cubicBezTo>
                  <a:pt x="92927" y="134582"/>
                  <a:pt x="96830" y="130678"/>
                  <a:pt x="101639" y="130678"/>
                </a:cubicBezTo>
                <a:close/>
                <a:moveTo>
                  <a:pt x="121966" y="139390"/>
                </a:moveTo>
                <a:cubicBezTo>
                  <a:pt x="121966" y="134582"/>
                  <a:pt x="125870" y="130678"/>
                  <a:pt x="130678" y="130678"/>
                </a:cubicBezTo>
                <a:cubicBezTo>
                  <a:pt x="135487" y="130678"/>
                  <a:pt x="139390" y="134582"/>
                  <a:pt x="139390" y="139390"/>
                </a:cubicBezTo>
                <a:cubicBezTo>
                  <a:pt x="139390" y="144198"/>
                  <a:pt x="135487" y="148102"/>
                  <a:pt x="130678" y="148102"/>
                </a:cubicBezTo>
                <a:cubicBezTo>
                  <a:pt x="125870" y="148102"/>
                  <a:pt x="121966" y="144198"/>
                  <a:pt x="121966" y="13939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41" name="Text 37"/>
          <p:cNvSpPr/>
          <p:nvPr/>
        </p:nvSpPr>
        <p:spPr>
          <a:xfrm>
            <a:off x="4686526" y="4381527"/>
            <a:ext cx="1022195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后端技术栈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4387418" y="4753157"/>
            <a:ext cx="15069" cy="260195"/>
          </a:xfrm>
          <a:custGeom>
            <a:avLst/>
            <a:gdLst/>
            <a:ahLst/>
            <a:cxnLst/>
            <a:rect l="l" t="t" r="r" b="b"/>
            <a:pathLst>
              <a:path w="15069" h="260195">
                <a:moveTo>
                  <a:pt x="0" y="0"/>
                </a:moveTo>
                <a:lnTo>
                  <a:pt x="15069" y="0"/>
                </a:lnTo>
                <a:lnTo>
                  <a:pt x="15069" y="260195"/>
                </a:lnTo>
                <a:lnTo>
                  <a:pt x="0" y="260195"/>
                </a:lnTo>
                <a:lnTo>
                  <a:pt x="0" y="0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43" name="Text 39"/>
          <p:cNvSpPr/>
          <p:nvPr/>
        </p:nvSpPr>
        <p:spPr>
          <a:xfrm>
            <a:off x="4469278" y="4790283"/>
            <a:ext cx="1644805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6131365" y="4753157"/>
            <a:ext cx="15069" cy="260195"/>
          </a:xfrm>
          <a:custGeom>
            <a:avLst/>
            <a:gdLst/>
            <a:ahLst/>
            <a:cxnLst/>
            <a:rect l="l" t="t" r="r" b="b"/>
            <a:pathLst>
              <a:path w="15069" h="260195">
                <a:moveTo>
                  <a:pt x="0" y="0"/>
                </a:moveTo>
                <a:lnTo>
                  <a:pt x="15069" y="0"/>
                </a:lnTo>
                <a:lnTo>
                  <a:pt x="15069" y="260195"/>
                </a:lnTo>
                <a:lnTo>
                  <a:pt x="0" y="260195"/>
                </a:lnTo>
                <a:lnTo>
                  <a:pt x="0" y="0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45" name="Text 41"/>
          <p:cNvSpPr/>
          <p:nvPr/>
        </p:nvSpPr>
        <p:spPr>
          <a:xfrm>
            <a:off x="6213225" y="4790283"/>
            <a:ext cx="1644805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</a:t>
            </a:r>
            <a:endParaRPr lang="en-US" sz="1600" dirty="0"/>
          </a:p>
        </p:txBody>
      </p:sp>
      <p:sp>
        <p:nvSpPr>
          <p:cNvPr id="46" name="Shape 42"/>
          <p:cNvSpPr/>
          <p:nvPr/>
        </p:nvSpPr>
        <p:spPr>
          <a:xfrm>
            <a:off x="4387418" y="5087585"/>
            <a:ext cx="15069" cy="260195"/>
          </a:xfrm>
          <a:custGeom>
            <a:avLst/>
            <a:gdLst/>
            <a:ahLst/>
            <a:cxnLst/>
            <a:rect l="l" t="t" r="r" b="b"/>
            <a:pathLst>
              <a:path w="15069" h="260195">
                <a:moveTo>
                  <a:pt x="0" y="0"/>
                </a:moveTo>
                <a:lnTo>
                  <a:pt x="15069" y="0"/>
                </a:lnTo>
                <a:lnTo>
                  <a:pt x="15069" y="260195"/>
                </a:lnTo>
                <a:lnTo>
                  <a:pt x="0" y="260195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7" name="Text 43"/>
          <p:cNvSpPr/>
          <p:nvPr/>
        </p:nvSpPr>
        <p:spPr>
          <a:xfrm>
            <a:off x="4469278" y="5124710"/>
            <a:ext cx="1644805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JWT认证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6131365" y="5087585"/>
            <a:ext cx="15069" cy="260195"/>
          </a:xfrm>
          <a:custGeom>
            <a:avLst/>
            <a:gdLst/>
            <a:ahLst/>
            <a:cxnLst/>
            <a:rect l="l" t="t" r="r" b="b"/>
            <a:pathLst>
              <a:path w="15069" h="260195">
                <a:moveTo>
                  <a:pt x="0" y="0"/>
                </a:moveTo>
                <a:lnTo>
                  <a:pt x="15069" y="0"/>
                </a:lnTo>
                <a:lnTo>
                  <a:pt x="15069" y="260195"/>
                </a:lnTo>
                <a:lnTo>
                  <a:pt x="0" y="260195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9" name="Text 45"/>
          <p:cNvSpPr/>
          <p:nvPr/>
        </p:nvSpPr>
        <p:spPr>
          <a:xfrm>
            <a:off x="6213225" y="5124710"/>
            <a:ext cx="1644805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密码加盐哈希</a:t>
            </a:r>
            <a:endParaRPr lang="en-US" sz="1600" dirty="0"/>
          </a:p>
        </p:txBody>
      </p:sp>
      <p:sp>
        <p:nvSpPr>
          <p:cNvPr id="50" name="Shape 46"/>
          <p:cNvSpPr/>
          <p:nvPr/>
        </p:nvSpPr>
        <p:spPr>
          <a:xfrm>
            <a:off x="8127958" y="1077838"/>
            <a:ext cx="3689195" cy="4414024"/>
          </a:xfrm>
          <a:custGeom>
            <a:avLst/>
            <a:gdLst/>
            <a:ahLst/>
            <a:cxnLst/>
            <a:rect l="l" t="t" r="r" b="b"/>
            <a:pathLst>
              <a:path w="3689195" h="4414024">
                <a:moveTo>
                  <a:pt x="111524" y="0"/>
                </a:moveTo>
                <a:lnTo>
                  <a:pt x="3577671" y="0"/>
                </a:lnTo>
                <a:cubicBezTo>
                  <a:pt x="3639264" y="0"/>
                  <a:pt x="3689195" y="49931"/>
                  <a:pt x="3689195" y="111524"/>
                </a:cubicBezTo>
                <a:lnTo>
                  <a:pt x="3689195" y="4302500"/>
                </a:lnTo>
                <a:cubicBezTo>
                  <a:pt x="3689195" y="4364093"/>
                  <a:pt x="3639264" y="4414024"/>
                  <a:pt x="3577671" y="4414024"/>
                </a:cubicBezTo>
                <a:lnTo>
                  <a:pt x="111524" y="4414024"/>
                </a:lnTo>
                <a:cubicBezTo>
                  <a:pt x="49931" y="4414024"/>
                  <a:pt x="0" y="4364093"/>
                  <a:pt x="0" y="4302500"/>
                </a:cubicBezTo>
                <a:lnTo>
                  <a:pt x="0" y="111524"/>
                </a:lnTo>
                <a:cubicBezTo>
                  <a:pt x="0" y="49972"/>
                  <a:pt x="49972" y="0"/>
                  <a:pt x="111524" y="0"/>
                </a:cubicBezTo>
                <a:close/>
              </a:path>
            </a:pathLst>
          </a:custGeom>
          <a:solidFill>
            <a:srgbClr val="343A40"/>
          </a:solidFill>
          <a:ln/>
          <a:effectLst>
            <a:outerShdw blurRad="139390" dist="929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8290548" y="1245015"/>
            <a:ext cx="250902" cy="223024"/>
          </a:xfrm>
          <a:custGeom>
            <a:avLst/>
            <a:gdLst/>
            <a:ahLst/>
            <a:cxnLst/>
            <a:rect l="l" t="t" r="r" b="b"/>
            <a:pathLst>
              <a:path w="250902" h="223024">
                <a:moveTo>
                  <a:pt x="134817" y="-8233"/>
                </a:moveTo>
                <a:cubicBezTo>
                  <a:pt x="133031" y="-11717"/>
                  <a:pt x="129415" y="-13939"/>
                  <a:pt x="125495" y="-13939"/>
                </a:cubicBezTo>
                <a:cubicBezTo>
                  <a:pt x="121574" y="-13939"/>
                  <a:pt x="117959" y="-11717"/>
                  <a:pt x="116173" y="-8233"/>
                </a:cubicBezTo>
                <a:lnTo>
                  <a:pt x="84113" y="54580"/>
                </a:lnTo>
                <a:lnTo>
                  <a:pt x="14462" y="65644"/>
                </a:lnTo>
                <a:cubicBezTo>
                  <a:pt x="10585" y="66254"/>
                  <a:pt x="7362" y="68998"/>
                  <a:pt x="6142" y="72744"/>
                </a:cubicBezTo>
                <a:cubicBezTo>
                  <a:pt x="4922" y="76490"/>
                  <a:pt x="5924" y="80585"/>
                  <a:pt x="8668" y="83373"/>
                </a:cubicBezTo>
                <a:lnTo>
                  <a:pt x="58500" y="133248"/>
                </a:lnTo>
                <a:lnTo>
                  <a:pt x="47523" y="202900"/>
                </a:lnTo>
                <a:cubicBezTo>
                  <a:pt x="46914" y="206777"/>
                  <a:pt x="48525" y="210697"/>
                  <a:pt x="51705" y="213006"/>
                </a:cubicBezTo>
                <a:cubicBezTo>
                  <a:pt x="54885" y="215314"/>
                  <a:pt x="59067" y="215663"/>
                  <a:pt x="62595" y="213877"/>
                </a:cubicBezTo>
                <a:lnTo>
                  <a:pt x="125495" y="181904"/>
                </a:lnTo>
                <a:lnTo>
                  <a:pt x="188351" y="213877"/>
                </a:lnTo>
                <a:cubicBezTo>
                  <a:pt x="191836" y="215663"/>
                  <a:pt x="196061" y="215314"/>
                  <a:pt x="199241" y="213006"/>
                </a:cubicBezTo>
                <a:cubicBezTo>
                  <a:pt x="202421" y="210697"/>
                  <a:pt x="204032" y="206820"/>
                  <a:pt x="203423" y="202900"/>
                </a:cubicBezTo>
                <a:lnTo>
                  <a:pt x="192402" y="133248"/>
                </a:lnTo>
                <a:lnTo>
                  <a:pt x="242234" y="83373"/>
                </a:lnTo>
                <a:cubicBezTo>
                  <a:pt x="245022" y="80585"/>
                  <a:pt x="245980" y="76490"/>
                  <a:pt x="244761" y="72744"/>
                </a:cubicBezTo>
                <a:cubicBezTo>
                  <a:pt x="243541" y="68998"/>
                  <a:pt x="240361" y="66254"/>
                  <a:pt x="236441" y="65644"/>
                </a:cubicBezTo>
                <a:lnTo>
                  <a:pt x="166833" y="54580"/>
                </a:lnTo>
                <a:lnTo>
                  <a:pt x="134817" y="-8233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2" name="Text 48"/>
          <p:cNvSpPr/>
          <p:nvPr/>
        </p:nvSpPr>
        <p:spPr>
          <a:xfrm>
            <a:off x="8666839" y="1226489"/>
            <a:ext cx="836341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核心亮点</a:t>
            </a:r>
            <a:endParaRPr lang="en-US" sz="1600" dirty="0"/>
          </a:p>
        </p:txBody>
      </p:sp>
      <p:sp>
        <p:nvSpPr>
          <p:cNvPr id="53" name="Shape 49"/>
          <p:cNvSpPr/>
          <p:nvPr/>
        </p:nvSpPr>
        <p:spPr>
          <a:xfrm>
            <a:off x="8294190" y="1598119"/>
            <a:ext cx="35161" cy="678366"/>
          </a:xfrm>
          <a:custGeom>
            <a:avLst/>
            <a:gdLst/>
            <a:ahLst/>
            <a:cxnLst/>
            <a:rect l="l" t="t" r="r" b="b"/>
            <a:pathLst>
              <a:path w="35161" h="678366">
                <a:moveTo>
                  <a:pt x="0" y="0"/>
                </a:moveTo>
                <a:lnTo>
                  <a:pt x="35161" y="0"/>
                </a:lnTo>
                <a:lnTo>
                  <a:pt x="35161" y="678366"/>
                </a:lnTo>
                <a:lnTo>
                  <a:pt x="0" y="678366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4" name="Shape 50"/>
          <p:cNvSpPr/>
          <p:nvPr/>
        </p:nvSpPr>
        <p:spPr>
          <a:xfrm>
            <a:off x="8423220" y="1616723"/>
            <a:ext cx="260195" cy="185854"/>
          </a:xfrm>
          <a:custGeom>
            <a:avLst/>
            <a:gdLst/>
            <a:ahLst/>
            <a:cxnLst/>
            <a:rect l="l" t="t" r="r" b="b"/>
            <a:pathLst>
              <a:path w="260195" h="185854">
                <a:moveTo>
                  <a:pt x="92927" y="0"/>
                </a:moveTo>
                <a:lnTo>
                  <a:pt x="167268" y="0"/>
                </a:lnTo>
                <a:cubicBezTo>
                  <a:pt x="218556" y="0"/>
                  <a:pt x="260195" y="41639"/>
                  <a:pt x="260195" y="92927"/>
                </a:cubicBezTo>
                <a:lnTo>
                  <a:pt x="260195" y="92927"/>
                </a:lnTo>
                <a:cubicBezTo>
                  <a:pt x="260195" y="144215"/>
                  <a:pt x="218556" y="185854"/>
                  <a:pt x="167268" y="185854"/>
                </a:cubicBezTo>
                <a:lnTo>
                  <a:pt x="92927" y="185854"/>
                </a:lnTo>
                <a:cubicBezTo>
                  <a:pt x="41605" y="185854"/>
                  <a:pt x="0" y="144249"/>
                  <a:pt x="0" y="92927"/>
                </a:cubicBezTo>
                <a:lnTo>
                  <a:pt x="0" y="92927"/>
                </a:lnTo>
                <a:cubicBezTo>
                  <a:pt x="0" y="41605"/>
                  <a:pt x="41605" y="0"/>
                  <a:pt x="92927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5" name="Text 51"/>
          <p:cNvSpPr/>
          <p:nvPr/>
        </p:nvSpPr>
        <p:spPr>
          <a:xfrm>
            <a:off x="8423220" y="1616723"/>
            <a:ext cx="315951" cy="185854"/>
          </a:xfrm>
          <a:prstGeom prst="rect">
            <a:avLst/>
          </a:prstGeom>
          <a:noFill/>
          <a:ln/>
        </p:spPr>
        <p:txBody>
          <a:bodyPr wrap="square" lIns="74341" tIns="18585" rIns="74341" bIns="18585" rtlCol="0" anchor="ctr"/>
          <a:lstStyle/>
          <a:p>
            <a:pPr>
              <a:lnSpc>
                <a:spcPct val="110000"/>
              </a:lnSpc>
            </a:pPr>
            <a:r>
              <a:rPr lang="en-US" sz="878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6" name="Text 52"/>
          <p:cNvSpPr/>
          <p:nvPr/>
        </p:nvSpPr>
        <p:spPr>
          <a:xfrm>
            <a:off x="8760001" y="1598119"/>
            <a:ext cx="817756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适配器模式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8423220" y="1858219"/>
            <a:ext cx="3317488" cy="427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024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适配器设计模式</a:t>
            </a:r>
            <a:r>
              <a:rPr lang="en-US" sz="102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，统一对接多个第三方模型API，实现新模型的快速接入。</a:t>
            </a:r>
            <a:endParaRPr lang="en-US" sz="1600" dirty="0"/>
          </a:p>
        </p:txBody>
      </p:sp>
      <p:sp>
        <p:nvSpPr>
          <p:cNvPr id="58" name="Shape 54"/>
          <p:cNvSpPr/>
          <p:nvPr/>
        </p:nvSpPr>
        <p:spPr>
          <a:xfrm>
            <a:off x="8294190" y="2664914"/>
            <a:ext cx="35161" cy="473927"/>
          </a:xfrm>
          <a:custGeom>
            <a:avLst/>
            <a:gdLst/>
            <a:ahLst/>
            <a:cxnLst/>
            <a:rect l="l" t="t" r="r" b="b"/>
            <a:pathLst>
              <a:path w="35161" h="473927">
                <a:moveTo>
                  <a:pt x="0" y="0"/>
                </a:moveTo>
                <a:lnTo>
                  <a:pt x="35161" y="0"/>
                </a:lnTo>
                <a:lnTo>
                  <a:pt x="35161" y="473927"/>
                </a:lnTo>
                <a:lnTo>
                  <a:pt x="0" y="473927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9" name="Shape 55"/>
          <p:cNvSpPr/>
          <p:nvPr/>
        </p:nvSpPr>
        <p:spPr>
          <a:xfrm>
            <a:off x="8423220" y="2683518"/>
            <a:ext cx="278780" cy="185854"/>
          </a:xfrm>
          <a:custGeom>
            <a:avLst/>
            <a:gdLst/>
            <a:ahLst/>
            <a:cxnLst/>
            <a:rect l="l" t="t" r="r" b="b"/>
            <a:pathLst>
              <a:path w="278780" h="185854">
                <a:moveTo>
                  <a:pt x="92927" y="0"/>
                </a:moveTo>
                <a:lnTo>
                  <a:pt x="185854" y="0"/>
                </a:lnTo>
                <a:cubicBezTo>
                  <a:pt x="237141" y="0"/>
                  <a:pt x="278780" y="41639"/>
                  <a:pt x="278780" y="92927"/>
                </a:cubicBezTo>
                <a:lnTo>
                  <a:pt x="278780" y="92927"/>
                </a:lnTo>
                <a:cubicBezTo>
                  <a:pt x="278780" y="144215"/>
                  <a:pt x="237141" y="185854"/>
                  <a:pt x="185854" y="185854"/>
                </a:cubicBezTo>
                <a:lnTo>
                  <a:pt x="92927" y="185854"/>
                </a:lnTo>
                <a:cubicBezTo>
                  <a:pt x="41605" y="185854"/>
                  <a:pt x="0" y="144249"/>
                  <a:pt x="0" y="92927"/>
                </a:cubicBezTo>
                <a:lnTo>
                  <a:pt x="0" y="92927"/>
                </a:lnTo>
                <a:cubicBezTo>
                  <a:pt x="0" y="41605"/>
                  <a:pt x="41605" y="0"/>
                  <a:pt x="92927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60" name="Text 56"/>
          <p:cNvSpPr/>
          <p:nvPr/>
        </p:nvSpPr>
        <p:spPr>
          <a:xfrm>
            <a:off x="8423220" y="2683518"/>
            <a:ext cx="334537" cy="185854"/>
          </a:xfrm>
          <a:prstGeom prst="rect">
            <a:avLst/>
          </a:prstGeom>
          <a:noFill/>
          <a:ln/>
        </p:spPr>
        <p:txBody>
          <a:bodyPr wrap="square" lIns="74341" tIns="18585" rIns="74341" bIns="18585" rtlCol="0" anchor="ctr"/>
          <a:lstStyle/>
          <a:p>
            <a:pPr>
              <a:lnSpc>
                <a:spcPct val="110000"/>
              </a:lnSpc>
            </a:pPr>
            <a:r>
              <a:rPr lang="en-US" sz="87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1" name="Text 57"/>
          <p:cNvSpPr/>
          <p:nvPr/>
        </p:nvSpPr>
        <p:spPr>
          <a:xfrm>
            <a:off x="8778838" y="2664914"/>
            <a:ext cx="1115122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安全的密钥管理</a:t>
            </a:r>
            <a:endParaRPr lang="en-US" sz="1600" dirty="0"/>
          </a:p>
        </p:txBody>
      </p:sp>
      <p:sp>
        <p:nvSpPr>
          <p:cNvPr id="62" name="Text 58"/>
          <p:cNvSpPr/>
          <p:nvPr/>
        </p:nvSpPr>
        <p:spPr>
          <a:xfrm>
            <a:off x="8423220" y="2925019"/>
            <a:ext cx="3317488" cy="213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用户API密钥采用</a:t>
            </a:r>
            <a:r>
              <a:rPr lang="en-US" sz="1024" dirty="0">
                <a:solidFill>
                  <a:srgbClr val="FFC107"/>
                </a:solidFill>
                <a:highlight>
                  <a:srgbClr val="FFC10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加密存储 </a:t>
            </a:r>
            <a:r>
              <a:rPr lang="en-US" sz="102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，确保敏感信息不泄露。</a:t>
            </a:r>
            <a:endParaRPr lang="en-US" sz="1600" dirty="0"/>
          </a:p>
        </p:txBody>
      </p:sp>
      <p:sp>
        <p:nvSpPr>
          <p:cNvPr id="63" name="Shape 59"/>
          <p:cNvSpPr/>
          <p:nvPr/>
        </p:nvSpPr>
        <p:spPr>
          <a:xfrm>
            <a:off x="8308694" y="3575657"/>
            <a:ext cx="35161" cy="678366"/>
          </a:xfrm>
          <a:custGeom>
            <a:avLst/>
            <a:gdLst/>
            <a:ahLst/>
            <a:cxnLst/>
            <a:rect l="l" t="t" r="r" b="b"/>
            <a:pathLst>
              <a:path w="35161" h="678366">
                <a:moveTo>
                  <a:pt x="0" y="0"/>
                </a:moveTo>
                <a:lnTo>
                  <a:pt x="35161" y="0"/>
                </a:lnTo>
                <a:lnTo>
                  <a:pt x="35161" y="678366"/>
                </a:lnTo>
                <a:lnTo>
                  <a:pt x="0" y="678366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64" name="Shape 60"/>
          <p:cNvSpPr/>
          <p:nvPr/>
        </p:nvSpPr>
        <p:spPr>
          <a:xfrm>
            <a:off x="8437724" y="3594256"/>
            <a:ext cx="288073" cy="185854"/>
          </a:xfrm>
          <a:custGeom>
            <a:avLst/>
            <a:gdLst/>
            <a:ahLst/>
            <a:cxnLst/>
            <a:rect l="l" t="t" r="r" b="b"/>
            <a:pathLst>
              <a:path w="288073" h="185854">
                <a:moveTo>
                  <a:pt x="92927" y="0"/>
                </a:moveTo>
                <a:lnTo>
                  <a:pt x="195146" y="0"/>
                </a:lnTo>
                <a:cubicBezTo>
                  <a:pt x="246434" y="0"/>
                  <a:pt x="288073" y="41639"/>
                  <a:pt x="288073" y="92927"/>
                </a:cubicBezTo>
                <a:lnTo>
                  <a:pt x="288073" y="92927"/>
                </a:lnTo>
                <a:cubicBezTo>
                  <a:pt x="288073" y="144215"/>
                  <a:pt x="246434" y="185854"/>
                  <a:pt x="195146" y="185854"/>
                </a:cubicBezTo>
                <a:lnTo>
                  <a:pt x="92927" y="185854"/>
                </a:lnTo>
                <a:cubicBezTo>
                  <a:pt x="41605" y="185854"/>
                  <a:pt x="0" y="144249"/>
                  <a:pt x="0" y="92927"/>
                </a:cubicBezTo>
                <a:lnTo>
                  <a:pt x="0" y="92927"/>
                </a:lnTo>
                <a:cubicBezTo>
                  <a:pt x="0" y="41605"/>
                  <a:pt x="41605" y="0"/>
                  <a:pt x="92927" y="0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65" name="Text 61"/>
          <p:cNvSpPr/>
          <p:nvPr/>
        </p:nvSpPr>
        <p:spPr>
          <a:xfrm>
            <a:off x="8437724" y="3594256"/>
            <a:ext cx="343829" cy="185854"/>
          </a:xfrm>
          <a:prstGeom prst="rect">
            <a:avLst/>
          </a:prstGeom>
          <a:noFill/>
          <a:ln/>
        </p:spPr>
        <p:txBody>
          <a:bodyPr wrap="square" lIns="74341" tIns="18585" rIns="74341" bIns="18585" rtlCol="0" anchor="ctr"/>
          <a:lstStyle/>
          <a:p>
            <a:pPr>
              <a:lnSpc>
                <a:spcPct val="110000"/>
              </a:lnSpc>
            </a:pPr>
            <a:r>
              <a:rPr lang="en-US" sz="87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6" name="Text 62"/>
          <p:cNvSpPr/>
          <p:nvPr/>
        </p:nvSpPr>
        <p:spPr>
          <a:xfrm>
            <a:off x="8796246" y="3575657"/>
            <a:ext cx="66907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对话管理</a:t>
            </a:r>
            <a:endParaRPr lang="en-US" sz="1600" dirty="0"/>
          </a:p>
        </p:txBody>
      </p:sp>
      <p:sp>
        <p:nvSpPr>
          <p:cNvPr id="67" name="Text 63"/>
          <p:cNvSpPr/>
          <p:nvPr/>
        </p:nvSpPr>
        <p:spPr>
          <a:xfrm>
            <a:off x="8437724" y="3835756"/>
            <a:ext cx="3317488" cy="427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实现完整的</a:t>
            </a:r>
            <a:r>
              <a:rPr lang="en-US" sz="1024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增删改查</a:t>
            </a:r>
            <a:r>
              <a:rPr lang="en-US" sz="102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与软删除逻辑，支持对话历史的灵活管理。</a:t>
            </a:r>
            <a:endParaRPr lang="en-US" sz="1600" dirty="0"/>
          </a:p>
        </p:txBody>
      </p:sp>
      <p:sp>
        <p:nvSpPr>
          <p:cNvPr id="68" name="Shape 64"/>
          <p:cNvSpPr/>
          <p:nvPr/>
        </p:nvSpPr>
        <p:spPr>
          <a:xfrm>
            <a:off x="8294190" y="4664704"/>
            <a:ext cx="35161" cy="678366"/>
          </a:xfrm>
          <a:custGeom>
            <a:avLst/>
            <a:gdLst/>
            <a:ahLst/>
            <a:cxnLst/>
            <a:rect l="l" t="t" r="r" b="b"/>
            <a:pathLst>
              <a:path w="35161" h="678366">
                <a:moveTo>
                  <a:pt x="0" y="0"/>
                </a:moveTo>
                <a:lnTo>
                  <a:pt x="35161" y="0"/>
                </a:lnTo>
                <a:lnTo>
                  <a:pt x="35161" y="678366"/>
                </a:lnTo>
                <a:lnTo>
                  <a:pt x="0" y="678366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69" name="Shape 65"/>
          <p:cNvSpPr/>
          <p:nvPr/>
        </p:nvSpPr>
        <p:spPr>
          <a:xfrm>
            <a:off x="8423220" y="4683308"/>
            <a:ext cx="288073" cy="185854"/>
          </a:xfrm>
          <a:custGeom>
            <a:avLst/>
            <a:gdLst/>
            <a:ahLst/>
            <a:cxnLst/>
            <a:rect l="l" t="t" r="r" b="b"/>
            <a:pathLst>
              <a:path w="288073" h="185854">
                <a:moveTo>
                  <a:pt x="92927" y="0"/>
                </a:moveTo>
                <a:lnTo>
                  <a:pt x="195146" y="0"/>
                </a:lnTo>
                <a:cubicBezTo>
                  <a:pt x="246434" y="0"/>
                  <a:pt x="288073" y="41639"/>
                  <a:pt x="288073" y="92927"/>
                </a:cubicBezTo>
                <a:lnTo>
                  <a:pt x="288073" y="92927"/>
                </a:lnTo>
                <a:cubicBezTo>
                  <a:pt x="288073" y="144215"/>
                  <a:pt x="246434" y="185854"/>
                  <a:pt x="195146" y="185854"/>
                </a:cubicBezTo>
                <a:lnTo>
                  <a:pt x="92927" y="185854"/>
                </a:lnTo>
                <a:cubicBezTo>
                  <a:pt x="41605" y="185854"/>
                  <a:pt x="0" y="144249"/>
                  <a:pt x="0" y="92927"/>
                </a:cubicBezTo>
                <a:lnTo>
                  <a:pt x="0" y="92927"/>
                </a:lnTo>
                <a:cubicBezTo>
                  <a:pt x="0" y="41605"/>
                  <a:pt x="41605" y="0"/>
                  <a:pt x="92927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70" name="Text 66"/>
          <p:cNvSpPr/>
          <p:nvPr/>
        </p:nvSpPr>
        <p:spPr>
          <a:xfrm>
            <a:off x="8423220" y="4683308"/>
            <a:ext cx="343829" cy="185854"/>
          </a:xfrm>
          <a:prstGeom prst="rect">
            <a:avLst/>
          </a:prstGeom>
          <a:noFill/>
          <a:ln/>
        </p:spPr>
        <p:txBody>
          <a:bodyPr wrap="square" lIns="74341" tIns="18585" rIns="74341" bIns="18585" rtlCol="0" anchor="ctr"/>
          <a:lstStyle/>
          <a:p>
            <a:pPr>
              <a:lnSpc>
                <a:spcPct val="110000"/>
              </a:lnSpc>
            </a:pPr>
            <a:r>
              <a:rPr lang="en-US" sz="878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71" name="Text 67"/>
          <p:cNvSpPr/>
          <p:nvPr/>
        </p:nvSpPr>
        <p:spPr>
          <a:xfrm>
            <a:off x="8781507" y="4664704"/>
            <a:ext cx="817756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响应式设计</a:t>
            </a:r>
            <a:endParaRPr lang="en-US" sz="1600" dirty="0"/>
          </a:p>
        </p:txBody>
      </p:sp>
      <p:sp>
        <p:nvSpPr>
          <p:cNvPr id="72" name="Text 68"/>
          <p:cNvSpPr/>
          <p:nvPr/>
        </p:nvSpPr>
        <p:spPr>
          <a:xfrm>
            <a:off x="8423220" y="4924804"/>
            <a:ext cx="3317488" cy="427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采用响应式布局，适配多种设备屏幕，提供一致的视觉体验。</a:t>
            </a:r>
            <a:endParaRPr lang="en-US" sz="1600" dirty="0"/>
          </a:p>
        </p:txBody>
      </p:sp>
      <p:sp>
        <p:nvSpPr>
          <p:cNvPr id="73" name="Shape 69"/>
          <p:cNvSpPr/>
          <p:nvPr/>
        </p:nvSpPr>
        <p:spPr>
          <a:xfrm>
            <a:off x="371707" y="5644987"/>
            <a:ext cx="11448585" cy="836341"/>
          </a:xfrm>
          <a:custGeom>
            <a:avLst/>
            <a:gdLst/>
            <a:ahLst/>
            <a:cxnLst/>
            <a:rect l="l" t="t" r="r" b="b"/>
            <a:pathLst>
              <a:path w="11448585" h="836341">
                <a:moveTo>
                  <a:pt x="111509" y="0"/>
                </a:moveTo>
                <a:lnTo>
                  <a:pt x="11337076" y="0"/>
                </a:lnTo>
                <a:cubicBezTo>
                  <a:pt x="11398661" y="0"/>
                  <a:pt x="11448585" y="49924"/>
                  <a:pt x="11448585" y="111509"/>
                </a:cubicBezTo>
                <a:lnTo>
                  <a:pt x="11448585" y="724832"/>
                </a:lnTo>
                <a:cubicBezTo>
                  <a:pt x="11448585" y="786417"/>
                  <a:pt x="11398661" y="836341"/>
                  <a:pt x="11337076" y="836341"/>
                </a:cubicBezTo>
                <a:lnTo>
                  <a:pt x="111509" y="836341"/>
                </a:lnTo>
                <a:cubicBezTo>
                  <a:pt x="49924" y="836341"/>
                  <a:pt x="0" y="786417"/>
                  <a:pt x="0" y="724832"/>
                </a:cubicBezTo>
                <a:lnTo>
                  <a:pt x="0" y="111509"/>
                </a:lnTo>
                <a:cubicBezTo>
                  <a:pt x="0" y="49966"/>
                  <a:pt x="49966" y="0"/>
                  <a:pt x="111509" y="0"/>
                </a:cubicBezTo>
                <a:close/>
              </a:path>
            </a:pathLst>
          </a:custGeom>
          <a:solidFill>
            <a:srgbClr val="0056B3"/>
          </a:solidFill>
          <a:ln/>
          <a:effectLst>
            <a:outerShdw blurRad="139390" dist="929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4" name="Shape 70"/>
          <p:cNvSpPr/>
          <p:nvPr/>
        </p:nvSpPr>
        <p:spPr>
          <a:xfrm>
            <a:off x="566822" y="5823781"/>
            <a:ext cx="139390" cy="185854"/>
          </a:xfrm>
          <a:custGeom>
            <a:avLst/>
            <a:gdLst/>
            <a:ahLst/>
            <a:cxnLst/>
            <a:rect l="l" t="t" r="r" b="b"/>
            <a:pathLst>
              <a:path w="139390" h="185854">
                <a:moveTo>
                  <a:pt x="106321" y="139390"/>
                </a:moveTo>
                <a:cubicBezTo>
                  <a:pt x="108971" y="131295"/>
                  <a:pt x="114271" y="123963"/>
                  <a:pt x="120260" y="117647"/>
                </a:cubicBezTo>
                <a:cubicBezTo>
                  <a:pt x="132130" y="105160"/>
                  <a:pt x="139390" y="88280"/>
                  <a:pt x="139390" y="69695"/>
                </a:cubicBezTo>
                <a:cubicBezTo>
                  <a:pt x="139390" y="31218"/>
                  <a:pt x="108173" y="0"/>
                  <a:pt x="69695" y="0"/>
                </a:cubicBezTo>
                <a:cubicBezTo>
                  <a:pt x="31218" y="0"/>
                  <a:pt x="0" y="31218"/>
                  <a:pt x="0" y="69695"/>
                </a:cubicBezTo>
                <a:cubicBezTo>
                  <a:pt x="0" y="88280"/>
                  <a:pt x="7260" y="105160"/>
                  <a:pt x="19130" y="117647"/>
                </a:cubicBezTo>
                <a:cubicBezTo>
                  <a:pt x="25119" y="123963"/>
                  <a:pt x="30455" y="131295"/>
                  <a:pt x="33069" y="139390"/>
                </a:cubicBezTo>
                <a:lnTo>
                  <a:pt x="106285" y="139390"/>
                </a:lnTo>
                <a:close/>
                <a:moveTo>
                  <a:pt x="104543" y="156814"/>
                </a:moveTo>
                <a:lnTo>
                  <a:pt x="34848" y="156814"/>
                </a:lnTo>
                <a:lnTo>
                  <a:pt x="34848" y="162622"/>
                </a:lnTo>
                <a:cubicBezTo>
                  <a:pt x="34848" y="178666"/>
                  <a:pt x="47843" y="191662"/>
                  <a:pt x="63887" y="191662"/>
                </a:cubicBezTo>
                <a:lnTo>
                  <a:pt x="75503" y="191662"/>
                </a:lnTo>
                <a:cubicBezTo>
                  <a:pt x="91547" y="191662"/>
                  <a:pt x="104543" y="178666"/>
                  <a:pt x="104543" y="162622"/>
                </a:cubicBezTo>
                <a:lnTo>
                  <a:pt x="104543" y="156814"/>
                </a:lnTo>
                <a:close/>
                <a:moveTo>
                  <a:pt x="66791" y="40655"/>
                </a:moveTo>
                <a:cubicBezTo>
                  <a:pt x="52344" y="40655"/>
                  <a:pt x="40655" y="52344"/>
                  <a:pt x="40655" y="66791"/>
                </a:cubicBezTo>
                <a:cubicBezTo>
                  <a:pt x="40655" y="71619"/>
                  <a:pt x="36771" y="75503"/>
                  <a:pt x="31944" y="75503"/>
                </a:cubicBezTo>
                <a:cubicBezTo>
                  <a:pt x="27116" y="75503"/>
                  <a:pt x="23232" y="71619"/>
                  <a:pt x="23232" y="66791"/>
                </a:cubicBezTo>
                <a:cubicBezTo>
                  <a:pt x="23232" y="42725"/>
                  <a:pt x="42725" y="23232"/>
                  <a:pt x="66791" y="23232"/>
                </a:cubicBezTo>
                <a:cubicBezTo>
                  <a:pt x="71619" y="23232"/>
                  <a:pt x="75503" y="27116"/>
                  <a:pt x="75503" y="31944"/>
                </a:cubicBezTo>
                <a:cubicBezTo>
                  <a:pt x="75503" y="36771"/>
                  <a:pt x="71619" y="40655"/>
                  <a:pt x="66791" y="40655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75" name="Text 71"/>
          <p:cNvSpPr/>
          <p:nvPr/>
        </p:nvSpPr>
        <p:spPr>
          <a:xfrm>
            <a:off x="834270" y="5793638"/>
            <a:ext cx="10920942" cy="53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7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技术优势:</a:t>
            </a:r>
            <a:r>
              <a:rPr lang="en-US" sz="1317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我们运用了多项现代Web开发技术和设计模式，确保了系统的</a:t>
            </a:r>
            <a:r>
              <a:rPr lang="en-US" sz="131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安全性、扩展性和可维护性</a:t>
            </a:r>
            <a:r>
              <a:rPr lang="en-US" sz="1317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。适配器模式的应用使系统具备极强的开放性和可扩展性。</a:t>
            </a:r>
            <a:endParaRPr lang="en-US" sz="1600" dirty="0"/>
          </a:p>
        </p:txBody>
      </p:sp>
      <p:sp>
        <p:nvSpPr>
          <p:cNvPr id="76" name="Shape 0">
            <a:extLst>
              <a:ext uri="{FF2B5EF4-FFF2-40B4-BE49-F238E27FC236}">
                <a16:creationId xmlns:a16="http://schemas.microsoft.com/office/drawing/2014/main" id="{684235A8-54F8-AE7C-F1A1-C4413BE4622D}"/>
              </a:ext>
            </a:extLst>
          </p:cNvPr>
          <p:cNvSpPr/>
          <p:nvPr/>
        </p:nvSpPr>
        <p:spPr>
          <a:xfrm>
            <a:off x="381000" y="457265"/>
            <a:ext cx="485775" cy="304800"/>
          </a:xfrm>
          <a:custGeom>
            <a:avLst/>
            <a:gdLst/>
            <a:ahLst/>
            <a:cxnLst/>
            <a:rect l="l" t="t" r="r" b="b"/>
            <a:pathLst>
              <a:path w="485775" h="304800">
                <a:moveTo>
                  <a:pt x="152400" y="0"/>
                </a:moveTo>
                <a:lnTo>
                  <a:pt x="333375" y="0"/>
                </a:lnTo>
                <a:cubicBezTo>
                  <a:pt x="417487" y="0"/>
                  <a:pt x="485775" y="68288"/>
                  <a:pt x="485775" y="152400"/>
                </a:cubicBezTo>
                <a:lnTo>
                  <a:pt x="485775" y="152400"/>
                </a:lnTo>
                <a:cubicBezTo>
                  <a:pt x="485775" y="236512"/>
                  <a:pt x="417487" y="304800"/>
                  <a:pt x="3333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77" name="Text 1">
            <a:extLst>
              <a:ext uri="{FF2B5EF4-FFF2-40B4-BE49-F238E27FC236}">
                <a16:creationId xmlns:a16="http://schemas.microsoft.com/office/drawing/2014/main" id="{AAD40E00-6579-D643-6653-A4B89080E195}"/>
              </a:ext>
            </a:extLst>
          </p:cNvPr>
          <p:cNvSpPr/>
          <p:nvPr/>
        </p:nvSpPr>
        <p:spPr>
          <a:xfrm>
            <a:off x="381000" y="457265"/>
            <a:ext cx="561975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6705" y="352625"/>
            <a:ext cx="6497111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团队协作:两人如何高效推进项目?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57874" y="846269"/>
            <a:ext cx="987349" cy="35262"/>
          </a:xfrm>
          <a:custGeom>
            <a:avLst/>
            <a:gdLst/>
            <a:ahLst/>
            <a:cxnLst/>
            <a:rect l="l" t="t" r="r" b="b"/>
            <a:pathLst>
              <a:path w="987349" h="35262">
                <a:moveTo>
                  <a:pt x="0" y="0"/>
                </a:moveTo>
                <a:lnTo>
                  <a:pt x="987349" y="0"/>
                </a:lnTo>
                <a:lnTo>
                  <a:pt x="987349" y="35262"/>
                </a:lnTo>
                <a:lnTo>
                  <a:pt x="0" y="35262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7" name="Shape 4"/>
          <p:cNvSpPr/>
          <p:nvPr/>
        </p:nvSpPr>
        <p:spPr>
          <a:xfrm>
            <a:off x="352625" y="1039187"/>
            <a:ext cx="5659627" cy="4318700"/>
          </a:xfrm>
          <a:custGeom>
            <a:avLst/>
            <a:gdLst/>
            <a:ahLst/>
            <a:cxnLst/>
            <a:rect l="l" t="t" r="r" b="b"/>
            <a:pathLst>
              <a:path w="5659627" h="4318700">
                <a:moveTo>
                  <a:pt x="33356" y="0"/>
                </a:moveTo>
                <a:lnTo>
                  <a:pt x="5626271" y="0"/>
                </a:lnTo>
                <a:cubicBezTo>
                  <a:pt x="5644693" y="0"/>
                  <a:pt x="5659627" y="14934"/>
                  <a:pt x="5659627" y="33356"/>
                </a:cubicBezTo>
                <a:lnTo>
                  <a:pt x="5659627" y="4212892"/>
                </a:lnTo>
                <a:cubicBezTo>
                  <a:pt x="5659627" y="4271328"/>
                  <a:pt x="5612255" y="4318700"/>
                  <a:pt x="5553819" y="4318700"/>
                </a:cubicBezTo>
                <a:lnTo>
                  <a:pt x="105808" y="4318700"/>
                </a:lnTo>
                <a:cubicBezTo>
                  <a:pt x="47372" y="4318700"/>
                  <a:pt x="0" y="4271328"/>
                  <a:pt x="0" y="4212892"/>
                </a:cubicBezTo>
                <a:lnTo>
                  <a:pt x="0" y="33356"/>
                </a:lnTo>
                <a:cubicBezTo>
                  <a:pt x="0" y="14946"/>
                  <a:pt x="14946" y="0"/>
                  <a:pt x="3335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2234" dist="8815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52625" y="1039187"/>
            <a:ext cx="5659627" cy="33356"/>
          </a:xfrm>
          <a:custGeom>
            <a:avLst/>
            <a:gdLst/>
            <a:ahLst/>
            <a:cxnLst/>
            <a:rect l="l" t="t" r="r" b="b"/>
            <a:pathLst>
              <a:path w="5659627" h="33356">
                <a:moveTo>
                  <a:pt x="33356" y="0"/>
                </a:moveTo>
                <a:lnTo>
                  <a:pt x="5626271" y="0"/>
                </a:lnTo>
                <a:cubicBezTo>
                  <a:pt x="5644693" y="0"/>
                  <a:pt x="5659627" y="14934"/>
                  <a:pt x="5659627" y="33356"/>
                </a:cubicBezTo>
                <a:lnTo>
                  <a:pt x="5659627" y="33356"/>
                </a:lnTo>
                <a:lnTo>
                  <a:pt x="0" y="33356"/>
                </a:lnTo>
                <a:lnTo>
                  <a:pt x="0" y="33356"/>
                </a:lnTo>
                <a:cubicBezTo>
                  <a:pt x="0" y="14934"/>
                  <a:pt x="14934" y="0"/>
                  <a:pt x="33356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9" name="Shape 6"/>
          <p:cNvSpPr/>
          <p:nvPr/>
        </p:nvSpPr>
        <p:spPr>
          <a:xfrm>
            <a:off x="495849" y="1223318"/>
            <a:ext cx="330586" cy="264469"/>
          </a:xfrm>
          <a:custGeom>
            <a:avLst/>
            <a:gdLst/>
            <a:ahLst/>
            <a:cxnLst/>
            <a:rect l="l" t="t" r="r" b="b"/>
            <a:pathLst>
              <a:path w="330586" h="264469">
                <a:moveTo>
                  <a:pt x="165293" y="115705"/>
                </a:moveTo>
                <a:cubicBezTo>
                  <a:pt x="194942" y="115705"/>
                  <a:pt x="219013" y="91634"/>
                  <a:pt x="219013" y="61985"/>
                </a:cubicBezTo>
                <a:cubicBezTo>
                  <a:pt x="219013" y="32336"/>
                  <a:pt x="194942" y="8265"/>
                  <a:pt x="165293" y="8265"/>
                </a:cubicBezTo>
                <a:cubicBezTo>
                  <a:pt x="135644" y="8265"/>
                  <a:pt x="111573" y="32336"/>
                  <a:pt x="111573" y="61985"/>
                </a:cubicBezTo>
                <a:cubicBezTo>
                  <a:pt x="111573" y="91634"/>
                  <a:pt x="135644" y="115705"/>
                  <a:pt x="165293" y="115705"/>
                </a:cubicBezTo>
                <a:close/>
                <a:moveTo>
                  <a:pt x="49588" y="119837"/>
                </a:moveTo>
                <a:cubicBezTo>
                  <a:pt x="70114" y="119837"/>
                  <a:pt x="86779" y="103173"/>
                  <a:pt x="86779" y="82646"/>
                </a:cubicBezTo>
                <a:cubicBezTo>
                  <a:pt x="86779" y="62120"/>
                  <a:pt x="70114" y="45456"/>
                  <a:pt x="49588" y="45456"/>
                </a:cubicBezTo>
                <a:cubicBezTo>
                  <a:pt x="29062" y="45456"/>
                  <a:pt x="12397" y="62120"/>
                  <a:pt x="12397" y="82646"/>
                </a:cubicBezTo>
                <a:cubicBezTo>
                  <a:pt x="12397" y="103173"/>
                  <a:pt x="29062" y="119837"/>
                  <a:pt x="49588" y="119837"/>
                </a:cubicBezTo>
                <a:close/>
                <a:moveTo>
                  <a:pt x="0" y="214881"/>
                </a:moveTo>
                <a:lnTo>
                  <a:pt x="0" y="231410"/>
                </a:lnTo>
                <a:cubicBezTo>
                  <a:pt x="0" y="240553"/>
                  <a:pt x="7387" y="247939"/>
                  <a:pt x="16529" y="247939"/>
                </a:cubicBezTo>
                <a:lnTo>
                  <a:pt x="61313" y="247939"/>
                </a:lnTo>
                <a:cubicBezTo>
                  <a:pt x="59092" y="242877"/>
                  <a:pt x="57852" y="237299"/>
                  <a:pt x="57852" y="231410"/>
                </a:cubicBezTo>
                <a:lnTo>
                  <a:pt x="57852" y="223145"/>
                </a:lnTo>
                <a:cubicBezTo>
                  <a:pt x="57852" y="195665"/>
                  <a:pt x="68183" y="170562"/>
                  <a:pt x="85177" y="151553"/>
                </a:cubicBezTo>
                <a:cubicBezTo>
                  <a:pt x="79134" y="149745"/>
                  <a:pt x="72729" y="148764"/>
                  <a:pt x="66117" y="148764"/>
                </a:cubicBezTo>
                <a:cubicBezTo>
                  <a:pt x="29598" y="148764"/>
                  <a:pt x="0" y="178361"/>
                  <a:pt x="0" y="214881"/>
                </a:cubicBezTo>
                <a:close/>
                <a:moveTo>
                  <a:pt x="318189" y="82646"/>
                </a:moveTo>
                <a:cubicBezTo>
                  <a:pt x="318189" y="62120"/>
                  <a:pt x="301524" y="45456"/>
                  <a:pt x="280998" y="45456"/>
                </a:cubicBezTo>
                <a:cubicBezTo>
                  <a:pt x="260472" y="45456"/>
                  <a:pt x="243807" y="62120"/>
                  <a:pt x="243807" y="82646"/>
                </a:cubicBezTo>
                <a:cubicBezTo>
                  <a:pt x="243807" y="103173"/>
                  <a:pt x="260472" y="119837"/>
                  <a:pt x="280998" y="119837"/>
                </a:cubicBezTo>
                <a:cubicBezTo>
                  <a:pt x="301524" y="119837"/>
                  <a:pt x="318189" y="103173"/>
                  <a:pt x="318189" y="82646"/>
                </a:cubicBezTo>
                <a:close/>
                <a:moveTo>
                  <a:pt x="82646" y="223145"/>
                </a:moveTo>
                <a:lnTo>
                  <a:pt x="82646" y="231410"/>
                </a:lnTo>
                <a:cubicBezTo>
                  <a:pt x="82646" y="240553"/>
                  <a:pt x="90033" y="247939"/>
                  <a:pt x="99176" y="247939"/>
                </a:cubicBezTo>
                <a:lnTo>
                  <a:pt x="180169" y="247939"/>
                </a:lnTo>
                <a:cubicBezTo>
                  <a:pt x="176502" y="236782"/>
                  <a:pt x="176915" y="225005"/>
                  <a:pt x="185696" y="214881"/>
                </a:cubicBezTo>
                <a:cubicBezTo>
                  <a:pt x="178465" y="206513"/>
                  <a:pt x="175107" y="194374"/>
                  <a:pt x="179808" y="182184"/>
                </a:cubicBezTo>
                <a:cubicBezTo>
                  <a:pt x="183217" y="173351"/>
                  <a:pt x="188021" y="165086"/>
                  <a:pt x="193961" y="157751"/>
                </a:cubicBezTo>
                <a:cubicBezTo>
                  <a:pt x="196750" y="154342"/>
                  <a:pt x="199953" y="151708"/>
                  <a:pt x="203414" y="149797"/>
                </a:cubicBezTo>
                <a:cubicBezTo>
                  <a:pt x="191998" y="143856"/>
                  <a:pt x="179033" y="140499"/>
                  <a:pt x="165293" y="140499"/>
                </a:cubicBezTo>
                <a:cubicBezTo>
                  <a:pt x="119631" y="140499"/>
                  <a:pt x="82646" y="177483"/>
                  <a:pt x="82646" y="223145"/>
                </a:cubicBezTo>
                <a:close/>
                <a:moveTo>
                  <a:pt x="322631" y="200366"/>
                </a:moveTo>
                <a:cubicBezTo>
                  <a:pt x="325885" y="198506"/>
                  <a:pt x="327538" y="194632"/>
                  <a:pt x="326143" y="191068"/>
                </a:cubicBezTo>
                <a:cubicBezTo>
                  <a:pt x="323664" y="184663"/>
                  <a:pt x="320203" y="178620"/>
                  <a:pt x="315864" y="173299"/>
                </a:cubicBezTo>
                <a:cubicBezTo>
                  <a:pt x="313488" y="170355"/>
                  <a:pt x="309304" y="169838"/>
                  <a:pt x="306050" y="171750"/>
                </a:cubicBezTo>
                <a:cubicBezTo>
                  <a:pt x="294789" y="178258"/>
                  <a:pt x="280946" y="170303"/>
                  <a:pt x="280946" y="157235"/>
                </a:cubicBezTo>
                <a:cubicBezTo>
                  <a:pt x="280946" y="153464"/>
                  <a:pt x="278415" y="150107"/>
                  <a:pt x="274696" y="149538"/>
                </a:cubicBezTo>
                <a:cubicBezTo>
                  <a:pt x="268033" y="148505"/>
                  <a:pt x="260853" y="148505"/>
                  <a:pt x="254189" y="149538"/>
                </a:cubicBezTo>
                <a:cubicBezTo>
                  <a:pt x="250470" y="150107"/>
                  <a:pt x="247939" y="153464"/>
                  <a:pt x="247939" y="157235"/>
                </a:cubicBezTo>
                <a:cubicBezTo>
                  <a:pt x="247939" y="170252"/>
                  <a:pt x="234096" y="178258"/>
                  <a:pt x="222835" y="171750"/>
                </a:cubicBezTo>
                <a:cubicBezTo>
                  <a:pt x="219581" y="169890"/>
                  <a:pt x="215397" y="170407"/>
                  <a:pt x="213021" y="173299"/>
                </a:cubicBezTo>
                <a:cubicBezTo>
                  <a:pt x="208682" y="178620"/>
                  <a:pt x="205221" y="184663"/>
                  <a:pt x="202742" y="191068"/>
                </a:cubicBezTo>
                <a:cubicBezTo>
                  <a:pt x="201399" y="194581"/>
                  <a:pt x="203000" y="198455"/>
                  <a:pt x="206254" y="200314"/>
                </a:cubicBezTo>
                <a:cubicBezTo>
                  <a:pt x="217567" y="206823"/>
                  <a:pt x="217567" y="222784"/>
                  <a:pt x="206254" y="229344"/>
                </a:cubicBezTo>
                <a:cubicBezTo>
                  <a:pt x="203000" y="231203"/>
                  <a:pt x="201347" y="235077"/>
                  <a:pt x="202742" y="238590"/>
                </a:cubicBezTo>
                <a:cubicBezTo>
                  <a:pt x="205221" y="244995"/>
                  <a:pt x="208682" y="251039"/>
                  <a:pt x="213021" y="256359"/>
                </a:cubicBezTo>
                <a:cubicBezTo>
                  <a:pt x="215397" y="259303"/>
                  <a:pt x="219581" y="259820"/>
                  <a:pt x="222835" y="257908"/>
                </a:cubicBezTo>
                <a:cubicBezTo>
                  <a:pt x="234096" y="251400"/>
                  <a:pt x="247939" y="259406"/>
                  <a:pt x="247939" y="272423"/>
                </a:cubicBezTo>
                <a:cubicBezTo>
                  <a:pt x="247939" y="276194"/>
                  <a:pt x="250470" y="279552"/>
                  <a:pt x="254189" y="280120"/>
                </a:cubicBezTo>
                <a:cubicBezTo>
                  <a:pt x="260853" y="281153"/>
                  <a:pt x="268033" y="281153"/>
                  <a:pt x="274696" y="280120"/>
                </a:cubicBezTo>
                <a:cubicBezTo>
                  <a:pt x="278415" y="279552"/>
                  <a:pt x="280946" y="276194"/>
                  <a:pt x="280946" y="272423"/>
                </a:cubicBezTo>
                <a:cubicBezTo>
                  <a:pt x="280946" y="259406"/>
                  <a:pt x="294789" y="251400"/>
                  <a:pt x="306050" y="257908"/>
                </a:cubicBezTo>
                <a:cubicBezTo>
                  <a:pt x="309304" y="259768"/>
                  <a:pt x="313488" y="259251"/>
                  <a:pt x="315864" y="256359"/>
                </a:cubicBezTo>
                <a:cubicBezTo>
                  <a:pt x="320203" y="251039"/>
                  <a:pt x="323664" y="244995"/>
                  <a:pt x="326143" y="238590"/>
                </a:cubicBezTo>
                <a:cubicBezTo>
                  <a:pt x="327486" y="235077"/>
                  <a:pt x="325885" y="231203"/>
                  <a:pt x="322631" y="229344"/>
                </a:cubicBezTo>
                <a:cubicBezTo>
                  <a:pt x="311319" y="222835"/>
                  <a:pt x="311319" y="206874"/>
                  <a:pt x="322631" y="200314"/>
                </a:cubicBezTo>
                <a:close/>
                <a:moveTo>
                  <a:pt x="243807" y="214881"/>
                </a:moveTo>
                <a:cubicBezTo>
                  <a:pt x="243807" y="203477"/>
                  <a:pt x="253065" y="194219"/>
                  <a:pt x="264469" y="194219"/>
                </a:cubicBezTo>
                <a:cubicBezTo>
                  <a:pt x="275872" y="194219"/>
                  <a:pt x="285130" y="203477"/>
                  <a:pt x="285130" y="214881"/>
                </a:cubicBezTo>
                <a:cubicBezTo>
                  <a:pt x="285130" y="226284"/>
                  <a:pt x="275872" y="235542"/>
                  <a:pt x="264469" y="235542"/>
                </a:cubicBezTo>
                <a:cubicBezTo>
                  <a:pt x="253065" y="235542"/>
                  <a:pt x="243807" y="226284"/>
                  <a:pt x="243807" y="214881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0" name="Text 7"/>
          <p:cNvSpPr/>
          <p:nvPr/>
        </p:nvSpPr>
        <p:spPr>
          <a:xfrm>
            <a:off x="929958" y="1196884"/>
            <a:ext cx="1190108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82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分工明确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6414" y="2151962"/>
            <a:ext cx="33356" cy="952087"/>
          </a:xfrm>
          <a:custGeom>
            <a:avLst/>
            <a:gdLst/>
            <a:ahLst/>
            <a:cxnLst/>
            <a:rect l="l" t="t" r="r" b="b"/>
            <a:pathLst>
              <a:path w="33356" h="952087">
                <a:moveTo>
                  <a:pt x="0" y="0"/>
                </a:moveTo>
                <a:lnTo>
                  <a:pt x="33356" y="0"/>
                </a:lnTo>
                <a:lnTo>
                  <a:pt x="33356" y="952087"/>
                </a:lnTo>
                <a:lnTo>
                  <a:pt x="0" y="952087"/>
                </a:lnTo>
                <a:lnTo>
                  <a:pt x="0" y="0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2" name="Shape 9"/>
          <p:cNvSpPr/>
          <p:nvPr/>
        </p:nvSpPr>
        <p:spPr>
          <a:xfrm>
            <a:off x="694112" y="2169533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211575" y="0"/>
                </a:moveTo>
                <a:lnTo>
                  <a:pt x="211575" y="0"/>
                </a:lnTo>
                <a:cubicBezTo>
                  <a:pt x="328346" y="0"/>
                  <a:pt x="423150" y="94804"/>
                  <a:pt x="423150" y="211575"/>
                </a:cubicBezTo>
                <a:lnTo>
                  <a:pt x="423150" y="211575"/>
                </a:lnTo>
                <a:cubicBezTo>
                  <a:pt x="423150" y="328346"/>
                  <a:pt x="328346" y="423150"/>
                  <a:pt x="211575" y="423150"/>
                </a:cubicBezTo>
                <a:lnTo>
                  <a:pt x="211575" y="423150"/>
                </a:lnTo>
                <a:cubicBezTo>
                  <a:pt x="94804" y="423150"/>
                  <a:pt x="0" y="328346"/>
                  <a:pt x="0" y="211575"/>
                </a:cubicBezTo>
                <a:lnTo>
                  <a:pt x="0" y="211575"/>
                </a:lnTo>
                <a:cubicBezTo>
                  <a:pt x="0" y="94804"/>
                  <a:pt x="94804" y="0"/>
                  <a:pt x="211575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3" name="Text 10"/>
          <p:cNvSpPr/>
          <p:nvPr/>
        </p:nvSpPr>
        <p:spPr>
          <a:xfrm>
            <a:off x="650034" y="2169533"/>
            <a:ext cx="511306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8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黄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22975" y="2151962"/>
            <a:ext cx="107550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黄飞扬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22975" y="2398782"/>
            <a:ext cx="105787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后端开发与架构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94112" y="2733686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7" name="Text 14"/>
          <p:cNvSpPr/>
          <p:nvPr/>
        </p:nvSpPr>
        <p:spPr>
          <a:xfrm>
            <a:off x="835132" y="2680822"/>
            <a:ext cx="80222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328969" y="2733686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9" name="Text 16"/>
          <p:cNvSpPr/>
          <p:nvPr/>
        </p:nvSpPr>
        <p:spPr>
          <a:xfrm>
            <a:off x="3469989" y="2680822"/>
            <a:ext cx="740512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API接口开发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94112" y="2980510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1" name="Text 18"/>
          <p:cNvSpPr/>
          <p:nvPr/>
        </p:nvSpPr>
        <p:spPr>
          <a:xfrm>
            <a:off x="835132" y="2927646"/>
            <a:ext cx="678803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数据库设计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328969" y="2980510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3" name="Text 20"/>
          <p:cNvSpPr/>
          <p:nvPr/>
        </p:nvSpPr>
        <p:spPr>
          <a:xfrm>
            <a:off x="3469989" y="2927646"/>
            <a:ext cx="678803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模型适配器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10323" y="3814978"/>
            <a:ext cx="33356" cy="952087"/>
          </a:xfrm>
          <a:custGeom>
            <a:avLst/>
            <a:gdLst/>
            <a:ahLst/>
            <a:cxnLst/>
            <a:rect l="l" t="t" r="r" b="b"/>
            <a:pathLst>
              <a:path w="33356" h="952087">
                <a:moveTo>
                  <a:pt x="0" y="0"/>
                </a:moveTo>
                <a:lnTo>
                  <a:pt x="33356" y="0"/>
                </a:lnTo>
                <a:lnTo>
                  <a:pt x="33356" y="952087"/>
                </a:lnTo>
                <a:lnTo>
                  <a:pt x="0" y="952087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5" name="Shape 22"/>
          <p:cNvSpPr/>
          <p:nvPr/>
        </p:nvSpPr>
        <p:spPr>
          <a:xfrm>
            <a:off x="668021" y="3832549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211575" y="0"/>
                </a:moveTo>
                <a:lnTo>
                  <a:pt x="211575" y="0"/>
                </a:lnTo>
                <a:cubicBezTo>
                  <a:pt x="328346" y="0"/>
                  <a:pt x="423150" y="94804"/>
                  <a:pt x="423150" y="211575"/>
                </a:cubicBezTo>
                <a:lnTo>
                  <a:pt x="423150" y="211575"/>
                </a:lnTo>
                <a:cubicBezTo>
                  <a:pt x="423150" y="328346"/>
                  <a:pt x="328346" y="423150"/>
                  <a:pt x="211575" y="423150"/>
                </a:cubicBezTo>
                <a:lnTo>
                  <a:pt x="211575" y="423150"/>
                </a:lnTo>
                <a:cubicBezTo>
                  <a:pt x="94804" y="423150"/>
                  <a:pt x="0" y="328346"/>
                  <a:pt x="0" y="211575"/>
                </a:cubicBezTo>
                <a:lnTo>
                  <a:pt x="0" y="211575"/>
                </a:lnTo>
                <a:cubicBezTo>
                  <a:pt x="0" y="94804"/>
                  <a:pt x="94804" y="0"/>
                  <a:pt x="211575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6" name="Text 23"/>
          <p:cNvSpPr/>
          <p:nvPr/>
        </p:nvSpPr>
        <p:spPr>
          <a:xfrm>
            <a:off x="623943" y="3832549"/>
            <a:ext cx="511306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8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谷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96884" y="3814978"/>
            <a:ext cx="107550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谷强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96884" y="4061802"/>
            <a:ext cx="105787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6C7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前端开发与交互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68021" y="4396705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0" name="Text 27"/>
          <p:cNvSpPr/>
          <p:nvPr/>
        </p:nvSpPr>
        <p:spPr>
          <a:xfrm>
            <a:off x="809041" y="4343842"/>
            <a:ext cx="66998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UI界面开发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302878" y="4396705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2" name="Text 29"/>
          <p:cNvSpPr/>
          <p:nvPr/>
        </p:nvSpPr>
        <p:spPr>
          <a:xfrm>
            <a:off x="3443898" y="4343842"/>
            <a:ext cx="555384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68021" y="4643525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4" name="Text 31"/>
          <p:cNvSpPr/>
          <p:nvPr/>
        </p:nvSpPr>
        <p:spPr>
          <a:xfrm>
            <a:off x="809041" y="4590662"/>
            <a:ext cx="80222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用户体验设计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302878" y="4643525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6" name="Text 33"/>
          <p:cNvSpPr/>
          <p:nvPr/>
        </p:nvSpPr>
        <p:spPr>
          <a:xfrm>
            <a:off x="3443898" y="4590662"/>
            <a:ext cx="555384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文档撰写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184632" y="1039187"/>
            <a:ext cx="5659627" cy="1815064"/>
          </a:xfrm>
          <a:custGeom>
            <a:avLst/>
            <a:gdLst/>
            <a:ahLst/>
            <a:cxnLst/>
            <a:rect l="l" t="t" r="r" b="b"/>
            <a:pathLst>
              <a:path w="5659627" h="1815064">
                <a:moveTo>
                  <a:pt x="33356" y="0"/>
                </a:moveTo>
                <a:lnTo>
                  <a:pt x="5626271" y="0"/>
                </a:lnTo>
                <a:cubicBezTo>
                  <a:pt x="5644693" y="0"/>
                  <a:pt x="5659627" y="14934"/>
                  <a:pt x="5659627" y="33356"/>
                </a:cubicBezTo>
                <a:lnTo>
                  <a:pt x="5659627" y="1709282"/>
                </a:lnTo>
                <a:cubicBezTo>
                  <a:pt x="5659627" y="1767704"/>
                  <a:pt x="5612267" y="1815064"/>
                  <a:pt x="5553845" y="1815064"/>
                </a:cubicBezTo>
                <a:lnTo>
                  <a:pt x="105782" y="1815064"/>
                </a:lnTo>
                <a:cubicBezTo>
                  <a:pt x="47360" y="1815064"/>
                  <a:pt x="0" y="1767704"/>
                  <a:pt x="0" y="1709282"/>
                </a:cubicBezTo>
                <a:lnTo>
                  <a:pt x="0" y="33356"/>
                </a:lnTo>
                <a:cubicBezTo>
                  <a:pt x="0" y="14946"/>
                  <a:pt x="14946" y="0"/>
                  <a:pt x="3335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2234" dist="8815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184632" y="1039187"/>
            <a:ext cx="5659627" cy="33356"/>
          </a:xfrm>
          <a:custGeom>
            <a:avLst/>
            <a:gdLst/>
            <a:ahLst/>
            <a:cxnLst/>
            <a:rect l="l" t="t" r="r" b="b"/>
            <a:pathLst>
              <a:path w="5659627" h="33356">
                <a:moveTo>
                  <a:pt x="33356" y="0"/>
                </a:moveTo>
                <a:lnTo>
                  <a:pt x="5626271" y="0"/>
                </a:lnTo>
                <a:cubicBezTo>
                  <a:pt x="5644693" y="0"/>
                  <a:pt x="5659627" y="14934"/>
                  <a:pt x="5659627" y="33356"/>
                </a:cubicBezTo>
                <a:lnTo>
                  <a:pt x="5659627" y="33356"/>
                </a:lnTo>
                <a:lnTo>
                  <a:pt x="0" y="33356"/>
                </a:lnTo>
                <a:lnTo>
                  <a:pt x="0" y="33356"/>
                </a:lnTo>
                <a:cubicBezTo>
                  <a:pt x="0" y="14934"/>
                  <a:pt x="14934" y="0"/>
                  <a:pt x="33356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9" name="Shape 36"/>
          <p:cNvSpPr/>
          <p:nvPr/>
        </p:nvSpPr>
        <p:spPr>
          <a:xfrm>
            <a:off x="6360915" y="1223318"/>
            <a:ext cx="264469" cy="264469"/>
          </a:xfrm>
          <a:custGeom>
            <a:avLst/>
            <a:gdLst/>
            <a:ahLst/>
            <a:cxnLst/>
            <a:rect l="l" t="t" r="r" b="b"/>
            <a:pathLst>
              <a:path w="264469" h="264469">
                <a:moveTo>
                  <a:pt x="33059" y="33059"/>
                </a:moveTo>
                <a:cubicBezTo>
                  <a:pt x="33059" y="23916"/>
                  <a:pt x="25672" y="16529"/>
                  <a:pt x="16529" y="16529"/>
                </a:cubicBezTo>
                <a:cubicBezTo>
                  <a:pt x="7387" y="16529"/>
                  <a:pt x="0" y="23916"/>
                  <a:pt x="0" y="33059"/>
                </a:cubicBezTo>
                <a:lnTo>
                  <a:pt x="0" y="206616"/>
                </a:lnTo>
                <a:cubicBezTo>
                  <a:pt x="0" y="229447"/>
                  <a:pt x="18492" y="247939"/>
                  <a:pt x="41323" y="247939"/>
                </a:cubicBezTo>
                <a:lnTo>
                  <a:pt x="247939" y="247939"/>
                </a:lnTo>
                <a:cubicBezTo>
                  <a:pt x="257082" y="247939"/>
                  <a:pt x="264469" y="240553"/>
                  <a:pt x="264469" y="231410"/>
                </a:cubicBezTo>
                <a:cubicBezTo>
                  <a:pt x="264469" y="222267"/>
                  <a:pt x="257082" y="214881"/>
                  <a:pt x="247939" y="214881"/>
                </a:cubicBezTo>
                <a:lnTo>
                  <a:pt x="41323" y="214881"/>
                </a:lnTo>
                <a:cubicBezTo>
                  <a:pt x="36778" y="214881"/>
                  <a:pt x="33059" y="211162"/>
                  <a:pt x="33059" y="206616"/>
                </a:cubicBezTo>
                <a:lnTo>
                  <a:pt x="33059" y="33059"/>
                </a:lnTo>
                <a:close/>
                <a:moveTo>
                  <a:pt x="243084" y="77791"/>
                </a:moveTo>
                <a:cubicBezTo>
                  <a:pt x="249541" y="71334"/>
                  <a:pt x="249541" y="60848"/>
                  <a:pt x="243084" y="54392"/>
                </a:cubicBezTo>
                <a:cubicBezTo>
                  <a:pt x="236627" y="47935"/>
                  <a:pt x="226141" y="47935"/>
                  <a:pt x="219685" y="54392"/>
                </a:cubicBezTo>
                <a:lnTo>
                  <a:pt x="165293" y="108835"/>
                </a:lnTo>
                <a:lnTo>
                  <a:pt x="135643" y="79237"/>
                </a:lnTo>
                <a:cubicBezTo>
                  <a:pt x="129187" y="72781"/>
                  <a:pt x="118701" y="72781"/>
                  <a:pt x="112244" y="79237"/>
                </a:cubicBezTo>
                <a:lnTo>
                  <a:pt x="62656" y="128825"/>
                </a:lnTo>
                <a:cubicBezTo>
                  <a:pt x="56200" y="135282"/>
                  <a:pt x="56200" y="145768"/>
                  <a:pt x="62656" y="152224"/>
                </a:cubicBezTo>
                <a:cubicBezTo>
                  <a:pt x="69113" y="158681"/>
                  <a:pt x="79599" y="158681"/>
                  <a:pt x="86056" y="152224"/>
                </a:cubicBezTo>
                <a:lnTo>
                  <a:pt x="123970" y="114310"/>
                </a:lnTo>
                <a:lnTo>
                  <a:pt x="153619" y="143960"/>
                </a:lnTo>
                <a:cubicBezTo>
                  <a:pt x="160076" y="150416"/>
                  <a:pt x="170562" y="150416"/>
                  <a:pt x="177018" y="143960"/>
                </a:cubicBezTo>
                <a:lnTo>
                  <a:pt x="243135" y="77843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0" name="Text 37"/>
          <p:cNvSpPr/>
          <p:nvPr/>
        </p:nvSpPr>
        <p:spPr>
          <a:xfrm>
            <a:off x="6761966" y="1196884"/>
            <a:ext cx="1190108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82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进度可控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325653" y="1619947"/>
            <a:ext cx="544805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严格遵循甘特图规划，确保项目按期交付</a:t>
            </a:r>
            <a:r>
              <a:rPr lang="en-US" sz="11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325653" y="1937202"/>
            <a:ext cx="1719046" cy="775774"/>
          </a:xfrm>
          <a:custGeom>
            <a:avLst/>
            <a:gdLst/>
            <a:ahLst/>
            <a:cxnLst/>
            <a:rect l="l" t="t" r="r" b="b"/>
            <a:pathLst>
              <a:path w="1719046" h="775774">
                <a:moveTo>
                  <a:pt x="70526" y="0"/>
                </a:moveTo>
                <a:lnTo>
                  <a:pt x="1648520" y="0"/>
                </a:lnTo>
                <a:cubicBezTo>
                  <a:pt x="1687470" y="0"/>
                  <a:pt x="1719046" y="31575"/>
                  <a:pt x="1719046" y="70526"/>
                </a:cubicBezTo>
                <a:lnTo>
                  <a:pt x="1719046" y="705249"/>
                </a:lnTo>
                <a:cubicBezTo>
                  <a:pt x="1719046" y="744199"/>
                  <a:pt x="1687470" y="775774"/>
                  <a:pt x="1648520" y="775774"/>
                </a:cubicBezTo>
                <a:lnTo>
                  <a:pt x="70526" y="775774"/>
                </a:lnTo>
                <a:cubicBezTo>
                  <a:pt x="31575" y="775774"/>
                  <a:pt x="0" y="744199"/>
                  <a:pt x="0" y="705249"/>
                </a:cubicBezTo>
                <a:lnTo>
                  <a:pt x="0" y="70526"/>
                </a:lnTo>
                <a:cubicBezTo>
                  <a:pt x="0" y="31575"/>
                  <a:pt x="31575" y="0"/>
                  <a:pt x="70526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3" name="Text 40"/>
          <p:cNvSpPr/>
          <p:nvPr/>
        </p:nvSpPr>
        <p:spPr>
          <a:xfrm>
            <a:off x="6396118" y="2042933"/>
            <a:ext cx="157799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计划里程碑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365263" y="2289680"/>
            <a:ext cx="1639705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82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152064" y="1937202"/>
            <a:ext cx="1719046" cy="775774"/>
          </a:xfrm>
          <a:custGeom>
            <a:avLst/>
            <a:gdLst/>
            <a:ahLst/>
            <a:cxnLst/>
            <a:rect l="l" t="t" r="r" b="b"/>
            <a:pathLst>
              <a:path w="1719046" h="775774">
                <a:moveTo>
                  <a:pt x="70526" y="0"/>
                </a:moveTo>
                <a:lnTo>
                  <a:pt x="1648520" y="0"/>
                </a:lnTo>
                <a:cubicBezTo>
                  <a:pt x="1687470" y="0"/>
                  <a:pt x="1719046" y="31575"/>
                  <a:pt x="1719046" y="70526"/>
                </a:cubicBezTo>
                <a:lnTo>
                  <a:pt x="1719046" y="705249"/>
                </a:lnTo>
                <a:cubicBezTo>
                  <a:pt x="1719046" y="744199"/>
                  <a:pt x="1687470" y="775774"/>
                  <a:pt x="1648520" y="775774"/>
                </a:cubicBezTo>
                <a:lnTo>
                  <a:pt x="70526" y="775774"/>
                </a:lnTo>
                <a:cubicBezTo>
                  <a:pt x="31575" y="775774"/>
                  <a:pt x="0" y="744199"/>
                  <a:pt x="0" y="705249"/>
                </a:cubicBezTo>
                <a:lnTo>
                  <a:pt x="0" y="70526"/>
                </a:lnTo>
                <a:cubicBezTo>
                  <a:pt x="0" y="31575"/>
                  <a:pt x="31575" y="0"/>
                  <a:pt x="70526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6" name="Text 43"/>
          <p:cNvSpPr/>
          <p:nvPr/>
        </p:nvSpPr>
        <p:spPr>
          <a:xfrm>
            <a:off x="8222530" y="2042933"/>
            <a:ext cx="157799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按时完成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191675" y="2289680"/>
            <a:ext cx="1639705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82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7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9978550" y="1937202"/>
            <a:ext cx="1719046" cy="775774"/>
          </a:xfrm>
          <a:custGeom>
            <a:avLst/>
            <a:gdLst/>
            <a:ahLst/>
            <a:cxnLst/>
            <a:rect l="l" t="t" r="r" b="b"/>
            <a:pathLst>
              <a:path w="1719046" h="775774">
                <a:moveTo>
                  <a:pt x="70526" y="0"/>
                </a:moveTo>
                <a:lnTo>
                  <a:pt x="1648520" y="0"/>
                </a:lnTo>
                <a:cubicBezTo>
                  <a:pt x="1687470" y="0"/>
                  <a:pt x="1719046" y="31575"/>
                  <a:pt x="1719046" y="70526"/>
                </a:cubicBezTo>
                <a:lnTo>
                  <a:pt x="1719046" y="705249"/>
                </a:lnTo>
                <a:cubicBezTo>
                  <a:pt x="1719046" y="744199"/>
                  <a:pt x="1687470" y="775774"/>
                  <a:pt x="1648520" y="775774"/>
                </a:cubicBezTo>
                <a:lnTo>
                  <a:pt x="70526" y="775774"/>
                </a:lnTo>
                <a:cubicBezTo>
                  <a:pt x="31575" y="775774"/>
                  <a:pt x="0" y="744199"/>
                  <a:pt x="0" y="705249"/>
                </a:cubicBezTo>
                <a:lnTo>
                  <a:pt x="0" y="70526"/>
                </a:lnTo>
                <a:cubicBezTo>
                  <a:pt x="0" y="31575"/>
                  <a:pt x="31575" y="0"/>
                  <a:pt x="70526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49" name="Text 46"/>
          <p:cNvSpPr/>
          <p:nvPr/>
        </p:nvSpPr>
        <p:spPr>
          <a:xfrm>
            <a:off x="10049015" y="2042933"/>
            <a:ext cx="157799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准时率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0018160" y="2289680"/>
            <a:ext cx="1639705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82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100%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184632" y="3011457"/>
            <a:ext cx="5659627" cy="2344001"/>
          </a:xfrm>
          <a:custGeom>
            <a:avLst/>
            <a:gdLst/>
            <a:ahLst/>
            <a:cxnLst/>
            <a:rect l="l" t="t" r="r" b="b"/>
            <a:pathLst>
              <a:path w="5659627" h="2344001">
                <a:moveTo>
                  <a:pt x="33356" y="0"/>
                </a:moveTo>
                <a:lnTo>
                  <a:pt x="5626271" y="0"/>
                </a:lnTo>
                <a:cubicBezTo>
                  <a:pt x="5644693" y="0"/>
                  <a:pt x="5659627" y="14934"/>
                  <a:pt x="5659627" y="33356"/>
                </a:cubicBezTo>
                <a:lnTo>
                  <a:pt x="5659627" y="2238217"/>
                </a:lnTo>
                <a:cubicBezTo>
                  <a:pt x="5659627" y="2296640"/>
                  <a:pt x="5612265" y="2344001"/>
                  <a:pt x="5553842" y="2344001"/>
                </a:cubicBezTo>
                <a:lnTo>
                  <a:pt x="105785" y="2344001"/>
                </a:lnTo>
                <a:cubicBezTo>
                  <a:pt x="47361" y="2344001"/>
                  <a:pt x="0" y="2296640"/>
                  <a:pt x="0" y="2238217"/>
                </a:cubicBezTo>
                <a:lnTo>
                  <a:pt x="0" y="33356"/>
                </a:lnTo>
                <a:cubicBezTo>
                  <a:pt x="0" y="14946"/>
                  <a:pt x="14946" y="0"/>
                  <a:pt x="3335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2234" dist="8815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184632" y="3011457"/>
            <a:ext cx="5659627" cy="33356"/>
          </a:xfrm>
          <a:custGeom>
            <a:avLst/>
            <a:gdLst/>
            <a:ahLst/>
            <a:cxnLst/>
            <a:rect l="l" t="t" r="r" b="b"/>
            <a:pathLst>
              <a:path w="5659627" h="33356">
                <a:moveTo>
                  <a:pt x="33356" y="0"/>
                </a:moveTo>
                <a:lnTo>
                  <a:pt x="5626271" y="0"/>
                </a:lnTo>
                <a:cubicBezTo>
                  <a:pt x="5644693" y="0"/>
                  <a:pt x="5659627" y="14934"/>
                  <a:pt x="5659627" y="33356"/>
                </a:cubicBezTo>
                <a:lnTo>
                  <a:pt x="5659627" y="33356"/>
                </a:lnTo>
                <a:lnTo>
                  <a:pt x="0" y="33356"/>
                </a:lnTo>
                <a:lnTo>
                  <a:pt x="0" y="33356"/>
                </a:lnTo>
                <a:cubicBezTo>
                  <a:pt x="0" y="14934"/>
                  <a:pt x="14934" y="0"/>
                  <a:pt x="33356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3" name="Shape 50"/>
          <p:cNvSpPr/>
          <p:nvPr/>
        </p:nvSpPr>
        <p:spPr>
          <a:xfrm>
            <a:off x="6344386" y="3195588"/>
            <a:ext cx="297527" cy="264469"/>
          </a:xfrm>
          <a:custGeom>
            <a:avLst/>
            <a:gdLst/>
            <a:ahLst/>
            <a:cxnLst/>
            <a:rect l="l" t="t" r="r" b="b"/>
            <a:pathLst>
              <a:path w="297527" h="264469">
                <a:moveTo>
                  <a:pt x="198351" y="74382"/>
                </a:moveTo>
                <a:cubicBezTo>
                  <a:pt x="198351" y="124589"/>
                  <a:pt x="153929" y="165293"/>
                  <a:pt x="99176" y="165293"/>
                </a:cubicBezTo>
                <a:cubicBezTo>
                  <a:pt x="85384" y="165293"/>
                  <a:pt x="72264" y="162710"/>
                  <a:pt x="60332" y="158061"/>
                </a:cubicBezTo>
                <a:lnTo>
                  <a:pt x="18182" y="180376"/>
                </a:lnTo>
                <a:cubicBezTo>
                  <a:pt x="13378" y="182907"/>
                  <a:pt x="7490" y="182029"/>
                  <a:pt x="3616" y="178206"/>
                </a:cubicBezTo>
                <a:cubicBezTo>
                  <a:pt x="-258" y="174384"/>
                  <a:pt x="-1136" y="168444"/>
                  <a:pt x="1446" y="163640"/>
                </a:cubicBezTo>
                <a:lnTo>
                  <a:pt x="19835" y="128928"/>
                </a:lnTo>
                <a:cubicBezTo>
                  <a:pt x="7387" y="113742"/>
                  <a:pt x="0" y="94837"/>
                  <a:pt x="0" y="74382"/>
                </a:cubicBezTo>
                <a:cubicBezTo>
                  <a:pt x="0" y="24174"/>
                  <a:pt x="44422" y="-16529"/>
                  <a:pt x="99176" y="-16529"/>
                </a:cubicBezTo>
                <a:cubicBezTo>
                  <a:pt x="153929" y="-16529"/>
                  <a:pt x="198351" y="24174"/>
                  <a:pt x="198351" y="74382"/>
                </a:cubicBezTo>
                <a:close/>
                <a:moveTo>
                  <a:pt x="198351" y="264469"/>
                </a:moveTo>
                <a:cubicBezTo>
                  <a:pt x="149745" y="264469"/>
                  <a:pt x="109300" y="232391"/>
                  <a:pt x="100829" y="190087"/>
                </a:cubicBezTo>
                <a:cubicBezTo>
                  <a:pt x="162813" y="189312"/>
                  <a:pt x="216689" y="145199"/>
                  <a:pt x="222629" y="85384"/>
                </a:cubicBezTo>
                <a:cubicBezTo>
                  <a:pt x="265657" y="95302"/>
                  <a:pt x="297527" y="130995"/>
                  <a:pt x="297527" y="173557"/>
                </a:cubicBezTo>
                <a:cubicBezTo>
                  <a:pt x="297527" y="194012"/>
                  <a:pt x="290141" y="212918"/>
                  <a:pt x="277692" y="228104"/>
                </a:cubicBezTo>
                <a:lnTo>
                  <a:pt x="296081" y="262816"/>
                </a:lnTo>
                <a:cubicBezTo>
                  <a:pt x="298612" y="267619"/>
                  <a:pt x="297734" y="273508"/>
                  <a:pt x="293911" y="277382"/>
                </a:cubicBezTo>
                <a:cubicBezTo>
                  <a:pt x="290089" y="281256"/>
                  <a:pt x="284149" y="282134"/>
                  <a:pt x="279345" y="279552"/>
                </a:cubicBezTo>
                <a:lnTo>
                  <a:pt x="237195" y="257237"/>
                </a:lnTo>
                <a:cubicBezTo>
                  <a:pt x="225263" y="261886"/>
                  <a:pt x="212143" y="264469"/>
                  <a:pt x="198351" y="264469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4" name="Text 51"/>
          <p:cNvSpPr/>
          <p:nvPr/>
        </p:nvSpPr>
        <p:spPr>
          <a:xfrm>
            <a:off x="6761966" y="3169154"/>
            <a:ext cx="1190108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82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沟通高效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42331" y="3592218"/>
            <a:ext cx="33356" cy="493675"/>
          </a:xfrm>
          <a:custGeom>
            <a:avLst/>
            <a:gdLst/>
            <a:ahLst/>
            <a:cxnLst/>
            <a:rect l="l" t="t" r="r" b="b"/>
            <a:pathLst>
              <a:path w="33356" h="493675">
                <a:moveTo>
                  <a:pt x="0" y="0"/>
                </a:moveTo>
                <a:lnTo>
                  <a:pt x="33356" y="0"/>
                </a:lnTo>
                <a:lnTo>
                  <a:pt x="33356" y="493675"/>
                </a:lnTo>
                <a:lnTo>
                  <a:pt x="0" y="493675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6" name="Text 53"/>
          <p:cNvSpPr/>
          <p:nvPr/>
        </p:nvSpPr>
        <p:spPr>
          <a:xfrm>
            <a:off x="6464737" y="3592218"/>
            <a:ext cx="53158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定期同步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464737" y="3874184"/>
            <a:ext cx="530700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每周进行项目进度同步会议，及时沟通进展与问题。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342331" y="4156224"/>
            <a:ext cx="33356" cy="493675"/>
          </a:xfrm>
          <a:custGeom>
            <a:avLst/>
            <a:gdLst/>
            <a:ahLst/>
            <a:cxnLst/>
            <a:rect l="l" t="t" r="r" b="b"/>
            <a:pathLst>
              <a:path w="33356" h="493675">
                <a:moveTo>
                  <a:pt x="0" y="0"/>
                </a:moveTo>
                <a:lnTo>
                  <a:pt x="33356" y="0"/>
                </a:lnTo>
                <a:lnTo>
                  <a:pt x="33356" y="493675"/>
                </a:lnTo>
                <a:lnTo>
                  <a:pt x="0" y="493675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9" name="Text 56"/>
          <p:cNvSpPr/>
          <p:nvPr/>
        </p:nvSpPr>
        <p:spPr>
          <a:xfrm>
            <a:off x="6464737" y="4156224"/>
            <a:ext cx="53158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接口协商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464737" y="4438190"/>
            <a:ext cx="530700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前后端接口契约先行，减少集成阶段的问题。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342331" y="4720230"/>
            <a:ext cx="33356" cy="493675"/>
          </a:xfrm>
          <a:custGeom>
            <a:avLst/>
            <a:gdLst/>
            <a:ahLst/>
            <a:cxnLst/>
            <a:rect l="l" t="t" r="r" b="b"/>
            <a:pathLst>
              <a:path w="33356" h="493675">
                <a:moveTo>
                  <a:pt x="0" y="0"/>
                </a:moveTo>
                <a:lnTo>
                  <a:pt x="33356" y="0"/>
                </a:lnTo>
                <a:lnTo>
                  <a:pt x="33356" y="493675"/>
                </a:lnTo>
                <a:lnTo>
                  <a:pt x="0" y="493675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62" name="Text 59"/>
          <p:cNvSpPr/>
          <p:nvPr/>
        </p:nvSpPr>
        <p:spPr>
          <a:xfrm>
            <a:off x="6464737" y="4720230"/>
            <a:ext cx="53158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</a:t>
            </a:r>
            <a:r>
              <a:rPr lang="zh-CN" altLang="en-US" sz="1249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6464737" y="5002196"/>
            <a:ext cx="530700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 err="1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使用Git进行</a:t>
            </a:r>
            <a:r>
              <a:rPr lang="zh-CN" altLang="en-US" sz="11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文档管理</a:t>
            </a:r>
            <a:r>
              <a:rPr lang="en-US" sz="11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sz="11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定时更新</a:t>
            </a:r>
            <a:r>
              <a:rPr lang="en-US" sz="111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352625" y="5495763"/>
            <a:ext cx="11486751" cy="537753"/>
          </a:xfrm>
          <a:custGeom>
            <a:avLst/>
            <a:gdLst/>
            <a:ahLst/>
            <a:cxnLst/>
            <a:rect l="l" t="t" r="r" b="b"/>
            <a:pathLst>
              <a:path w="11486751" h="537753">
                <a:moveTo>
                  <a:pt x="105787" y="0"/>
                </a:moveTo>
                <a:lnTo>
                  <a:pt x="11380964" y="0"/>
                </a:lnTo>
                <a:cubicBezTo>
                  <a:pt x="11439388" y="0"/>
                  <a:pt x="11486751" y="47362"/>
                  <a:pt x="11486751" y="105787"/>
                </a:cubicBezTo>
                <a:lnTo>
                  <a:pt x="11486751" y="431966"/>
                </a:lnTo>
                <a:cubicBezTo>
                  <a:pt x="11486751" y="490390"/>
                  <a:pt x="11439388" y="537753"/>
                  <a:pt x="11380964" y="537753"/>
                </a:cubicBezTo>
                <a:lnTo>
                  <a:pt x="105787" y="537753"/>
                </a:lnTo>
                <a:cubicBezTo>
                  <a:pt x="47362" y="537753"/>
                  <a:pt x="0" y="490390"/>
                  <a:pt x="0" y="431966"/>
                </a:cubicBezTo>
                <a:lnTo>
                  <a:pt x="0" y="105787"/>
                </a:lnTo>
                <a:cubicBezTo>
                  <a:pt x="0" y="47401"/>
                  <a:pt x="47401" y="0"/>
                  <a:pt x="105787" y="0"/>
                </a:cubicBezTo>
                <a:close/>
              </a:path>
            </a:pathLst>
          </a:custGeom>
          <a:solidFill>
            <a:srgbClr val="343A40"/>
          </a:solidFill>
          <a:ln/>
          <a:effectLst>
            <a:outerShdw blurRad="132234" dist="8815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526703" y="5665378"/>
            <a:ext cx="154273" cy="176312"/>
          </a:xfrm>
          <a:custGeom>
            <a:avLst/>
            <a:gdLst/>
            <a:ahLst/>
            <a:cxnLst/>
            <a:rect l="l" t="t" r="r" b="b"/>
            <a:pathLst>
              <a:path w="154273" h="176312">
                <a:moveTo>
                  <a:pt x="0" y="74382"/>
                </a:moveTo>
                <a:cubicBezTo>
                  <a:pt x="0" y="51551"/>
                  <a:pt x="18492" y="33059"/>
                  <a:pt x="41323" y="33059"/>
                </a:cubicBezTo>
                <a:lnTo>
                  <a:pt x="44078" y="33059"/>
                </a:lnTo>
                <a:cubicBezTo>
                  <a:pt x="50173" y="33059"/>
                  <a:pt x="55098" y="37983"/>
                  <a:pt x="55098" y="44078"/>
                </a:cubicBezTo>
                <a:cubicBezTo>
                  <a:pt x="55098" y="50173"/>
                  <a:pt x="50173" y="55098"/>
                  <a:pt x="44078" y="55098"/>
                </a:cubicBezTo>
                <a:lnTo>
                  <a:pt x="41323" y="55098"/>
                </a:lnTo>
                <a:cubicBezTo>
                  <a:pt x="30682" y="55098"/>
                  <a:pt x="22039" y="63741"/>
                  <a:pt x="22039" y="74382"/>
                </a:cubicBezTo>
                <a:lnTo>
                  <a:pt x="22039" y="77137"/>
                </a:lnTo>
                <a:lnTo>
                  <a:pt x="44078" y="77137"/>
                </a:lnTo>
                <a:cubicBezTo>
                  <a:pt x="56234" y="77137"/>
                  <a:pt x="66117" y="87020"/>
                  <a:pt x="66117" y="99176"/>
                </a:cubicBezTo>
                <a:lnTo>
                  <a:pt x="66117" y="121215"/>
                </a:lnTo>
                <a:cubicBezTo>
                  <a:pt x="66117" y="133371"/>
                  <a:pt x="56234" y="143254"/>
                  <a:pt x="44078" y="143254"/>
                </a:cubicBezTo>
                <a:lnTo>
                  <a:pt x="22039" y="143254"/>
                </a:lnTo>
                <a:cubicBezTo>
                  <a:pt x="9883" y="143254"/>
                  <a:pt x="0" y="133371"/>
                  <a:pt x="0" y="121215"/>
                </a:cubicBezTo>
                <a:lnTo>
                  <a:pt x="0" y="74382"/>
                </a:lnTo>
                <a:close/>
                <a:moveTo>
                  <a:pt x="88156" y="74382"/>
                </a:moveTo>
                <a:cubicBezTo>
                  <a:pt x="88156" y="51551"/>
                  <a:pt x="106648" y="33059"/>
                  <a:pt x="129479" y="33059"/>
                </a:cubicBezTo>
                <a:lnTo>
                  <a:pt x="132234" y="33059"/>
                </a:lnTo>
                <a:cubicBezTo>
                  <a:pt x="138329" y="33059"/>
                  <a:pt x="143254" y="37983"/>
                  <a:pt x="143254" y="44078"/>
                </a:cubicBezTo>
                <a:cubicBezTo>
                  <a:pt x="143254" y="50173"/>
                  <a:pt x="138329" y="55098"/>
                  <a:pt x="132234" y="55098"/>
                </a:cubicBezTo>
                <a:lnTo>
                  <a:pt x="129479" y="55098"/>
                </a:lnTo>
                <a:cubicBezTo>
                  <a:pt x="118839" y="55098"/>
                  <a:pt x="110195" y="63741"/>
                  <a:pt x="110195" y="74382"/>
                </a:cubicBezTo>
                <a:lnTo>
                  <a:pt x="110195" y="77137"/>
                </a:lnTo>
                <a:lnTo>
                  <a:pt x="132234" y="77137"/>
                </a:lnTo>
                <a:cubicBezTo>
                  <a:pt x="144390" y="77137"/>
                  <a:pt x="154273" y="87020"/>
                  <a:pt x="154273" y="99176"/>
                </a:cubicBezTo>
                <a:lnTo>
                  <a:pt x="154273" y="121215"/>
                </a:lnTo>
                <a:cubicBezTo>
                  <a:pt x="154273" y="133371"/>
                  <a:pt x="144390" y="143254"/>
                  <a:pt x="132234" y="143254"/>
                </a:cubicBezTo>
                <a:lnTo>
                  <a:pt x="110195" y="143254"/>
                </a:lnTo>
                <a:cubicBezTo>
                  <a:pt x="98039" y="143254"/>
                  <a:pt x="88156" y="133371"/>
                  <a:pt x="88156" y="121215"/>
                </a:cubicBezTo>
                <a:lnTo>
                  <a:pt x="88156" y="74382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66" name="Text 63"/>
          <p:cNvSpPr/>
          <p:nvPr/>
        </p:nvSpPr>
        <p:spPr>
          <a:xfrm>
            <a:off x="787467" y="5636783"/>
            <a:ext cx="10990169" cy="255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9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协作核心:</a:t>
            </a: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在两人小组中，</a:t>
            </a:r>
            <a:r>
              <a:rPr lang="en-US" sz="124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清晰的责任边界</a:t>
            </a: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24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开放的沟通渠道</a:t>
            </a: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是项目顺利推进的最重要保障。定期的同步会议和代码审查机制确保了信息对齐和质量把控。</a:t>
            </a:r>
            <a:endParaRPr lang="en-US" sz="1600" dirty="0"/>
          </a:p>
        </p:txBody>
      </p:sp>
      <p:sp>
        <p:nvSpPr>
          <p:cNvPr id="67" name="Shape 0">
            <a:extLst>
              <a:ext uri="{FF2B5EF4-FFF2-40B4-BE49-F238E27FC236}">
                <a16:creationId xmlns:a16="http://schemas.microsoft.com/office/drawing/2014/main" id="{6AD2BC25-0FEF-CD5E-912A-B0ADC8BC8CA6}"/>
              </a:ext>
            </a:extLst>
          </p:cNvPr>
          <p:cNvSpPr/>
          <p:nvPr/>
        </p:nvSpPr>
        <p:spPr>
          <a:xfrm>
            <a:off x="371707" y="446108"/>
            <a:ext cx="464634" cy="297366"/>
          </a:xfrm>
          <a:custGeom>
            <a:avLst/>
            <a:gdLst/>
            <a:ahLst/>
            <a:cxnLst/>
            <a:rect l="l" t="t" r="r" b="b"/>
            <a:pathLst>
              <a:path w="464634" h="297366">
                <a:moveTo>
                  <a:pt x="148683" y="0"/>
                </a:moveTo>
                <a:lnTo>
                  <a:pt x="315951" y="0"/>
                </a:lnTo>
                <a:cubicBezTo>
                  <a:pt x="398067" y="0"/>
                  <a:pt x="464634" y="66568"/>
                  <a:pt x="464634" y="148683"/>
                </a:cubicBezTo>
                <a:lnTo>
                  <a:pt x="464634" y="148683"/>
                </a:lnTo>
                <a:cubicBezTo>
                  <a:pt x="464634" y="230798"/>
                  <a:pt x="398067" y="297366"/>
                  <a:pt x="315951" y="297366"/>
                </a:cubicBezTo>
                <a:lnTo>
                  <a:pt x="148683" y="297366"/>
                </a:lnTo>
                <a:cubicBezTo>
                  <a:pt x="66568" y="297366"/>
                  <a:pt x="0" y="230798"/>
                  <a:pt x="0" y="148683"/>
                </a:cubicBezTo>
                <a:lnTo>
                  <a:pt x="0" y="148683"/>
                </a:lnTo>
                <a:cubicBezTo>
                  <a:pt x="0" y="66568"/>
                  <a:pt x="66568" y="0"/>
                  <a:pt x="148683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68" name="Text 1">
            <a:extLst>
              <a:ext uri="{FF2B5EF4-FFF2-40B4-BE49-F238E27FC236}">
                <a16:creationId xmlns:a16="http://schemas.microsoft.com/office/drawing/2014/main" id="{9A4B04F8-1D55-B116-6F75-6FC15EEF6053}"/>
              </a:ext>
            </a:extLst>
          </p:cNvPr>
          <p:cNvSpPr/>
          <p:nvPr/>
        </p:nvSpPr>
        <p:spPr>
          <a:xfrm>
            <a:off x="371707" y="446108"/>
            <a:ext cx="538976" cy="297366"/>
          </a:xfrm>
          <a:prstGeom prst="rect">
            <a:avLst/>
          </a:prstGeom>
          <a:noFill/>
          <a:ln/>
        </p:spPr>
        <p:txBody>
          <a:bodyPr wrap="square" lIns="148683" tIns="37171" rIns="148683" bIns="37171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208" y="381000"/>
            <a:ext cx="5438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最大的财富:实践中的成长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3000" y="914367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7" name="Shape 4"/>
          <p:cNvSpPr/>
          <p:nvPr/>
        </p:nvSpPr>
        <p:spPr>
          <a:xfrm>
            <a:off x="381000" y="1104788"/>
            <a:ext cx="3705225" cy="2533650"/>
          </a:xfrm>
          <a:custGeom>
            <a:avLst/>
            <a:gdLst/>
            <a:ahLst/>
            <a:cxnLst/>
            <a:rect l="l" t="t" r="r" b="b"/>
            <a:pathLst>
              <a:path w="3705225" h="2533650">
                <a:moveTo>
                  <a:pt x="114293" y="0"/>
                </a:moveTo>
                <a:lnTo>
                  <a:pt x="3590932" y="0"/>
                </a:lnTo>
                <a:cubicBezTo>
                  <a:pt x="3654054" y="0"/>
                  <a:pt x="3705225" y="51171"/>
                  <a:pt x="3705225" y="114293"/>
                </a:cubicBezTo>
                <a:lnTo>
                  <a:pt x="3705225" y="2419357"/>
                </a:lnTo>
                <a:cubicBezTo>
                  <a:pt x="3705225" y="2482479"/>
                  <a:pt x="3654054" y="2533650"/>
                  <a:pt x="3590932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343A4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1943" y="12761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9" name="Text 6"/>
          <p:cNvSpPr/>
          <p:nvPr/>
        </p:nvSpPr>
        <p:spPr>
          <a:xfrm>
            <a:off x="933353" y="1257156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工程思维提升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3368" y="1638072"/>
            <a:ext cx="34766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亲历软件工程的</a:t>
            </a:r>
            <a:r>
              <a:rPr lang="en-US" sz="1200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完整生命周期</a:t>
            </a: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，深刻理解了文档和流程的价值。学会了从全局视角规划项目，而不仅仅是关注代码实现。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3368" y="281872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2" name="Text 9"/>
          <p:cNvSpPr/>
          <p:nvPr/>
        </p:nvSpPr>
        <p:spPr>
          <a:xfrm>
            <a:off x="685736" y="2761604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规范化流程的重要性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3368" y="308540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4" name="Text 11"/>
          <p:cNvSpPr/>
          <p:nvPr/>
        </p:nvSpPr>
        <p:spPr>
          <a:xfrm>
            <a:off x="685736" y="302829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文档驱动开发的价值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3368" y="335209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6" name="Text 13"/>
          <p:cNvSpPr/>
          <p:nvPr/>
        </p:nvSpPr>
        <p:spPr>
          <a:xfrm>
            <a:off x="685736" y="3294971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质量保障的多层次性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41762" y="1104788"/>
            <a:ext cx="3705225" cy="2533650"/>
          </a:xfrm>
          <a:custGeom>
            <a:avLst/>
            <a:gdLst/>
            <a:ahLst/>
            <a:cxnLst/>
            <a:rect l="l" t="t" r="r" b="b"/>
            <a:pathLst>
              <a:path w="3705225" h="2533650">
                <a:moveTo>
                  <a:pt x="114293" y="0"/>
                </a:moveTo>
                <a:lnTo>
                  <a:pt x="3590932" y="0"/>
                </a:lnTo>
                <a:cubicBezTo>
                  <a:pt x="3654054" y="0"/>
                  <a:pt x="3705225" y="51171"/>
                  <a:pt x="3705225" y="114293"/>
                </a:cubicBezTo>
                <a:lnTo>
                  <a:pt x="3705225" y="2419357"/>
                </a:lnTo>
                <a:cubicBezTo>
                  <a:pt x="3705225" y="2482479"/>
                  <a:pt x="3654054" y="2533650"/>
                  <a:pt x="3590932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056B3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22705" y="12761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9" name="Text 16"/>
          <p:cNvSpPr/>
          <p:nvPr/>
        </p:nvSpPr>
        <p:spPr>
          <a:xfrm>
            <a:off x="4794116" y="1257156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技术能力飞跃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394130" y="1638072"/>
            <a:ext cx="3476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200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全栈实践</a:t>
            </a: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，深化了对现代开发框架、状态管理、工程规范的理解。掌握了从设计到部署的完整技术链条。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94130" y="255204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2" name="Text 19"/>
          <p:cNvSpPr/>
          <p:nvPr/>
        </p:nvSpPr>
        <p:spPr>
          <a:xfrm>
            <a:off x="4546498" y="2494922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React生态深度应用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394130" y="281872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4" name="Text 21"/>
          <p:cNvSpPr/>
          <p:nvPr/>
        </p:nvSpPr>
        <p:spPr>
          <a:xfrm>
            <a:off x="4546498" y="2761604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FastAPI后端开发实践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394130" y="308540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6" name="Text 23"/>
          <p:cNvSpPr/>
          <p:nvPr/>
        </p:nvSpPr>
        <p:spPr>
          <a:xfrm>
            <a:off x="4546498" y="302829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数据库设计与优化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394130" y="335209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8" name="Text 25"/>
          <p:cNvSpPr/>
          <p:nvPr/>
        </p:nvSpPr>
        <p:spPr>
          <a:xfrm>
            <a:off x="4546498" y="3294971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</a:t>
            </a:r>
            <a:r>
              <a:rPr lang="zh-CN" altLang="en-US" sz="105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部署掌握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02525" y="1104788"/>
            <a:ext cx="3705225" cy="2533650"/>
          </a:xfrm>
          <a:custGeom>
            <a:avLst/>
            <a:gdLst/>
            <a:ahLst/>
            <a:cxnLst/>
            <a:rect l="l" t="t" r="r" b="b"/>
            <a:pathLst>
              <a:path w="3705225" h="2533650">
                <a:moveTo>
                  <a:pt x="114293" y="0"/>
                </a:moveTo>
                <a:lnTo>
                  <a:pt x="3590932" y="0"/>
                </a:lnTo>
                <a:cubicBezTo>
                  <a:pt x="3654054" y="0"/>
                  <a:pt x="3705225" y="51171"/>
                  <a:pt x="3705225" y="114293"/>
                </a:cubicBezTo>
                <a:lnTo>
                  <a:pt x="3705225" y="2419357"/>
                </a:lnTo>
                <a:cubicBezTo>
                  <a:pt x="3705225" y="2482479"/>
                  <a:pt x="3654054" y="2533650"/>
                  <a:pt x="3590932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FC107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69180" y="127614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31" name="Text 28"/>
          <p:cNvSpPr/>
          <p:nvPr/>
        </p:nvSpPr>
        <p:spPr>
          <a:xfrm>
            <a:off x="8654878" y="1257156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团队协作感悟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254893" y="1638072"/>
            <a:ext cx="34766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深刻体会到</a:t>
            </a:r>
            <a:r>
              <a:rPr lang="en-US" sz="1200" dirty="0">
                <a:solidFill>
                  <a:srgbClr val="343A40"/>
                </a:solidFill>
                <a:highlight>
                  <a:srgbClr val="343A40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沟通成本是软件开发中最关键的因素之一 </a:t>
            </a:r>
            <a:r>
              <a:rPr lang="en-US" sz="1200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。清晰的分工、及时的同步、相互的代码审查是保障项目质量的核心。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254893" y="281872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34" name="Text 31"/>
          <p:cNvSpPr/>
          <p:nvPr/>
        </p:nvSpPr>
        <p:spPr>
          <a:xfrm>
            <a:off x="8407260" y="2761604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有效沟通的重要性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254893" y="308540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36" name="Text 33"/>
          <p:cNvSpPr/>
          <p:nvPr/>
        </p:nvSpPr>
        <p:spPr>
          <a:xfrm>
            <a:off x="8407260" y="302829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代码审查的价值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254893" y="335209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38" name="Text 35"/>
          <p:cNvSpPr/>
          <p:nvPr/>
        </p:nvSpPr>
        <p:spPr>
          <a:xfrm>
            <a:off x="8407260" y="3294971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文档化沟通的效力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99020" y="3790211"/>
            <a:ext cx="11409920" cy="1485900"/>
          </a:xfrm>
          <a:custGeom>
            <a:avLst/>
            <a:gdLst/>
            <a:ahLst/>
            <a:cxnLst/>
            <a:rect l="l" t="t" r="r" b="b"/>
            <a:pathLst>
              <a:path w="11409920" h="1485900">
                <a:moveTo>
                  <a:pt x="36041" y="0"/>
                </a:moveTo>
                <a:lnTo>
                  <a:pt x="11295625" y="0"/>
                </a:lnTo>
                <a:cubicBezTo>
                  <a:pt x="11358706" y="0"/>
                  <a:pt x="11409920" y="51214"/>
                  <a:pt x="11409920" y="114295"/>
                </a:cubicBezTo>
                <a:lnTo>
                  <a:pt x="11409920" y="1371605"/>
                </a:lnTo>
                <a:cubicBezTo>
                  <a:pt x="11409920" y="1434686"/>
                  <a:pt x="11358706" y="1485900"/>
                  <a:pt x="11295625" y="1485900"/>
                </a:cubicBezTo>
                <a:lnTo>
                  <a:pt x="36041" y="1485900"/>
                </a:lnTo>
                <a:cubicBezTo>
                  <a:pt x="16136" y="1485900"/>
                  <a:pt x="0" y="1469764"/>
                  <a:pt x="0" y="14498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99020" y="3790211"/>
            <a:ext cx="36041" cy="1485900"/>
          </a:xfrm>
          <a:custGeom>
            <a:avLst/>
            <a:gdLst/>
            <a:ahLst/>
            <a:cxnLst/>
            <a:rect l="l" t="t" r="r" b="b"/>
            <a:pathLst>
              <a:path w="36041" h="1485900">
                <a:moveTo>
                  <a:pt x="36041" y="0"/>
                </a:moveTo>
                <a:lnTo>
                  <a:pt x="36041" y="0"/>
                </a:lnTo>
                <a:lnTo>
                  <a:pt x="36041" y="1485900"/>
                </a:lnTo>
                <a:lnTo>
                  <a:pt x="36041" y="1485900"/>
                </a:lnTo>
                <a:cubicBezTo>
                  <a:pt x="16136" y="1485900"/>
                  <a:pt x="0" y="1469764"/>
                  <a:pt x="0" y="1449859"/>
                </a:cubicBezTo>
                <a:lnTo>
                  <a:pt x="0" y="36041"/>
                </a:lnTo>
                <a:cubicBezTo>
                  <a:pt x="0" y="16136"/>
                  <a:pt x="16136" y="0"/>
                  <a:pt x="36041" y="0"/>
                </a:cubicBez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41" name="Shape 38"/>
          <p:cNvSpPr/>
          <p:nvPr/>
        </p:nvSpPr>
        <p:spPr>
          <a:xfrm>
            <a:off x="597983" y="398062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42" name="Text 39"/>
          <p:cNvSpPr/>
          <p:nvPr/>
        </p:nvSpPr>
        <p:spPr>
          <a:xfrm>
            <a:off x="969394" y="3942578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反思与不足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87429" y="4361627"/>
            <a:ext cx="36041" cy="762000"/>
          </a:xfrm>
          <a:custGeom>
            <a:avLst/>
            <a:gdLst/>
            <a:ahLst/>
            <a:cxnLst/>
            <a:rect l="l" t="t" r="r" b="b"/>
            <a:pathLst>
              <a:path w="36041" h="762000">
                <a:moveTo>
                  <a:pt x="0" y="0"/>
                </a:moveTo>
                <a:lnTo>
                  <a:pt x="36041" y="0"/>
                </a:lnTo>
                <a:lnTo>
                  <a:pt x="3604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44" name="Text 41"/>
          <p:cNvSpPr/>
          <p:nvPr/>
        </p:nvSpPr>
        <p:spPr>
          <a:xfrm>
            <a:off x="719684" y="4361627"/>
            <a:ext cx="3533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需求变更管理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19684" y="4666287"/>
            <a:ext cx="352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需求变更流程可更严谨，建立</a:t>
            </a:r>
            <a:r>
              <a:rPr lang="en-US" sz="1200" dirty="0">
                <a:solidFill>
                  <a:srgbClr val="DC3545"/>
                </a:solidFill>
                <a:highlight>
                  <a:srgbClr val="DC3545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正式的变更控制机制 </a:t>
            </a:r>
            <a:r>
              <a:rPr 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334599" y="4361627"/>
            <a:ext cx="36041" cy="762000"/>
          </a:xfrm>
          <a:custGeom>
            <a:avLst/>
            <a:gdLst/>
            <a:ahLst/>
            <a:cxnLst/>
            <a:rect l="l" t="t" r="r" b="b"/>
            <a:pathLst>
              <a:path w="36041" h="762000">
                <a:moveTo>
                  <a:pt x="0" y="0"/>
                </a:moveTo>
                <a:lnTo>
                  <a:pt x="36041" y="0"/>
                </a:lnTo>
                <a:lnTo>
                  <a:pt x="3604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47" name="Text 44"/>
          <p:cNvSpPr/>
          <p:nvPr/>
        </p:nvSpPr>
        <p:spPr>
          <a:xfrm>
            <a:off x="4466855" y="4361627"/>
            <a:ext cx="3533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安全与性能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476380" y="4660463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缺乏系统性的安全威胁建模，</a:t>
            </a:r>
            <a:r>
              <a:rPr lang="zh-CN" altLang="en-US" sz="1200" b="1" dirty="0">
                <a:solidFill>
                  <a:srgbClr val="DC354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防御性设计</a:t>
            </a:r>
            <a:r>
              <a:rPr lang="zh-CN" alt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考虑不周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081769" y="4361627"/>
            <a:ext cx="36041" cy="762000"/>
          </a:xfrm>
          <a:custGeom>
            <a:avLst/>
            <a:gdLst/>
            <a:ahLst/>
            <a:cxnLst/>
            <a:rect l="l" t="t" r="r" b="b"/>
            <a:pathLst>
              <a:path w="36041" h="762000">
                <a:moveTo>
                  <a:pt x="0" y="0"/>
                </a:moveTo>
                <a:lnTo>
                  <a:pt x="36041" y="0"/>
                </a:lnTo>
                <a:lnTo>
                  <a:pt x="3604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50" name="Text 47"/>
          <p:cNvSpPr/>
          <p:nvPr/>
        </p:nvSpPr>
        <p:spPr>
          <a:xfrm>
            <a:off x="8214025" y="4361627"/>
            <a:ext cx="3533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350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工程自动化流水线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214025" y="4666287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未建立</a:t>
            </a:r>
            <a:r>
              <a:rPr lang="en-US" altLang="zh-CN" sz="1200" b="1" dirty="0">
                <a:solidFill>
                  <a:srgbClr val="DC354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CI/CD</a:t>
            </a:r>
            <a:r>
              <a:rPr lang="zh-CN" altLang="en-US" sz="1200" b="1" dirty="0">
                <a:solidFill>
                  <a:srgbClr val="DC354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持续集成</a:t>
            </a:r>
            <a:r>
              <a:rPr lang="zh-CN" altLang="en-US" sz="12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部署流程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381000" y="5428120"/>
            <a:ext cx="11430000" cy="476250"/>
          </a:xfrm>
          <a:custGeom>
            <a:avLst/>
            <a:gdLst/>
            <a:ahLst/>
            <a:cxnLst/>
            <a:rect l="l" t="t" r="r" b="b"/>
            <a:pathLst>
              <a:path w="11430000" h="47625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361950"/>
                </a:lnTo>
                <a:cubicBezTo>
                  <a:pt x="11430000" y="425034"/>
                  <a:pt x="11378784" y="476250"/>
                  <a:pt x="11315700" y="476250"/>
                </a:cubicBezTo>
                <a:lnTo>
                  <a:pt x="114300" y="476250"/>
                </a:lnTo>
                <a:cubicBezTo>
                  <a:pt x="51216" y="476250"/>
                  <a:pt x="0" y="425034"/>
                  <a:pt x="0" y="3619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3A40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523811" y="558354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4" name="Text 51"/>
          <p:cNvSpPr/>
          <p:nvPr/>
        </p:nvSpPr>
        <p:spPr>
          <a:xfrm>
            <a:off x="742886" y="5542355"/>
            <a:ext cx="11029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这个项目不仅是作业，更是将理论转化为实践的宝贵机会。我们看到了不足，也明确了方向。</a:t>
            </a:r>
            <a:endParaRPr lang="en-US" sz="1600" dirty="0"/>
          </a:p>
        </p:txBody>
      </p:sp>
      <p:sp>
        <p:nvSpPr>
          <p:cNvPr id="55" name="Shape 0">
            <a:extLst>
              <a:ext uri="{FF2B5EF4-FFF2-40B4-BE49-F238E27FC236}">
                <a16:creationId xmlns:a16="http://schemas.microsoft.com/office/drawing/2014/main" id="{78CBCB46-ED7B-EAE9-2E50-EBD4423E9C84}"/>
              </a:ext>
            </a:extLst>
          </p:cNvPr>
          <p:cNvSpPr/>
          <p:nvPr/>
        </p:nvSpPr>
        <p:spPr>
          <a:xfrm>
            <a:off x="381000" y="457265"/>
            <a:ext cx="485775" cy="304800"/>
          </a:xfrm>
          <a:custGeom>
            <a:avLst/>
            <a:gdLst/>
            <a:ahLst/>
            <a:cxnLst/>
            <a:rect l="l" t="t" r="r" b="b"/>
            <a:pathLst>
              <a:path w="485775" h="304800">
                <a:moveTo>
                  <a:pt x="152400" y="0"/>
                </a:moveTo>
                <a:lnTo>
                  <a:pt x="333375" y="0"/>
                </a:lnTo>
                <a:cubicBezTo>
                  <a:pt x="417487" y="0"/>
                  <a:pt x="485775" y="68288"/>
                  <a:pt x="485775" y="152400"/>
                </a:cubicBezTo>
                <a:lnTo>
                  <a:pt x="485775" y="152400"/>
                </a:lnTo>
                <a:cubicBezTo>
                  <a:pt x="485775" y="236512"/>
                  <a:pt x="417487" y="304800"/>
                  <a:pt x="3333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EC035420-AA8A-2E6C-0BBC-1AA16E144499}"/>
              </a:ext>
            </a:extLst>
          </p:cNvPr>
          <p:cNvSpPr/>
          <p:nvPr/>
        </p:nvSpPr>
        <p:spPr>
          <a:xfrm>
            <a:off x="381000" y="457265"/>
            <a:ext cx="561975" cy="304800"/>
          </a:xfrm>
          <a:prstGeom prst="rect">
            <a:avLst/>
          </a:prstGeom>
          <a:noFill/>
          <a:ln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8625" y="362318"/>
            <a:ext cx="2391299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23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86954" y="869537"/>
            <a:ext cx="1014490" cy="36232"/>
          </a:xfrm>
          <a:custGeom>
            <a:avLst/>
            <a:gdLst/>
            <a:ahLst/>
            <a:cxnLst/>
            <a:rect l="l" t="t" r="r" b="b"/>
            <a:pathLst>
              <a:path w="1014490" h="36232">
                <a:moveTo>
                  <a:pt x="0" y="0"/>
                </a:moveTo>
                <a:lnTo>
                  <a:pt x="1014490" y="0"/>
                </a:lnTo>
                <a:lnTo>
                  <a:pt x="1014490" y="36232"/>
                </a:lnTo>
                <a:lnTo>
                  <a:pt x="0" y="36232"/>
                </a:lnTo>
                <a:lnTo>
                  <a:pt x="0" y="0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7" name="Shape 4"/>
          <p:cNvSpPr/>
          <p:nvPr/>
        </p:nvSpPr>
        <p:spPr>
          <a:xfrm>
            <a:off x="362318" y="1050616"/>
            <a:ext cx="11467364" cy="1775358"/>
          </a:xfrm>
          <a:custGeom>
            <a:avLst/>
            <a:gdLst/>
            <a:ahLst/>
            <a:cxnLst/>
            <a:rect l="l" t="t" r="r" b="b"/>
            <a:pathLst>
              <a:path w="11467364" h="1775358">
                <a:moveTo>
                  <a:pt x="108687" y="0"/>
                </a:moveTo>
                <a:lnTo>
                  <a:pt x="11358677" y="0"/>
                </a:lnTo>
                <a:cubicBezTo>
                  <a:pt x="11418703" y="0"/>
                  <a:pt x="11467364" y="48661"/>
                  <a:pt x="11467364" y="108687"/>
                </a:cubicBezTo>
                <a:lnTo>
                  <a:pt x="11467364" y="1666671"/>
                </a:lnTo>
                <a:cubicBezTo>
                  <a:pt x="11467364" y="1726697"/>
                  <a:pt x="11418703" y="1775358"/>
                  <a:pt x="11358677" y="1775358"/>
                </a:cubicBezTo>
                <a:lnTo>
                  <a:pt x="108687" y="1775358"/>
                </a:lnTo>
                <a:cubicBezTo>
                  <a:pt x="48661" y="1775358"/>
                  <a:pt x="0" y="1726697"/>
                  <a:pt x="0" y="1666671"/>
                </a:cubicBezTo>
                <a:lnTo>
                  <a:pt x="0" y="108687"/>
                </a:lnTo>
                <a:cubicBezTo>
                  <a:pt x="0" y="48701"/>
                  <a:pt x="48701" y="0"/>
                  <a:pt x="108687" y="0"/>
                </a:cubicBezTo>
                <a:close/>
              </a:path>
            </a:pathLst>
          </a:custGeom>
          <a:solidFill>
            <a:srgbClr val="343A40"/>
          </a:solidFill>
          <a:ln/>
          <a:effectLst>
            <a:outerShdw blurRad="135869" dist="9057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4388" y="1231704"/>
            <a:ext cx="217391" cy="217391"/>
          </a:xfrm>
          <a:custGeom>
            <a:avLst/>
            <a:gdLst/>
            <a:ahLst/>
            <a:cxnLst/>
            <a:rect l="l" t="t" r="r" b="b"/>
            <a:pathLst>
              <a:path w="217391" h="217391">
                <a:moveTo>
                  <a:pt x="142663" y="149456"/>
                </a:moveTo>
                <a:cubicBezTo>
                  <a:pt x="183933" y="149456"/>
                  <a:pt x="217391" y="115998"/>
                  <a:pt x="217391" y="74728"/>
                </a:cubicBezTo>
                <a:cubicBezTo>
                  <a:pt x="217391" y="33458"/>
                  <a:pt x="183933" y="0"/>
                  <a:pt x="142663" y="0"/>
                </a:cubicBezTo>
                <a:cubicBezTo>
                  <a:pt x="101392" y="0"/>
                  <a:pt x="67935" y="33458"/>
                  <a:pt x="67935" y="74728"/>
                </a:cubicBezTo>
                <a:cubicBezTo>
                  <a:pt x="67935" y="82668"/>
                  <a:pt x="69166" y="90353"/>
                  <a:pt x="71459" y="97529"/>
                </a:cubicBezTo>
                <a:lnTo>
                  <a:pt x="2972" y="166015"/>
                </a:lnTo>
                <a:cubicBezTo>
                  <a:pt x="1061" y="167926"/>
                  <a:pt x="0" y="170516"/>
                  <a:pt x="0" y="173233"/>
                </a:cubicBezTo>
                <a:lnTo>
                  <a:pt x="0" y="207201"/>
                </a:lnTo>
                <a:cubicBezTo>
                  <a:pt x="0" y="212848"/>
                  <a:pt x="4543" y="217391"/>
                  <a:pt x="10190" y="217391"/>
                </a:cubicBezTo>
                <a:lnTo>
                  <a:pt x="44158" y="217391"/>
                </a:lnTo>
                <a:cubicBezTo>
                  <a:pt x="49805" y="217391"/>
                  <a:pt x="54348" y="212848"/>
                  <a:pt x="54348" y="207201"/>
                </a:cubicBezTo>
                <a:lnTo>
                  <a:pt x="54348" y="190217"/>
                </a:lnTo>
                <a:lnTo>
                  <a:pt x="71331" y="190217"/>
                </a:lnTo>
                <a:cubicBezTo>
                  <a:pt x="76978" y="190217"/>
                  <a:pt x="81522" y="185674"/>
                  <a:pt x="81522" y="180027"/>
                </a:cubicBezTo>
                <a:lnTo>
                  <a:pt x="81522" y="163043"/>
                </a:lnTo>
                <a:lnTo>
                  <a:pt x="98505" y="163043"/>
                </a:lnTo>
                <a:cubicBezTo>
                  <a:pt x="101223" y="163043"/>
                  <a:pt x="103813" y="161982"/>
                  <a:pt x="105723" y="160071"/>
                </a:cubicBezTo>
                <a:lnTo>
                  <a:pt x="119862" y="145932"/>
                </a:lnTo>
                <a:cubicBezTo>
                  <a:pt x="127038" y="148225"/>
                  <a:pt x="134723" y="149456"/>
                  <a:pt x="142663" y="149456"/>
                </a:cubicBezTo>
                <a:close/>
                <a:moveTo>
                  <a:pt x="159646" y="40761"/>
                </a:moveTo>
                <a:cubicBezTo>
                  <a:pt x="169020" y="40761"/>
                  <a:pt x="176630" y="48371"/>
                  <a:pt x="176630" y="57744"/>
                </a:cubicBezTo>
                <a:cubicBezTo>
                  <a:pt x="176630" y="67118"/>
                  <a:pt x="169020" y="74728"/>
                  <a:pt x="159646" y="74728"/>
                </a:cubicBezTo>
                <a:cubicBezTo>
                  <a:pt x="150273" y="74728"/>
                  <a:pt x="142663" y="67118"/>
                  <a:pt x="142663" y="57744"/>
                </a:cubicBezTo>
                <a:cubicBezTo>
                  <a:pt x="142663" y="48371"/>
                  <a:pt x="150273" y="40761"/>
                  <a:pt x="159646" y="40761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9" name="Text 6"/>
          <p:cNvSpPr/>
          <p:nvPr/>
        </p:nvSpPr>
        <p:spPr>
          <a:xfrm>
            <a:off x="887587" y="1195517"/>
            <a:ext cx="1413040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项目成功关键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573589" y="1594022"/>
            <a:ext cx="579709" cy="579709"/>
          </a:xfrm>
          <a:custGeom>
            <a:avLst/>
            <a:gdLst/>
            <a:ahLst/>
            <a:cxnLst/>
            <a:rect l="l" t="t" r="r" b="b"/>
            <a:pathLst>
              <a:path w="579709" h="579709">
                <a:moveTo>
                  <a:pt x="289854" y="0"/>
                </a:moveTo>
                <a:lnTo>
                  <a:pt x="289854" y="0"/>
                </a:lnTo>
                <a:cubicBezTo>
                  <a:pt x="449937" y="0"/>
                  <a:pt x="579709" y="129772"/>
                  <a:pt x="579709" y="289854"/>
                </a:cubicBezTo>
                <a:lnTo>
                  <a:pt x="579709" y="289854"/>
                </a:lnTo>
                <a:cubicBezTo>
                  <a:pt x="579709" y="449937"/>
                  <a:pt x="449937" y="579709"/>
                  <a:pt x="289854" y="579709"/>
                </a:cubicBezTo>
                <a:lnTo>
                  <a:pt x="289854" y="579709"/>
                </a:lnTo>
                <a:cubicBezTo>
                  <a:pt x="129772" y="579709"/>
                  <a:pt x="0" y="449937"/>
                  <a:pt x="0" y="289854"/>
                </a:cubicBezTo>
                <a:lnTo>
                  <a:pt x="0" y="289854"/>
                </a:lnTo>
                <a:cubicBezTo>
                  <a:pt x="0" y="129772"/>
                  <a:pt x="129772" y="0"/>
                  <a:pt x="289854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1" name="Shape 8"/>
          <p:cNvSpPr/>
          <p:nvPr/>
        </p:nvSpPr>
        <p:spPr>
          <a:xfrm>
            <a:off x="1754687" y="1775102"/>
            <a:ext cx="217391" cy="217391"/>
          </a:xfrm>
          <a:custGeom>
            <a:avLst/>
            <a:gdLst/>
            <a:ahLst/>
            <a:cxnLst/>
            <a:rect l="l" t="t" r="r" b="b"/>
            <a:pathLst>
              <a:path w="217391" h="217391">
                <a:moveTo>
                  <a:pt x="190217" y="108695"/>
                </a:moveTo>
                <a:cubicBezTo>
                  <a:pt x="190217" y="63702"/>
                  <a:pt x="153688" y="27174"/>
                  <a:pt x="108695" y="27174"/>
                </a:cubicBezTo>
                <a:cubicBezTo>
                  <a:pt x="63702" y="27174"/>
                  <a:pt x="27174" y="63702"/>
                  <a:pt x="27174" y="108695"/>
                </a:cubicBezTo>
                <a:cubicBezTo>
                  <a:pt x="27174" y="153688"/>
                  <a:pt x="63702" y="190217"/>
                  <a:pt x="108695" y="190217"/>
                </a:cubicBezTo>
                <a:cubicBezTo>
                  <a:pt x="153688" y="190217"/>
                  <a:pt x="190217" y="153688"/>
                  <a:pt x="190217" y="108695"/>
                </a:cubicBezTo>
                <a:close/>
                <a:moveTo>
                  <a:pt x="0" y="108695"/>
                </a:moveTo>
                <a:cubicBezTo>
                  <a:pt x="0" y="48705"/>
                  <a:pt x="48705" y="0"/>
                  <a:pt x="108695" y="0"/>
                </a:cubicBezTo>
                <a:cubicBezTo>
                  <a:pt x="168686" y="0"/>
                  <a:pt x="217391" y="48705"/>
                  <a:pt x="217391" y="108695"/>
                </a:cubicBezTo>
                <a:cubicBezTo>
                  <a:pt x="217391" y="168686"/>
                  <a:pt x="168686" y="217391"/>
                  <a:pt x="108695" y="217391"/>
                </a:cubicBezTo>
                <a:cubicBezTo>
                  <a:pt x="48705" y="217391"/>
                  <a:pt x="0" y="168686"/>
                  <a:pt x="0" y="108695"/>
                </a:cubicBezTo>
                <a:close/>
                <a:moveTo>
                  <a:pt x="108695" y="142663"/>
                </a:moveTo>
                <a:cubicBezTo>
                  <a:pt x="127442" y="142663"/>
                  <a:pt x="142663" y="127442"/>
                  <a:pt x="142663" y="108695"/>
                </a:cubicBezTo>
                <a:cubicBezTo>
                  <a:pt x="142663" y="89948"/>
                  <a:pt x="127442" y="74728"/>
                  <a:pt x="108695" y="74728"/>
                </a:cubicBezTo>
                <a:cubicBezTo>
                  <a:pt x="89948" y="74728"/>
                  <a:pt x="74728" y="89948"/>
                  <a:pt x="74728" y="108695"/>
                </a:cubicBezTo>
                <a:cubicBezTo>
                  <a:pt x="74728" y="127442"/>
                  <a:pt x="89948" y="142663"/>
                  <a:pt x="108695" y="142663"/>
                </a:cubicBezTo>
                <a:close/>
                <a:moveTo>
                  <a:pt x="108695" y="47554"/>
                </a:moveTo>
                <a:cubicBezTo>
                  <a:pt x="142440" y="47554"/>
                  <a:pt x="169837" y="74951"/>
                  <a:pt x="169837" y="108695"/>
                </a:cubicBezTo>
                <a:cubicBezTo>
                  <a:pt x="169837" y="142440"/>
                  <a:pt x="142440" y="169837"/>
                  <a:pt x="108695" y="169837"/>
                </a:cubicBezTo>
                <a:cubicBezTo>
                  <a:pt x="74951" y="169837"/>
                  <a:pt x="47554" y="142440"/>
                  <a:pt x="47554" y="108695"/>
                </a:cubicBezTo>
                <a:cubicBezTo>
                  <a:pt x="47554" y="74951"/>
                  <a:pt x="74951" y="47554"/>
                  <a:pt x="108695" y="47554"/>
                </a:cubicBezTo>
                <a:close/>
                <a:moveTo>
                  <a:pt x="95108" y="108695"/>
                </a:moveTo>
                <a:cubicBezTo>
                  <a:pt x="95108" y="101197"/>
                  <a:pt x="101197" y="95108"/>
                  <a:pt x="108695" y="95108"/>
                </a:cubicBezTo>
                <a:cubicBezTo>
                  <a:pt x="116194" y="95108"/>
                  <a:pt x="122282" y="101197"/>
                  <a:pt x="122282" y="108695"/>
                </a:cubicBezTo>
                <a:cubicBezTo>
                  <a:pt x="122282" y="116194"/>
                  <a:pt x="116194" y="122282"/>
                  <a:pt x="108695" y="122282"/>
                </a:cubicBezTo>
                <a:cubicBezTo>
                  <a:pt x="101197" y="122282"/>
                  <a:pt x="95108" y="116194"/>
                  <a:pt x="95108" y="108695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2" name="Text 9"/>
          <p:cNvSpPr/>
          <p:nvPr/>
        </p:nvSpPr>
        <p:spPr>
          <a:xfrm>
            <a:off x="470983" y="2246133"/>
            <a:ext cx="2780790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1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明确的目标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5512" y="2499658"/>
            <a:ext cx="2771733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清晰的定位与价值主张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94635" y="1594022"/>
            <a:ext cx="579709" cy="579709"/>
          </a:xfrm>
          <a:custGeom>
            <a:avLst/>
            <a:gdLst/>
            <a:ahLst/>
            <a:cxnLst/>
            <a:rect l="l" t="t" r="r" b="b"/>
            <a:pathLst>
              <a:path w="579709" h="579709">
                <a:moveTo>
                  <a:pt x="289854" y="0"/>
                </a:moveTo>
                <a:lnTo>
                  <a:pt x="289854" y="0"/>
                </a:lnTo>
                <a:cubicBezTo>
                  <a:pt x="449937" y="0"/>
                  <a:pt x="579709" y="129772"/>
                  <a:pt x="579709" y="289854"/>
                </a:cubicBezTo>
                <a:lnTo>
                  <a:pt x="579709" y="289854"/>
                </a:lnTo>
                <a:cubicBezTo>
                  <a:pt x="579709" y="449937"/>
                  <a:pt x="449937" y="579709"/>
                  <a:pt x="289854" y="579709"/>
                </a:cubicBezTo>
                <a:lnTo>
                  <a:pt x="289854" y="579709"/>
                </a:lnTo>
                <a:cubicBezTo>
                  <a:pt x="129772" y="579709"/>
                  <a:pt x="0" y="449937"/>
                  <a:pt x="0" y="289854"/>
                </a:cubicBezTo>
                <a:lnTo>
                  <a:pt x="0" y="289854"/>
                </a:lnTo>
                <a:cubicBezTo>
                  <a:pt x="0" y="129772"/>
                  <a:pt x="129772" y="0"/>
                  <a:pt x="289854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5" name="Shape 12"/>
          <p:cNvSpPr/>
          <p:nvPr/>
        </p:nvSpPr>
        <p:spPr>
          <a:xfrm>
            <a:off x="4562146" y="1775102"/>
            <a:ext cx="244565" cy="217391"/>
          </a:xfrm>
          <a:custGeom>
            <a:avLst/>
            <a:gdLst/>
            <a:ahLst/>
            <a:cxnLst/>
            <a:rect l="l" t="t" r="r" b="b"/>
            <a:pathLst>
              <a:path w="244565" h="217391">
                <a:moveTo>
                  <a:pt x="95151" y="41228"/>
                </a:moveTo>
                <a:lnTo>
                  <a:pt x="95151" y="62288"/>
                </a:lnTo>
                <a:lnTo>
                  <a:pt x="95363" y="62500"/>
                </a:lnTo>
                <a:cubicBezTo>
                  <a:pt x="98123" y="27514"/>
                  <a:pt x="127377" y="0"/>
                  <a:pt x="163086" y="0"/>
                </a:cubicBezTo>
                <a:cubicBezTo>
                  <a:pt x="171620" y="0"/>
                  <a:pt x="179814" y="1571"/>
                  <a:pt x="187330" y="4458"/>
                </a:cubicBezTo>
                <a:cubicBezTo>
                  <a:pt x="191576" y="6072"/>
                  <a:pt x="192340" y="11464"/>
                  <a:pt x="189155" y="14691"/>
                </a:cubicBezTo>
                <a:lnTo>
                  <a:pt x="151494" y="52352"/>
                </a:lnTo>
                <a:cubicBezTo>
                  <a:pt x="150220" y="53626"/>
                  <a:pt x="149499" y="55367"/>
                  <a:pt x="149499" y="57150"/>
                </a:cubicBezTo>
                <a:lnTo>
                  <a:pt x="149499" y="74728"/>
                </a:lnTo>
                <a:cubicBezTo>
                  <a:pt x="149499" y="78464"/>
                  <a:pt x="152556" y="81522"/>
                  <a:pt x="156292" y="81522"/>
                </a:cubicBezTo>
                <a:lnTo>
                  <a:pt x="173870" y="81522"/>
                </a:lnTo>
                <a:cubicBezTo>
                  <a:pt x="175653" y="81522"/>
                  <a:pt x="177394" y="80800"/>
                  <a:pt x="178668" y="79526"/>
                </a:cubicBezTo>
                <a:lnTo>
                  <a:pt x="216329" y="41865"/>
                </a:lnTo>
                <a:cubicBezTo>
                  <a:pt x="219556" y="38638"/>
                  <a:pt x="224949" y="39445"/>
                  <a:pt x="226562" y="43690"/>
                </a:cubicBezTo>
                <a:cubicBezTo>
                  <a:pt x="229449" y="51206"/>
                  <a:pt x="231020" y="59400"/>
                  <a:pt x="231020" y="67935"/>
                </a:cubicBezTo>
                <a:cubicBezTo>
                  <a:pt x="231020" y="93665"/>
                  <a:pt x="216711" y="116083"/>
                  <a:pt x="195567" y="127590"/>
                </a:cubicBezTo>
                <a:lnTo>
                  <a:pt x="230171" y="162194"/>
                </a:lnTo>
                <a:cubicBezTo>
                  <a:pt x="238111" y="170134"/>
                  <a:pt x="238111" y="183041"/>
                  <a:pt x="230171" y="191024"/>
                </a:cubicBezTo>
                <a:lnTo>
                  <a:pt x="204653" y="216542"/>
                </a:lnTo>
                <a:cubicBezTo>
                  <a:pt x="196713" y="224481"/>
                  <a:pt x="183806" y="224481"/>
                  <a:pt x="175823" y="216542"/>
                </a:cubicBezTo>
                <a:lnTo>
                  <a:pt x="122325" y="163043"/>
                </a:lnTo>
                <a:cubicBezTo>
                  <a:pt x="110691" y="151409"/>
                  <a:pt x="108059" y="134213"/>
                  <a:pt x="114470" y="120032"/>
                </a:cubicBezTo>
                <a:lnTo>
                  <a:pt x="75959" y="81522"/>
                </a:lnTo>
                <a:lnTo>
                  <a:pt x="54900" y="81522"/>
                </a:lnTo>
                <a:cubicBezTo>
                  <a:pt x="50357" y="81522"/>
                  <a:pt x="46111" y="79271"/>
                  <a:pt x="43606" y="75492"/>
                </a:cubicBezTo>
                <a:lnTo>
                  <a:pt x="9935" y="25008"/>
                </a:lnTo>
                <a:cubicBezTo>
                  <a:pt x="8152" y="22334"/>
                  <a:pt x="8492" y="18724"/>
                  <a:pt x="10785" y="16432"/>
                </a:cubicBezTo>
                <a:lnTo>
                  <a:pt x="30061" y="-2845"/>
                </a:lnTo>
                <a:cubicBezTo>
                  <a:pt x="32354" y="-5138"/>
                  <a:pt x="35920" y="-5477"/>
                  <a:pt x="38638" y="-3694"/>
                </a:cubicBezTo>
                <a:lnTo>
                  <a:pt x="89122" y="29934"/>
                </a:lnTo>
                <a:cubicBezTo>
                  <a:pt x="92901" y="32439"/>
                  <a:pt x="95151" y="36685"/>
                  <a:pt x="95151" y="41228"/>
                </a:cubicBezTo>
                <a:close/>
                <a:moveTo>
                  <a:pt x="91542" y="125934"/>
                </a:moveTo>
                <a:cubicBezTo>
                  <a:pt x="88867" y="141644"/>
                  <a:pt x="92561" y="158245"/>
                  <a:pt x="102751" y="171535"/>
                </a:cubicBezTo>
                <a:lnTo>
                  <a:pt x="62415" y="211829"/>
                </a:lnTo>
                <a:cubicBezTo>
                  <a:pt x="50484" y="223760"/>
                  <a:pt x="31123" y="223760"/>
                  <a:pt x="19192" y="211829"/>
                </a:cubicBezTo>
                <a:cubicBezTo>
                  <a:pt x="7261" y="199898"/>
                  <a:pt x="7261" y="180536"/>
                  <a:pt x="19192" y="168605"/>
                </a:cubicBezTo>
                <a:lnTo>
                  <a:pt x="76681" y="111116"/>
                </a:lnTo>
                <a:lnTo>
                  <a:pt x="91542" y="125976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6" name="Text 13"/>
          <p:cNvSpPr/>
          <p:nvPr/>
        </p:nvSpPr>
        <p:spPr>
          <a:xfrm>
            <a:off x="3292029" y="2246133"/>
            <a:ext cx="2780790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1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合理的技术选型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96558" y="2499658"/>
            <a:ext cx="2771733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平衡性能与开发效率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15682" y="1594022"/>
            <a:ext cx="579709" cy="579709"/>
          </a:xfrm>
          <a:custGeom>
            <a:avLst/>
            <a:gdLst/>
            <a:ahLst/>
            <a:cxnLst/>
            <a:rect l="l" t="t" r="r" b="b"/>
            <a:pathLst>
              <a:path w="579709" h="579709">
                <a:moveTo>
                  <a:pt x="289854" y="0"/>
                </a:moveTo>
                <a:lnTo>
                  <a:pt x="289854" y="0"/>
                </a:lnTo>
                <a:cubicBezTo>
                  <a:pt x="449937" y="0"/>
                  <a:pt x="579709" y="129772"/>
                  <a:pt x="579709" y="289854"/>
                </a:cubicBezTo>
                <a:lnTo>
                  <a:pt x="579709" y="289854"/>
                </a:lnTo>
                <a:cubicBezTo>
                  <a:pt x="579709" y="449937"/>
                  <a:pt x="449937" y="579709"/>
                  <a:pt x="289854" y="579709"/>
                </a:cubicBezTo>
                <a:lnTo>
                  <a:pt x="289854" y="579709"/>
                </a:lnTo>
                <a:cubicBezTo>
                  <a:pt x="129772" y="579709"/>
                  <a:pt x="0" y="449937"/>
                  <a:pt x="0" y="289854"/>
                </a:cubicBezTo>
                <a:lnTo>
                  <a:pt x="0" y="289854"/>
                </a:lnTo>
                <a:cubicBezTo>
                  <a:pt x="0" y="129772"/>
                  <a:pt x="129772" y="0"/>
                  <a:pt x="289854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19" name="Shape 16"/>
          <p:cNvSpPr/>
          <p:nvPr/>
        </p:nvSpPr>
        <p:spPr>
          <a:xfrm>
            <a:off x="7423953" y="1775102"/>
            <a:ext cx="163043" cy="217391"/>
          </a:xfrm>
          <a:custGeom>
            <a:avLst/>
            <a:gdLst/>
            <a:ahLst/>
            <a:cxnLst/>
            <a:rect l="l" t="t" r="r" b="b"/>
            <a:pathLst>
              <a:path w="163043" h="217391">
                <a:moveTo>
                  <a:pt x="132218" y="13587"/>
                </a:moveTo>
                <a:lnTo>
                  <a:pt x="135869" y="13587"/>
                </a:lnTo>
                <a:cubicBezTo>
                  <a:pt x="150857" y="13587"/>
                  <a:pt x="163043" y="25773"/>
                  <a:pt x="163043" y="40761"/>
                </a:cubicBezTo>
                <a:lnTo>
                  <a:pt x="163043" y="190217"/>
                </a:lnTo>
                <a:cubicBezTo>
                  <a:pt x="163043" y="205205"/>
                  <a:pt x="150857" y="217391"/>
                  <a:pt x="135869" y="217391"/>
                </a:cubicBezTo>
                <a:lnTo>
                  <a:pt x="27174" y="217391"/>
                </a:lnTo>
                <a:cubicBezTo>
                  <a:pt x="12186" y="217391"/>
                  <a:pt x="0" y="205205"/>
                  <a:pt x="0" y="190217"/>
                </a:cubicBezTo>
                <a:lnTo>
                  <a:pt x="0" y="40761"/>
                </a:lnTo>
                <a:cubicBezTo>
                  <a:pt x="0" y="25773"/>
                  <a:pt x="12186" y="13587"/>
                  <a:pt x="27174" y="13587"/>
                </a:cubicBezTo>
                <a:lnTo>
                  <a:pt x="30825" y="13587"/>
                </a:lnTo>
                <a:cubicBezTo>
                  <a:pt x="35496" y="5477"/>
                  <a:pt x="44285" y="0"/>
                  <a:pt x="54348" y="0"/>
                </a:cubicBezTo>
                <a:lnTo>
                  <a:pt x="108695" y="0"/>
                </a:lnTo>
                <a:cubicBezTo>
                  <a:pt x="118758" y="0"/>
                  <a:pt x="127547" y="5477"/>
                  <a:pt x="132218" y="13587"/>
                </a:cubicBezTo>
                <a:close/>
                <a:moveTo>
                  <a:pt x="105299" y="47554"/>
                </a:moveTo>
                <a:cubicBezTo>
                  <a:pt x="110946" y="47554"/>
                  <a:pt x="115489" y="43011"/>
                  <a:pt x="115489" y="37364"/>
                </a:cubicBezTo>
                <a:cubicBezTo>
                  <a:pt x="115489" y="31717"/>
                  <a:pt x="110946" y="27174"/>
                  <a:pt x="105299" y="27174"/>
                </a:cubicBezTo>
                <a:lnTo>
                  <a:pt x="57744" y="27174"/>
                </a:lnTo>
                <a:cubicBezTo>
                  <a:pt x="52097" y="27174"/>
                  <a:pt x="47554" y="31717"/>
                  <a:pt x="47554" y="37364"/>
                </a:cubicBezTo>
                <a:cubicBezTo>
                  <a:pt x="47554" y="43011"/>
                  <a:pt x="52097" y="47554"/>
                  <a:pt x="57744" y="47554"/>
                </a:cubicBezTo>
                <a:lnTo>
                  <a:pt x="105299" y="47554"/>
                </a:lnTo>
                <a:close/>
                <a:moveTo>
                  <a:pt x="117357" y="110691"/>
                </a:moveTo>
                <a:cubicBezTo>
                  <a:pt x="120329" y="105936"/>
                  <a:pt x="118886" y="99652"/>
                  <a:pt x="114130" y="96637"/>
                </a:cubicBezTo>
                <a:cubicBezTo>
                  <a:pt x="109375" y="93622"/>
                  <a:pt x="103091" y="95108"/>
                  <a:pt x="100076" y="99864"/>
                </a:cubicBezTo>
                <a:lnTo>
                  <a:pt x="74006" y="141601"/>
                </a:lnTo>
                <a:lnTo>
                  <a:pt x="62542" y="126316"/>
                </a:lnTo>
                <a:cubicBezTo>
                  <a:pt x="59146" y="121815"/>
                  <a:pt x="52777" y="120881"/>
                  <a:pt x="48276" y="124278"/>
                </a:cubicBezTo>
                <a:cubicBezTo>
                  <a:pt x="43775" y="127675"/>
                  <a:pt x="42841" y="134043"/>
                  <a:pt x="46238" y="138544"/>
                </a:cubicBezTo>
                <a:lnTo>
                  <a:pt x="66618" y="165718"/>
                </a:lnTo>
                <a:cubicBezTo>
                  <a:pt x="68614" y="168393"/>
                  <a:pt x="71841" y="169921"/>
                  <a:pt x="75195" y="169794"/>
                </a:cubicBezTo>
                <a:cubicBezTo>
                  <a:pt x="78549" y="169667"/>
                  <a:pt x="81606" y="167883"/>
                  <a:pt x="83390" y="164996"/>
                </a:cubicBezTo>
                <a:lnTo>
                  <a:pt x="117357" y="110649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20" name="Text 17"/>
          <p:cNvSpPr/>
          <p:nvPr/>
        </p:nvSpPr>
        <p:spPr>
          <a:xfrm>
            <a:off x="6113075" y="2246133"/>
            <a:ext cx="2780790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1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严格的阶段评审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17604" y="2499658"/>
            <a:ext cx="2771733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确保每个阶段的质量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036728" y="1594022"/>
            <a:ext cx="579709" cy="579709"/>
          </a:xfrm>
          <a:custGeom>
            <a:avLst/>
            <a:gdLst/>
            <a:ahLst/>
            <a:cxnLst/>
            <a:rect l="l" t="t" r="r" b="b"/>
            <a:pathLst>
              <a:path w="579709" h="579709">
                <a:moveTo>
                  <a:pt x="289854" y="0"/>
                </a:moveTo>
                <a:lnTo>
                  <a:pt x="289854" y="0"/>
                </a:lnTo>
                <a:cubicBezTo>
                  <a:pt x="449937" y="0"/>
                  <a:pt x="579709" y="129772"/>
                  <a:pt x="579709" y="289854"/>
                </a:cubicBezTo>
                <a:lnTo>
                  <a:pt x="579709" y="289854"/>
                </a:lnTo>
                <a:cubicBezTo>
                  <a:pt x="579709" y="449937"/>
                  <a:pt x="449937" y="579709"/>
                  <a:pt x="289854" y="579709"/>
                </a:cubicBezTo>
                <a:lnTo>
                  <a:pt x="289854" y="579709"/>
                </a:lnTo>
                <a:cubicBezTo>
                  <a:pt x="129772" y="579709"/>
                  <a:pt x="0" y="449937"/>
                  <a:pt x="0" y="289854"/>
                </a:cubicBezTo>
                <a:lnTo>
                  <a:pt x="0" y="289854"/>
                </a:lnTo>
                <a:cubicBezTo>
                  <a:pt x="0" y="129772"/>
                  <a:pt x="129772" y="0"/>
                  <a:pt x="289854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3" name="Shape 20"/>
          <p:cNvSpPr/>
          <p:nvPr/>
        </p:nvSpPr>
        <p:spPr>
          <a:xfrm>
            <a:off x="10204239" y="1775102"/>
            <a:ext cx="244565" cy="217391"/>
          </a:xfrm>
          <a:custGeom>
            <a:avLst/>
            <a:gdLst/>
            <a:ahLst/>
            <a:cxnLst/>
            <a:rect l="l" t="t" r="r" b="b"/>
            <a:pathLst>
              <a:path w="244565" h="217391">
                <a:moveTo>
                  <a:pt x="114173" y="36175"/>
                </a:moveTo>
                <a:lnTo>
                  <a:pt x="64665" y="91202"/>
                </a:lnTo>
                <a:cubicBezTo>
                  <a:pt x="62712" y="93368"/>
                  <a:pt x="62797" y="96722"/>
                  <a:pt x="64878" y="98802"/>
                </a:cubicBezTo>
                <a:cubicBezTo>
                  <a:pt x="77828" y="111752"/>
                  <a:pt x="98845" y="111752"/>
                  <a:pt x="111795" y="98802"/>
                </a:cubicBezTo>
                <a:lnTo>
                  <a:pt x="125297" y="85300"/>
                </a:lnTo>
                <a:cubicBezTo>
                  <a:pt x="127080" y="83517"/>
                  <a:pt x="129331" y="82541"/>
                  <a:pt x="131623" y="82371"/>
                </a:cubicBezTo>
                <a:cubicBezTo>
                  <a:pt x="134511" y="82116"/>
                  <a:pt x="137483" y="83093"/>
                  <a:pt x="139691" y="85300"/>
                </a:cubicBezTo>
                <a:lnTo>
                  <a:pt x="214673" y="159646"/>
                </a:lnTo>
                <a:lnTo>
                  <a:pt x="244565" y="135869"/>
                </a:lnTo>
                <a:lnTo>
                  <a:pt x="244565" y="13587"/>
                </a:lnTo>
                <a:lnTo>
                  <a:pt x="197010" y="40761"/>
                </a:lnTo>
                <a:lnTo>
                  <a:pt x="186905" y="34010"/>
                </a:lnTo>
                <a:cubicBezTo>
                  <a:pt x="180197" y="29552"/>
                  <a:pt x="172342" y="27174"/>
                  <a:pt x="164274" y="27174"/>
                </a:cubicBezTo>
                <a:lnTo>
                  <a:pt x="134383" y="27174"/>
                </a:lnTo>
                <a:cubicBezTo>
                  <a:pt x="133916" y="27174"/>
                  <a:pt x="133407" y="27174"/>
                  <a:pt x="132940" y="27216"/>
                </a:cubicBezTo>
                <a:cubicBezTo>
                  <a:pt x="125764" y="27598"/>
                  <a:pt x="119013" y="30825"/>
                  <a:pt x="114173" y="36175"/>
                </a:cubicBezTo>
                <a:close/>
                <a:moveTo>
                  <a:pt x="49507" y="77573"/>
                </a:moveTo>
                <a:lnTo>
                  <a:pt x="94854" y="27174"/>
                </a:lnTo>
                <a:lnTo>
                  <a:pt x="78040" y="27174"/>
                </a:lnTo>
                <a:cubicBezTo>
                  <a:pt x="67213" y="27174"/>
                  <a:pt x="56853" y="31462"/>
                  <a:pt x="49210" y="39105"/>
                </a:cubicBezTo>
                <a:lnTo>
                  <a:pt x="47554" y="40761"/>
                </a:lnTo>
                <a:lnTo>
                  <a:pt x="0" y="13587"/>
                </a:lnTo>
                <a:lnTo>
                  <a:pt x="0" y="135869"/>
                </a:lnTo>
                <a:lnTo>
                  <a:pt x="66406" y="191193"/>
                </a:lnTo>
                <a:cubicBezTo>
                  <a:pt x="76172" y="199346"/>
                  <a:pt x="88485" y="203804"/>
                  <a:pt x="101180" y="203804"/>
                </a:cubicBezTo>
                <a:lnTo>
                  <a:pt x="107846" y="203804"/>
                </a:lnTo>
                <a:lnTo>
                  <a:pt x="104874" y="200832"/>
                </a:lnTo>
                <a:cubicBezTo>
                  <a:pt x="100883" y="196841"/>
                  <a:pt x="100883" y="190387"/>
                  <a:pt x="104874" y="186438"/>
                </a:cubicBezTo>
                <a:cubicBezTo>
                  <a:pt x="108865" y="182489"/>
                  <a:pt x="115319" y="182447"/>
                  <a:pt x="119268" y="186438"/>
                </a:cubicBezTo>
                <a:lnTo>
                  <a:pt x="136676" y="203846"/>
                </a:lnTo>
                <a:lnTo>
                  <a:pt x="140497" y="203846"/>
                </a:lnTo>
                <a:cubicBezTo>
                  <a:pt x="148607" y="203846"/>
                  <a:pt x="156547" y="202021"/>
                  <a:pt x="163765" y="198624"/>
                </a:cubicBezTo>
                <a:lnTo>
                  <a:pt x="152428" y="187245"/>
                </a:lnTo>
                <a:cubicBezTo>
                  <a:pt x="148437" y="183254"/>
                  <a:pt x="148437" y="176800"/>
                  <a:pt x="152428" y="172851"/>
                </a:cubicBezTo>
                <a:cubicBezTo>
                  <a:pt x="156419" y="168902"/>
                  <a:pt x="162873" y="168860"/>
                  <a:pt x="166822" y="172851"/>
                </a:cubicBezTo>
                <a:lnTo>
                  <a:pt x="180409" y="186438"/>
                </a:lnTo>
                <a:lnTo>
                  <a:pt x="187839" y="179008"/>
                </a:lnTo>
                <a:cubicBezTo>
                  <a:pt x="191618" y="175229"/>
                  <a:pt x="192722" y="169752"/>
                  <a:pt x="191066" y="164954"/>
                </a:cubicBezTo>
                <a:lnTo>
                  <a:pt x="132515" y="106870"/>
                </a:lnTo>
                <a:lnTo>
                  <a:pt x="126189" y="113196"/>
                </a:lnTo>
                <a:cubicBezTo>
                  <a:pt x="105256" y="134128"/>
                  <a:pt x="71374" y="134128"/>
                  <a:pt x="50441" y="113196"/>
                </a:cubicBezTo>
                <a:cubicBezTo>
                  <a:pt x="40676" y="103430"/>
                  <a:pt x="40294" y="87763"/>
                  <a:pt x="49507" y="7753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24" name="Text 21"/>
          <p:cNvSpPr/>
          <p:nvPr/>
        </p:nvSpPr>
        <p:spPr>
          <a:xfrm>
            <a:off x="8934121" y="2246133"/>
            <a:ext cx="2780790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1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紧密的团队协作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938650" y="2499658"/>
            <a:ext cx="2771733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高效沟通与互相支持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62318" y="2951488"/>
            <a:ext cx="5679334" cy="2951912"/>
          </a:xfrm>
          <a:custGeom>
            <a:avLst/>
            <a:gdLst/>
            <a:ahLst/>
            <a:cxnLst/>
            <a:rect l="l" t="t" r="r" b="b"/>
            <a:pathLst>
              <a:path w="5679334" h="2951912">
                <a:moveTo>
                  <a:pt x="34273" y="0"/>
                </a:moveTo>
                <a:lnTo>
                  <a:pt x="5645061" y="0"/>
                </a:lnTo>
                <a:cubicBezTo>
                  <a:pt x="5663990" y="0"/>
                  <a:pt x="5679334" y="15345"/>
                  <a:pt x="5679334" y="34273"/>
                </a:cubicBezTo>
                <a:lnTo>
                  <a:pt x="5679334" y="2843223"/>
                </a:lnTo>
                <a:cubicBezTo>
                  <a:pt x="5679334" y="2903250"/>
                  <a:pt x="5630672" y="2951912"/>
                  <a:pt x="5570645" y="2951912"/>
                </a:cubicBezTo>
                <a:lnTo>
                  <a:pt x="108689" y="2951912"/>
                </a:lnTo>
                <a:cubicBezTo>
                  <a:pt x="48662" y="2951912"/>
                  <a:pt x="0" y="2903250"/>
                  <a:pt x="0" y="2843223"/>
                </a:cubicBezTo>
                <a:lnTo>
                  <a:pt x="0" y="34273"/>
                </a:lnTo>
                <a:cubicBezTo>
                  <a:pt x="0" y="15357"/>
                  <a:pt x="15357" y="0"/>
                  <a:pt x="3427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869" dist="9057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2318" y="2951488"/>
            <a:ext cx="5679334" cy="34273"/>
          </a:xfrm>
          <a:custGeom>
            <a:avLst/>
            <a:gdLst/>
            <a:ahLst/>
            <a:cxnLst/>
            <a:rect l="l" t="t" r="r" b="b"/>
            <a:pathLst>
              <a:path w="5679334" h="34273">
                <a:moveTo>
                  <a:pt x="34273" y="0"/>
                </a:moveTo>
                <a:lnTo>
                  <a:pt x="5645061" y="0"/>
                </a:lnTo>
                <a:cubicBezTo>
                  <a:pt x="5663990" y="0"/>
                  <a:pt x="5679334" y="15345"/>
                  <a:pt x="5679334" y="34273"/>
                </a:cubicBezTo>
                <a:lnTo>
                  <a:pt x="5679334" y="34273"/>
                </a:lnTo>
                <a:lnTo>
                  <a:pt x="0" y="34273"/>
                </a:lnTo>
                <a:lnTo>
                  <a:pt x="0" y="34273"/>
                </a:lnTo>
                <a:cubicBezTo>
                  <a:pt x="0" y="15357"/>
                  <a:pt x="15357" y="0"/>
                  <a:pt x="34273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8" name="Shape 25"/>
          <p:cNvSpPr/>
          <p:nvPr/>
        </p:nvSpPr>
        <p:spPr>
          <a:xfrm>
            <a:off x="534388" y="3149707"/>
            <a:ext cx="217391" cy="217391"/>
          </a:xfrm>
          <a:custGeom>
            <a:avLst/>
            <a:gdLst/>
            <a:ahLst/>
            <a:cxnLst/>
            <a:rect l="l" t="t" r="r" b="b"/>
            <a:pathLst>
              <a:path w="217391" h="217391">
                <a:moveTo>
                  <a:pt x="54348" y="135869"/>
                </a:moveTo>
                <a:lnTo>
                  <a:pt x="10402" y="135869"/>
                </a:lnTo>
                <a:cubicBezTo>
                  <a:pt x="-170" y="135869"/>
                  <a:pt x="-6666" y="124363"/>
                  <a:pt x="-1231" y="115277"/>
                </a:cubicBezTo>
                <a:lnTo>
                  <a:pt x="21230" y="77828"/>
                </a:lnTo>
                <a:cubicBezTo>
                  <a:pt x="24924" y="71671"/>
                  <a:pt x="31547" y="67935"/>
                  <a:pt x="38723" y="67935"/>
                </a:cubicBezTo>
                <a:lnTo>
                  <a:pt x="79059" y="67935"/>
                </a:lnTo>
                <a:cubicBezTo>
                  <a:pt x="111370" y="13205"/>
                  <a:pt x="159561" y="10445"/>
                  <a:pt x="191788" y="15158"/>
                </a:cubicBezTo>
                <a:cubicBezTo>
                  <a:pt x="197223" y="15965"/>
                  <a:pt x="201469" y="20211"/>
                  <a:pt x="202233" y="25603"/>
                </a:cubicBezTo>
                <a:cubicBezTo>
                  <a:pt x="206946" y="57829"/>
                  <a:pt x="204186" y="106020"/>
                  <a:pt x="149456" y="138332"/>
                </a:cubicBezTo>
                <a:lnTo>
                  <a:pt x="149456" y="178668"/>
                </a:lnTo>
                <a:cubicBezTo>
                  <a:pt x="149456" y="185844"/>
                  <a:pt x="145720" y="192467"/>
                  <a:pt x="139563" y="196161"/>
                </a:cubicBezTo>
                <a:lnTo>
                  <a:pt x="102114" y="218622"/>
                </a:lnTo>
                <a:cubicBezTo>
                  <a:pt x="93070" y="224057"/>
                  <a:pt x="81522" y="217518"/>
                  <a:pt x="81522" y="206988"/>
                </a:cubicBezTo>
                <a:lnTo>
                  <a:pt x="81522" y="163043"/>
                </a:lnTo>
                <a:cubicBezTo>
                  <a:pt x="81522" y="148055"/>
                  <a:pt x="69336" y="135869"/>
                  <a:pt x="54348" y="135869"/>
                </a:cubicBezTo>
                <a:lnTo>
                  <a:pt x="54305" y="135869"/>
                </a:lnTo>
                <a:close/>
                <a:moveTo>
                  <a:pt x="169837" y="67935"/>
                </a:moveTo>
                <a:cubicBezTo>
                  <a:pt x="169837" y="56686"/>
                  <a:pt x="160704" y="47554"/>
                  <a:pt x="149456" y="47554"/>
                </a:cubicBezTo>
                <a:cubicBezTo>
                  <a:pt x="138208" y="47554"/>
                  <a:pt x="129076" y="56686"/>
                  <a:pt x="129076" y="67935"/>
                </a:cubicBezTo>
                <a:cubicBezTo>
                  <a:pt x="129076" y="79183"/>
                  <a:pt x="138208" y="88315"/>
                  <a:pt x="149456" y="88315"/>
                </a:cubicBezTo>
                <a:cubicBezTo>
                  <a:pt x="160704" y="88315"/>
                  <a:pt x="169837" y="79183"/>
                  <a:pt x="169837" y="67935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29" name="Text 26"/>
          <p:cNvSpPr/>
          <p:nvPr/>
        </p:nvSpPr>
        <p:spPr>
          <a:xfrm>
            <a:off x="887587" y="3113520"/>
            <a:ext cx="978259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07215" y="3512025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31" name="Text 28"/>
          <p:cNvSpPr/>
          <p:nvPr/>
        </p:nvSpPr>
        <p:spPr>
          <a:xfrm>
            <a:off x="475512" y="3512025"/>
            <a:ext cx="353260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9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05642" y="3512025"/>
            <a:ext cx="2690211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支持流式输出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05642" y="3801738"/>
            <a:ext cx="2681153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实现大模型的流式响应，</a:t>
            </a:r>
            <a:r>
              <a:rPr lang="en-US" sz="1141" dirty="0">
                <a:solidFill>
                  <a:srgbClr val="343A40"/>
                </a:solidFill>
                <a:highlight>
                  <a:srgbClr val="FFC10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提升用户体验 </a:t>
            </a:r>
            <a:r>
              <a:rPr lang="en-US" sz="114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07215" y="4091531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5" name="Text 32"/>
          <p:cNvSpPr/>
          <p:nvPr/>
        </p:nvSpPr>
        <p:spPr>
          <a:xfrm>
            <a:off x="475512" y="4091531"/>
            <a:ext cx="353260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05642" y="4091531"/>
            <a:ext cx="2545284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增加文件处理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05642" y="4381252"/>
            <a:ext cx="2536226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支持文档上传与处理，扩展应用场景。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07215" y="4671045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39" name="Text 36"/>
          <p:cNvSpPr/>
          <p:nvPr/>
        </p:nvSpPr>
        <p:spPr>
          <a:xfrm>
            <a:off x="475512" y="4671045"/>
            <a:ext cx="353260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05642" y="4671045"/>
            <a:ext cx="2581516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优化移动端体验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05642" y="4960758"/>
            <a:ext cx="2572458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dirty="0" err="1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</a:t>
            </a:r>
            <a:r>
              <a:rPr lang="zh-CN" altLang="en-US" sz="114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适应</a:t>
            </a:r>
            <a:r>
              <a:rPr lang="en-US" sz="1141" dirty="0" err="1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移动</a:t>
            </a:r>
            <a:r>
              <a:rPr lang="zh-CN" altLang="en-US" sz="114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端的界面</a:t>
            </a:r>
            <a:r>
              <a:rPr lang="en-US" sz="114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141" dirty="0" err="1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提供更好支持</a:t>
            </a:r>
            <a:r>
              <a:rPr lang="en-US" sz="114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07215" y="5250550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43" name="Text 40"/>
          <p:cNvSpPr/>
          <p:nvPr/>
        </p:nvSpPr>
        <p:spPr>
          <a:xfrm>
            <a:off x="475512" y="5250550"/>
            <a:ext cx="353260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05642" y="5250550"/>
            <a:ext cx="2690211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搭建CI/CD流水线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05642" y="5540272"/>
            <a:ext cx="2681153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实现自动化测试与部署，提升开发效率。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149307" y="2934351"/>
            <a:ext cx="5679334" cy="2971007"/>
          </a:xfrm>
          <a:custGeom>
            <a:avLst/>
            <a:gdLst/>
            <a:ahLst/>
            <a:cxnLst/>
            <a:rect l="l" t="t" r="r" b="b"/>
            <a:pathLst>
              <a:path w="5679334" h="2971007">
                <a:moveTo>
                  <a:pt x="108709" y="0"/>
                </a:moveTo>
                <a:lnTo>
                  <a:pt x="5570625" y="0"/>
                </a:lnTo>
                <a:cubicBezTo>
                  <a:pt x="5630664" y="0"/>
                  <a:pt x="5679334" y="48671"/>
                  <a:pt x="5679334" y="108709"/>
                </a:cubicBezTo>
                <a:lnTo>
                  <a:pt x="5679334" y="2862298"/>
                </a:lnTo>
                <a:cubicBezTo>
                  <a:pt x="5679334" y="2922296"/>
                  <a:pt x="5630623" y="2971007"/>
                  <a:pt x="5570625" y="2971007"/>
                </a:cubicBezTo>
                <a:lnTo>
                  <a:pt x="108709" y="2971007"/>
                </a:lnTo>
                <a:cubicBezTo>
                  <a:pt x="48671" y="2971007"/>
                  <a:pt x="0" y="2922337"/>
                  <a:pt x="0" y="2862298"/>
                </a:cubicBezTo>
                <a:lnTo>
                  <a:pt x="0" y="108709"/>
                </a:lnTo>
                <a:cubicBezTo>
                  <a:pt x="0" y="48711"/>
                  <a:pt x="48711" y="0"/>
                  <a:pt x="108709" y="0"/>
                </a:cubicBezTo>
                <a:close/>
              </a:path>
            </a:pathLst>
          </a:custGeom>
          <a:solidFill>
            <a:srgbClr val="0056B3"/>
          </a:solidFill>
          <a:ln/>
          <a:effectLst>
            <a:outerShdw blurRad="135869" dist="9057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321377" y="3803728"/>
            <a:ext cx="217391" cy="217391"/>
          </a:xfrm>
          <a:custGeom>
            <a:avLst/>
            <a:gdLst/>
            <a:ahLst/>
            <a:cxnLst/>
            <a:rect l="l" t="t" r="r" b="b"/>
            <a:pathLst>
              <a:path w="217391" h="217391">
                <a:moveTo>
                  <a:pt x="102327" y="36982"/>
                </a:moveTo>
                <a:lnTo>
                  <a:pt x="108695" y="45771"/>
                </a:lnTo>
                <a:lnTo>
                  <a:pt x="115064" y="36982"/>
                </a:lnTo>
                <a:cubicBezTo>
                  <a:pt x="125679" y="22291"/>
                  <a:pt x="142748" y="13587"/>
                  <a:pt x="160878" y="13587"/>
                </a:cubicBezTo>
                <a:cubicBezTo>
                  <a:pt x="192085" y="13587"/>
                  <a:pt x="217391" y="38893"/>
                  <a:pt x="217391" y="70100"/>
                </a:cubicBezTo>
                <a:lnTo>
                  <a:pt x="217391" y="71204"/>
                </a:lnTo>
                <a:cubicBezTo>
                  <a:pt x="217391" y="118843"/>
                  <a:pt x="157990" y="174167"/>
                  <a:pt x="126995" y="197817"/>
                </a:cubicBezTo>
                <a:cubicBezTo>
                  <a:pt x="121730" y="201808"/>
                  <a:pt x="115277" y="203804"/>
                  <a:pt x="108695" y="203804"/>
                </a:cubicBezTo>
                <a:cubicBezTo>
                  <a:pt x="102114" y="203804"/>
                  <a:pt x="95618" y="201851"/>
                  <a:pt x="90396" y="197817"/>
                </a:cubicBezTo>
                <a:cubicBezTo>
                  <a:pt x="59400" y="174167"/>
                  <a:pt x="0" y="118843"/>
                  <a:pt x="0" y="71204"/>
                </a:cubicBezTo>
                <a:lnTo>
                  <a:pt x="0" y="70100"/>
                </a:lnTo>
                <a:cubicBezTo>
                  <a:pt x="0" y="38893"/>
                  <a:pt x="25306" y="13587"/>
                  <a:pt x="56513" y="13587"/>
                </a:cubicBezTo>
                <a:cubicBezTo>
                  <a:pt x="74643" y="13587"/>
                  <a:pt x="91712" y="22291"/>
                  <a:pt x="102327" y="36982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48" name="Text 45"/>
          <p:cNvSpPr/>
          <p:nvPr/>
        </p:nvSpPr>
        <p:spPr>
          <a:xfrm>
            <a:off x="6674576" y="3767541"/>
            <a:ext cx="543477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致谢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11340" y="4166046"/>
            <a:ext cx="34273" cy="525361"/>
          </a:xfrm>
          <a:custGeom>
            <a:avLst/>
            <a:gdLst/>
            <a:ahLst/>
            <a:cxnLst/>
            <a:rect l="l" t="t" r="r" b="b"/>
            <a:pathLst>
              <a:path w="34273" h="525361">
                <a:moveTo>
                  <a:pt x="0" y="0"/>
                </a:moveTo>
                <a:lnTo>
                  <a:pt x="34273" y="0"/>
                </a:lnTo>
                <a:lnTo>
                  <a:pt x="34273" y="525361"/>
                </a:lnTo>
                <a:lnTo>
                  <a:pt x="0" y="525361"/>
                </a:lnTo>
                <a:lnTo>
                  <a:pt x="0" y="0"/>
                </a:ln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0" name="Text 47"/>
          <p:cNvSpPr/>
          <p:nvPr/>
        </p:nvSpPr>
        <p:spPr>
          <a:xfrm>
            <a:off x="6473373" y="4166046"/>
            <a:ext cx="5289842" cy="525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</a:t>
            </a:r>
            <a:r>
              <a:rPr lang="en-US" sz="1284" b="1" dirty="0">
                <a:solidFill>
                  <a:srgbClr val="FFC1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《软件工程》课程</a:t>
            </a:r>
            <a:r>
              <a:rPr lang="en-US" sz="1284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提供的宝贵实践机会，让我们将理论知识应用于真实项目。</a:t>
            </a:r>
            <a:endParaRPr lang="en-US" sz="1600" dirty="0"/>
          </a:p>
        </p:txBody>
      </p:sp>
      <p:sp>
        <p:nvSpPr>
          <p:cNvPr id="57" name="Shape 0">
            <a:extLst>
              <a:ext uri="{FF2B5EF4-FFF2-40B4-BE49-F238E27FC236}">
                <a16:creationId xmlns:a16="http://schemas.microsoft.com/office/drawing/2014/main" id="{5E411DE6-BE58-E4B0-8A51-A6D5B59CF864}"/>
              </a:ext>
            </a:extLst>
          </p:cNvPr>
          <p:cNvSpPr/>
          <p:nvPr/>
        </p:nvSpPr>
        <p:spPr>
          <a:xfrm>
            <a:off x="371707" y="446108"/>
            <a:ext cx="464634" cy="297366"/>
          </a:xfrm>
          <a:custGeom>
            <a:avLst/>
            <a:gdLst/>
            <a:ahLst/>
            <a:cxnLst/>
            <a:rect l="l" t="t" r="r" b="b"/>
            <a:pathLst>
              <a:path w="464634" h="297366">
                <a:moveTo>
                  <a:pt x="148683" y="0"/>
                </a:moveTo>
                <a:lnTo>
                  <a:pt x="315951" y="0"/>
                </a:lnTo>
                <a:cubicBezTo>
                  <a:pt x="398067" y="0"/>
                  <a:pt x="464634" y="66568"/>
                  <a:pt x="464634" y="148683"/>
                </a:cubicBezTo>
                <a:lnTo>
                  <a:pt x="464634" y="148683"/>
                </a:lnTo>
                <a:cubicBezTo>
                  <a:pt x="464634" y="230798"/>
                  <a:pt x="398067" y="297366"/>
                  <a:pt x="315951" y="297366"/>
                </a:cubicBezTo>
                <a:lnTo>
                  <a:pt x="148683" y="297366"/>
                </a:lnTo>
                <a:cubicBezTo>
                  <a:pt x="66568" y="297366"/>
                  <a:pt x="0" y="230798"/>
                  <a:pt x="0" y="148683"/>
                </a:cubicBezTo>
                <a:lnTo>
                  <a:pt x="0" y="148683"/>
                </a:lnTo>
                <a:cubicBezTo>
                  <a:pt x="0" y="66568"/>
                  <a:pt x="66568" y="0"/>
                  <a:pt x="148683" y="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11E1B80B-8202-A104-DA12-70F7E225AA3B}"/>
              </a:ext>
            </a:extLst>
          </p:cNvPr>
          <p:cNvSpPr/>
          <p:nvPr/>
        </p:nvSpPr>
        <p:spPr>
          <a:xfrm>
            <a:off x="371707" y="446108"/>
            <a:ext cx="538976" cy="297366"/>
          </a:xfrm>
          <a:prstGeom prst="rect">
            <a:avLst/>
          </a:prstGeom>
          <a:noFill/>
          <a:ln/>
        </p:spPr>
        <p:txBody>
          <a:bodyPr wrap="square" lIns="148683" tIns="37171" rIns="148683" bIns="37171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D928D74D-FF7C-4532-137F-1D09F75FA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2" name="Shape 18">
            <a:extLst>
              <a:ext uri="{FF2B5EF4-FFF2-40B4-BE49-F238E27FC236}">
                <a16:creationId xmlns:a16="http://schemas.microsoft.com/office/drawing/2014/main" id="{FFDAFEF0-A7E7-F71D-E370-B50929FDB8FE}"/>
              </a:ext>
            </a:extLst>
          </p:cNvPr>
          <p:cNvSpPr/>
          <p:nvPr/>
        </p:nvSpPr>
        <p:spPr>
          <a:xfrm>
            <a:off x="995142" y="1986822"/>
            <a:ext cx="4539408" cy="3323964"/>
          </a:xfrm>
          <a:custGeom>
            <a:avLst/>
            <a:gdLst/>
            <a:ahLst/>
            <a:cxnLst/>
            <a:rect l="l" t="t" r="r" b="b"/>
            <a:pathLst>
              <a:path w="3707780" h="1281386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1169879"/>
                </a:lnTo>
                <a:cubicBezTo>
                  <a:pt x="3707780" y="1231463"/>
                  <a:pt x="3657857" y="1281386"/>
                  <a:pt x="3596274" y="1281386"/>
                </a:cubicBezTo>
                <a:lnTo>
                  <a:pt x="111506" y="1281386"/>
                </a:lnTo>
                <a:cubicBezTo>
                  <a:pt x="49923" y="1281386"/>
                  <a:pt x="0" y="1231463"/>
                  <a:pt x="0" y="1169879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9390" dist="929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9">
            <a:extLst>
              <a:ext uri="{FF2B5EF4-FFF2-40B4-BE49-F238E27FC236}">
                <a16:creationId xmlns:a16="http://schemas.microsoft.com/office/drawing/2014/main" id="{6F281BA7-52AF-12E4-5B15-6BD137306616}"/>
              </a:ext>
            </a:extLst>
          </p:cNvPr>
          <p:cNvSpPr/>
          <p:nvPr/>
        </p:nvSpPr>
        <p:spPr>
          <a:xfrm>
            <a:off x="995142" y="1986823"/>
            <a:ext cx="4539408" cy="53323"/>
          </a:xfrm>
          <a:custGeom>
            <a:avLst/>
            <a:gdLst/>
            <a:ahLst/>
            <a:cxnLst/>
            <a:rect l="l" t="t" r="r" b="b"/>
            <a:pathLst>
              <a:path w="3707780" h="35161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" name="Shape 34">
            <a:extLst>
              <a:ext uri="{FF2B5EF4-FFF2-40B4-BE49-F238E27FC236}">
                <a16:creationId xmlns:a16="http://schemas.microsoft.com/office/drawing/2014/main" id="{607450B4-A4C3-7773-812B-CDC58BF33941}"/>
              </a:ext>
            </a:extLst>
          </p:cNvPr>
          <p:cNvSpPr/>
          <p:nvPr/>
        </p:nvSpPr>
        <p:spPr>
          <a:xfrm>
            <a:off x="6367529" y="1986823"/>
            <a:ext cx="4991491" cy="3323963"/>
          </a:xfrm>
          <a:custGeom>
            <a:avLst/>
            <a:gdLst/>
            <a:ahLst/>
            <a:cxnLst/>
            <a:rect l="l" t="t" r="r" b="b"/>
            <a:pathLst>
              <a:path w="3707780" h="1281386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1169879"/>
                </a:lnTo>
                <a:cubicBezTo>
                  <a:pt x="3707780" y="1231463"/>
                  <a:pt x="3657857" y="1281386"/>
                  <a:pt x="3596274" y="1281386"/>
                </a:cubicBezTo>
                <a:lnTo>
                  <a:pt x="111506" y="1281386"/>
                </a:lnTo>
                <a:cubicBezTo>
                  <a:pt x="49923" y="1281386"/>
                  <a:pt x="0" y="1231463"/>
                  <a:pt x="0" y="1169879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9390" dist="929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25981BEA-DE1F-5103-E5C1-891709E58AF1}"/>
              </a:ext>
            </a:extLst>
          </p:cNvPr>
          <p:cNvSpPr/>
          <p:nvPr/>
        </p:nvSpPr>
        <p:spPr>
          <a:xfrm>
            <a:off x="6367529" y="1986824"/>
            <a:ext cx="4991491" cy="52555"/>
          </a:xfrm>
          <a:custGeom>
            <a:avLst/>
            <a:gdLst/>
            <a:ahLst/>
            <a:cxnLst/>
            <a:rect l="l" t="t" r="r" b="b"/>
            <a:pathLst>
              <a:path w="3707780" h="35161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4D47A8D-5B54-E356-DADE-C657EBE9284C}"/>
              </a:ext>
            </a:extLst>
          </p:cNvPr>
          <p:cNvSpPr/>
          <p:nvPr/>
        </p:nvSpPr>
        <p:spPr>
          <a:xfrm>
            <a:off x="4900350" y="797100"/>
            <a:ext cx="2391299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423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本阶段分工</a:t>
            </a:r>
            <a:endParaRPr lang="en-US" sz="16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E8E13778-5369-936C-C341-907E7AD636B1}"/>
              </a:ext>
            </a:extLst>
          </p:cNvPr>
          <p:cNvSpPr/>
          <p:nvPr/>
        </p:nvSpPr>
        <p:spPr>
          <a:xfrm>
            <a:off x="2912615" y="2731790"/>
            <a:ext cx="107550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黄飞扬</a:t>
            </a:r>
            <a:endParaRPr lang="en-US" sz="1600" dirty="0"/>
          </a:p>
        </p:txBody>
      </p:sp>
      <p:sp>
        <p:nvSpPr>
          <p:cNvPr id="11" name="Text 24">
            <a:extLst>
              <a:ext uri="{FF2B5EF4-FFF2-40B4-BE49-F238E27FC236}">
                <a16:creationId xmlns:a16="http://schemas.microsoft.com/office/drawing/2014/main" id="{14C819DC-030B-1A15-63F0-48750F933EDB}"/>
              </a:ext>
            </a:extLst>
          </p:cNvPr>
          <p:cNvSpPr/>
          <p:nvPr/>
        </p:nvSpPr>
        <p:spPr>
          <a:xfrm>
            <a:off x="8665605" y="2659295"/>
            <a:ext cx="102728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谷强</a:t>
            </a:r>
            <a:endParaRPr lang="en-US" sz="16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7EA36FA-5FAF-D44D-ED8C-0A9D93360F93}"/>
              </a:ext>
            </a:extLst>
          </p:cNvPr>
          <p:cNvSpPr/>
          <p:nvPr/>
        </p:nvSpPr>
        <p:spPr>
          <a:xfrm>
            <a:off x="2983140" y="2236145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211575" y="0"/>
                </a:moveTo>
                <a:lnTo>
                  <a:pt x="211575" y="0"/>
                </a:lnTo>
                <a:cubicBezTo>
                  <a:pt x="328346" y="0"/>
                  <a:pt x="423150" y="94804"/>
                  <a:pt x="423150" y="211575"/>
                </a:cubicBezTo>
                <a:lnTo>
                  <a:pt x="423150" y="211575"/>
                </a:lnTo>
                <a:cubicBezTo>
                  <a:pt x="423150" y="328346"/>
                  <a:pt x="328346" y="423150"/>
                  <a:pt x="211575" y="423150"/>
                </a:cubicBezTo>
                <a:lnTo>
                  <a:pt x="211575" y="423150"/>
                </a:lnTo>
                <a:cubicBezTo>
                  <a:pt x="94804" y="423150"/>
                  <a:pt x="0" y="328346"/>
                  <a:pt x="0" y="211575"/>
                </a:cubicBezTo>
                <a:lnTo>
                  <a:pt x="0" y="211575"/>
                </a:lnTo>
                <a:cubicBezTo>
                  <a:pt x="0" y="94804"/>
                  <a:pt x="94804" y="0"/>
                  <a:pt x="211575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F12CFC5-060B-7AE9-B2AA-886A270A75D6}"/>
              </a:ext>
            </a:extLst>
          </p:cNvPr>
          <p:cNvSpPr/>
          <p:nvPr/>
        </p:nvSpPr>
        <p:spPr>
          <a:xfrm>
            <a:off x="2939062" y="2236145"/>
            <a:ext cx="511306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8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黄</a:t>
            </a:r>
            <a:endParaRPr lang="en-US" sz="1600" dirty="0"/>
          </a:p>
        </p:txBody>
      </p:sp>
      <p:sp>
        <p:nvSpPr>
          <p:cNvPr id="14" name="Shape 22">
            <a:extLst>
              <a:ext uri="{FF2B5EF4-FFF2-40B4-BE49-F238E27FC236}">
                <a16:creationId xmlns:a16="http://schemas.microsoft.com/office/drawing/2014/main" id="{B5CB7E62-9C7A-F155-0F6A-C591CE1BADB9}"/>
              </a:ext>
            </a:extLst>
          </p:cNvPr>
          <p:cNvSpPr/>
          <p:nvPr/>
        </p:nvSpPr>
        <p:spPr>
          <a:xfrm>
            <a:off x="8617385" y="2178261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211575" y="0"/>
                </a:moveTo>
                <a:lnTo>
                  <a:pt x="211575" y="0"/>
                </a:lnTo>
                <a:cubicBezTo>
                  <a:pt x="328346" y="0"/>
                  <a:pt x="423150" y="94804"/>
                  <a:pt x="423150" y="211575"/>
                </a:cubicBezTo>
                <a:lnTo>
                  <a:pt x="423150" y="211575"/>
                </a:lnTo>
                <a:cubicBezTo>
                  <a:pt x="423150" y="328346"/>
                  <a:pt x="328346" y="423150"/>
                  <a:pt x="211575" y="423150"/>
                </a:cubicBezTo>
                <a:lnTo>
                  <a:pt x="211575" y="423150"/>
                </a:lnTo>
                <a:cubicBezTo>
                  <a:pt x="94804" y="423150"/>
                  <a:pt x="0" y="328346"/>
                  <a:pt x="0" y="211575"/>
                </a:cubicBezTo>
                <a:lnTo>
                  <a:pt x="0" y="211575"/>
                </a:lnTo>
                <a:cubicBezTo>
                  <a:pt x="0" y="94804"/>
                  <a:pt x="94804" y="0"/>
                  <a:pt x="211575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5" name="Text 23">
            <a:extLst>
              <a:ext uri="{FF2B5EF4-FFF2-40B4-BE49-F238E27FC236}">
                <a16:creationId xmlns:a16="http://schemas.microsoft.com/office/drawing/2014/main" id="{EA248850-612D-0156-837E-A8EBADFA70A7}"/>
              </a:ext>
            </a:extLst>
          </p:cNvPr>
          <p:cNvSpPr/>
          <p:nvPr/>
        </p:nvSpPr>
        <p:spPr>
          <a:xfrm>
            <a:off x="8573307" y="2178261"/>
            <a:ext cx="511306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8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谷</a:t>
            </a:r>
            <a:endParaRPr lang="en-US" sz="16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E85041C-E6AC-55BC-B1FF-23C29713A07E}"/>
              </a:ext>
            </a:extLst>
          </p:cNvPr>
          <p:cNvSpPr/>
          <p:nvPr/>
        </p:nvSpPr>
        <p:spPr>
          <a:xfrm>
            <a:off x="2771595" y="3165751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BEC34AC-0B48-70B8-0A6F-CA61F8D0DF05}"/>
              </a:ext>
            </a:extLst>
          </p:cNvPr>
          <p:cNvSpPr/>
          <p:nvPr/>
        </p:nvSpPr>
        <p:spPr>
          <a:xfrm>
            <a:off x="2912615" y="3112887"/>
            <a:ext cx="80222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甘特图更新</a:t>
            </a:r>
            <a:endParaRPr lang="en-US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747C4DBF-A2AF-9E2A-2442-5C9ED97E56B4}"/>
              </a:ext>
            </a:extLst>
          </p:cNvPr>
          <p:cNvSpPr/>
          <p:nvPr/>
        </p:nvSpPr>
        <p:spPr>
          <a:xfrm>
            <a:off x="2771595" y="3476323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26B90763-4ECE-EB6B-F0C0-F2E0E5FF4765}"/>
              </a:ext>
            </a:extLst>
          </p:cNvPr>
          <p:cNvSpPr/>
          <p:nvPr/>
        </p:nvSpPr>
        <p:spPr>
          <a:xfrm>
            <a:off x="2912615" y="3423459"/>
            <a:ext cx="80222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补全会议纪要</a:t>
            </a:r>
            <a:endParaRPr lang="en-US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71C3DF41-6648-EBE2-AF3A-87A70146B944}"/>
              </a:ext>
            </a:extLst>
          </p:cNvPr>
          <p:cNvSpPr/>
          <p:nvPr/>
        </p:nvSpPr>
        <p:spPr>
          <a:xfrm>
            <a:off x="2771595" y="3785073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8D60808D-C35F-7578-0321-23B14E0C8703}"/>
              </a:ext>
            </a:extLst>
          </p:cNvPr>
          <p:cNvSpPr/>
          <p:nvPr/>
        </p:nvSpPr>
        <p:spPr>
          <a:xfrm>
            <a:off x="2912615" y="3732209"/>
            <a:ext cx="80222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制作总结报告</a:t>
            </a:r>
            <a:endParaRPr lang="en-US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82F3EE15-F8D3-9790-5780-41BC762C3DC8}"/>
              </a:ext>
            </a:extLst>
          </p:cNvPr>
          <p:cNvSpPr/>
          <p:nvPr/>
        </p:nvSpPr>
        <p:spPr>
          <a:xfrm>
            <a:off x="2771595" y="4089299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B1E6EEB5-8E4C-40BD-BBA9-F3FC38FF9675}"/>
              </a:ext>
            </a:extLst>
          </p:cNvPr>
          <p:cNvSpPr/>
          <p:nvPr/>
        </p:nvSpPr>
        <p:spPr>
          <a:xfrm>
            <a:off x="2912615" y="4036435"/>
            <a:ext cx="80222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审查总结</a:t>
            </a:r>
            <a:r>
              <a:rPr lang="en-US" altLang="zh-CN" sz="1000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ppt</a:t>
            </a:r>
            <a:endParaRPr lang="en-US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F6DDB658-1FBD-4D25-7A58-B295CF47510E}"/>
              </a:ext>
            </a:extLst>
          </p:cNvPr>
          <p:cNvSpPr/>
          <p:nvPr/>
        </p:nvSpPr>
        <p:spPr>
          <a:xfrm>
            <a:off x="8391654" y="3170970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B5742B66-92A2-7C47-631E-0D00A4E9245B}"/>
              </a:ext>
            </a:extLst>
          </p:cNvPr>
          <p:cNvSpPr/>
          <p:nvPr/>
        </p:nvSpPr>
        <p:spPr>
          <a:xfrm>
            <a:off x="8532674" y="3118106"/>
            <a:ext cx="80222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制作总结报告</a:t>
            </a:r>
            <a:endParaRPr lang="en-US" sz="16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7AD48C2A-47E5-5687-384B-C2950C9BF6B8}"/>
              </a:ext>
            </a:extLst>
          </p:cNvPr>
          <p:cNvSpPr/>
          <p:nvPr/>
        </p:nvSpPr>
        <p:spPr>
          <a:xfrm>
            <a:off x="8391653" y="3476323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D44F90DE-61EB-29DE-42C5-9E9B7141C438}"/>
              </a:ext>
            </a:extLst>
          </p:cNvPr>
          <p:cNvSpPr/>
          <p:nvPr/>
        </p:nvSpPr>
        <p:spPr>
          <a:xfrm>
            <a:off x="8532673" y="3423459"/>
            <a:ext cx="80222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制作总结</a:t>
            </a:r>
            <a:r>
              <a:rPr lang="en-US" altLang="zh-CN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ppt</a:t>
            </a:r>
            <a:endParaRPr lang="en-US" sz="16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535A67B0-DF2F-5592-9939-E612E731068A}"/>
              </a:ext>
            </a:extLst>
          </p:cNvPr>
          <p:cNvSpPr/>
          <p:nvPr/>
        </p:nvSpPr>
        <p:spPr>
          <a:xfrm>
            <a:off x="8391654" y="3781676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A521EC20-01E1-644F-9B70-46D2D1FECF29}"/>
              </a:ext>
            </a:extLst>
          </p:cNvPr>
          <p:cNvSpPr/>
          <p:nvPr/>
        </p:nvSpPr>
        <p:spPr>
          <a:xfrm>
            <a:off x="8532674" y="3728812"/>
            <a:ext cx="80222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更新项目计划</a:t>
            </a:r>
            <a:endParaRPr lang="en-US" sz="160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B3EB8495-2BB4-A593-5B6A-B8E3C9F70572}"/>
              </a:ext>
            </a:extLst>
          </p:cNvPr>
          <p:cNvSpPr/>
          <p:nvPr/>
        </p:nvSpPr>
        <p:spPr>
          <a:xfrm>
            <a:off x="8391654" y="4084571"/>
            <a:ext cx="70525" cy="70525"/>
          </a:xfrm>
          <a:custGeom>
            <a:avLst/>
            <a:gdLst/>
            <a:ahLst/>
            <a:cxnLst/>
            <a:rect l="l" t="t" r="r" b="b"/>
            <a:pathLst>
              <a:path w="70525" h="70525">
                <a:moveTo>
                  <a:pt x="35262" y="0"/>
                </a:moveTo>
                <a:lnTo>
                  <a:pt x="35262" y="0"/>
                </a:lnTo>
                <a:cubicBezTo>
                  <a:pt x="54724" y="0"/>
                  <a:pt x="70525" y="15801"/>
                  <a:pt x="70525" y="35262"/>
                </a:cubicBezTo>
                <a:lnTo>
                  <a:pt x="70525" y="35262"/>
                </a:lnTo>
                <a:cubicBezTo>
                  <a:pt x="70525" y="54724"/>
                  <a:pt x="54724" y="70525"/>
                  <a:pt x="35262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E7D1858C-5413-102F-5780-18C749CB68C4}"/>
              </a:ext>
            </a:extLst>
          </p:cNvPr>
          <p:cNvSpPr/>
          <p:nvPr/>
        </p:nvSpPr>
        <p:spPr>
          <a:xfrm>
            <a:off x="8532674" y="4031707"/>
            <a:ext cx="80222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972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补全代码审查</a:t>
            </a:r>
            <a:endParaRPr lang="en-US" sz="16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370BB6E-1529-AE59-4137-771BB1B75909}"/>
              </a:ext>
            </a:extLst>
          </p:cNvPr>
          <p:cNvSpPr txBox="1"/>
          <p:nvPr/>
        </p:nvSpPr>
        <p:spPr>
          <a:xfrm>
            <a:off x="2670532" y="4656779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评分</a:t>
            </a:r>
            <a:r>
              <a:rPr lang="en-US" altLang="zh-CN" dirty="0"/>
              <a:t>:89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AD5680E-4397-0C95-9515-97501D9918DF}"/>
              </a:ext>
            </a:extLst>
          </p:cNvPr>
          <p:cNvSpPr txBox="1"/>
          <p:nvPr/>
        </p:nvSpPr>
        <p:spPr>
          <a:xfrm>
            <a:off x="8330830" y="4625575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评分</a:t>
            </a:r>
            <a:r>
              <a:rPr lang="en-US" altLang="zh-CN" dirty="0"/>
              <a:t>:90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3997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9A07-F775-C2C1-B81F-7275F3F1B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0D1BB519-D2D3-167C-BE58-D92B97B84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2" name="Shape 18">
            <a:extLst>
              <a:ext uri="{FF2B5EF4-FFF2-40B4-BE49-F238E27FC236}">
                <a16:creationId xmlns:a16="http://schemas.microsoft.com/office/drawing/2014/main" id="{F2D66E12-78C0-5641-8D66-301F45A8E4A4}"/>
              </a:ext>
            </a:extLst>
          </p:cNvPr>
          <p:cNvSpPr/>
          <p:nvPr/>
        </p:nvSpPr>
        <p:spPr>
          <a:xfrm>
            <a:off x="229406" y="901031"/>
            <a:ext cx="5742770" cy="5788242"/>
          </a:xfrm>
          <a:custGeom>
            <a:avLst/>
            <a:gdLst/>
            <a:ahLst/>
            <a:cxnLst/>
            <a:rect l="l" t="t" r="r" b="b"/>
            <a:pathLst>
              <a:path w="3707780" h="1281386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1169879"/>
                </a:lnTo>
                <a:cubicBezTo>
                  <a:pt x="3707780" y="1231463"/>
                  <a:pt x="3657857" y="1281386"/>
                  <a:pt x="3596274" y="1281386"/>
                </a:cubicBezTo>
                <a:lnTo>
                  <a:pt x="111506" y="1281386"/>
                </a:lnTo>
                <a:cubicBezTo>
                  <a:pt x="49923" y="1281386"/>
                  <a:pt x="0" y="1231463"/>
                  <a:pt x="0" y="1169879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9390" dist="9292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19">
            <a:extLst>
              <a:ext uri="{FF2B5EF4-FFF2-40B4-BE49-F238E27FC236}">
                <a16:creationId xmlns:a16="http://schemas.microsoft.com/office/drawing/2014/main" id="{ACCF7F92-3351-AD1D-1107-527C748AE801}"/>
              </a:ext>
            </a:extLst>
          </p:cNvPr>
          <p:cNvSpPr/>
          <p:nvPr/>
        </p:nvSpPr>
        <p:spPr>
          <a:xfrm>
            <a:off x="229406" y="901032"/>
            <a:ext cx="5742770" cy="92855"/>
          </a:xfrm>
          <a:custGeom>
            <a:avLst/>
            <a:gdLst/>
            <a:ahLst/>
            <a:cxnLst/>
            <a:rect l="l" t="t" r="r" b="b"/>
            <a:pathLst>
              <a:path w="3707780" h="35161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4" name="Shape 34">
            <a:extLst>
              <a:ext uri="{FF2B5EF4-FFF2-40B4-BE49-F238E27FC236}">
                <a16:creationId xmlns:a16="http://schemas.microsoft.com/office/drawing/2014/main" id="{8CE95D6A-E734-2685-92C3-F72E7DFAB249}"/>
              </a:ext>
            </a:extLst>
          </p:cNvPr>
          <p:cNvSpPr/>
          <p:nvPr/>
        </p:nvSpPr>
        <p:spPr>
          <a:xfrm>
            <a:off x="6219825" y="901031"/>
            <a:ext cx="5742770" cy="5788242"/>
          </a:xfrm>
          <a:custGeom>
            <a:avLst/>
            <a:gdLst/>
            <a:ahLst/>
            <a:cxnLst/>
            <a:rect l="l" t="t" r="r" b="b"/>
            <a:pathLst>
              <a:path w="3707780" h="1281386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1169879"/>
                </a:lnTo>
                <a:cubicBezTo>
                  <a:pt x="3707780" y="1231463"/>
                  <a:pt x="3657857" y="1281386"/>
                  <a:pt x="3596274" y="1281386"/>
                </a:cubicBezTo>
                <a:lnTo>
                  <a:pt x="111506" y="1281386"/>
                </a:lnTo>
                <a:cubicBezTo>
                  <a:pt x="49923" y="1281386"/>
                  <a:pt x="0" y="1231463"/>
                  <a:pt x="0" y="1169879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9390" dist="929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86A043EB-151A-1556-6C99-5725C8850A86}"/>
              </a:ext>
            </a:extLst>
          </p:cNvPr>
          <p:cNvSpPr/>
          <p:nvPr/>
        </p:nvSpPr>
        <p:spPr>
          <a:xfrm>
            <a:off x="6219825" y="901032"/>
            <a:ext cx="5742770" cy="91518"/>
          </a:xfrm>
          <a:custGeom>
            <a:avLst/>
            <a:gdLst/>
            <a:ahLst/>
            <a:cxnLst/>
            <a:rect l="l" t="t" r="r" b="b"/>
            <a:pathLst>
              <a:path w="3707780" h="35161">
                <a:moveTo>
                  <a:pt x="35161" y="0"/>
                </a:moveTo>
                <a:lnTo>
                  <a:pt x="3672619" y="0"/>
                </a:lnTo>
                <a:cubicBezTo>
                  <a:pt x="3692038" y="0"/>
                  <a:pt x="3707780" y="15742"/>
                  <a:pt x="3707780" y="35161"/>
                </a:cubicBezTo>
                <a:lnTo>
                  <a:pt x="3707780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3026CE1-C8C6-608D-31A8-4C758A07DCC8}"/>
              </a:ext>
            </a:extLst>
          </p:cNvPr>
          <p:cNvSpPr/>
          <p:nvPr/>
        </p:nvSpPr>
        <p:spPr>
          <a:xfrm>
            <a:off x="182939" y="168727"/>
            <a:ext cx="3430480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423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项目总体评价</a:t>
            </a:r>
            <a:endParaRPr lang="en-US" sz="160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5D0B5374-7343-09D5-24C4-E8028898B2A0}"/>
              </a:ext>
            </a:extLst>
          </p:cNvPr>
          <p:cNvSpPr/>
          <p:nvPr/>
        </p:nvSpPr>
        <p:spPr>
          <a:xfrm>
            <a:off x="271095" y="1092411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211575" y="0"/>
                </a:moveTo>
                <a:lnTo>
                  <a:pt x="211575" y="0"/>
                </a:lnTo>
                <a:cubicBezTo>
                  <a:pt x="328346" y="0"/>
                  <a:pt x="423150" y="94804"/>
                  <a:pt x="423150" y="211575"/>
                </a:cubicBezTo>
                <a:lnTo>
                  <a:pt x="423150" y="211575"/>
                </a:lnTo>
                <a:cubicBezTo>
                  <a:pt x="423150" y="328346"/>
                  <a:pt x="328346" y="423150"/>
                  <a:pt x="211575" y="423150"/>
                </a:cubicBezTo>
                <a:lnTo>
                  <a:pt x="211575" y="423150"/>
                </a:lnTo>
                <a:cubicBezTo>
                  <a:pt x="94804" y="423150"/>
                  <a:pt x="0" y="328346"/>
                  <a:pt x="0" y="211575"/>
                </a:cubicBezTo>
                <a:lnTo>
                  <a:pt x="0" y="211575"/>
                </a:lnTo>
                <a:cubicBezTo>
                  <a:pt x="0" y="94804"/>
                  <a:pt x="94804" y="0"/>
                  <a:pt x="211575" y="0"/>
                </a:cubicBez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3C6A2EBC-2A42-CC27-E480-4E1D309C960F}"/>
              </a:ext>
            </a:extLst>
          </p:cNvPr>
          <p:cNvSpPr/>
          <p:nvPr/>
        </p:nvSpPr>
        <p:spPr>
          <a:xfrm>
            <a:off x="227017" y="1092411"/>
            <a:ext cx="511306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8" b="1" dirty="0">
                <a:solidFill>
                  <a:srgbClr val="FFC10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黄</a:t>
            </a:r>
            <a:endParaRPr lang="en-US" sz="16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B73171CF-61AF-674A-6EEC-C13578DAF508}"/>
              </a:ext>
            </a:extLst>
          </p:cNvPr>
          <p:cNvSpPr/>
          <p:nvPr/>
        </p:nvSpPr>
        <p:spPr>
          <a:xfrm>
            <a:off x="6312123" y="1573445"/>
            <a:ext cx="1588865" cy="155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 err="1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谷强</a:t>
            </a:r>
            <a:r>
              <a:rPr lang="zh-CN" altLang="en-US" sz="1388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，评分：</a:t>
            </a:r>
            <a:r>
              <a:rPr lang="en-US" altLang="zh-CN" sz="1388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</a:t>
            </a:r>
            <a:endParaRPr lang="en-US" sz="1600" dirty="0"/>
          </a:p>
        </p:txBody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AA8CE236-C433-BB2A-7539-B358C1AADFA0}"/>
              </a:ext>
            </a:extLst>
          </p:cNvPr>
          <p:cNvSpPr/>
          <p:nvPr/>
        </p:nvSpPr>
        <p:spPr>
          <a:xfrm>
            <a:off x="6263903" y="1092411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211575" y="0"/>
                </a:moveTo>
                <a:lnTo>
                  <a:pt x="211575" y="0"/>
                </a:lnTo>
                <a:cubicBezTo>
                  <a:pt x="328346" y="0"/>
                  <a:pt x="423150" y="94804"/>
                  <a:pt x="423150" y="211575"/>
                </a:cubicBezTo>
                <a:lnTo>
                  <a:pt x="423150" y="211575"/>
                </a:lnTo>
                <a:cubicBezTo>
                  <a:pt x="423150" y="328346"/>
                  <a:pt x="328346" y="423150"/>
                  <a:pt x="211575" y="423150"/>
                </a:cubicBezTo>
                <a:lnTo>
                  <a:pt x="211575" y="423150"/>
                </a:lnTo>
                <a:cubicBezTo>
                  <a:pt x="94804" y="423150"/>
                  <a:pt x="0" y="328346"/>
                  <a:pt x="0" y="211575"/>
                </a:cubicBezTo>
                <a:lnTo>
                  <a:pt x="0" y="211575"/>
                </a:lnTo>
                <a:cubicBezTo>
                  <a:pt x="0" y="94804"/>
                  <a:pt x="94804" y="0"/>
                  <a:pt x="211575" y="0"/>
                </a:cubicBez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E5A97ACC-58C5-D9A8-E53D-06EAA852D9FF}"/>
              </a:ext>
            </a:extLst>
          </p:cNvPr>
          <p:cNvSpPr/>
          <p:nvPr/>
        </p:nvSpPr>
        <p:spPr>
          <a:xfrm>
            <a:off x="6219825" y="1092411"/>
            <a:ext cx="511306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8" b="1" dirty="0">
                <a:solidFill>
                  <a:srgbClr val="F8F9FA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谷</a:t>
            </a:r>
            <a:endParaRPr lang="en-US" sz="1600" dirty="0"/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3E96F6CF-B449-7200-CB59-31EAE2802253}"/>
              </a:ext>
            </a:extLst>
          </p:cNvPr>
          <p:cNvSpPr/>
          <p:nvPr/>
        </p:nvSpPr>
        <p:spPr>
          <a:xfrm>
            <a:off x="271095" y="1602426"/>
            <a:ext cx="1586280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388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黄飞扬，评分：</a:t>
            </a:r>
            <a:r>
              <a:rPr lang="en-US" altLang="zh-CN" sz="1388" b="1" dirty="0">
                <a:solidFill>
                  <a:srgbClr val="343A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98</a:t>
            </a:r>
            <a:endParaRPr lang="en-US" sz="16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CAF1C46-9B08-2B62-1812-1E7D8B255214}"/>
              </a:ext>
            </a:extLst>
          </p:cNvPr>
          <p:cNvSpPr txBox="1"/>
          <p:nvPr/>
        </p:nvSpPr>
        <p:spPr>
          <a:xfrm>
            <a:off x="271095" y="2156414"/>
            <a:ext cx="55582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Roboto" panose="02000000000000000000" pitchFamily="2" charset="0"/>
              </a:rPr>
              <a:t>不仅高质量完成了后端的开发任务，还积极承担了技术指导和质量保障的责任。他展现了扎实的技术功底、强烈的责任心和优秀的团队协作精神。他的工作直接推动了项目的成功，是团队的技术核心和关键贡献者。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F221EBC-49CE-6FB8-3098-F10A0113F5C9}"/>
              </a:ext>
            </a:extLst>
          </p:cNvPr>
          <p:cNvSpPr txBox="1"/>
          <p:nvPr/>
        </p:nvSpPr>
        <p:spPr>
          <a:xfrm>
            <a:off x="271095" y="3575924"/>
            <a:ext cx="55582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Roboto" panose="02000000000000000000" pitchFamily="2" charset="0"/>
              </a:rPr>
              <a:t>技术引领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：率先完成 </a:t>
            </a:r>
            <a:r>
              <a:rPr lang="en-US" altLang="zh-CN" b="0" i="0" dirty="0" err="1">
                <a:effectLst/>
                <a:latin typeface="Roboto" panose="02000000000000000000" pitchFamily="2" charset="0"/>
              </a:rPr>
              <a:t>FastAPI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后端框架搭建，设计高效的数据库模型和 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API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接口，引入先进的错误处理机制和日志系统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Roboto" panose="02000000000000000000" pitchFamily="2" charset="0"/>
              </a:rPr>
              <a:t>跨职能支持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：在前端开发过程中提供及时技术指导，协助解决接口对接难题，主动参与前端代码审查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Roboto" panose="02000000000000000000" pitchFamily="2" charset="0"/>
              </a:rPr>
              <a:t>质量保障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：主导后端测试工作，建立完整的自动化测试框架，严格把控代码质量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Roboto" panose="02000000000000000000" pitchFamily="2" charset="0"/>
              </a:rPr>
              <a:t>项目推动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：主动识别项目风险并提出解决方案，推动技术决策，在关键节点加班确保进度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A2AE14A-3154-C416-5368-9F1E1546A016}"/>
              </a:ext>
            </a:extLst>
          </p:cNvPr>
          <p:cNvSpPr txBox="1"/>
          <p:nvPr/>
        </p:nvSpPr>
        <p:spPr>
          <a:xfrm>
            <a:off x="6421067" y="1879415"/>
            <a:ext cx="53402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Roboto" panose="02000000000000000000" pitchFamily="2" charset="0"/>
              </a:rPr>
              <a:t>谷强同学在本项目中完成了前端开发的核心任务，实现了良好的用户界面和交互体验。他在技术学习和问题解决方面表现积极，能够按时完成任务。在与后端的协作中也展现出了良好的团队合作精神。建议在未来项目中进一步提升技术深度和项目主动性。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8FBBCE1-35D2-ED04-6A84-BD59D978356D}"/>
              </a:ext>
            </a:extLst>
          </p:cNvPr>
          <p:cNvSpPr txBox="1"/>
          <p:nvPr/>
        </p:nvSpPr>
        <p:spPr>
          <a:xfrm>
            <a:off x="6362700" y="3991422"/>
            <a:ext cx="55582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Roboto" panose="02000000000000000000" pitchFamily="2" charset="0"/>
              </a:rPr>
              <a:t>功能实现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：完成了所有前端页面的开发，实现了复杂的对话设置菜单功能，优化了用户交互体验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Roboto" panose="02000000000000000000" pitchFamily="2" charset="0"/>
              </a:rPr>
              <a:t>界面优化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：设计并实现直观易用的用户界面，优化页面加载性能和响应速度，确保良好的移动端适配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Roboto" panose="02000000000000000000" pitchFamily="2" charset="0"/>
              </a:rPr>
              <a:t>团队协作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：积极与后端沟通接口需求和问题，及时反馈开发进度和问题，配合完成集成测试和问题修复</a:t>
            </a:r>
          </a:p>
        </p:txBody>
      </p:sp>
    </p:spTree>
    <p:extLst>
      <p:ext uri="{BB962C8B-B14F-4D97-AF65-F5344CB8AC3E}">
        <p14:creationId xmlns:p14="http://schemas.microsoft.com/office/powerpoint/2010/main" val="860887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>
            <a:extLst>
              <a:ext uri="{FF2B5EF4-FFF2-40B4-BE49-F238E27FC236}">
                <a16:creationId xmlns:a16="http://schemas.microsoft.com/office/drawing/2014/main" id="{AC76A54E-8F63-1081-DE74-FD187F655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6BD87E86-95A4-03B6-77CA-2D66F5F12029}"/>
              </a:ext>
            </a:extLst>
          </p:cNvPr>
          <p:cNvSpPr/>
          <p:nvPr/>
        </p:nvSpPr>
        <p:spPr>
          <a:xfrm>
            <a:off x="4900350" y="797100"/>
            <a:ext cx="2391299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3423" b="1" dirty="0">
                <a:solidFill>
                  <a:srgbClr val="343A40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参考文献</a:t>
            </a:r>
            <a:endParaRPr 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12E19E-299F-1DC6-0397-5D5AD96D1624}"/>
              </a:ext>
            </a:extLst>
          </p:cNvPr>
          <p:cNvSpPr txBox="1"/>
          <p:nvPr/>
        </p:nvSpPr>
        <p:spPr>
          <a:xfrm>
            <a:off x="994636" y="1568439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[1]GB/T 8567-2006, </a:t>
            </a:r>
            <a:r>
              <a:rPr lang="zh-CN" altLang="en-US" dirty="0"/>
              <a:t>计算机软件文档编制规范</a:t>
            </a:r>
            <a:r>
              <a:rPr lang="en-US" altLang="zh-CN" dirty="0"/>
              <a:t>[S].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D21343-0F80-289B-E5F6-AE5424937768}"/>
              </a:ext>
            </a:extLst>
          </p:cNvPr>
          <p:cNvSpPr txBox="1"/>
          <p:nvPr/>
        </p:nvSpPr>
        <p:spPr>
          <a:xfrm>
            <a:off x="994636" y="1881404"/>
            <a:ext cx="66170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[2]React Documentation. </a:t>
            </a:r>
            <a:r>
              <a:rPr lang="en-US" altLang="zh-CN" dirty="0">
                <a:hlinkClick r:id="rId3"/>
              </a:rPr>
              <a:t>https://react.dev/</a:t>
            </a:r>
            <a:endParaRPr lang="en-US" altLang="zh-CN" dirty="0"/>
          </a:p>
          <a:p>
            <a:r>
              <a:rPr lang="en-US" altLang="zh-CN" dirty="0"/>
              <a:t>[3]TypeScript Documentation. </a:t>
            </a:r>
            <a:r>
              <a:rPr lang="en-US" altLang="zh-CN" dirty="0">
                <a:hlinkClick r:id="rId4"/>
              </a:rPr>
              <a:t>https://www.typescriptlang.org/docs/</a:t>
            </a:r>
            <a:endParaRPr lang="en-US" altLang="zh-CN" dirty="0"/>
          </a:p>
          <a:p>
            <a:r>
              <a:rPr lang="en-US" altLang="zh-CN" dirty="0"/>
              <a:t>[4]</a:t>
            </a:r>
            <a:r>
              <a:rPr lang="en-US" altLang="zh-CN" dirty="0" err="1"/>
              <a:t>FastAPI</a:t>
            </a:r>
            <a:r>
              <a:rPr lang="en-US" altLang="zh-CN" dirty="0"/>
              <a:t> Documentation. </a:t>
            </a:r>
            <a:r>
              <a:rPr lang="en-US" altLang="zh-CN" dirty="0">
                <a:hlinkClick r:id="rId5"/>
              </a:rPr>
              <a:t>https://fastapi.tiangolo.com/</a:t>
            </a:r>
            <a:endParaRPr lang="en-US" altLang="zh-CN" dirty="0"/>
          </a:p>
          <a:p>
            <a:r>
              <a:rPr lang="en-US" altLang="zh-CN" dirty="0"/>
              <a:t>[5]Ant Design Documentation. </a:t>
            </a:r>
            <a:r>
              <a:rPr lang="en-US" altLang="zh-CN" dirty="0">
                <a:hlinkClick r:id="rId6"/>
              </a:rPr>
              <a:t>https://ant.design/</a:t>
            </a:r>
            <a:endParaRPr lang="en-US" altLang="zh-CN" dirty="0"/>
          </a:p>
          <a:p>
            <a:r>
              <a:rPr lang="en-US" altLang="zh-CN" dirty="0"/>
              <a:t>[6]MySQL Documentation. </a:t>
            </a:r>
            <a:r>
              <a:rPr lang="en-US" altLang="zh-CN" dirty="0">
                <a:hlinkClick r:id="rId7"/>
              </a:rPr>
              <a:t>https://dev.mysql.com/doc/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28583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1173</Words>
  <Application>Microsoft Office PowerPoint</Application>
  <PresentationFormat>宽屏</PresentationFormat>
  <Paragraphs>318</Paragraphs>
  <Slides>15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MiSans</vt:lpstr>
      <vt:lpstr>阿里妈妈数黑体</vt:lpstr>
      <vt:lpstr>Arial</vt:lpstr>
      <vt:lpstr>Roboto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多端大模型统一平台 - 软件工程课程项目总结报告</dc:title>
  <dc:subject>多端大模型统一平台 - 软件工程课程项目总结报告</dc:subject>
  <dc:creator>Kimi</dc:creator>
  <cp:lastModifiedBy>Feiji Huang</cp:lastModifiedBy>
  <cp:revision>31</cp:revision>
  <dcterms:created xsi:type="dcterms:W3CDTF">2026-01-04T09:44:03Z</dcterms:created>
  <dcterms:modified xsi:type="dcterms:W3CDTF">2026-01-07T09:04:34Z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{"Label":"多端大模型统一平台 - 软件工程课程项目总结报告","ContentProducer":"001191110108MACG2KBH8F10000","ProduceID":"19b8849c-d332-82f3-8000-00009d90b2b0","ReservedCode1":"","ContentPropagator":"001191110108MACG2KBH8F20000","PropagateID":"19b8849c-d332-82f3-8000-00009d90b2b0","ReservedCode2":""}</vt:lpwstr>
  </property>
</Properties>
</file>