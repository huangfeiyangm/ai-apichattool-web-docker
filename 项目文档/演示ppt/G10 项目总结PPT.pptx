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70" r:id="rId15"/>
    <p:sldId id="269" r:id="rId16"/>
  </p:sldIdLst>
  <p:sldSz cx="12192000" cy="6858000"/>
  <p:notesSz cx="6858000" cy="12192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0783" autoAdjust="0"/>
  </p:normalViewPr>
  <p:slideViewPr>
    <p:cSldViewPr snapToGrid="0" snapToObjects="1">
      <p:cViewPr varScale="1">
        <p:scale>
          <a:sx n="70" d="100"/>
          <a:sy n="70" d="100"/>
        </p:scale>
        <p:origin x="456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149210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PTIST_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jpg"/><Relationship Id="rId4" Type="http://schemas.openxmlformats.org/officeDocument/2006/relationships/image" Target="../media/image2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react.dev/" TargetMode="External"/><Relationship Id="rId7" Type="http://schemas.openxmlformats.org/officeDocument/2006/relationships/hyperlink" Target="https://dev.mysql.com/doc/" TargetMode="External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ant.design/" TargetMode="External"/><Relationship Id="rId5" Type="http://schemas.openxmlformats.org/officeDocument/2006/relationships/hyperlink" Target="https://fastapi.tiangolo.com/" TargetMode="External"/><Relationship Id="rId4" Type="http://schemas.openxmlformats.org/officeDocument/2006/relationships/hyperlink" Target="https://www.typescriptlang.org/docs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alphaModFix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slides_tmpl/image/25-10-09-16:35:25-d3jn7j8s8jdo4os5dj40.jpg"/>
          <p:cNvPicPr>
            <a:picLocks noChangeAspect="1"/>
          </p:cNvPicPr>
          <p:nvPr/>
        </p:nvPicPr>
        <p:blipFill>
          <a:blip r:embed="rId4"/>
          <a:srcRect t="83" b="83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kimi-img.moonshot.cn/pub/slides/slides_tmpl/image/25-10-09-16:35:24-d3jn7j0s8jdo4os5diug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9920" y="1707515"/>
            <a:ext cx="4963160" cy="33274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626745" y="6134418"/>
            <a:ext cx="4345305" cy="220980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</p:sp>
      <p:sp>
        <p:nvSpPr>
          <p:cNvPr id="6" name="Text 2"/>
          <p:cNvSpPr/>
          <p:nvPr/>
        </p:nvSpPr>
        <p:spPr>
          <a:xfrm>
            <a:off x="7240270" y="6099810"/>
            <a:ext cx="3091815" cy="22159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ct val="90000"/>
              </a:lnSpc>
            </a:pPr>
            <a:r>
              <a:rPr lang="en-US" sz="1600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汇报日期：2025/01/07</a:t>
            </a:r>
            <a:endParaRPr lang="en-US" sz="1600" dirty="0"/>
          </a:p>
        </p:txBody>
      </p:sp>
      <p:sp>
        <p:nvSpPr>
          <p:cNvPr id="7" name="Shape 3"/>
          <p:cNvSpPr/>
          <p:nvPr/>
        </p:nvSpPr>
        <p:spPr>
          <a:xfrm>
            <a:off x="11381644" y="559691"/>
            <a:ext cx="209306" cy="42231"/>
          </a:xfrm>
          <a:prstGeom prst="rect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11381644" y="656665"/>
            <a:ext cx="209306" cy="42231"/>
          </a:xfrm>
          <a:prstGeom prst="rect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11381644" y="753639"/>
            <a:ext cx="209306" cy="42231"/>
          </a:xfrm>
          <a:prstGeom prst="rect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 flipV="1">
            <a:off x="2304972" y="6281738"/>
            <a:ext cx="5746750" cy="19050"/>
          </a:xfrm>
          <a:prstGeom prst="straightConnector1">
            <a:avLst/>
          </a:prstGeom>
          <a:noFill/>
          <a:ln w="9525">
            <a:solidFill>
              <a:srgbClr val="000000">
                <a:alpha val="21961"/>
              </a:srgbClr>
            </a:solidFill>
            <a:prstDash val="solid"/>
            <a:headEnd type="none"/>
            <a:tailEnd type="none"/>
          </a:ln>
        </p:spPr>
      </p:sp>
      <p:sp>
        <p:nvSpPr>
          <p:cNvPr id="11" name="Text 7"/>
          <p:cNvSpPr/>
          <p:nvPr/>
        </p:nvSpPr>
        <p:spPr>
          <a:xfrm>
            <a:off x="617220" y="2134235"/>
            <a:ext cx="7715885" cy="152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00000"/>
              </a:lnSpc>
            </a:pPr>
            <a:r>
              <a:rPr lang="en-US" sz="4400" b="1" dirty="0" err="1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多端大模型统一平台</a:t>
            </a:r>
            <a:br>
              <a:rPr lang="en-US" sz="44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</a:br>
            <a:r>
              <a:rPr lang="zh-CN" altLang="en-US" sz="44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项目总结</a:t>
            </a:r>
            <a:endParaRPr lang="en-US" sz="1600" dirty="0"/>
          </a:p>
        </p:txBody>
      </p:sp>
      <p:pic>
        <p:nvPicPr>
          <p:cNvPr id="12" name="Image 2" descr="https://kimi-img.moonshot.cn/pub/slides/slides_tmpl/image/25-10-09-16:35:24-d3jn7j0s8jdo4os5diug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5400000">
            <a:off x="10291445" y="5408930"/>
            <a:ext cx="2170430" cy="728980"/>
          </a:xfrm>
          <a:prstGeom prst="rect">
            <a:avLst/>
          </a:prstGeom>
        </p:spPr>
      </p:pic>
      <p:pic>
        <p:nvPicPr>
          <p:cNvPr id="13" name="Image 3" descr="https://kimi-img.moonshot.cn/pub/slides/slides_tmpl/image/25-10-09-16:35:24-d3jn7j0s8jdo4os5div0.png"/>
          <p:cNvPicPr>
            <a:picLocks noChangeAspect="1"/>
          </p:cNvPicPr>
          <p:nvPr/>
        </p:nvPicPr>
        <p:blipFill>
          <a:blip r:embed="rId6">
            <a:alphaModFix amt="40000"/>
          </a:blip>
          <a:stretch>
            <a:fillRect/>
          </a:stretch>
        </p:blipFill>
        <p:spPr>
          <a:xfrm flipV="1">
            <a:off x="772795" y="534035"/>
            <a:ext cx="762000" cy="76200"/>
          </a:xfrm>
          <a:prstGeom prst="rect">
            <a:avLst/>
          </a:prstGeom>
        </p:spPr>
      </p:pic>
      <p:pic>
        <p:nvPicPr>
          <p:cNvPr id="14" name="Image 4" descr="https://kimi-img.moonshot.cn/pub/slides/slides_tmpl/image/25-10-09-16:35:24-d3jn7j0s8jdo4os5div0.png"/>
          <p:cNvPicPr>
            <a:picLocks noChangeAspect="1"/>
          </p:cNvPicPr>
          <p:nvPr/>
        </p:nvPicPr>
        <p:blipFill>
          <a:blip r:embed="rId6">
            <a:alphaModFix amt="40000"/>
          </a:blip>
          <a:stretch>
            <a:fillRect/>
          </a:stretch>
        </p:blipFill>
        <p:spPr>
          <a:xfrm flipV="1">
            <a:off x="772795" y="664845"/>
            <a:ext cx="762000" cy="76200"/>
          </a:xfrm>
          <a:prstGeom prst="rect">
            <a:avLst/>
          </a:prstGeom>
        </p:spPr>
      </p:pic>
      <p:sp>
        <p:nvSpPr>
          <p:cNvPr id="15" name="文本框 14">
            <a:extLst>
              <a:ext uri="{FF2B5EF4-FFF2-40B4-BE49-F238E27FC236}">
                <a16:creationId xmlns:a16="http://schemas.microsoft.com/office/drawing/2014/main" id="{AB864DA0-D152-5F88-B27A-C4F3FDBDCFA6}"/>
              </a:ext>
            </a:extLst>
          </p:cNvPr>
          <p:cNvSpPr txBox="1"/>
          <p:nvPr/>
        </p:nvSpPr>
        <p:spPr>
          <a:xfrm>
            <a:off x="610277" y="3972492"/>
            <a:ext cx="16946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400" dirty="0"/>
              <a:t>组别</a:t>
            </a:r>
            <a:r>
              <a:rPr lang="en-US" altLang="zh-CN" sz="2400" dirty="0"/>
              <a:t>:G10</a:t>
            </a:r>
            <a:r>
              <a:rPr lang="zh-CN" altLang="en-US" sz="2400" dirty="0"/>
              <a:t>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slides_tmpl/image/25-10-09-16:35:25-d3jn7j8s8jdo4os5dj2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635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81000" y="381000"/>
            <a:ext cx="117157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en-US" sz="4500" b="1" dirty="0" err="1">
                <a:solidFill>
                  <a:srgbClr val="343A40"/>
                </a:solidFill>
                <a:latin typeface="阿里妈妈数黑体" pitchFamily="34" charset="0"/>
                <a:ea typeface="阿里妈妈数黑体" pitchFamily="34" charset="-122"/>
                <a:cs typeface="阿里妈妈数黑体" pitchFamily="34" charset="-120"/>
              </a:rPr>
              <a:t>目录</a:t>
            </a:r>
            <a:endParaRPr lang="en-US" sz="1600" dirty="0"/>
          </a:p>
        </p:txBody>
      </p:sp>
      <p:sp>
        <p:nvSpPr>
          <p:cNvPr id="4" name="Shape 1"/>
          <p:cNvSpPr/>
          <p:nvPr/>
        </p:nvSpPr>
        <p:spPr>
          <a:xfrm>
            <a:off x="381000" y="1066735"/>
            <a:ext cx="1066800" cy="57150"/>
          </a:xfrm>
          <a:custGeom>
            <a:avLst/>
            <a:gdLst/>
            <a:ahLst/>
            <a:cxnLst/>
            <a:rect l="l" t="t" r="r" b="b"/>
            <a:pathLst>
              <a:path w="1066800" h="57150">
                <a:moveTo>
                  <a:pt x="0" y="0"/>
                </a:moveTo>
                <a:lnTo>
                  <a:pt x="1066800" y="0"/>
                </a:lnTo>
                <a:lnTo>
                  <a:pt x="1066800" y="57150"/>
                </a:lnTo>
                <a:lnTo>
                  <a:pt x="0" y="57150"/>
                </a:lnTo>
                <a:lnTo>
                  <a:pt x="0" y="0"/>
                </a:ln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5" name="Shape 2"/>
          <p:cNvSpPr/>
          <p:nvPr/>
        </p:nvSpPr>
        <p:spPr>
          <a:xfrm>
            <a:off x="399020" y="1428589"/>
            <a:ext cx="5542520" cy="1066800"/>
          </a:xfrm>
          <a:custGeom>
            <a:avLst/>
            <a:gdLst/>
            <a:ahLst/>
            <a:cxnLst/>
            <a:rect l="l" t="t" r="r" b="b"/>
            <a:pathLst>
              <a:path w="5542520" h="1066800">
                <a:moveTo>
                  <a:pt x="36041" y="0"/>
                </a:moveTo>
                <a:lnTo>
                  <a:pt x="5428223" y="0"/>
                </a:lnTo>
                <a:cubicBezTo>
                  <a:pt x="5491348" y="0"/>
                  <a:pt x="5542520" y="51172"/>
                  <a:pt x="5542520" y="114297"/>
                </a:cubicBezTo>
                <a:lnTo>
                  <a:pt x="5542520" y="952503"/>
                </a:lnTo>
                <a:cubicBezTo>
                  <a:pt x="5542520" y="1015628"/>
                  <a:pt x="5491348" y="1066800"/>
                  <a:pt x="5428223" y="1066800"/>
                </a:cubicBezTo>
                <a:lnTo>
                  <a:pt x="36041" y="1066800"/>
                </a:lnTo>
                <a:cubicBezTo>
                  <a:pt x="16136" y="1066800"/>
                  <a:pt x="0" y="1050664"/>
                  <a:pt x="0" y="1030759"/>
                </a:cubicBezTo>
                <a:lnTo>
                  <a:pt x="0" y="36041"/>
                </a:lnTo>
                <a:cubicBezTo>
                  <a:pt x="0" y="16136"/>
                  <a:pt x="16136" y="0"/>
                  <a:pt x="36041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blurRad="142875" dist="95250" dir="5400000" algn="bl" rotWithShape="0">
              <a:srgbClr val="000000">
                <a:alpha val="10196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399020" y="1428589"/>
            <a:ext cx="36041" cy="1066800"/>
          </a:xfrm>
          <a:custGeom>
            <a:avLst/>
            <a:gdLst/>
            <a:ahLst/>
            <a:cxnLst/>
            <a:rect l="l" t="t" r="r" b="b"/>
            <a:pathLst>
              <a:path w="36041" h="1066800">
                <a:moveTo>
                  <a:pt x="36041" y="0"/>
                </a:moveTo>
                <a:lnTo>
                  <a:pt x="36041" y="0"/>
                </a:lnTo>
                <a:lnTo>
                  <a:pt x="36041" y="1066800"/>
                </a:lnTo>
                <a:lnTo>
                  <a:pt x="36041" y="1066800"/>
                </a:lnTo>
                <a:cubicBezTo>
                  <a:pt x="16136" y="1066800"/>
                  <a:pt x="0" y="1050664"/>
                  <a:pt x="0" y="1030759"/>
                </a:cubicBezTo>
                <a:lnTo>
                  <a:pt x="0" y="36041"/>
                </a:lnTo>
                <a:cubicBezTo>
                  <a:pt x="0" y="16136"/>
                  <a:pt x="16136" y="0"/>
                  <a:pt x="36041" y="0"/>
                </a:cubicBezTo>
                <a:close/>
              </a:path>
            </a:pathLst>
          </a:custGeom>
          <a:solidFill>
            <a:srgbClr val="343A40"/>
          </a:solidFill>
          <a:ln/>
        </p:spPr>
      </p:sp>
      <p:sp>
        <p:nvSpPr>
          <p:cNvPr id="7" name="Shape 4"/>
          <p:cNvSpPr/>
          <p:nvPr/>
        </p:nvSpPr>
        <p:spPr>
          <a:xfrm>
            <a:off x="607540" y="1619089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76200" y="0"/>
                </a:moveTo>
                <a:lnTo>
                  <a:pt x="533400" y="0"/>
                </a:lnTo>
                <a:cubicBezTo>
                  <a:pt x="575456" y="0"/>
                  <a:pt x="609600" y="34144"/>
                  <a:pt x="609600" y="76200"/>
                </a:cubicBezTo>
                <a:lnTo>
                  <a:pt x="609600" y="533400"/>
                </a:lnTo>
                <a:cubicBezTo>
                  <a:pt x="609600" y="575456"/>
                  <a:pt x="575456" y="609600"/>
                  <a:pt x="533400" y="609600"/>
                </a:cubicBezTo>
                <a:lnTo>
                  <a:pt x="76200" y="609600"/>
                </a:lnTo>
                <a:cubicBezTo>
                  <a:pt x="34144" y="609600"/>
                  <a:pt x="0" y="575456"/>
                  <a:pt x="0" y="5334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solidFill>
            <a:srgbClr val="343A40"/>
          </a:solidFill>
          <a:ln/>
        </p:spPr>
      </p:sp>
      <p:sp>
        <p:nvSpPr>
          <p:cNvPr id="8" name="Text 5"/>
          <p:cNvSpPr/>
          <p:nvPr/>
        </p:nvSpPr>
        <p:spPr>
          <a:xfrm>
            <a:off x="743658" y="1752391"/>
            <a:ext cx="4762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50" b="1" dirty="0">
                <a:solidFill>
                  <a:srgbClr val="FFC107"/>
                </a:solidFill>
                <a:latin typeface="阿里妈妈数黑体" pitchFamily="34" charset="0"/>
                <a:ea typeface="阿里妈妈数黑体" pitchFamily="34" charset="-122"/>
                <a:cs typeface="阿里妈妈数黑体" pitchFamily="34" charset="-120"/>
              </a:rPr>
              <a:t>01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407592" y="1657141"/>
            <a:ext cx="44577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343A40"/>
                </a:solidFill>
                <a:latin typeface="阿里妈妈数黑体" pitchFamily="34" charset="0"/>
                <a:ea typeface="阿里妈妈数黑体" pitchFamily="34" charset="-122"/>
                <a:cs typeface="阿里妈妈数黑体" pitchFamily="34" charset="-120"/>
              </a:rPr>
              <a:t>项目概述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407592" y="2038141"/>
            <a:ext cx="44291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dirty="0">
                <a:solidFill>
                  <a:srgbClr val="6C757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背景与目标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266388" y="1428589"/>
            <a:ext cx="5542520" cy="1066800"/>
          </a:xfrm>
          <a:custGeom>
            <a:avLst/>
            <a:gdLst/>
            <a:ahLst/>
            <a:cxnLst/>
            <a:rect l="l" t="t" r="r" b="b"/>
            <a:pathLst>
              <a:path w="5542520" h="1066800">
                <a:moveTo>
                  <a:pt x="36041" y="0"/>
                </a:moveTo>
                <a:lnTo>
                  <a:pt x="5428223" y="0"/>
                </a:lnTo>
                <a:cubicBezTo>
                  <a:pt x="5491348" y="0"/>
                  <a:pt x="5542520" y="51172"/>
                  <a:pt x="5542520" y="114297"/>
                </a:cubicBezTo>
                <a:lnTo>
                  <a:pt x="5542520" y="952503"/>
                </a:lnTo>
                <a:cubicBezTo>
                  <a:pt x="5542520" y="1015628"/>
                  <a:pt x="5491348" y="1066800"/>
                  <a:pt x="5428223" y="1066800"/>
                </a:cubicBezTo>
                <a:lnTo>
                  <a:pt x="36041" y="1066800"/>
                </a:lnTo>
                <a:cubicBezTo>
                  <a:pt x="16136" y="1066800"/>
                  <a:pt x="0" y="1050664"/>
                  <a:pt x="0" y="1030759"/>
                </a:cubicBezTo>
                <a:lnTo>
                  <a:pt x="0" y="36041"/>
                </a:lnTo>
                <a:cubicBezTo>
                  <a:pt x="0" y="16136"/>
                  <a:pt x="16136" y="0"/>
                  <a:pt x="36041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blurRad="142875" dist="95250" dir="5400000" algn="bl" rotWithShape="0">
              <a:srgbClr val="000000">
                <a:alpha val="10196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266388" y="1428589"/>
            <a:ext cx="36041" cy="1066800"/>
          </a:xfrm>
          <a:custGeom>
            <a:avLst/>
            <a:gdLst/>
            <a:ahLst/>
            <a:cxnLst/>
            <a:rect l="l" t="t" r="r" b="b"/>
            <a:pathLst>
              <a:path w="36041" h="1066800">
                <a:moveTo>
                  <a:pt x="36041" y="0"/>
                </a:moveTo>
                <a:lnTo>
                  <a:pt x="36041" y="0"/>
                </a:lnTo>
                <a:lnTo>
                  <a:pt x="36041" y="1066800"/>
                </a:lnTo>
                <a:lnTo>
                  <a:pt x="36041" y="1066800"/>
                </a:lnTo>
                <a:cubicBezTo>
                  <a:pt x="16136" y="1066800"/>
                  <a:pt x="0" y="1050664"/>
                  <a:pt x="0" y="1030759"/>
                </a:cubicBezTo>
                <a:lnTo>
                  <a:pt x="0" y="36041"/>
                </a:lnTo>
                <a:cubicBezTo>
                  <a:pt x="0" y="16136"/>
                  <a:pt x="16136" y="0"/>
                  <a:pt x="36041" y="0"/>
                </a:cubicBezTo>
                <a:close/>
              </a:path>
            </a:pathLst>
          </a:custGeom>
          <a:solidFill>
            <a:srgbClr val="343A40"/>
          </a:solidFill>
          <a:ln/>
        </p:spPr>
      </p:sp>
      <p:sp>
        <p:nvSpPr>
          <p:cNvPr id="13" name="Shape 10"/>
          <p:cNvSpPr/>
          <p:nvPr/>
        </p:nvSpPr>
        <p:spPr>
          <a:xfrm>
            <a:off x="6474908" y="1619089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76200" y="0"/>
                </a:moveTo>
                <a:lnTo>
                  <a:pt x="533400" y="0"/>
                </a:lnTo>
                <a:cubicBezTo>
                  <a:pt x="575456" y="0"/>
                  <a:pt x="609600" y="34144"/>
                  <a:pt x="609600" y="76200"/>
                </a:cubicBezTo>
                <a:lnTo>
                  <a:pt x="609600" y="533400"/>
                </a:lnTo>
                <a:cubicBezTo>
                  <a:pt x="609600" y="575456"/>
                  <a:pt x="575456" y="609600"/>
                  <a:pt x="533400" y="609600"/>
                </a:cubicBezTo>
                <a:lnTo>
                  <a:pt x="76200" y="609600"/>
                </a:lnTo>
                <a:cubicBezTo>
                  <a:pt x="34144" y="609600"/>
                  <a:pt x="0" y="575456"/>
                  <a:pt x="0" y="5334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solidFill>
            <a:srgbClr val="343A40"/>
          </a:solidFill>
          <a:ln/>
        </p:spPr>
      </p:sp>
      <p:sp>
        <p:nvSpPr>
          <p:cNvPr id="14" name="Text 11"/>
          <p:cNvSpPr/>
          <p:nvPr/>
        </p:nvSpPr>
        <p:spPr>
          <a:xfrm>
            <a:off x="6611026" y="1752391"/>
            <a:ext cx="4762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50" b="1" dirty="0">
                <a:solidFill>
                  <a:srgbClr val="FFC107"/>
                </a:solidFill>
                <a:latin typeface="阿里妈妈数黑体" pitchFamily="34" charset="0"/>
                <a:ea typeface="阿里妈妈数黑体" pitchFamily="34" charset="-122"/>
                <a:cs typeface="阿里妈妈数黑体" pitchFamily="34" charset="-120"/>
              </a:rPr>
              <a:t>04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7274960" y="1657141"/>
            <a:ext cx="44577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343A40"/>
                </a:solidFill>
                <a:latin typeface="阿里妈妈数黑体" pitchFamily="34" charset="0"/>
                <a:ea typeface="阿里妈妈数黑体" pitchFamily="34" charset="-122"/>
                <a:cs typeface="阿里妈妈数黑体" pitchFamily="34" charset="-120"/>
              </a:rPr>
              <a:t>技术复盘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7274960" y="2038141"/>
            <a:ext cx="44291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dirty="0">
                <a:solidFill>
                  <a:srgbClr val="6C757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架构与亮点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399020" y="2685744"/>
            <a:ext cx="5542520" cy="1066800"/>
          </a:xfrm>
          <a:custGeom>
            <a:avLst/>
            <a:gdLst/>
            <a:ahLst/>
            <a:cxnLst/>
            <a:rect l="l" t="t" r="r" b="b"/>
            <a:pathLst>
              <a:path w="5542520" h="1066800">
                <a:moveTo>
                  <a:pt x="36041" y="0"/>
                </a:moveTo>
                <a:lnTo>
                  <a:pt x="5428223" y="0"/>
                </a:lnTo>
                <a:cubicBezTo>
                  <a:pt x="5491348" y="0"/>
                  <a:pt x="5542520" y="51172"/>
                  <a:pt x="5542520" y="114297"/>
                </a:cubicBezTo>
                <a:lnTo>
                  <a:pt x="5542520" y="952503"/>
                </a:lnTo>
                <a:cubicBezTo>
                  <a:pt x="5542520" y="1015628"/>
                  <a:pt x="5491348" y="1066800"/>
                  <a:pt x="5428223" y="1066800"/>
                </a:cubicBezTo>
                <a:lnTo>
                  <a:pt x="36041" y="1066800"/>
                </a:lnTo>
                <a:cubicBezTo>
                  <a:pt x="16136" y="1066800"/>
                  <a:pt x="0" y="1050664"/>
                  <a:pt x="0" y="1030759"/>
                </a:cubicBezTo>
                <a:lnTo>
                  <a:pt x="0" y="36041"/>
                </a:lnTo>
                <a:cubicBezTo>
                  <a:pt x="0" y="16136"/>
                  <a:pt x="16136" y="0"/>
                  <a:pt x="36041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blurRad="142875" dist="95250" dir="5400000" algn="bl" rotWithShape="0">
              <a:srgbClr val="000000">
                <a:alpha val="10196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399020" y="2685744"/>
            <a:ext cx="36041" cy="1066800"/>
          </a:xfrm>
          <a:custGeom>
            <a:avLst/>
            <a:gdLst/>
            <a:ahLst/>
            <a:cxnLst/>
            <a:rect l="l" t="t" r="r" b="b"/>
            <a:pathLst>
              <a:path w="36041" h="1066800">
                <a:moveTo>
                  <a:pt x="36041" y="0"/>
                </a:moveTo>
                <a:lnTo>
                  <a:pt x="36041" y="0"/>
                </a:lnTo>
                <a:lnTo>
                  <a:pt x="36041" y="1066800"/>
                </a:lnTo>
                <a:lnTo>
                  <a:pt x="36041" y="1066800"/>
                </a:lnTo>
                <a:cubicBezTo>
                  <a:pt x="16136" y="1066800"/>
                  <a:pt x="0" y="1050664"/>
                  <a:pt x="0" y="1030759"/>
                </a:cubicBezTo>
                <a:lnTo>
                  <a:pt x="0" y="36041"/>
                </a:lnTo>
                <a:cubicBezTo>
                  <a:pt x="0" y="16136"/>
                  <a:pt x="16136" y="0"/>
                  <a:pt x="36041" y="0"/>
                </a:cubicBez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19" name="Shape 16"/>
          <p:cNvSpPr/>
          <p:nvPr/>
        </p:nvSpPr>
        <p:spPr>
          <a:xfrm>
            <a:off x="607540" y="2876244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76200" y="0"/>
                </a:moveTo>
                <a:lnTo>
                  <a:pt x="533400" y="0"/>
                </a:lnTo>
                <a:cubicBezTo>
                  <a:pt x="575456" y="0"/>
                  <a:pt x="609600" y="34144"/>
                  <a:pt x="609600" y="76200"/>
                </a:cubicBezTo>
                <a:lnTo>
                  <a:pt x="609600" y="533400"/>
                </a:lnTo>
                <a:cubicBezTo>
                  <a:pt x="609600" y="575456"/>
                  <a:pt x="575456" y="609600"/>
                  <a:pt x="533400" y="609600"/>
                </a:cubicBezTo>
                <a:lnTo>
                  <a:pt x="76200" y="609600"/>
                </a:lnTo>
                <a:cubicBezTo>
                  <a:pt x="34144" y="609600"/>
                  <a:pt x="0" y="575456"/>
                  <a:pt x="0" y="5334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20" name="Text 17"/>
          <p:cNvSpPr/>
          <p:nvPr/>
        </p:nvSpPr>
        <p:spPr>
          <a:xfrm>
            <a:off x="743658" y="3009546"/>
            <a:ext cx="4762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50" b="1" dirty="0">
                <a:solidFill>
                  <a:srgbClr val="F8F9FA"/>
                </a:solidFill>
                <a:latin typeface="阿里妈妈数黑体" pitchFamily="34" charset="0"/>
                <a:ea typeface="阿里妈妈数黑体" pitchFamily="34" charset="-122"/>
                <a:cs typeface="阿里妈妈数黑体" pitchFamily="34" charset="-120"/>
              </a:rPr>
              <a:t>02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1407592" y="2914296"/>
            <a:ext cx="44577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343A40"/>
                </a:solidFill>
                <a:latin typeface="阿里妈妈数黑体" pitchFamily="34" charset="0"/>
                <a:ea typeface="阿里妈妈数黑体" pitchFamily="34" charset="-122"/>
                <a:cs typeface="阿里妈妈数黑体" pitchFamily="34" charset="-120"/>
              </a:rPr>
              <a:t>工程实践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1407592" y="3295296"/>
            <a:ext cx="44291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dirty="0">
                <a:solidFill>
                  <a:srgbClr val="6C757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软件开发全流程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6266388" y="2685744"/>
            <a:ext cx="5542520" cy="1066800"/>
          </a:xfrm>
          <a:custGeom>
            <a:avLst/>
            <a:gdLst/>
            <a:ahLst/>
            <a:cxnLst/>
            <a:rect l="l" t="t" r="r" b="b"/>
            <a:pathLst>
              <a:path w="5542520" h="1066800">
                <a:moveTo>
                  <a:pt x="36041" y="0"/>
                </a:moveTo>
                <a:lnTo>
                  <a:pt x="5428223" y="0"/>
                </a:lnTo>
                <a:cubicBezTo>
                  <a:pt x="5491348" y="0"/>
                  <a:pt x="5542520" y="51172"/>
                  <a:pt x="5542520" y="114297"/>
                </a:cubicBezTo>
                <a:lnTo>
                  <a:pt x="5542520" y="952503"/>
                </a:lnTo>
                <a:cubicBezTo>
                  <a:pt x="5542520" y="1015628"/>
                  <a:pt x="5491348" y="1066800"/>
                  <a:pt x="5428223" y="1066800"/>
                </a:cubicBezTo>
                <a:lnTo>
                  <a:pt x="36041" y="1066800"/>
                </a:lnTo>
                <a:cubicBezTo>
                  <a:pt x="16136" y="1066800"/>
                  <a:pt x="0" y="1050664"/>
                  <a:pt x="0" y="1030759"/>
                </a:cubicBezTo>
                <a:lnTo>
                  <a:pt x="0" y="36041"/>
                </a:lnTo>
                <a:cubicBezTo>
                  <a:pt x="0" y="16136"/>
                  <a:pt x="16136" y="0"/>
                  <a:pt x="36041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blurRad="142875" dist="95250" dir="5400000" algn="bl" rotWithShape="0">
              <a:srgbClr val="000000">
                <a:alpha val="10196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6266388" y="2685744"/>
            <a:ext cx="36041" cy="1066800"/>
          </a:xfrm>
          <a:custGeom>
            <a:avLst/>
            <a:gdLst/>
            <a:ahLst/>
            <a:cxnLst/>
            <a:rect l="l" t="t" r="r" b="b"/>
            <a:pathLst>
              <a:path w="36041" h="1066800">
                <a:moveTo>
                  <a:pt x="36041" y="0"/>
                </a:moveTo>
                <a:lnTo>
                  <a:pt x="36041" y="0"/>
                </a:lnTo>
                <a:lnTo>
                  <a:pt x="36041" y="1066800"/>
                </a:lnTo>
                <a:lnTo>
                  <a:pt x="36041" y="1066800"/>
                </a:lnTo>
                <a:cubicBezTo>
                  <a:pt x="16136" y="1066800"/>
                  <a:pt x="0" y="1050664"/>
                  <a:pt x="0" y="1030759"/>
                </a:cubicBezTo>
                <a:lnTo>
                  <a:pt x="0" y="36041"/>
                </a:lnTo>
                <a:cubicBezTo>
                  <a:pt x="0" y="16136"/>
                  <a:pt x="16136" y="0"/>
                  <a:pt x="36041" y="0"/>
                </a:cubicBez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25" name="Shape 22"/>
          <p:cNvSpPr/>
          <p:nvPr/>
        </p:nvSpPr>
        <p:spPr>
          <a:xfrm>
            <a:off x="6474908" y="2876244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76200" y="0"/>
                </a:moveTo>
                <a:lnTo>
                  <a:pt x="533400" y="0"/>
                </a:lnTo>
                <a:cubicBezTo>
                  <a:pt x="575456" y="0"/>
                  <a:pt x="609600" y="34144"/>
                  <a:pt x="609600" y="76200"/>
                </a:cubicBezTo>
                <a:lnTo>
                  <a:pt x="609600" y="533400"/>
                </a:lnTo>
                <a:cubicBezTo>
                  <a:pt x="609600" y="575456"/>
                  <a:pt x="575456" y="609600"/>
                  <a:pt x="533400" y="609600"/>
                </a:cubicBezTo>
                <a:lnTo>
                  <a:pt x="76200" y="609600"/>
                </a:lnTo>
                <a:cubicBezTo>
                  <a:pt x="34144" y="609600"/>
                  <a:pt x="0" y="575456"/>
                  <a:pt x="0" y="5334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26" name="Text 23"/>
          <p:cNvSpPr/>
          <p:nvPr/>
        </p:nvSpPr>
        <p:spPr>
          <a:xfrm>
            <a:off x="6611026" y="3009546"/>
            <a:ext cx="4762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50" b="1" dirty="0">
                <a:solidFill>
                  <a:srgbClr val="F8F9FA"/>
                </a:solidFill>
                <a:latin typeface="阿里妈妈数黑体" pitchFamily="34" charset="0"/>
                <a:ea typeface="阿里妈妈数黑体" pitchFamily="34" charset="-122"/>
                <a:cs typeface="阿里妈妈数黑体" pitchFamily="34" charset="-120"/>
              </a:rPr>
              <a:t>05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7274960" y="2914296"/>
            <a:ext cx="44577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343A40"/>
                </a:solidFill>
                <a:latin typeface="阿里妈妈数黑体" pitchFamily="34" charset="0"/>
                <a:ea typeface="阿里妈妈数黑体" pitchFamily="34" charset="-122"/>
                <a:cs typeface="阿里妈妈数黑体" pitchFamily="34" charset="-120"/>
              </a:rPr>
              <a:t>团队与项目管理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7274960" y="3295296"/>
            <a:ext cx="44291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dirty="0">
                <a:solidFill>
                  <a:srgbClr val="6C757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协作模式与质量保证</a:t>
            </a:r>
            <a:endParaRPr lang="en-US" sz="1600" dirty="0"/>
          </a:p>
        </p:txBody>
      </p:sp>
      <p:sp>
        <p:nvSpPr>
          <p:cNvPr id="29" name="Shape 26"/>
          <p:cNvSpPr/>
          <p:nvPr/>
        </p:nvSpPr>
        <p:spPr>
          <a:xfrm>
            <a:off x="399020" y="3942899"/>
            <a:ext cx="5542520" cy="1066800"/>
          </a:xfrm>
          <a:custGeom>
            <a:avLst/>
            <a:gdLst/>
            <a:ahLst/>
            <a:cxnLst/>
            <a:rect l="l" t="t" r="r" b="b"/>
            <a:pathLst>
              <a:path w="5542520" h="1066800">
                <a:moveTo>
                  <a:pt x="36041" y="0"/>
                </a:moveTo>
                <a:lnTo>
                  <a:pt x="5428223" y="0"/>
                </a:lnTo>
                <a:cubicBezTo>
                  <a:pt x="5491348" y="0"/>
                  <a:pt x="5542520" y="51172"/>
                  <a:pt x="5542520" y="114297"/>
                </a:cubicBezTo>
                <a:lnTo>
                  <a:pt x="5542520" y="952503"/>
                </a:lnTo>
                <a:cubicBezTo>
                  <a:pt x="5542520" y="1015628"/>
                  <a:pt x="5491348" y="1066800"/>
                  <a:pt x="5428223" y="1066800"/>
                </a:cubicBezTo>
                <a:lnTo>
                  <a:pt x="36041" y="1066800"/>
                </a:lnTo>
                <a:cubicBezTo>
                  <a:pt x="16136" y="1066800"/>
                  <a:pt x="0" y="1050664"/>
                  <a:pt x="0" y="1030759"/>
                </a:cubicBezTo>
                <a:lnTo>
                  <a:pt x="0" y="36041"/>
                </a:lnTo>
                <a:cubicBezTo>
                  <a:pt x="0" y="16136"/>
                  <a:pt x="16136" y="0"/>
                  <a:pt x="36041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blurRad="142875" dist="95250" dir="5400000" algn="bl" rotWithShape="0">
              <a:srgbClr val="000000">
                <a:alpha val="10196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399020" y="3942899"/>
            <a:ext cx="36041" cy="1066800"/>
          </a:xfrm>
          <a:custGeom>
            <a:avLst/>
            <a:gdLst/>
            <a:ahLst/>
            <a:cxnLst/>
            <a:rect l="l" t="t" r="r" b="b"/>
            <a:pathLst>
              <a:path w="36041" h="1066800">
                <a:moveTo>
                  <a:pt x="36041" y="0"/>
                </a:moveTo>
                <a:lnTo>
                  <a:pt x="36041" y="0"/>
                </a:lnTo>
                <a:lnTo>
                  <a:pt x="36041" y="1066800"/>
                </a:lnTo>
                <a:lnTo>
                  <a:pt x="36041" y="1066800"/>
                </a:lnTo>
                <a:cubicBezTo>
                  <a:pt x="16136" y="1066800"/>
                  <a:pt x="0" y="1050664"/>
                  <a:pt x="0" y="1030759"/>
                </a:cubicBezTo>
                <a:lnTo>
                  <a:pt x="0" y="36041"/>
                </a:lnTo>
                <a:cubicBezTo>
                  <a:pt x="0" y="16136"/>
                  <a:pt x="16136" y="0"/>
                  <a:pt x="36041" y="0"/>
                </a:cubicBez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31" name="Shape 28"/>
          <p:cNvSpPr/>
          <p:nvPr/>
        </p:nvSpPr>
        <p:spPr>
          <a:xfrm>
            <a:off x="607540" y="4133399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76200" y="0"/>
                </a:moveTo>
                <a:lnTo>
                  <a:pt x="533400" y="0"/>
                </a:lnTo>
                <a:cubicBezTo>
                  <a:pt x="575456" y="0"/>
                  <a:pt x="609600" y="34144"/>
                  <a:pt x="609600" y="76200"/>
                </a:cubicBezTo>
                <a:lnTo>
                  <a:pt x="609600" y="533400"/>
                </a:lnTo>
                <a:cubicBezTo>
                  <a:pt x="609600" y="575456"/>
                  <a:pt x="575456" y="609600"/>
                  <a:pt x="533400" y="609600"/>
                </a:cubicBezTo>
                <a:lnTo>
                  <a:pt x="76200" y="609600"/>
                </a:lnTo>
                <a:cubicBezTo>
                  <a:pt x="34144" y="609600"/>
                  <a:pt x="0" y="575456"/>
                  <a:pt x="0" y="5334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32" name="Text 29"/>
          <p:cNvSpPr/>
          <p:nvPr/>
        </p:nvSpPr>
        <p:spPr>
          <a:xfrm>
            <a:off x="743658" y="4266701"/>
            <a:ext cx="4762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50" b="1" dirty="0">
                <a:solidFill>
                  <a:srgbClr val="343A40"/>
                </a:solidFill>
                <a:latin typeface="阿里妈妈数黑体" pitchFamily="34" charset="0"/>
                <a:ea typeface="阿里妈妈数黑体" pitchFamily="34" charset="-122"/>
                <a:cs typeface="阿里妈妈数黑体" pitchFamily="34" charset="-120"/>
              </a:rPr>
              <a:t>03</a:t>
            </a:r>
            <a:endParaRPr lang="en-US" sz="1600" dirty="0"/>
          </a:p>
        </p:txBody>
      </p:sp>
      <p:sp>
        <p:nvSpPr>
          <p:cNvPr id="33" name="Text 30"/>
          <p:cNvSpPr/>
          <p:nvPr/>
        </p:nvSpPr>
        <p:spPr>
          <a:xfrm>
            <a:off x="1407592" y="4171451"/>
            <a:ext cx="44577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zh-CN" altLang="en-US" sz="1800" b="1" dirty="0">
                <a:solidFill>
                  <a:srgbClr val="343A40"/>
                </a:solidFill>
                <a:latin typeface="阿里妈妈数黑体" pitchFamily="34" charset="0"/>
                <a:ea typeface="阿里妈妈数黑体" pitchFamily="34" charset="-122"/>
                <a:cs typeface="阿里妈妈数黑体" pitchFamily="34" charset="-120"/>
              </a:rPr>
              <a:t>主要交付物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1407592" y="4552451"/>
            <a:ext cx="44291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dirty="0">
                <a:solidFill>
                  <a:srgbClr val="6C757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系统与文档</a:t>
            </a:r>
            <a:endParaRPr lang="en-US" sz="1600" dirty="0"/>
          </a:p>
        </p:txBody>
      </p:sp>
      <p:sp>
        <p:nvSpPr>
          <p:cNvPr id="35" name="Shape 32"/>
          <p:cNvSpPr/>
          <p:nvPr/>
        </p:nvSpPr>
        <p:spPr>
          <a:xfrm>
            <a:off x="6266388" y="3942899"/>
            <a:ext cx="5542520" cy="1066800"/>
          </a:xfrm>
          <a:custGeom>
            <a:avLst/>
            <a:gdLst/>
            <a:ahLst/>
            <a:cxnLst/>
            <a:rect l="l" t="t" r="r" b="b"/>
            <a:pathLst>
              <a:path w="5542520" h="1066800">
                <a:moveTo>
                  <a:pt x="36041" y="0"/>
                </a:moveTo>
                <a:lnTo>
                  <a:pt x="5428223" y="0"/>
                </a:lnTo>
                <a:cubicBezTo>
                  <a:pt x="5491348" y="0"/>
                  <a:pt x="5542520" y="51172"/>
                  <a:pt x="5542520" y="114297"/>
                </a:cubicBezTo>
                <a:lnTo>
                  <a:pt x="5542520" y="952503"/>
                </a:lnTo>
                <a:cubicBezTo>
                  <a:pt x="5542520" y="1015628"/>
                  <a:pt x="5491348" y="1066800"/>
                  <a:pt x="5428223" y="1066800"/>
                </a:cubicBezTo>
                <a:lnTo>
                  <a:pt x="36041" y="1066800"/>
                </a:lnTo>
                <a:cubicBezTo>
                  <a:pt x="16136" y="1066800"/>
                  <a:pt x="0" y="1050664"/>
                  <a:pt x="0" y="1030759"/>
                </a:cubicBezTo>
                <a:lnTo>
                  <a:pt x="0" y="36041"/>
                </a:lnTo>
                <a:cubicBezTo>
                  <a:pt x="0" y="16136"/>
                  <a:pt x="16136" y="0"/>
                  <a:pt x="36041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blurRad="142875" dist="95250" dir="5400000" algn="bl" rotWithShape="0">
              <a:srgbClr val="000000">
                <a:alpha val="10196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266388" y="3942899"/>
            <a:ext cx="36041" cy="1066800"/>
          </a:xfrm>
          <a:custGeom>
            <a:avLst/>
            <a:gdLst/>
            <a:ahLst/>
            <a:cxnLst/>
            <a:rect l="l" t="t" r="r" b="b"/>
            <a:pathLst>
              <a:path w="36041" h="1066800">
                <a:moveTo>
                  <a:pt x="36041" y="0"/>
                </a:moveTo>
                <a:lnTo>
                  <a:pt x="36041" y="0"/>
                </a:lnTo>
                <a:lnTo>
                  <a:pt x="36041" y="1066800"/>
                </a:lnTo>
                <a:lnTo>
                  <a:pt x="36041" y="1066800"/>
                </a:lnTo>
                <a:cubicBezTo>
                  <a:pt x="16136" y="1066800"/>
                  <a:pt x="0" y="1050664"/>
                  <a:pt x="0" y="1030759"/>
                </a:cubicBezTo>
                <a:lnTo>
                  <a:pt x="0" y="36041"/>
                </a:lnTo>
                <a:cubicBezTo>
                  <a:pt x="0" y="16136"/>
                  <a:pt x="16136" y="0"/>
                  <a:pt x="36041" y="0"/>
                </a:cubicBez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37" name="Shape 34"/>
          <p:cNvSpPr/>
          <p:nvPr/>
        </p:nvSpPr>
        <p:spPr>
          <a:xfrm>
            <a:off x="6474908" y="4133399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76200" y="0"/>
                </a:moveTo>
                <a:lnTo>
                  <a:pt x="533400" y="0"/>
                </a:lnTo>
                <a:cubicBezTo>
                  <a:pt x="575456" y="0"/>
                  <a:pt x="609600" y="34144"/>
                  <a:pt x="609600" y="76200"/>
                </a:cubicBezTo>
                <a:lnTo>
                  <a:pt x="609600" y="533400"/>
                </a:lnTo>
                <a:cubicBezTo>
                  <a:pt x="609600" y="575456"/>
                  <a:pt x="575456" y="609600"/>
                  <a:pt x="533400" y="609600"/>
                </a:cubicBezTo>
                <a:lnTo>
                  <a:pt x="76200" y="609600"/>
                </a:lnTo>
                <a:cubicBezTo>
                  <a:pt x="34144" y="609600"/>
                  <a:pt x="0" y="575456"/>
                  <a:pt x="0" y="5334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38" name="Text 35"/>
          <p:cNvSpPr/>
          <p:nvPr/>
        </p:nvSpPr>
        <p:spPr>
          <a:xfrm>
            <a:off x="6611026" y="4266701"/>
            <a:ext cx="4762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50" b="1" dirty="0">
                <a:solidFill>
                  <a:srgbClr val="343A40"/>
                </a:solidFill>
                <a:latin typeface="阿里妈妈数黑体" pitchFamily="34" charset="0"/>
                <a:ea typeface="阿里妈妈数黑体" pitchFamily="34" charset="-122"/>
                <a:cs typeface="阿里妈妈数黑体" pitchFamily="34" charset="-120"/>
              </a:rPr>
              <a:t>06</a:t>
            </a:r>
            <a:endParaRPr lang="en-US" sz="1600" dirty="0"/>
          </a:p>
        </p:txBody>
      </p:sp>
      <p:sp>
        <p:nvSpPr>
          <p:cNvPr id="39" name="Text 36"/>
          <p:cNvSpPr/>
          <p:nvPr/>
        </p:nvSpPr>
        <p:spPr>
          <a:xfrm>
            <a:off x="7274960" y="4171451"/>
            <a:ext cx="44577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343A40"/>
                </a:solidFill>
                <a:latin typeface="阿里妈妈数黑体" pitchFamily="34" charset="0"/>
                <a:ea typeface="阿里妈妈数黑体" pitchFamily="34" charset="-122"/>
                <a:cs typeface="阿里妈妈数黑体" pitchFamily="34" charset="-120"/>
              </a:rPr>
              <a:t>收获、反思与展望</a:t>
            </a:r>
            <a:endParaRPr lang="en-US" sz="1600" dirty="0"/>
          </a:p>
        </p:txBody>
      </p:sp>
      <p:sp>
        <p:nvSpPr>
          <p:cNvPr id="40" name="Text 37"/>
          <p:cNvSpPr/>
          <p:nvPr/>
        </p:nvSpPr>
        <p:spPr>
          <a:xfrm>
            <a:off x="7274960" y="4552451"/>
            <a:ext cx="44291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dirty="0">
                <a:solidFill>
                  <a:srgbClr val="6C757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成长与规划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slides_tmpl/image/25-10-09-16:35:25-d3jn7j8s8jdo4os5dj2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635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81000" y="457264"/>
            <a:ext cx="457200" cy="304800"/>
          </a:xfrm>
          <a:custGeom>
            <a:avLst/>
            <a:gdLst/>
            <a:ahLst/>
            <a:cxnLst/>
            <a:rect l="l" t="t" r="r" b="b"/>
            <a:pathLst>
              <a:path w="457200" h="304800">
                <a:moveTo>
                  <a:pt x="152400" y="0"/>
                </a:moveTo>
                <a:lnTo>
                  <a:pt x="304800" y="0"/>
                </a:lnTo>
                <a:cubicBezTo>
                  <a:pt x="388912" y="0"/>
                  <a:pt x="457200" y="68288"/>
                  <a:pt x="457200" y="152400"/>
                </a:cubicBezTo>
                <a:lnTo>
                  <a:pt x="457200" y="152400"/>
                </a:lnTo>
                <a:cubicBezTo>
                  <a:pt x="457200" y="236512"/>
                  <a:pt x="388912" y="304800"/>
                  <a:pt x="304800" y="304800"/>
                </a:cubicBezTo>
                <a:lnTo>
                  <a:pt x="152400" y="304800"/>
                </a:lnTo>
                <a:cubicBezTo>
                  <a:pt x="68288" y="304800"/>
                  <a:pt x="0" y="236512"/>
                  <a:pt x="0" y="152400"/>
                </a:cubicBezTo>
                <a:lnTo>
                  <a:pt x="0" y="152400"/>
                </a:lnTo>
                <a:cubicBezTo>
                  <a:pt x="0" y="68288"/>
                  <a:pt x="68288" y="0"/>
                  <a:pt x="152400" y="0"/>
                </a:cubicBez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4" name="Text 1"/>
          <p:cNvSpPr/>
          <p:nvPr/>
        </p:nvSpPr>
        <p:spPr>
          <a:xfrm>
            <a:off x="381000" y="457264"/>
            <a:ext cx="533400" cy="304800"/>
          </a:xfrm>
          <a:prstGeom prst="rect">
            <a:avLst/>
          </a:prstGeom>
          <a:noFill/>
          <a:ln/>
        </p:spPr>
        <p:txBody>
          <a:bodyPr wrap="square" lIns="152400" tIns="38100" rIns="152400" bIns="3810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01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955476" y="381000"/>
            <a:ext cx="519112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en-US" sz="3600" b="1" dirty="0">
                <a:solidFill>
                  <a:srgbClr val="343A40"/>
                </a:solidFill>
                <a:latin typeface="阿里妈妈数黑体" pitchFamily="34" charset="0"/>
                <a:ea typeface="阿里妈妈数黑体" pitchFamily="34" charset="-122"/>
                <a:cs typeface="阿里妈妈数黑体" pitchFamily="34" charset="-120"/>
              </a:rPr>
              <a:t>项目概述:解决什么痛点?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1143000" y="914367"/>
            <a:ext cx="1066800" cy="38100"/>
          </a:xfrm>
          <a:custGeom>
            <a:avLst/>
            <a:gdLst/>
            <a:ahLst/>
            <a:cxnLst/>
            <a:rect l="l" t="t" r="r" b="b"/>
            <a:pathLst>
              <a:path w="1066800" h="38100">
                <a:moveTo>
                  <a:pt x="0" y="0"/>
                </a:moveTo>
                <a:lnTo>
                  <a:pt x="1066800" y="0"/>
                </a:lnTo>
                <a:lnTo>
                  <a:pt x="10668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7" name="Shape 4"/>
          <p:cNvSpPr/>
          <p:nvPr/>
        </p:nvSpPr>
        <p:spPr>
          <a:xfrm>
            <a:off x="381000" y="1198991"/>
            <a:ext cx="5600700" cy="1694420"/>
          </a:xfrm>
          <a:custGeom>
            <a:avLst/>
            <a:gdLst/>
            <a:ahLst/>
            <a:cxnLst/>
            <a:rect l="l" t="t" r="r" b="b"/>
            <a:pathLst>
              <a:path w="5600700" h="1694420">
                <a:moveTo>
                  <a:pt x="36041" y="0"/>
                </a:moveTo>
                <a:lnTo>
                  <a:pt x="5564659" y="0"/>
                </a:lnTo>
                <a:cubicBezTo>
                  <a:pt x="5584564" y="0"/>
                  <a:pt x="5600700" y="16136"/>
                  <a:pt x="5600700" y="36041"/>
                </a:cubicBezTo>
                <a:lnTo>
                  <a:pt x="5600700" y="1580115"/>
                </a:lnTo>
                <a:cubicBezTo>
                  <a:pt x="5600700" y="1643244"/>
                  <a:pt x="5549524" y="1694420"/>
                  <a:pt x="5486394" y="1694420"/>
                </a:cubicBezTo>
                <a:lnTo>
                  <a:pt x="114306" y="1694420"/>
                </a:lnTo>
                <a:cubicBezTo>
                  <a:pt x="51176" y="1694420"/>
                  <a:pt x="0" y="1643244"/>
                  <a:pt x="0" y="1580115"/>
                </a:cubicBezTo>
                <a:lnTo>
                  <a:pt x="0" y="36041"/>
                </a:lnTo>
                <a:cubicBezTo>
                  <a:pt x="0" y="16136"/>
                  <a:pt x="16136" y="0"/>
                  <a:pt x="36041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blurRad="142875" dist="95250" dir="5400000" algn="bl" rotWithShape="0">
              <a:srgbClr val="000000">
                <a:alpha val="10196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81000" y="1198991"/>
            <a:ext cx="5600700" cy="36041"/>
          </a:xfrm>
          <a:custGeom>
            <a:avLst/>
            <a:gdLst/>
            <a:ahLst/>
            <a:cxnLst/>
            <a:rect l="l" t="t" r="r" b="b"/>
            <a:pathLst>
              <a:path w="5600700" h="36041">
                <a:moveTo>
                  <a:pt x="36041" y="0"/>
                </a:moveTo>
                <a:lnTo>
                  <a:pt x="5564659" y="0"/>
                </a:lnTo>
                <a:cubicBezTo>
                  <a:pt x="5584564" y="0"/>
                  <a:pt x="5600700" y="16136"/>
                  <a:pt x="5600700" y="36041"/>
                </a:cubicBezTo>
                <a:lnTo>
                  <a:pt x="5600700" y="36041"/>
                </a:lnTo>
                <a:lnTo>
                  <a:pt x="0" y="36041"/>
                </a:lnTo>
                <a:lnTo>
                  <a:pt x="0" y="36041"/>
                </a:lnTo>
                <a:cubicBezTo>
                  <a:pt x="0" y="16136"/>
                  <a:pt x="16136" y="0"/>
                  <a:pt x="36041" y="0"/>
                </a:cubicBezTo>
                <a:close/>
              </a:path>
            </a:pathLst>
          </a:custGeom>
          <a:solidFill>
            <a:srgbClr val="DC3545"/>
          </a:solidFill>
          <a:ln/>
        </p:spPr>
      </p:sp>
      <p:sp>
        <p:nvSpPr>
          <p:cNvPr id="9" name="Shape 6"/>
          <p:cNvSpPr/>
          <p:nvPr/>
        </p:nvSpPr>
        <p:spPr>
          <a:xfrm>
            <a:off x="609600" y="1417004"/>
            <a:ext cx="285750" cy="285750"/>
          </a:xfrm>
          <a:custGeom>
            <a:avLst/>
            <a:gdLst/>
            <a:ahLst/>
            <a:cxnLst/>
            <a:rect l="l" t="t" r="r" b="b"/>
            <a:pathLst>
              <a:path w="285750" h="285750">
                <a:moveTo>
                  <a:pt x="142875" y="0"/>
                </a:moveTo>
                <a:cubicBezTo>
                  <a:pt x="151079" y="0"/>
                  <a:pt x="158614" y="4521"/>
                  <a:pt x="162520" y="11720"/>
                </a:cubicBezTo>
                <a:lnTo>
                  <a:pt x="283071" y="234962"/>
                </a:lnTo>
                <a:cubicBezTo>
                  <a:pt x="286810" y="241883"/>
                  <a:pt x="286643" y="250254"/>
                  <a:pt x="282625" y="257008"/>
                </a:cubicBezTo>
                <a:cubicBezTo>
                  <a:pt x="278606" y="263761"/>
                  <a:pt x="271295" y="267891"/>
                  <a:pt x="263426" y="267891"/>
                </a:cubicBezTo>
                <a:lnTo>
                  <a:pt x="22324" y="267891"/>
                </a:lnTo>
                <a:cubicBezTo>
                  <a:pt x="14455" y="267891"/>
                  <a:pt x="7200" y="263761"/>
                  <a:pt x="3125" y="257008"/>
                </a:cubicBezTo>
                <a:cubicBezTo>
                  <a:pt x="-949" y="250254"/>
                  <a:pt x="-1060" y="241883"/>
                  <a:pt x="2679" y="234962"/>
                </a:cubicBezTo>
                <a:lnTo>
                  <a:pt x="123230" y="11720"/>
                </a:lnTo>
                <a:cubicBezTo>
                  <a:pt x="127136" y="4521"/>
                  <a:pt x="134671" y="0"/>
                  <a:pt x="142875" y="0"/>
                </a:cubicBezTo>
                <a:close/>
                <a:moveTo>
                  <a:pt x="142875" y="93762"/>
                </a:moveTo>
                <a:cubicBezTo>
                  <a:pt x="135452" y="93762"/>
                  <a:pt x="129480" y="99733"/>
                  <a:pt x="129480" y="107156"/>
                </a:cubicBezTo>
                <a:lnTo>
                  <a:pt x="129480" y="169664"/>
                </a:lnTo>
                <a:cubicBezTo>
                  <a:pt x="129480" y="177087"/>
                  <a:pt x="135452" y="183059"/>
                  <a:pt x="142875" y="183059"/>
                </a:cubicBezTo>
                <a:cubicBezTo>
                  <a:pt x="150298" y="183059"/>
                  <a:pt x="156270" y="177087"/>
                  <a:pt x="156270" y="169664"/>
                </a:cubicBezTo>
                <a:lnTo>
                  <a:pt x="156270" y="107156"/>
                </a:lnTo>
                <a:cubicBezTo>
                  <a:pt x="156270" y="99733"/>
                  <a:pt x="150298" y="93762"/>
                  <a:pt x="142875" y="93762"/>
                </a:cubicBezTo>
                <a:close/>
                <a:moveTo>
                  <a:pt x="157776" y="214313"/>
                </a:moveTo>
                <a:cubicBezTo>
                  <a:pt x="158115" y="208781"/>
                  <a:pt x="155357" y="203519"/>
                  <a:pt x="150615" y="200651"/>
                </a:cubicBezTo>
                <a:cubicBezTo>
                  <a:pt x="145874" y="197783"/>
                  <a:pt x="139932" y="197783"/>
                  <a:pt x="135190" y="200651"/>
                </a:cubicBezTo>
                <a:cubicBezTo>
                  <a:pt x="130449" y="203519"/>
                  <a:pt x="127690" y="208781"/>
                  <a:pt x="128029" y="214312"/>
                </a:cubicBezTo>
                <a:cubicBezTo>
                  <a:pt x="127690" y="219844"/>
                  <a:pt x="130449" y="225106"/>
                  <a:pt x="135190" y="227974"/>
                </a:cubicBezTo>
                <a:cubicBezTo>
                  <a:pt x="139932" y="230842"/>
                  <a:pt x="145874" y="230842"/>
                  <a:pt x="150615" y="227974"/>
                </a:cubicBezTo>
                <a:cubicBezTo>
                  <a:pt x="155357" y="225106"/>
                  <a:pt x="158115" y="219844"/>
                  <a:pt x="157776" y="214313"/>
                </a:cubicBezTo>
                <a:close/>
              </a:path>
            </a:pathLst>
          </a:custGeom>
          <a:solidFill>
            <a:srgbClr val="DC3545"/>
          </a:solidFill>
          <a:ln/>
        </p:spPr>
      </p:sp>
      <p:sp>
        <p:nvSpPr>
          <p:cNvPr id="10" name="Text 7"/>
          <p:cNvSpPr/>
          <p:nvPr/>
        </p:nvSpPr>
        <p:spPr>
          <a:xfrm>
            <a:off x="1042923" y="1407512"/>
            <a:ext cx="10287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343A40"/>
                </a:solidFill>
                <a:latin typeface="阿里妈妈数黑体" pitchFamily="34" charset="0"/>
                <a:ea typeface="阿里妈妈数黑体" pitchFamily="34" charset="-122"/>
                <a:cs typeface="阿里妈妈数黑体" pitchFamily="34" charset="-120"/>
              </a:rPr>
              <a:t>问题背景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571500" y="1864695"/>
            <a:ext cx="5305425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350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当前AI大模型服务呈现出</a:t>
            </a:r>
            <a:r>
              <a:rPr lang="en-US" sz="1350" b="1" dirty="0">
                <a:solidFill>
                  <a:srgbClr val="DC3545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多样化和分散化</a:t>
            </a:r>
            <a:r>
              <a:rPr lang="en-US" sz="1350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的特征。GPT、DeepSeek、文心一言等各类模型各自拥有独立的平台和接口，导致用户需要在不同平台间频繁切换和重复登录，</a:t>
            </a:r>
            <a:r>
              <a:rPr lang="en-US" sz="1350" dirty="0">
                <a:solidFill>
                  <a:srgbClr val="DC3545"/>
                </a:solidFill>
                <a:highlight>
                  <a:srgbClr val="DC3545">
                    <a:alpha val="10000"/>
                  </a:srgbClr>
                </a:highlight>
                <a:latin typeface="MiSans" pitchFamily="34" charset="0"/>
                <a:ea typeface="MiSans" pitchFamily="34" charset="-122"/>
                <a:cs typeface="MiSans" pitchFamily="34" charset="-120"/>
              </a:rPr>
              <a:t> </a:t>
            </a:r>
            <a:r>
              <a:rPr lang="zh-CN" altLang="en-US" sz="1350" dirty="0">
                <a:solidFill>
                  <a:srgbClr val="DC3545"/>
                </a:solidFill>
                <a:highlight>
                  <a:srgbClr val="DC3545">
                    <a:alpha val="10000"/>
                  </a:srgbClr>
                </a:highlight>
                <a:latin typeface="MiSans" pitchFamily="34" charset="0"/>
                <a:ea typeface="MiSans" pitchFamily="34" charset="-122"/>
                <a:cs typeface="MiSans" pitchFamily="34" charset="-120"/>
              </a:rPr>
              <a:t>操作不方便</a:t>
            </a:r>
            <a:r>
              <a:rPr lang="en-US" sz="1350" dirty="0">
                <a:solidFill>
                  <a:srgbClr val="DC3545"/>
                </a:solidFill>
                <a:highlight>
                  <a:srgbClr val="DC3545">
                    <a:alpha val="10000"/>
                  </a:srgbClr>
                </a:highlight>
                <a:latin typeface="MiSans" pitchFamily="34" charset="0"/>
                <a:ea typeface="MiSans" pitchFamily="34" charset="-122"/>
                <a:cs typeface="MiSans" pitchFamily="34" charset="-120"/>
              </a:rPr>
              <a:t> </a:t>
            </a:r>
            <a:r>
              <a:rPr lang="en-US" sz="1350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。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381000" y="3099245"/>
            <a:ext cx="5600700" cy="1694420"/>
          </a:xfrm>
          <a:custGeom>
            <a:avLst/>
            <a:gdLst/>
            <a:ahLst/>
            <a:cxnLst/>
            <a:rect l="l" t="t" r="r" b="b"/>
            <a:pathLst>
              <a:path w="5600700" h="1694420">
                <a:moveTo>
                  <a:pt x="36041" y="0"/>
                </a:moveTo>
                <a:lnTo>
                  <a:pt x="5564659" y="0"/>
                </a:lnTo>
                <a:cubicBezTo>
                  <a:pt x="5584564" y="0"/>
                  <a:pt x="5600700" y="16136"/>
                  <a:pt x="5600700" y="36041"/>
                </a:cubicBezTo>
                <a:lnTo>
                  <a:pt x="5600700" y="1580115"/>
                </a:lnTo>
                <a:cubicBezTo>
                  <a:pt x="5600700" y="1643244"/>
                  <a:pt x="5549524" y="1694420"/>
                  <a:pt x="5486394" y="1694420"/>
                </a:cubicBezTo>
                <a:lnTo>
                  <a:pt x="114306" y="1694420"/>
                </a:lnTo>
                <a:cubicBezTo>
                  <a:pt x="51176" y="1694420"/>
                  <a:pt x="0" y="1643244"/>
                  <a:pt x="0" y="1580115"/>
                </a:cubicBezTo>
                <a:lnTo>
                  <a:pt x="0" y="36041"/>
                </a:lnTo>
                <a:cubicBezTo>
                  <a:pt x="0" y="16136"/>
                  <a:pt x="16136" y="0"/>
                  <a:pt x="36041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blurRad="142875" dist="95250" dir="5400000" algn="bl" rotWithShape="0">
              <a:srgbClr val="000000">
                <a:alpha val="10196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381000" y="3099245"/>
            <a:ext cx="5600700" cy="36041"/>
          </a:xfrm>
          <a:custGeom>
            <a:avLst/>
            <a:gdLst/>
            <a:ahLst/>
            <a:cxnLst/>
            <a:rect l="l" t="t" r="r" b="b"/>
            <a:pathLst>
              <a:path w="5600700" h="36041">
                <a:moveTo>
                  <a:pt x="36041" y="0"/>
                </a:moveTo>
                <a:lnTo>
                  <a:pt x="5564659" y="0"/>
                </a:lnTo>
                <a:cubicBezTo>
                  <a:pt x="5584564" y="0"/>
                  <a:pt x="5600700" y="16136"/>
                  <a:pt x="5600700" y="36041"/>
                </a:cubicBezTo>
                <a:lnTo>
                  <a:pt x="5600700" y="36041"/>
                </a:lnTo>
                <a:lnTo>
                  <a:pt x="0" y="36041"/>
                </a:lnTo>
                <a:lnTo>
                  <a:pt x="0" y="36041"/>
                </a:lnTo>
                <a:cubicBezTo>
                  <a:pt x="0" y="16136"/>
                  <a:pt x="16136" y="0"/>
                  <a:pt x="36041" y="0"/>
                </a:cubicBez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14" name="Shape 11"/>
          <p:cNvSpPr/>
          <p:nvPr/>
        </p:nvSpPr>
        <p:spPr>
          <a:xfrm>
            <a:off x="573881" y="3317258"/>
            <a:ext cx="357188" cy="285750"/>
          </a:xfrm>
          <a:custGeom>
            <a:avLst/>
            <a:gdLst/>
            <a:ahLst/>
            <a:cxnLst/>
            <a:rect l="l" t="t" r="r" b="b"/>
            <a:pathLst>
              <a:path w="357188" h="285750">
                <a:moveTo>
                  <a:pt x="178594" y="8930"/>
                </a:moveTo>
                <a:cubicBezTo>
                  <a:pt x="210629" y="8930"/>
                  <a:pt x="236637" y="34938"/>
                  <a:pt x="236637" y="66973"/>
                </a:cubicBezTo>
                <a:cubicBezTo>
                  <a:pt x="236637" y="99007"/>
                  <a:pt x="210629" y="125016"/>
                  <a:pt x="178594" y="125016"/>
                </a:cubicBezTo>
                <a:cubicBezTo>
                  <a:pt x="146559" y="125016"/>
                  <a:pt x="120551" y="99007"/>
                  <a:pt x="120551" y="66973"/>
                </a:cubicBezTo>
                <a:cubicBezTo>
                  <a:pt x="120551" y="34938"/>
                  <a:pt x="146559" y="8930"/>
                  <a:pt x="178594" y="8930"/>
                </a:cubicBezTo>
                <a:close/>
                <a:moveTo>
                  <a:pt x="53578" y="49113"/>
                </a:moveTo>
                <a:cubicBezTo>
                  <a:pt x="75756" y="49113"/>
                  <a:pt x="93762" y="67119"/>
                  <a:pt x="93762" y="89297"/>
                </a:cubicBezTo>
                <a:cubicBezTo>
                  <a:pt x="93762" y="111475"/>
                  <a:pt x="75756" y="129480"/>
                  <a:pt x="53578" y="129480"/>
                </a:cubicBezTo>
                <a:cubicBezTo>
                  <a:pt x="31400" y="129480"/>
                  <a:pt x="13395" y="111475"/>
                  <a:pt x="13395" y="89297"/>
                </a:cubicBezTo>
                <a:cubicBezTo>
                  <a:pt x="13395" y="67119"/>
                  <a:pt x="31400" y="49113"/>
                  <a:pt x="53578" y="49113"/>
                </a:cubicBezTo>
                <a:close/>
                <a:moveTo>
                  <a:pt x="0" y="232172"/>
                </a:moveTo>
                <a:cubicBezTo>
                  <a:pt x="0" y="192714"/>
                  <a:pt x="31979" y="160734"/>
                  <a:pt x="71438" y="160734"/>
                </a:cubicBezTo>
                <a:cubicBezTo>
                  <a:pt x="78581" y="160734"/>
                  <a:pt x="85502" y="161795"/>
                  <a:pt x="92032" y="163748"/>
                </a:cubicBezTo>
                <a:cubicBezTo>
                  <a:pt x="73670" y="184286"/>
                  <a:pt x="62508" y="211410"/>
                  <a:pt x="62508" y="241102"/>
                </a:cubicBezTo>
                <a:lnTo>
                  <a:pt x="62508" y="250031"/>
                </a:lnTo>
                <a:cubicBezTo>
                  <a:pt x="62508" y="256394"/>
                  <a:pt x="63847" y="262421"/>
                  <a:pt x="66247" y="267891"/>
                </a:cubicBezTo>
                <a:lnTo>
                  <a:pt x="17859" y="267891"/>
                </a:lnTo>
                <a:cubicBezTo>
                  <a:pt x="7981" y="267891"/>
                  <a:pt x="0" y="259910"/>
                  <a:pt x="0" y="250031"/>
                </a:cubicBezTo>
                <a:lnTo>
                  <a:pt x="0" y="232172"/>
                </a:lnTo>
                <a:close/>
                <a:moveTo>
                  <a:pt x="290940" y="267891"/>
                </a:moveTo>
                <a:cubicBezTo>
                  <a:pt x="293340" y="262421"/>
                  <a:pt x="294680" y="256394"/>
                  <a:pt x="294680" y="250031"/>
                </a:cubicBezTo>
                <a:lnTo>
                  <a:pt x="294680" y="241102"/>
                </a:lnTo>
                <a:cubicBezTo>
                  <a:pt x="294680" y="211410"/>
                  <a:pt x="283518" y="184286"/>
                  <a:pt x="265156" y="163748"/>
                </a:cubicBezTo>
                <a:cubicBezTo>
                  <a:pt x="271686" y="161795"/>
                  <a:pt x="278606" y="160734"/>
                  <a:pt x="285750" y="160734"/>
                </a:cubicBezTo>
                <a:cubicBezTo>
                  <a:pt x="325208" y="160734"/>
                  <a:pt x="357188" y="192714"/>
                  <a:pt x="357188" y="232172"/>
                </a:cubicBezTo>
                <a:lnTo>
                  <a:pt x="357188" y="250031"/>
                </a:lnTo>
                <a:cubicBezTo>
                  <a:pt x="357188" y="259910"/>
                  <a:pt x="349207" y="267891"/>
                  <a:pt x="339328" y="267891"/>
                </a:cubicBezTo>
                <a:lnTo>
                  <a:pt x="290940" y="267891"/>
                </a:lnTo>
                <a:close/>
                <a:moveTo>
                  <a:pt x="263426" y="89297"/>
                </a:moveTo>
                <a:cubicBezTo>
                  <a:pt x="263426" y="67119"/>
                  <a:pt x="281431" y="49113"/>
                  <a:pt x="303609" y="49113"/>
                </a:cubicBezTo>
                <a:cubicBezTo>
                  <a:pt x="325787" y="49113"/>
                  <a:pt x="343793" y="67119"/>
                  <a:pt x="343793" y="89297"/>
                </a:cubicBezTo>
                <a:cubicBezTo>
                  <a:pt x="343793" y="111475"/>
                  <a:pt x="325787" y="129480"/>
                  <a:pt x="303609" y="129480"/>
                </a:cubicBezTo>
                <a:cubicBezTo>
                  <a:pt x="281431" y="129480"/>
                  <a:pt x="263426" y="111475"/>
                  <a:pt x="263426" y="89297"/>
                </a:cubicBezTo>
                <a:close/>
                <a:moveTo>
                  <a:pt x="89297" y="241102"/>
                </a:moveTo>
                <a:cubicBezTo>
                  <a:pt x="89297" y="191765"/>
                  <a:pt x="129257" y="151805"/>
                  <a:pt x="178594" y="151805"/>
                </a:cubicBezTo>
                <a:cubicBezTo>
                  <a:pt x="227930" y="151805"/>
                  <a:pt x="267891" y="191765"/>
                  <a:pt x="267891" y="241102"/>
                </a:cubicBezTo>
                <a:lnTo>
                  <a:pt x="267891" y="250031"/>
                </a:lnTo>
                <a:cubicBezTo>
                  <a:pt x="267891" y="259910"/>
                  <a:pt x="259910" y="267891"/>
                  <a:pt x="250031" y="267891"/>
                </a:cubicBezTo>
                <a:lnTo>
                  <a:pt x="107156" y="267891"/>
                </a:lnTo>
                <a:cubicBezTo>
                  <a:pt x="97278" y="267891"/>
                  <a:pt x="89297" y="259910"/>
                  <a:pt x="89297" y="250031"/>
                </a:cubicBezTo>
                <a:lnTo>
                  <a:pt x="89297" y="241102"/>
                </a:ln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15" name="Text 12"/>
          <p:cNvSpPr/>
          <p:nvPr/>
        </p:nvSpPr>
        <p:spPr>
          <a:xfrm>
            <a:off x="1042923" y="3307766"/>
            <a:ext cx="10287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343A40"/>
                </a:solidFill>
                <a:latin typeface="阿里妈妈数黑体" pitchFamily="34" charset="0"/>
                <a:ea typeface="阿里妈妈数黑体" pitchFamily="34" charset="-122"/>
                <a:cs typeface="阿里妈妈数黑体" pitchFamily="34" charset="-120"/>
              </a:rPr>
              <a:t>用户定位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571500" y="3764949"/>
            <a:ext cx="5305425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350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主要服务</a:t>
            </a:r>
            <a:r>
              <a:rPr lang="en-US" sz="1350" dirty="0">
                <a:solidFill>
                  <a:srgbClr val="343A40"/>
                </a:solidFill>
                <a:highlight>
                  <a:srgbClr val="FFC107">
                    <a:alpha val="20000"/>
                  </a:srgbClr>
                </a:highlight>
                <a:latin typeface="MiSans" pitchFamily="34" charset="0"/>
                <a:ea typeface="MiSans" pitchFamily="34" charset="-122"/>
                <a:cs typeface="MiSans" pitchFamily="34" charset="-120"/>
              </a:rPr>
              <a:t> 在校大学生 </a:t>
            </a:r>
            <a:r>
              <a:rPr lang="en-US" sz="1350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群体。作为AI工具的活跃使用者，学生群体需要便捷、高效地接触和使用多个大模型服务，以完成学术研究、课程项目和个人探索等多种任务。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6210235" y="1180971"/>
            <a:ext cx="5600700" cy="2000250"/>
          </a:xfrm>
          <a:custGeom>
            <a:avLst/>
            <a:gdLst/>
            <a:ahLst/>
            <a:cxnLst/>
            <a:rect l="l" t="t" r="r" b="b"/>
            <a:pathLst>
              <a:path w="5600700" h="2000250">
                <a:moveTo>
                  <a:pt x="114294" y="0"/>
                </a:moveTo>
                <a:lnTo>
                  <a:pt x="5486406" y="0"/>
                </a:lnTo>
                <a:cubicBezTo>
                  <a:pt x="5549486" y="0"/>
                  <a:pt x="5600700" y="51214"/>
                  <a:pt x="5600700" y="114294"/>
                </a:cubicBezTo>
                <a:lnTo>
                  <a:pt x="5600700" y="1885956"/>
                </a:lnTo>
                <a:cubicBezTo>
                  <a:pt x="5600700" y="1949036"/>
                  <a:pt x="5549486" y="2000250"/>
                  <a:pt x="5486406" y="2000250"/>
                </a:cubicBezTo>
                <a:lnTo>
                  <a:pt x="114294" y="2000250"/>
                </a:lnTo>
                <a:cubicBezTo>
                  <a:pt x="51214" y="2000250"/>
                  <a:pt x="0" y="1949036"/>
                  <a:pt x="0" y="1885956"/>
                </a:cubicBezTo>
                <a:lnTo>
                  <a:pt x="0" y="114294"/>
                </a:lnTo>
                <a:cubicBezTo>
                  <a:pt x="0" y="51214"/>
                  <a:pt x="51214" y="0"/>
                  <a:pt x="114294" y="0"/>
                </a:cubicBezTo>
                <a:close/>
              </a:path>
            </a:pathLst>
          </a:custGeom>
          <a:solidFill>
            <a:srgbClr val="0056B3"/>
          </a:solidFill>
          <a:ln/>
          <a:effectLst>
            <a:outerShdw blurRad="142875" dist="95250" dir="5400000" algn="bl" rotWithShape="0">
              <a:srgbClr val="000000">
                <a:alpha val="10196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8835" y="1380965"/>
            <a:ext cx="285750" cy="285750"/>
          </a:xfrm>
          <a:custGeom>
            <a:avLst/>
            <a:gdLst/>
            <a:ahLst/>
            <a:cxnLst/>
            <a:rect l="l" t="t" r="r" b="b"/>
            <a:pathLst>
              <a:path w="285750" h="285750">
                <a:moveTo>
                  <a:pt x="250031" y="142875"/>
                </a:moveTo>
                <a:cubicBezTo>
                  <a:pt x="250031" y="83734"/>
                  <a:pt x="202016" y="35719"/>
                  <a:pt x="142875" y="35719"/>
                </a:cubicBezTo>
                <a:cubicBezTo>
                  <a:pt x="83734" y="35719"/>
                  <a:pt x="35719" y="83734"/>
                  <a:pt x="35719" y="142875"/>
                </a:cubicBezTo>
                <a:cubicBezTo>
                  <a:pt x="35719" y="202016"/>
                  <a:pt x="83734" y="250031"/>
                  <a:pt x="142875" y="250031"/>
                </a:cubicBezTo>
                <a:cubicBezTo>
                  <a:pt x="202016" y="250031"/>
                  <a:pt x="250031" y="202016"/>
                  <a:pt x="250031" y="142875"/>
                </a:cubicBezTo>
                <a:close/>
                <a:moveTo>
                  <a:pt x="0" y="142875"/>
                </a:moveTo>
                <a:cubicBezTo>
                  <a:pt x="0" y="64020"/>
                  <a:pt x="64020" y="0"/>
                  <a:pt x="142875" y="0"/>
                </a:cubicBezTo>
                <a:cubicBezTo>
                  <a:pt x="221730" y="0"/>
                  <a:pt x="285750" y="64020"/>
                  <a:pt x="285750" y="142875"/>
                </a:cubicBezTo>
                <a:cubicBezTo>
                  <a:pt x="285750" y="221730"/>
                  <a:pt x="221730" y="285750"/>
                  <a:pt x="142875" y="285750"/>
                </a:cubicBezTo>
                <a:cubicBezTo>
                  <a:pt x="64020" y="285750"/>
                  <a:pt x="0" y="221730"/>
                  <a:pt x="0" y="142875"/>
                </a:cubicBezTo>
                <a:close/>
                <a:moveTo>
                  <a:pt x="142875" y="187523"/>
                </a:moveTo>
                <a:cubicBezTo>
                  <a:pt x="167517" y="187523"/>
                  <a:pt x="187523" y="167517"/>
                  <a:pt x="187523" y="142875"/>
                </a:cubicBezTo>
                <a:cubicBezTo>
                  <a:pt x="187523" y="118233"/>
                  <a:pt x="167517" y="98227"/>
                  <a:pt x="142875" y="98227"/>
                </a:cubicBezTo>
                <a:cubicBezTo>
                  <a:pt x="118233" y="98227"/>
                  <a:pt x="98227" y="118233"/>
                  <a:pt x="98227" y="142875"/>
                </a:cubicBezTo>
                <a:cubicBezTo>
                  <a:pt x="98227" y="167517"/>
                  <a:pt x="118233" y="187523"/>
                  <a:pt x="142875" y="187523"/>
                </a:cubicBezTo>
                <a:close/>
                <a:moveTo>
                  <a:pt x="142875" y="62508"/>
                </a:moveTo>
                <a:cubicBezTo>
                  <a:pt x="187231" y="62508"/>
                  <a:pt x="223242" y="98519"/>
                  <a:pt x="223242" y="142875"/>
                </a:cubicBezTo>
                <a:cubicBezTo>
                  <a:pt x="223242" y="187231"/>
                  <a:pt x="187231" y="223242"/>
                  <a:pt x="142875" y="223242"/>
                </a:cubicBezTo>
                <a:cubicBezTo>
                  <a:pt x="98519" y="223242"/>
                  <a:pt x="62508" y="187231"/>
                  <a:pt x="62508" y="142875"/>
                </a:cubicBezTo>
                <a:cubicBezTo>
                  <a:pt x="62508" y="98519"/>
                  <a:pt x="98519" y="62508"/>
                  <a:pt x="142875" y="62508"/>
                </a:cubicBezTo>
                <a:close/>
                <a:moveTo>
                  <a:pt x="125016" y="142875"/>
                </a:moveTo>
                <a:cubicBezTo>
                  <a:pt x="125016" y="133018"/>
                  <a:pt x="133018" y="125016"/>
                  <a:pt x="142875" y="125016"/>
                </a:cubicBezTo>
                <a:cubicBezTo>
                  <a:pt x="152732" y="125016"/>
                  <a:pt x="160734" y="133018"/>
                  <a:pt x="160734" y="142875"/>
                </a:cubicBezTo>
                <a:cubicBezTo>
                  <a:pt x="160734" y="152732"/>
                  <a:pt x="152732" y="160734"/>
                  <a:pt x="142875" y="160734"/>
                </a:cubicBezTo>
                <a:cubicBezTo>
                  <a:pt x="133018" y="160734"/>
                  <a:pt x="125016" y="152732"/>
                  <a:pt x="125016" y="142875"/>
                </a:cubicBez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19" name="Text 16"/>
          <p:cNvSpPr/>
          <p:nvPr/>
        </p:nvSpPr>
        <p:spPr>
          <a:xfrm>
            <a:off x="6872158" y="1371471"/>
            <a:ext cx="10287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F8F9FA"/>
                </a:solidFill>
                <a:latin typeface="阿里妈妈数黑体" pitchFamily="34" charset="0"/>
                <a:ea typeface="阿里妈妈数黑体" pitchFamily="34" charset="-122"/>
                <a:cs typeface="阿里妈妈数黑体" pitchFamily="34" charset="-120"/>
              </a:rPr>
              <a:t>项目目标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6400735" y="1828655"/>
            <a:ext cx="5305425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350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构建一个</a:t>
            </a:r>
            <a:r>
              <a:rPr lang="en-US" sz="1350" b="1" dirty="0">
                <a:solidFill>
                  <a:srgbClr val="FFC10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统一、易用、高效</a:t>
            </a:r>
            <a:r>
              <a:rPr lang="en-US" sz="1350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的多模型对话平台，整合多个主流大模型服务，为用户提供无缝的交互体验。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6400735" y="2538043"/>
            <a:ext cx="5219700" cy="457200"/>
          </a:xfrm>
          <a:custGeom>
            <a:avLst/>
            <a:gdLst/>
            <a:ahLst/>
            <a:cxnLst/>
            <a:rect l="l" t="t" r="r" b="b"/>
            <a:pathLst>
              <a:path w="5219700" h="457200">
                <a:moveTo>
                  <a:pt x="76202" y="0"/>
                </a:moveTo>
                <a:lnTo>
                  <a:pt x="5143498" y="0"/>
                </a:lnTo>
                <a:cubicBezTo>
                  <a:pt x="5185583" y="0"/>
                  <a:pt x="5219700" y="34117"/>
                  <a:pt x="5219700" y="76202"/>
                </a:cubicBezTo>
                <a:lnTo>
                  <a:pt x="5219700" y="380998"/>
                </a:lnTo>
                <a:cubicBezTo>
                  <a:pt x="5219700" y="423083"/>
                  <a:pt x="5185583" y="457200"/>
                  <a:pt x="5143498" y="457200"/>
                </a:cubicBezTo>
                <a:lnTo>
                  <a:pt x="76202" y="457200"/>
                </a:lnTo>
                <a:cubicBezTo>
                  <a:pt x="34145" y="457200"/>
                  <a:pt x="0" y="423055"/>
                  <a:pt x="0" y="380998"/>
                </a:cubicBezTo>
                <a:lnTo>
                  <a:pt x="0" y="76202"/>
                </a:lnTo>
                <a:cubicBezTo>
                  <a:pt x="0" y="34145"/>
                  <a:pt x="34145" y="0"/>
                  <a:pt x="76202" y="0"/>
                </a:cubicBezTo>
                <a:close/>
              </a:path>
            </a:pathLst>
          </a:custGeom>
          <a:solidFill>
            <a:srgbClr val="F8F9FA">
              <a:alpha val="10196"/>
            </a:srgbClr>
          </a:solidFill>
          <a:ln/>
        </p:spPr>
      </p:sp>
      <p:sp>
        <p:nvSpPr>
          <p:cNvPr id="22" name="Text 19"/>
          <p:cNvSpPr/>
          <p:nvPr/>
        </p:nvSpPr>
        <p:spPr>
          <a:xfrm>
            <a:off x="6514971" y="2652278"/>
            <a:ext cx="5067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通过单一入口访问多个AI模型，降低使用门槛，提升学习效率。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6210235" y="3376065"/>
            <a:ext cx="5600700" cy="1866900"/>
          </a:xfrm>
          <a:custGeom>
            <a:avLst/>
            <a:gdLst/>
            <a:ahLst/>
            <a:cxnLst/>
            <a:rect l="l" t="t" r="r" b="b"/>
            <a:pathLst>
              <a:path w="5600700" h="1866900">
                <a:moveTo>
                  <a:pt x="114292" y="0"/>
                </a:moveTo>
                <a:lnTo>
                  <a:pt x="5486408" y="0"/>
                </a:lnTo>
                <a:cubicBezTo>
                  <a:pt x="5549530" y="0"/>
                  <a:pt x="5600700" y="51170"/>
                  <a:pt x="5600700" y="114292"/>
                </a:cubicBezTo>
                <a:lnTo>
                  <a:pt x="5600700" y="1752608"/>
                </a:lnTo>
                <a:cubicBezTo>
                  <a:pt x="5600700" y="1815730"/>
                  <a:pt x="5549530" y="1866900"/>
                  <a:pt x="5486408" y="1866900"/>
                </a:cubicBezTo>
                <a:lnTo>
                  <a:pt x="114292" y="1866900"/>
                </a:lnTo>
                <a:cubicBezTo>
                  <a:pt x="51170" y="1866900"/>
                  <a:pt x="0" y="1815730"/>
                  <a:pt x="0" y="1752608"/>
                </a:cubicBezTo>
                <a:lnTo>
                  <a:pt x="0" y="114292"/>
                </a:lnTo>
                <a:cubicBezTo>
                  <a:pt x="0" y="51170"/>
                  <a:pt x="51170" y="0"/>
                  <a:pt x="114292" y="0"/>
                </a:cubicBezTo>
                <a:close/>
              </a:path>
            </a:pathLst>
          </a:custGeom>
          <a:solidFill>
            <a:srgbClr val="343A40"/>
          </a:solidFill>
          <a:ln/>
          <a:effectLst>
            <a:outerShdw blurRad="142875" dist="95250" dir="5400000" algn="bl" rotWithShape="0">
              <a:srgbClr val="000000">
                <a:alpha val="10196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6438835" y="3576058"/>
            <a:ext cx="285750" cy="285750"/>
          </a:xfrm>
          <a:custGeom>
            <a:avLst/>
            <a:gdLst/>
            <a:ahLst/>
            <a:cxnLst/>
            <a:rect l="l" t="t" r="r" b="b"/>
            <a:pathLst>
              <a:path w="285750" h="285750">
                <a:moveTo>
                  <a:pt x="65131" y="18864"/>
                </a:moveTo>
                <a:cubicBezTo>
                  <a:pt x="67642" y="15460"/>
                  <a:pt x="71661" y="13395"/>
                  <a:pt x="75902" y="13395"/>
                </a:cubicBezTo>
                <a:lnTo>
                  <a:pt x="209848" y="13395"/>
                </a:lnTo>
                <a:cubicBezTo>
                  <a:pt x="214089" y="13395"/>
                  <a:pt x="218108" y="15404"/>
                  <a:pt x="220619" y="18864"/>
                </a:cubicBezTo>
                <a:lnTo>
                  <a:pt x="283127" y="103696"/>
                </a:lnTo>
                <a:cubicBezTo>
                  <a:pt x="286922" y="108831"/>
                  <a:pt x="286531" y="115919"/>
                  <a:pt x="282290" y="120662"/>
                </a:cubicBezTo>
                <a:lnTo>
                  <a:pt x="152809" y="263537"/>
                </a:lnTo>
                <a:cubicBezTo>
                  <a:pt x="150298" y="266328"/>
                  <a:pt x="146670" y="267946"/>
                  <a:pt x="142875" y="267946"/>
                </a:cubicBezTo>
                <a:cubicBezTo>
                  <a:pt x="139080" y="267946"/>
                  <a:pt x="135508" y="266328"/>
                  <a:pt x="132941" y="263537"/>
                </a:cubicBezTo>
                <a:lnTo>
                  <a:pt x="3460" y="120662"/>
                </a:lnTo>
                <a:cubicBezTo>
                  <a:pt x="-837" y="115919"/>
                  <a:pt x="-1172" y="108831"/>
                  <a:pt x="2623" y="103696"/>
                </a:cubicBezTo>
                <a:lnTo>
                  <a:pt x="65131" y="18864"/>
                </a:lnTo>
                <a:close/>
                <a:moveTo>
                  <a:pt x="86618" y="41077"/>
                </a:moveTo>
                <a:cubicBezTo>
                  <a:pt x="84776" y="42472"/>
                  <a:pt x="84274" y="44983"/>
                  <a:pt x="85446" y="46937"/>
                </a:cubicBezTo>
                <a:lnTo>
                  <a:pt x="117481" y="100347"/>
                </a:lnTo>
                <a:lnTo>
                  <a:pt x="35328" y="107156"/>
                </a:lnTo>
                <a:cubicBezTo>
                  <a:pt x="33040" y="107324"/>
                  <a:pt x="31254" y="109277"/>
                  <a:pt x="31254" y="111621"/>
                </a:cubicBezTo>
                <a:cubicBezTo>
                  <a:pt x="31254" y="113965"/>
                  <a:pt x="33040" y="115863"/>
                  <a:pt x="35328" y="116086"/>
                </a:cubicBezTo>
                <a:lnTo>
                  <a:pt x="142484" y="125016"/>
                </a:lnTo>
                <a:cubicBezTo>
                  <a:pt x="142708" y="125016"/>
                  <a:pt x="142987" y="125016"/>
                  <a:pt x="143210" y="125016"/>
                </a:cubicBezTo>
                <a:lnTo>
                  <a:pt x="250366" y="116086"/>
                </a:lnTo>
                <a:cubicBezTo>
                  <a:pt x="252654" y="115919"/>
                  <a:pt x="254440" y="113965"/>
                  <a:pt x="254440" y="111621"/>
                </a:cubicBezTo>
                <a:cubicBezTo>
                  <a:pt x="254440" y="109277"/>
                  <a:pt x="252654" y="107379"/>
                  <a:pt x="250366" y="107156"/>
                </a:cubicBezTo>
                <a:lnTo>
                  <a:pt x="168213" y="100292"/>
                </a:lnTo>
                <a:lnTo>
                  <a:pt x="200248" y="46937"/>
                </a:lnTo>
                <a:cubicBezTo>
                  <a:pt x="201420" y="44983"/>
                  <a:pt x="200918" y="42416"/>
                  <a:pt x="199076" y="41077"/>
                </a:cubicBezTo>
                <a:cubicBezTo>
                  <a:pt x="197234" y="39737"/>
                  <a:pt x="194667" y="39960"/>
                  <a:pt x="193104" y="41635"/>
                </a:cubicBezTo>
                <a:lnTo>
                  <a:pt x="142875" y="96106"/>
                </a:lnTo>
                <a:lnTo>
                  <a:pt x="92590" y="41635"/>
                </a:lnTo>
                <a:cubicBezTo>
                  <a:pt x="91027" y="39960"/>
                  <a:pt x="88460" y="39737"/>
                  <a:pt x="86618" y="41077"/>
                </a:cubicBez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25" name="Text 22"/>
          <p:cNvSpPr/>
          <p:nvPr/>
        </p:nvSpPr>
        <p:spPr>
          <a:xfrm>
            <a:off x="6872158" y="3566565"/>
            <a:ext cx="10287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F8F9FA"/>
                </a:solidFill>
                <a:latin typeface="阿里妈妈数黑体" pitchFamily="34" charset="0"/>
                <a:ea typeface="阿里妈妈数黑体" pitchFamily="34" charset="-122"/>
                <a:cs typeface="阿里妈妈数黑体" pitchFamily="34" charset="-120"/>
              </a:rPr>
              <a:t>核心价值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6400735" y="4109426"/>
            <a:ext cx="95250" cy="95250"/>
          </a:xfrm>
          <a:custGeom>
            <a:avLst/>
            <a:gdLst/>
            <a:ahLst/>
            <a:cxnLst/>
            <a:rect l="l" t="t" r="r" b="b"/>
            <a:pathLst>
              <a:path w="95250" h="95250">
                <a:moveTo>
                  <a:pt x="47625" y="0"/>
                </a:moveTo>
                <a:lnTo>
                  <a:pt x="47625" y="0"/>
                </a:lnTo>
                <a:cubicBezTo>
                  <a:pt x="73910" y="0"/>
                  <a:pt x="95250" y="21340"/>
                  <a:pt x="95250" y="47625"/>
                </a:cubicBezTo>
                <a:lnTo>
                  <a:pt x="95250" y="47625"/>
                </a:lnTo>
                <a:cubicBezTo>
                  <a:pt x="95250" y="73910"/>
                  <a:pt x="73910" y="95250"/>
                  <a:pt x="47625" y="95250"/>
                </a:cubicBezTo>
                <a:lnTo>
                  <a:pt x="47625" y="95250"/>
                </a:lnTo>
                <a:cubicBezTo>
                  <a:pt x="21340" y="95250"/>
                  <a:pt x="0" y="73910"/>
                  <a:pt x="0" y="47625"/>
                </a:cubicBezTo>
                <a:lnTo>
                  <a:pt x="0" y="47625"/>
                </a:lnTo>
                <a:cubicBezTo>
                  <a:pt x="0" y="21340"/>
                  <a:pt x="21340" y="0"/>
                  <a:pt x="47625" y="0"/>
                </a:cubicBez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27" name="Text 24"/>
          <p:cNvSpPr/>
          <p:nvPr/>
        </p:nvSpPr>
        <p:spPr>
          <a:xfrm>
            <a:off x="6610221" y="4023750"/>
            <a:ext cx="27051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FFC10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一次登录</a:t>
            </a:r>
            <a:r>
              <a:rPr lang="en-US" sz="1350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,即可访问多个主流大模型</a:t>
            </a:r>
            <a:endParaRPr lang="en-US" sz="1600" dirty="0"/>
          </a:p>
        </p:txBody>
      </p:sp>
      <p:sp>
        <p:nvSpPr>
          <p:cNvPr id="28" name="Shape 25"/>
          <p:cNvSpPr/>
          <p:nvPr/>
        </p:nvSpPr>
        <p:spPr>
          <a:xfrm>
            <a:off x="6400735" y="4490265"/>
            <a:ext cx="95250" cy="95250"/>
          </a:xfrm>
          <a:custGeom>
            <a:avLst/>
            <a:gdLst/>
            <a:ahLst/>
            <a:cxnLst/>
            <a:rect l="l" t="t" r="r" b="b"/>
            <a:pathLst>
              <a:path w="95250" h="95250">
                <a:moveTo>
                  <a:pt x="47625" y="0"/>
                </a:moveTo>
                <a:lnTo>
                  <a:pt x="47625" y="0"/>
                </a:lnTo>
                <a:cubicBezTo>
                  <a:pt x="73910" y="0"/>
                  <a:pt x="95250" y="21340"/>
                  <a:pt x="95250" y="47625"/>
                </a:cubicBezTo>
                <a:lnTo>
                  <a:pt x="95250" y="47625"/>
                </a:lnTo>
                <a:cubicBezTo>
                  <a:pt x="95250" y="73910"/>
                  <a:pt x="73910" y="95250"/>
                  <a:pt x="47625" y="95250"/>
                </a:cubicBezTo>
                <a:lnTo>
                  <a:pt x="47625" y="95250"/>
                </a:lnTo>
                <a:cubicBezTo>
                  <a:pt x="21340" y="95250"/>
                  <a:pt x="0" y="73910"/>
                  <a:pt x="0" y="47625"/>
                </a:cubicBezTo>
                <a:lnTo>
                  <a:pt x="0" y="47625"/>
                </a:lnTo>
                <a:cubicBezTo>
                  <a:pt x="0" y="21340"/>
                  <a:pt x="21340" y="0"/>
                  <a:pt x="47625" y="0"/>
                </a:cubicBez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29" name="Text 26"/>
          <p:cNvSpPr/>
          <p:nvPr/>
        </p:nvSpPr>
        <p:spPr>
          <a:xfrm>
            <a:off x="6610221" y="4404588"/>
            <a:ext cx="27051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统一界面与交互体验,</a:t>
            </a:r>
            <a:r>
              <a:rPr lang="en-US" sz="1350" dirty="0">
                <a:solidFill>
                  <a:srgbClr val="FFC107"/>
                </a:solidFill>
                <a:highlight>
                  <a:srgbClr val="FFC107">
                    <a:alpha val="20000"/>
                  </a:srgbClr>
                </a:highlight>
                <a:latin typeface="MiSans" pitchFamily="34" charset="0"/>
                <a:ea typeface="MiSans" pitchFamily="34" charset="-122"/>
                <a:cs typeface="MiSans" pitchFamily="34" charset="-120"/>
              </a:rPr>
              <a:t> 降低学习成本</a:t>
            </a:r>
            <a:endParaRPr lang="en-US" sz="1600" dirty="0"/>
          </a:p>
        </p:txBody>
      </p:sp>
      <p:sp>
        <p:nvSpPr>
          <p:cNvPr id="30" name="Shape 27"/>
          <p:cNvSpPr/>
          <p:nvPr/>
        </p:nvSpPr>
        <p:spPr>
          <a:xfrm>
            <a:off x="6400735" y="4871105"/>
            <a:ext cx="95250" cy="95250"/>
          </a:xfrm>
          <a:custGeom>
            <a:avLst/>
            <a:gdLst/>
            <a:ahLst/>
            <a:cxnLst/>
            <a:rect l="l" t="t" r="r" b="b"/>
            <a:pathLst>
              <a:path w="95250" h="95250">
                <a:moveTo>
                  <a:pt x="47625" y="0"/>
                </a:moveTo>
                <a:lnTo>
                  <a:pt x="47625" y="0"/>
                </a:lnTo>
                <a:cubicBezTo>
                  <a:pt x="73910" y="0"/>
                  <a:pt x="95250" y="21340"/>
                  <a:pt x="95250" y="47625"/>
                </a:cubicBezTo>
                <a:lnTo>
                  <a:pt x="95250" y="47625"/>
                </a:lnTo>
                <a:cubicBezTo>
                  <a:pt x="95250" y="73910"/>
                  <a:pt x="73910" y="95250"/>
                  <a:pt x="47625" y="95250"/>
                </a:cubicBezTo>
                <a:lnTo>
                  <a:pt x="47625" y="95250"/>
                </a:lnTo>
                <a:cubicBezTo>
                  <a:pt x="21340" y="95250"/>
                  <a:pt x="0" y="73910"/>
                  <a:pt x="0" y="47625"/>
                </a:cubicBezTo>
                <a:lnTo>
                  <a:pt x="0" y="47625"/>
                </a:lnTo>
                <a:cubicBezTo>
                  <a:pt x="0" y="21340"/>
                  <a:pt x="21340" y="0"/>
                  <a:pt x="47625" y="0"/>
                </a:cubicBez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31" name="Text 28"/>
          <p:cNvSpPr/>
          <p:nvPr/>
        </p:nvSpPr>
        <p:spPr>
          <a:xfrm>
            <a:off x="6610221" y="4785427"/>
            <a:ext cx="25336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集中管理对话历史,提升工作效率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slides_tmpl/image/25-10-09-16:35:25-d3jn7j8s8jdo4os5dj2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635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81000" y="457265"/>
            <a:ext cx="485775" cy="304800"/>
          </a:xfrm>
          <a:custGeom>
            <a:avLst/>
            <a:gdLst/>
            <a:ahLst/>
            <a:cxnLst/>
            <a:rect l="l" t="t" r="r" b="b"/>
            <a:pathLst>
              <a:path w="485775" h="304800">
                <a:moveTo>
                  <a:pt x="152400" y="0"/>
                </a:moveTo>
                <a:lnTo>
                  <a:pt x="333375" y="0"/>
                </a:lnTo>
                <a:cubicBezTo>
                  <a:pt x="417487" y="0"/>
                  <a:pt x="485775" y="68288"/>
                  <a:pt x="485775" y="152400"/>
                </a:cubicBezTo>
                <a:lnTo>
                  <a:pt x="485775" y="152400"/>
                </a:lnTo>
                <a:cubicBezTo>
                  <a:pt x="485775" y="236512"/>
                  <a:pt x="417487" y="304800"/>
                  <a:pt x="333375" y="304800"/>
                </a:cubicBezTo>
                <a:lnTo>
                  <a:pt x="152400" y="304800"/>
                </a:lnTo>
                <a:cubicBezTo>
                  <a:pt x="68288" y="304800"/>
                  <a:pt x="0" y="236512"/>
                  <a:pt x="0" y="152400"/>
                </a:cubicBezTo>
                <a:lnTo>
                  <a:pt x="0" y="152400"/>
                </a:lnTo>
                <a:cubicBezTo>
                  <a:pt x="0" y="68288"/>
                  <a:pt x="68288" y="0"/>
                  <a:pt x="152400" y="0"/>
                </a:cubicBez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4" name="Text 1"/>
          <p:cNvSpPr/>
          <p:nvPr/>
        </p:nvSpPr>
        <p:spPr>
          <a:xfrm>
            <a:off x="381000" y="457265"/>
            <a:ext cx="561975" cy="304800"/>
          </a:xfrm>
          <a:prstGeom prst="rect">
            <a:avLst/>
          </a:prstGeom>
          <a:noFill/>
          <a:ln/>
        </p:spPr>
        <p:txBody>
          <a:bodyPr wrap="square" lIns="152400" tIns="38100" rIns="152400" bIns="3810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02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981220" y="381000"/>
            <a:ext cx="72675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en-US" sz="3600" b="1" dirty="0" err="1">
                <a:solidFill>
                  <a:srgbClr val="343A40"/>
                </a:solidFill>
                <a:latin typeface="阿里妈妈数黑体" pitchFamily="34" charset="0"/>
                <a:ea typeface="阿里妈妈数黑体" pitchFamily="34" charset="-122"/>
                <a:cs typeface="阿里妈妈数黑体" pitchFamily="34" charset="-120"/>
              </a:rPr>
              <a:t>我们的实践路径:标准软件</a:t>
            </a:r>
            <a:r>
              <a:rPr lang="zh-CN" altLang="en-US" sz="3600" b="1" dirty="0">
                <a:solidFill>
                  <a:srgbClr val="343A40"/>
                </a:solidFill>
                <a:latin typeface="阿里妈妈数黑体" pitchFamily="34" charset="0"/>
                <a:ea typeface="阿里妈妈数黑体" pitchFamily="34" charset="-122"/>
                <a:cs typeface="阿里妈妈数黑体" pitchFamily="34" charset="-120"/>
              </a:rPr>
              <a:t>工程思想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1143000" y="914367"/>
            <a:ext cx="1066800" cy="38100"/>
          </a:xfrm>
          <a:custGeom>
            <a:avLst/>
            <a:gdLst/>
            <a:ahLst/>
            <a:cxnLst/>
            <a:rect l="l" t="t" r="r" b="b"/>
            <a:pathLst>
              <a:path w="1066800" h="38100">
                <a:moveTo>
                  <a:pt x="0" y="0"/>
                </a:moveTo>
                <a:lnTo>
                  <a:pt x="1066800" y="0"/>
                </a:lnTo>
                <a:lnTo>
                  <a:pt x="10668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0056B3"/>
          </a:solidFill>
          <a:ln/>
        </p:spPr>
      </p:sp>
      <p:pic>
        <p:nvPicPr>
          <p:cNvPr id="7" name="Image 1" descr="https://kimi-img.moonshot.cn/pub/slides/26-01-04-17:39:02-d5d3adhg4pnvd71t51ig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381000" y="1142919"/>
            <a:ext cx="11430000" cy="2667000"/>
          </a:xfrm>
          <a:prstGeom prst="roundRect">
            <a:avLst>
              <a:gd name="adj" fmla="val 0"/>
            </a:avLst>
          </a:prstGeom>
        </p:spPr>
      </p:pic>
      <p:sp>
        <p:nvSpPr>
          <p:cNvPr id="8" name="Shape 4"/>
          <p:cNvSpPr/>
          <p:nvPr/>
        </p:nvSpPr>
        <p:spPr>
          <a:xfrm>
            <a:off x="381000" y="4000419"/>
            <a:ext cx="2743200" cy="1028700"/>
          </a:xfrm>
          <a:custGeom>
            <a:avLst/>
            <a:gdLst/>
            <a:ahLst/>
            <a:cxnLst/>
            <a:rect l="l" t="t" r="r" b="b"/>
            <a:pathLst>
              <a:path w="2743200" h="1028700">
                <a:moveTo>
                  <a:pt x="114299" y="0"/>
                </a:moveTo>
                <a:lnTo>
                  <a:pt x="2628901" y="0"/>
                </a:lnTo>
                <a:cubicBezTo>
                  <a:pt x="2692027" y="0"/>
                  <a:pt x="2743200" y="51173"/>
                  <a:pt x="2743200" y="114299"/>
                </a:cubicBezTo>
                <a:lnTo>
                  <a:pt x="2743200" y="914401"/>
                </a:lnTo>
                <a:cubicBezTo>
                  <a:pt x="2743200" y="977527"/>
                  <a:pt x="2692027" y="1028700"/>
                  <a:pt x="2628901" y="1028700"/>
                </a:cubicBezTo>
                <a:lnTo>
                  <a:pt x="114299" y="1028700"/>
                </a:lnTo>
                <a:cubicBezTo>
                  <a:pt x="51173" y="1028700"/>
                  <a:pt x="0" y="977527"/>
                  <a:pt x="0" y="914401"/>
                </a:cubicBezTo>
                <a:lnTo>
                  <a:pt x="0" y="114299"/>
                </a:lnTo>
                <a:cubicBezTo>
                  <a:pt x="0" y="51173"/>
                  <a:pt x="51173" y="0"/>
                  <a:pt x="114299" y="0"/>
                </a:cubicBezTo>
                <a:close/>
              </a:path>
            </a:pathLst>
          </a:custGeom>
          <a:solidFill>
            <a:srgbClr val="343A40"/>
          </a:solidFill>
          <a:ln/>
        </p:spPr>
      </p:sp>
      <p:sp>
        <p:nvSpPr>
          <p:cNvPr id="9" name="Text 5"/>
          <p:cNvSpPr/>
          <p:nvPr/>
        </p:nvSpPr>
        <p:spPr>
          <a:xfrm>
            <a:off x="495268" y="4152786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200" dirty="0">
                <a:solidFill>
                  <a:srgbClr val="F8F9FA">
                    <a:alpha val="7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总阶段数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419068" y="4419391"/>
            <a:ext cx="2667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80000"/>
              </a:lnSpc>
            </a:pPr>
            <a:r>
              <a:rPr lang="en-US" sz="3600" b="1" dirty="0">
                <a:solidFill>
                  <a:srgbClr val="FFC107"/>
                </a:solidFill>
                <a:latin typeface="阿里妈妈数黑体" pitchFamily="34" charset="0"/>
                <a:ea typeface="阿里妈妈数黑体" pitchFamily="34" charset="-122"/>
                <a:cs typeface="阿里妈妈数黑体" pitchFamily="34" charset="-120"/>
              </a:rPr>
              <a:t>7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3276551" y="4000419"/>
            <a:ext cx="2743200" cy="1028700"/>
          </a:xfrm>
          <a:custGeom>
            <a:avLst/>
            <a:gdLst/>
            <a:ahLst/>
            <a:cxnLst/>
            <a:rect l="l" t="t" r="r" b="b"/>
            <a:pathLst>
              <a:path w="2743200" h="1028700">
                <a:moveTo>
                  <a:pt x="114299" y="0"/>
                </a:moveTo>
                <a:lnTo>
                  <a:pt x="2628901" y="0"/>
                </a:lnTo>
                <a:cubicBezTo>
                  <a:pt x="2692027" y="0"/>
                  <a:pt x="2743200" y="51173"/>
                  <a:pt x="2743200" y="114299"/>
                </a:cubicBezTo>
                <a:lnTo>
                  <a:pt x="2743200" y="914401"/>
                </a:lnTo>
                <a:cubicBezTo>
                  <a:pt x="2743200" y="977527"/>
                  <a:pt x="2692027" y="1028700"/>
                  <a:pt x="2628901" y="1028700"/>
                </a:cubicBezTo>
                <a:lnTo>
                  <a:pt x="114299" y="1028700"/>
                </a:lnTo>
                <a:cubicBezTo>
                  <a:pt x="51173" y="1028700"/>
                  <a:pt x="0" y="977527"/>
                  <a:pt x="0" y="914401"/>
                </a:cubicBezTo>
                <a:lnTo>
                  <a:pt x="0" y="114299"/>
                </a:lnTo>
                <a:cubicBezTo>
                  <a:pt x="0" y="51173"/>
                  <a:pt x="51173" y="0"/>
                  <a:pt x="114299" y="0"/>
                </a:cubicBez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12" name="Text 8"/>
          <p:cNvSpPr/>
          <p:nvPr/>
        </p:nvSpPr>
        <p:spPr>
          <a:xfrm>
            <a:off x="3390819" y="4152786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200" dirty="0">
                <a:solidFill>
                  <a:srgbClr val="F8F9FA">
                    <a:alpha val="7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总任务数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3314619" y="4419391"/>
            <a:ext cx="2667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80000"/>
              </a:lnSpc>
            </a:pPr>
            <a:r>
              <a:rPr lang="en-US" sz="3600" b="1" dirty="0">
                <a:solidFill>
                  <a:srgbClr val="FFC107"/>
                </a:solidFill>
                <a:latin typeface="阿里妈妈数黑体" pitchFamily="34" charset="0"/>
                <a:ea typeface="阿里妈妈数黑体" pitchFamily="34" charset="-122"/>
                <a:cs typeface="阿里妈妈数黑体" pitchFamily="34" charset="-120"/>
              </a:rPr>
              <a:t>37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6172184" y="4000419"/>
            <a:ext cx="2743200" cy="1028700"/>
          </a:xfrm>
          <a:custGeom>
            <a:avLst/>
            <a:gdLst/>
            <a:ahLst/>
            <a:cxnLst/>
            <a:rect l="l" t="t" r="r" b="b"/>
            <a:pathLst>
              <a:path w="2743200" h="1028700">
                <a:moveTo>
                  <a:pt x="114299" y="0"/>
                </a:moveTo>
                <a:lnTo>
                  <a:pt x="2628901" y="0"/>
                </a:lnTo>
                <a:cubicBezTo>
                  <a:pt x="2692027" y="0"/>
                  <a:pt x="2743200" y="51173"/>
                  <a:pt x="2743200" y="114299"/>
                </a:cubicBezTo>
                <a:lnTo>
                  <a:pt x="2743200" y="914401"/>
                </a:lnTo>
                <a:cubicBezTo>
                  <a:pt x="2743200" y="977527"/>
                  <a:pt x="2692027" y="1028700"/>
                  <a:pt x="2628901" y="1028700"/>
                </a:cubicBezTo>
                <a:lnTo>
                  <a:pt x="114299" y="1028700"/>
                </a:lnTo>
                <a:cubicBezTo>
                  <a:pt x="51173" y="1028700"/>
                  <a:pt x="0" y="977527"/>
                  <a:pt x="0" y="914401"/>
                </a:cubicBezTo>
                <a:lnTo>
                  <a:pt x="0" y="114299"/>
                </a:lnTo>
                <a:cubicBezTo>
                  <a:pt x="0" y="51173"/>
                  <a:pt x="51173" y="0"/>
                  <a:pt x="114299" y="0"/>
                </a:cubicBez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15" name="Text 11"/>
          <p:cNvSpPr/>
          <p:nvPr/>
        </p:nvSpPr>
        <p:spPr>
          <a:xfrm>
            <a:off x="6286451" y="4152786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200" dirty="0">
                <a:solidFill>
                  <a:srgbClr val="343A40">
                    <a:alpha val="7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文档产出</a:t>
            </a:r>
            <a:endParaRPr lang="en-US" sz="1600" dirty="0"/>
          </a:p>
        </p:txBody>
      </p:sp>
      <p:sp>
        <p:nvSpPr>
          <p:cNvPr id="16" name="Text 12"/>
          <p:cNvSpPr/>
          <p:nvPr/>
        </p:nvSpPr>
        <p:spPr>
          <a:xfrm>
            <a:off x="6210251" y="4419391"/>
            <a:ext cx="2667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80000"/>
              </a:lnSpc>
            </a:pPr>
            <a:r>
              <a:rPr lang="en-US" sz="3600" b="1" dirty="0">
                <a:solidFill>
                  <a:srgbClr val="343A40"/>
                </a:solidFill>
                <a:latin typeface="阿里妈妈数黑体" pitchFamily="34" charset="0"/>
                <a:ea typeface="阿里妈妈数黑体" pitchFamily="34" charset="-122"/>
                <a:cs typeface="阿里妈妈数黑体" pitchFamily="34" charset="-120"/>
              </a:rPr>
              <a:t>9</a:t>
            </a:r>
            <a:endParaRPr lang="en-US" sz="1600" dirty="0"/>
          </a:p>
        </p:txBody>
      </p:sp>
      <p:sp>
        <p:nvSpPr>
          <p:cNvPr id="17" name="Shape 13"/>
          <p:cNvSpPr/>
          <p:nvPr/>
        </p:nvSpPr>
        <p:spPr>
          <a:xfrm>
            <a:off x="9067735" y="4000419"/>
            <a:ext cx="2743200" cy="1028700"/>
          </a:xfrm>
          <a:custGeom>
            <a:avLst/>
            <a:gdLst/>
            <a:ahLst/>
            <a:cxnLst/>
            <a:rect l="l" t="t" r="r" b="b"/>
            <a:pathLst>
              <a:path w="2743200" h="1028700">
                <a:moveTo>
                  <a:pt x="114299" y="0"/>
                </a:moveTo>
                <a:lnTo>
                  <a:pt x="2628901" y="0"/>
                </a:lnTo>
                <a:cubicBezTo>
                  <a:pt x="2692027" y="0"/>
                  <a:pt x="2743200" y="51173"/>
                  <a:pt x="2743200" y="114299"/>
                </a:cubicBezTo>
                <a:lnTo>
                  <a:pt x="2743200" y="914401"/>
                </a:lnTo>
                <a:cubicBezTo>
                  <a:pt x="2743200" y="977527"/>
                  <a:pt x="2692027" y="1028700"/>
                  <a:pt x="2628901" y="1028700"/>
                </a:cubicBezTo>
                <a:lnTo>
                  <a:pt x="114299" y="1028700"/>
                </a:lnTo>
                <a:cubicBezTo>
                  <a:pt x="51173" y="1028700"/>
                  <a:pt x="0" y="977527"/>
                  <a:pt x="0" y="914401"/>
                </a:cubicBezTo>
                <a:lnTo>
                  <a:pt x="0" y="114299"/>
                </a:lnTo>
                <a:cubicBezTo>
                  <a:pt x="0" y="51173"/>
                  <a:pt x="51173" y="0"/>
                  <a:pt x="114299" y="0"/>
                </a:cubicBezTo>
                <a:close/>
              </a:path>
            </a:pathLst>
          </a:custGeom>
          <a:solidFill>
            <a:srgbClr val="6C757D"/>
          </a:solidFill>
          <a:ln/>
        </p:spPr>
      </p:sp>
      <p:sp>
        <p:nvSpPr>
          <p:cNvPr id="18" name="Text 14"/>
          <p:cNvSpPr/>
          <p:nvPr/>
        </p:nvSpPr>
        <p:spPr>
          <a:xfrm>
            <a:off x="9182003" y="4152786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200" dirty="0">
                <a:solidFill>
                  <a:srgbClr val="F8F9FA">
                    <a:alpha val="7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测试用例通过率</a:t>
            </a:r>
            <a:endParaRPr lang="en-US" sz="1600" dirty="0"/>
          </a:p>
        </p:txBody>
      </p:sp>
      <p:sp>
        <p:nvSpPr>
          <p:cNvPr id="19" name="Text 15"/>
          <p:cNvSpPr/>
          <p:nvPr/>
        </p:nvSpPr>
        <p:spPr>
          <a:xfrm>
            <a:off x="9105803" y="4419391"/>
            <a:ext cx="2667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80000"/>
              </a:lnSpc>
            </a:pPr>
            <a:r>
              <a:rPr lang="en-US" sz="3600" b="1" dirty="0">
                <a:solidFill>
                  <a:srgbClr val="FFC107"/>
                </a:solidFill>
                <a:latin typeface="阿里妈妈数黑体" pitchFamily="34" charset="0"/>
                <a:ea typeface="阿里妈妈数黑体" pitchFamily="34" charset="-122"/>
                <a:cs typeface="阿里妈妈数黑体" pitchFamily="34" charset="-120"/>
              </a:rPr>
              <a:t>&gt;90%</a:t>
            </a:r>
            <a:endParaRPr lang="en-US" sz="1600" dirty="0"/>
          </a:p>
        </p:txBody>
      </p:sp>
      <p:sp>
        <p:nvSpPr>
          <p:cNvPr id="20" name="Shape 16"/>
          <p:cNvSpPr/>
          <p:nvPr/>
        </p:nvSpPr>
        <p:spPr>
          <a:xfrm>
            <a:off x="381000" y="5219442"/>
            <a:ext cx="11430000" cy="857250"/>
          </a:xfrm>
          <a:custGeom>
            <a:avLst/>
            <a:gdLst/>
            <a:ahLst/>
            <a:cxnLst/>
            <a:rect l="l" t="t" r="r" b="b"/>
            <a:pathLst>
              <a:path w="11430000" h="857250">
                <a:moveTo>
                  <a:pt x="114297" y="0"/>
                </a:moveTo>
                <a:lnTo>
                  <a:pt x="11315703" y="0"/>
                </a:lnTo>
                <a:cubicBezTo>
                  <a:pt x="11378785" y="0"/>
                  <a:pt x="11430000" y="51215"/>
                  <a:pt x="11430000" y="114297"/>
                </a:cubicBezTo>
                <a:lnTo>
                  <a:pt x="11430000" y="742953"/>
                </a:lnTo>
                <a:cubicBezTo>
                  <a:pt x="11430000" y="806035"/>
                  <a:pt x="11378785" y="857250"/>
                  <a:pt x="11315703" y="857250"/>
                </a:cubicBezTo>
                <a:lnTo>
                  <a:pt x="114297" y="857250"/>
                </a:lnTo>
                <a:cubicBezTo>
                  <a:pt x="51215" y="857250"/>
                  <a:pt x="0" y="806035"/>
                  <a:pt x="0" y="742953"/>
                </a:cubicBezTo>
                <a:lnTo>
                  <a:pt x="0" y="114297"/>
                </a:lnTo>
                <a:cubicBezTo>
                  <a:pt x="0" y="51215"/>
                  <a:pt x="51215" y="0"/>
                  <a:pt x="114297" y="0"/>
                </a:cubicBezTo>
                <a:close/>
              </a:path>
            </a:pathLst>
          </a:custGeom>
          <a:solidFill>
            <a:srgbClr val="343A40"/>
          </a:solidFill>
          <a:ln/>
          <a:effectLst>
            <a:outerShdw blurRad="142875" dist="95250" dir="5400000" algn="bl" rotWithShape="0">
              <a:srgbClr val="000000">
                <a:alpha val="10196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580993" y="5402703"/>
            <a:ext cx="142875" cy="190500"/>
          </a:xfrm>
          <a:custGeom>
            <a:avLst/>
            <a:gdLst/>
            <a:ahLst/>
            <a:cxnLst/>
            <a:rect l="l" t="t" r="r" b="b"/>
            <a:pathLst>
              <a:path w="142875" h="190500">
                <a:moveTo>
                  <a:pt x="108979" y="142875"/>
                </a:moveTo>
                <a:cubicBezTo>
                  <a:pt x="111696" y="134578"/>
                  <a:pt x="117128" y="127062"/>
                  <a:pt x="123267" y="120588"/>
                </a:cubicBezTo>
                <a:cubicBezTo>
                  <a:pt x="135434" y="107789"/>
                  <a:pt x="142875" y="90488"/>
                  <a:pt x="142875" y="71438"/>
                </a:cubicBezTo>
                <a:cubicBezTo>
                  <a:pt x="142875" y="31998"/>
                  <a:pt x="110877" y="0"/>
                  <a:pt x="71437" y="0"/>
                </a:cubicBezTo>
                <a:cubicBezTo>
                  <a:pt x="31998" y="0"/>
                  <a:pt x="0" y="31998"/>
                  <a:pt x="0" y="71438"/>
                </a:cubicBezTo>
                <a:cubicBezTo>
                  <a:pt x="0" y="90488"/>
                  <a:pt x="7441" y="107789"/>
                  <a:pt x="19608" y="120588"/>
                </a:cubicBezTo>
                <a:cubicBezTo>
                  <a:pt x="25747" y="127062"/>
                  <a:pt x="31217" y="134578"/>
                  <a:pt x="33896" y="142875"/>
                </a:cubicBezTo>
                <a:lnTo>
                  <a:pt x="108942" y="142875"/>
                </a:lnTo>
                <a:close/>
                <a:moveTo>
                  <a:pt x="107156" y="160734"/>
                </a:moveTo>
                <a:lnTo>
                  <a:pt x="35719" y="160734"/>
                </a:lnTo>
                <a:lnTo>
                  <a:pt x="35719" y="166688"/>
                </a:lnTo>
                <a:cubicBezTo>
                  <a:pt x="35719" y="183133"/>
                  <a:pt x="49039" y="196453"/>
                  <a:pt x="65484" y="196453"/>
                </a:cubicBezTo>
                <a:lnTo>
                  <a:pt x="77391" y="196453"/>
                </a:lnTo>
                <a:cubicBezTo>
                  <a:pt x="93836" y="196453"/>
                  <a:pt x="107156" y="183133"/>
                  <a:pt x="107156" y="166688"/>
                </a:cubicBezTo>
                <a:lnTo>
                  <a:pt x="107156" y="160734"/>
                </a:lnTo>
                <a:close/>
                <a:moveTo>
                  <a:pt x="68461" y="41672"/>
                </a:moveTo>
                <a:cubicBezTo>
                  <a:pt x="53653" y="41672"/>
                  <a:pt x="41672" y="53653"/>
                  <a:pt x="41672" y="68461"/>
                </a:cubicBezTo>
                <a:cubicBezTo>
                  <a:pt x="41672" y="73409"/>
                  <a:pt x="37691" y="77391"/>
                  <a:pt x="32742" y="77391"/>
                </a:cubicBezTo>
                <a:cubicBezTo>
                  <a:pt x="27794" y="77391"/>
                  <a:pt x="23812" y="73409"/>
                  <a:pt x="23812" y="68461"/>
                </a:cubicBezTo>
                <a:cubicBezTo>
                  <a:pt x="23812" y="43793"/>
                  <a:pt x="43793" y="23812"/>
                  <a:pt x="68461" y="23812"/>
                </a:cubicBezTo>
                <a:cubicBezTo>
                  <a:pt x="73409" y="23812"/>
                  <a:pt x="77391" y="27794"/>
                  <a:pt x="77391" y="32742"/>
                </a:cubicBezTo>
                <a:cubicBezTo>
                  <a:pt x="77391" y="37691"/>
                  <a:pt x="73409" y="41672"/>
                  <a:pt x="68461" y="41672"/>
                </a:cubicBez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22" name="Text 18"/>
          <p:cNvSpPr/>
          <p:nvPr/>
        </p:nvSpPr>
        <p:spPr>
          <a:xfrm>
            <a:off x="857218" y="5371809"/>
            <a:ext cx="10887075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350" b="1" dirty="0">
                <a:solidFill>
                  <a:srgbClr val="FFC10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方法论:</a:t>
            </a:r>
            <a:r>
              <a:rPr lang="en-US" sz="1350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 我们严格按照</a:t>
            </a:r>
            <a:r>
              <a:rPr lang="en-US" sz="1350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瀑布模型与迭代思想相结合</a:t>
            </a:r>
            <a:r>
              <a:rPr lang="en-US" sz="1350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的流程推进，每个阶段都有规范的文档产出，确保项目可控、质量可追溯。这种系统化的方法论是项目成功的基石。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slides_tmpl/image/25-10-09-16:35:25-d3jn7j8s8jdo4os5dj2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635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81000" y="457263"/>
            <a:ext cx="485775" cy="304800"/>
          </a:xfrm>
          <a:custGeom>
            <a:avLst/>
            <a:gdLst/>
            <a:ahLst/>
            <a:cxnLst/>
            <a:rect l="l" t="t" r="r" b="b"/>
            <a:pathLst>
              <a:path w="485775" h="304800">
                <a:moveTo>
                  <a:pt x="152400" y="0"/>
                </a:moveTo>
                <a:lnTo>
                  <a:pt x="333375" y="0"/>
                </a:lnTo>
                <a:cubicBezTo>
                  <a:pt x="417487" y="0"/>
                  <a:pt x="485775" y="68288"/>
                  <a:pt x="485775" y="152400"/>
                </a:cubicBezTo>
                <a:lnTo>
                  <a:pt x="485775" y="152400"/>
                </a:lnTo>
                <a:cubicBezTo>
                  <a:pt x="485775" y="236512"/>
                  <a:pt x="417487" y="304800"/>
                  <a:pt x="333375" y="304800"/>
                </a:cubicBezTo>
                <a:lnTo>
                  <a:pt x="152400" y="304800"/>
                </a:lnTo>
                <a:cubicBezTo>
                  <a:pt x="68288" y="304800"/>
                  <a:pt x="0" y="236512"/>
                  <a:pt x="0" y="152400"/>
                </a:cubicBezTo>
                <a:lnTo>
                  <a:pt x="0" y="152400"/>
                </a:lnTo>
                <a:cubicBezTo>
                  <a:pt x="0" y="68288"/>
                  <a:pt x="68288" y="0"/>
                  <a:pt x="152400" y="0"/>
                </a:cubicBez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4" name="Text 1"/>
          <p:cNvSpPr/>
          <p:nvPr/>
        </p:nvSpPr>
        <p:spPr>
          <a:xfrm>
            <a:off x="381000" y="457263"/>
            <a:ext cx="561975" cy="304800"/>
          </a:xfrm>
          <a:prstGeom prst="rect">
            <a:avLst/>
          </a:prstGeom>
          <a:noFill/>
          <a:ln/>
        </p:spPr>
        <p:txBody>
          <a:bodyPr wrap="square" lIns="152400" tIns="38100" rIns="152400" bIns="3810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03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985162" y="381000"/>
            <a:ext cx="40671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en-US" sz="3600" b="1" dirty="0">
                <a:solidFill>
                  <a:srgbClr val="343A40"/>
                </a:solidFill>
                <a:latin typeface="阿里妈妈数黑体" pitchFamily="34" charset="0"/>
                <a:ea typeface="阿里妈妈数黑体" pitchFamily="34" charset="-122"/>
                <a:cs typeface="阿里妈妈数黑体" pitchFamily="34" charset="-120"/>
              </a:rPr>
              <a:t>阶段一:谋定而后动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1143000" y="914367"/>
            <a:ext cx="1066800" cy="38100"/>
          </a:xfrm>
          <a:custGeom>
            <a:avLst/>
            <a:gdLst/>
            <a:ahLst/>
            <a:cxnLst/>
            <a:rect l="l" t="t" r="r" b="b"/>
            <a:pathLst>
              <a:path w="1066800" h="38100">
                <a:moveTo>
                  <a:pt x="0" y="0"/>
                </a:moveTo>
                <a:lnTo>
                  <a:pt x="1066800" y="0"/>
                </a:lnTo>
                <a:lnTo>
                  <a:pt x="10668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7" name="Shape 4"/>
          <p:cNvSpPr/>
          <p:nvPr/>
        </p:nvSpPr>
        <p:spPr>
          <a:xfrm>
            <a:off x="381000" y="1160939"/>
            <a:ext cx="5600700" cy="5218670"/>
          </a:xfrm>
          <a:custGeom>
            <a:avLst/>
            <a:gdLst/>
            <a:ahLst/>
            <a:cxnLst/>
            <a:rect l="l" t="t" r="r" b="b"/>
            <a:pathLst>
              <a:path w="5600700" h="5218670">
                <a:moveTo>
                  <a:pt x="36041" y="0"/>
                </a:moveTo>
                <a:lnTo>
                  <a:pt x="5564659" y="0"/>
                </a:lnTo>
                <a:cubicBezTo>
                  <a:pt x="5584564" y="0"/>
                  <a:pt x="5600700" y="16136"/>
                  <a:pt x="5600700" y="36041"/>
                </a:cubicBezTo>
                <a:lnTo>
                  <a:pt x="5600700" y="5104381"/>
                </a:lnTo>
                <a:cubicBezTo>
                  <a:pt x="5600700" y="5167501"/>
                  <a:pt x="5549531" y="5218670"/>
                  <a:pt x="5486411" y="5218670"/>
                </a:cubicBezTo>
                <a:lnTo>
                  <a:pt x="114289" y="5218670"/>
                </a:lnTo>
                <a:cubicBezTo>
                  <a:pt x="51169" y="5218670"/>
                  <a:pt x="0" y="5167501"/>
                  <a:pt x="0" y="5104381"/>
                </a:cubicBezTo>
                <a:lnTo>
                  <a:pt x="0" y="36041"/>
                </a:lnTo>
                <a:cubicBezTo>
                  <a:pt x="0" y="16136"/>
                  <a:pt x="16136" y="0"/>
                  <a:pt x="36041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blurRad="142875" dist="95250" dir="5400000" algn="bl" rotWithShape="0">
              <a:srgbClr val="000000">
                <a:alpha val="10196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81000" y="1160939"/>
            <a:ext cx="5600700" cy="36041"/>
          </a:xfrm>
          <a:custGeom>
            <a:avLst/>
            <a:gdLst/>
            <a:ahLst/>
            <a:cxnLst/>
            <a:rect l="l" t="t" r="r" b="b"/>
            <a:pathLst>
              <a:path w="5600700" h="36041">
                <a:moveTo>
                  <a:pt x="36041" y="0"/>
                </a:moveTo>
                <a:lnTo>
                  <a:pt x="5564659" y="0"/>
                </a:lnTo>
                <a:cubicBezTo>
                  <a:pt x="5584564" y="0"/>
                  <a:pt x="5600700" y="16136"/>
                  <a:pt x="5600700" y="36041"/>
                </a:cubicBezTo>
                <a:lnTo>
                  <a:pt x="5600700" y="36041"/>
                </a:lnTo>
                <a:lnTo>
                  <a:pt x="0" y="36041"/>
                </a:lnTo>
                <a:lnTo>
                  <a:pt x="0" y="36041"/>
                </a:lnTo>
                <a:cubicBezTo>
                  <a:pt x="0" y="16136"/>
                  <a:pt x="16136" y="0"/>
                  <a:pt x="36041" y="0"/>
                </a:cubicBezTo>
                <a:close/>
              </a:path>
            </a:pathLst>
          </a:custGeom>
          <a:solidFill>
            <a:srgbClr val="343A40"/>
          </a:solidFill>
          <a:ln/>
        </p:spPr>
      </p:sp>
      <p:sp>
        <p:nvSpPr>
          <p:cNvPr id="9" name="Shape 6"/>
          <p:cNvSpPr/>
          <p:nvPr/>
        </p:nvSpPr>
        <p:spPr>
          <a:xfrm>
            <a:off x="609600" y="1398019"/>
            <a:ext cx="285750" cy="285750"/>
          </a:xfrm>
          <a:custGeom>
            <a:avLst/>
            <a:gdLst/>
            <a:ahLst/>
            <a:cxnLst/>
            <a:rect l="l" t="t" r="r" b="b"/>
            <a:pathLst>
              <a:path w="285750" h="285750">
                <a:moveTo>
                  <a:pt x="74675" y="20259"/>
                </a:moveTo>
                <a:cubicBezTo>
                  <a:pt x="80758" y="24501"/>
                  <a:pt x="82209" y="32872"/>
                  <a:pt x="77967" y="38900"/>
                </a:cubicBezTo>
                <a:lnTo>
                  <a:pt x="46713" y="83548"/>
                </a:lnTo>
                <a:cubicBezTo>
                  <a:pt x="44425" y="86785"/>
                  <a:pt x="40853" y="88850"/>
                  <a:pt x="36891" y="89185"/>
                </a:cubicBezTo>
                <a:cubicBezTo>
                  <a:pt x="32928" y="89520"/>
                  <a:pt x="29021" y="88181"/>
                  <a:pt x="26231" y="85390"/>
                </a:cubicBezTo>
                <a:lnTo>
                  <a:pt x="3907" y="63066"/>
                </a:lnTo>
                <a:cubicBezTo>
                  <a:pt x="-1284" y="57820"/>
                  <a:pt x="-1284" y="49337"/>
                  <a:pt x="3907" y="44090"/>
                </a:cubicBezTo>
                <a:cubicBezTo>
                  <a:pt x="9097" y="38844"/>
                  <a:pt x="17636" y="38900"/>
                  <a:pt x="22882" y="44090"/>
                </a:cubicBezTo>
                <a:lnTo>
                  <a:pt x="33933" y="55141"/>
                </a:lnTo>
                <a:lnTo>
                  <a:pt x="56034" y="23552"/>
                </a:lnTo>
                <a:cubicBezTo>
                  <a:pt x="60275" y="17469"/>
                  <a:pt x="68647" y="16018"/>
                  <a:pt x="74675" y="20259"/>
                </a:cubicBezTo>
                <a:close/>
                <a:moveTo>
                  <a:pt x="74675" y="109556"/>
                </a:moveTo>
                <a:cubicBezTo>
                  <a:pt x="80758" y="113798"/>
                  <a:pt x="82209" y="122169"/>
                  <a:pt x="77967" y="128197"/>
                </a:cubicBezTo>
                <a:lnTo>
                  <a:pt x="46713" y="172845"/>
                </a:lnTo>
                <a:cubicBezTo>
                  <a:pt x="44425" y="176082"/>
                  <a:pt x="40853" y="178147"/>
                  <a:pt x="36891" y="178482"/>
                </a:cubicBezTo>
                <a:cubicBezTo>
                  <a:pt x="32928" y="178817"/>
                  <a:pt x="29021" y="177478"/>
                  <a:pt x="26231" y="174687"/>
                </a:cubicBezTo>
                <a:lnTo>
                  <a:pt x="3907" y="152363"/>
                </a:lnTo>
                <a:cubicBezTo>
                  <a:pt x="-1339" y="147117"/>
                  <a:pt x="-1339" y="138633"/>
                  <a:pt x="3907" y="133443"/>
                </a:cubicBezTo>
                <a:cubicBezTo>
                  <a:pt x="9153" y="128253"/>
                  <a:pt x="17636" y="128197"/>
                  <a:pt x="22827" y="133443"/>
                </a:cubicBezTo>
                <a:lnTo>
                  <a:pt x="33877" y="144494"/>
                </a:lnTo>
                <a:lnTo>
                  <a:pt x="55978" y="112905"/>
                </a:lnTo>
                <a:cubicBezTo>
                  <a:pt x="60220" y="106821"/>
                  <a:pt x="68591" y="105370"/>
                  <a:pt x="74619" y="109612"/>
                </a:cubicBezTo>
                <a:close/>
                <a:moveTo>
                  <a:pt x="125016" y="53578"/>
                </a:moveTo>
                <a:cubicBezTo>
                  <a:pt x="125016" y="43700"/>
                  <a:pt x="132997" y="35719"/>
                  <a:pt x="142875" y="35719"/>
                </a:cubicBezTo>
                <a:lnTo>
                  <a:pt x="267891" y="35719"/>
                </a:lnTo>
                <a:cubicBezTo>
                  <a:pt x="277769" y="35719"/>
                  <a:pt x="285750" y="43700"/>
                  <a:pt x="285750" y="53578"/>
                </a:cubicBezTo>
                <a:cubicBezTo>
                  <a:pt x="285750" y="63457"/>
                  <a:pt x="277769" y="71438"/>
                  <a:pt x="267891" y="71438"/>
                </a:cubicBezTo>
                <a:lnTo>
                  <a:pt x="142875" y="71438"/>
                </a:lnTo>
                <a:cubicBezTo>
                  <a:pt x="132997" y="71438"/>
                  <a:pt x="125016" y="63457"/>
                  <a:pt x="125016" y="53578"/>
                </a:cubicBezTo>
                <a:close/>
                <a:moveTo>
                  <a:pt x="125016" y="142875"/>
                </a:moveTo>
                <a:cubicBezTo>
                  <a:pt x="125016" y="132997"/>
                  <a:pt x="132997" y="125016"/>
                  <a:pt x="142875" y="125016"/>
                </a:cubicBezTo>
                <a:lnTo>
                  <a:pt x="267891" y="125016"/>
                </a:lnTo>
                <a:cubicBezTo>
                  <a:pt x="277769" y="125016"/>
                  <a:pt x="285750" y="132997"/>
                  <a:pt x="285750" y="142875"/>
                </a:cubicBezTo>
                <a:cubicBezTo>
                  <a:pt x="285750" y="152753"/>
                  <a:pt x="277769" y="160734"/>
                  <a:pt x="267891" y="160734"/>
                </a:cubicBezTo>
                <a:lnTo>
                  <a:pt x="142875" y="160734"/>
                </a:lnTo>
                <a:cubicBezTo>
                  <a:pt x="132997" y="160734"/>
                  <a:pt x="125016" y="152753"/>
                  <a:pt x="125016" y="142875"/>
                </a:cubicBezTo>
                <a:close/>
                <a:moveTo>
                  <a:pt x="89297" y="232172"/>
                </a:moveTo>
                <a:cubicBezTo>
                  <a:pt x="89297" y="222293"/>
                  <a:pt x="97278" y="214313"/>
                  <a:pt x="107156" y="214313"/>
                </a:cubicBezTo>
                <a:lnTo>
                  <a:pt x="267891" y="214313"/>
                </a:lnTo>
                <a:cubicBezTo>
                  <a:pt x="277769" y="214313"/>
                  <a:pt x="285750" y="222293"/>
                  <a:pt x="285750" y="232172"/>
                </a:cubicBezTo>
                <a:cubicBezTo>
                  <a:pt x="285750" y="242050"/>
                  <a:pt x="277769" y="250031"/>
                  <a:pt x="267891" y="250031"/>
                </a:cubicBezTo>
                <a:lnTo>
                  <a:pt x="107156" y="250031"/>
                </a:lnTo>
                <a:cubicBezTo>
                  <a:pt x="97278" y="250031"/>
                  <a:pt x="89297" y="242050"/>
                  <a:pt x="89297" y="232172"/>
                </a:cubicBezTo>
                <a:close/>
                <a:moveTo>
                  <a:pt x="35719" y="209848"/>
                </a:moveTo>
                <a:cubicBezTo>
                  <a:pt x="48040" y="209848"/>
                  <a:pt x="58043" y="219851"/>
                  <a:pt x="58043" y="232172"/>
                </a:cubicBezTo>
                <a:cubicBezTo>
                  <a:pt x="58043" y="244493"/>
                  <a:pt x="48040" y="254496"/>
                  <a:pt x="35719" y="254496"/>
                </a:cubicBezTo>
                <a:cubicBezTo>
                  <a:pt x="23398" y="254496"/>
                  <a:pt x="13395" y="244493"/>
                  <a:pt x="13395" y="232172"/>
                </a:cubicBezTo>
                <a:cubicBezTo>
                  <a:pt x="13395" y="219851"/>
                  <a:pt x="23398" y="209848"/>
                  <a:pt x="35719" y="209848"/>
                </a:cubicBezTo>
                <a:close/>
              </a:path>
            </a:pathLst>
          </a:custGeom>
          <a:solidFill>
            <a:srgbClr val="343A40"/>
          </a:solidFill>
          <a:ln/>
        </p:spPr>
      </p:sp>
      <p:sp>
        <p:nvSpPr>
          <p:cNvPr id="10" name="Text 7"/>
          <p:cNvSpPr/>
          <p:nvPr/>
        </p:nvSpPr>
        <p:spPr>
          <a:xfrm>
            <a:off x="1042923" y="1369461"/>
            <a:ext cx="128587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50" b="1" dirty="0">
                <a:solidFill>
                  <a:srgbClr val="343A40"/>
                </a:solidFill>
                <a:latin typeface="阿里妈妈数黑体" pitchFamily="34" charset="0"/>
                <a:ea typeface="阿里妈妈数黑体" pitchFamily="34" charset="-122"/>
                <a:cs typeface="阿里妈妈数黑体" pitchFamily="34" charset="-120"/>
              </a:rPr>
              <a:t>项目计划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589520" y="1864695"/>
            <a:ext cx="36041" cy="838200"/>
          </a:xfrm>
          <a:custGeom>
            <a:avLst/>
            <a:gdLst/>
            <a:ahLst/>
            <a:cxnLst/>
            <a:rect l="l" t="t" r="r" b="b"/>
            <a:pathLst>
              <a:path w="36041" h="838200">
                <a:moveTo>
                  <a:pt x="0" y="0"/>
                </a:moveTo>
                <a:lnTo>
                  <a:pt x="36041" y="0"/>
                </a:lnTo>
                <a:lnTo>
                  <a:pt x="36041" y="838200"/>
                </a:lnTo>
                <a:lnTo>
                  <a:pt x="0" y="838200"/>
                </a:lnTo>
                <a:lnTo>
                  <a:pt x="0" y="0"/>
                </a:ln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12" name="Text 9"/>
          <p:cNvSpPr/>
          <p:nvPr/>
        </p:nvSpPr>
        <p:spPr>
          <a:xfrm>
            <a:off x="759908" y="1864695"/>
            <a:ext cx="51244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WBS工作分解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759908" y="2207563"/>
            <a:ext cx="51054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将项目分解为</a:t>
            </a:r>
            <a:r>
              <a:rPr lang="en-US" sz="1200" b="1" dirty="0">
                <a:solidFill>
                  <a:srgbClr val="0056B3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7大阶段、37项具体任务</a:t>
            </a:r>
            <a:r>
              <a:rPr lang="en-US" sz="1200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，覆盖从需求分析到部署运维的全生命周期。每项任务都有明确的交付物和验收标准。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589520" y="2855005"/>
            <a:ext cx="36041" cy="838200"/>
          </a:xfrm>
          <a:custGeom>
            <a:avLst/>
            <a:gdLst/>
            <a:ahLst/>
            <a:cxnLst/>
            <a:rect l="l" t="t" r="r" b="b"/>
            <a:pathLst>
              <a:path w="36041" h="838200">
                <a:moveTo>
                  <a:pt x="0" y="0"/>
                </a:moveTo>
                <a:lnTo>
                  <a:pt x="36041" y="0"/>
                </a:lnTo>
                <a:lnTo>
                  <a:pt x="36041" y="838200"/>
                </a:lnTo>
                <a:lnTo>
                  <a:pt x="0" y="838200"/>
                </a:lnTo>
                <a:lnTo>
                  <a:pt x="0" y="0"/>
                </a:ln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15" name="Text 12"/>
          <p:cNvSpPr/>
          <p:nvPr/>
        </p:nvSpPr>
        <p:spPr>
          <a:xfrm>
            <a:off x="759908" y="2855005"/>
            <a:ext cx="51244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甘特图规划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759908" y="3197872"/>
            <a:ext cx="51054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制定详细的时间进度表，</a:t>
            </a:r>
            <a:r>
              <a:rPr lang="en-US" sz="1200" dirty="0">
                <a:solidFill>
                  <a:srgbClr val="343A40"/>
                </a:solidFill>
                <a:highlight>
                  <a:srgbClr val="FFC107">
                    <a:alpha val="20000"/>
                  </a:srgbClr>
                </a:highlight>
                <a:latin typeface="MiSans" pitchFamily="34" charset="0"/>
                <a:ea typeface="MiSans" pitchFamily="34" charset="-122"/>
                <a:cs typeface="MiSans" pitchFamily="34" charset="-120"/>
              </a:rPr>
              <a:t> 明确每个任务的起止时间、持续周期和责任人 </a:t>
            </a:r>
            <a:r>
              <a:rPr lang="en-US" sz="1200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，并设置关键里程碑节点用于进度检查。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589520" y="3845316"/>
            <a:ext cx="36041" cy="838200"/>
          </a:xfrm>
          <a:custGeom>
            <a:avLst/>
            <a:gdLst/>
            <a:ahLst/>
            <a:cxnLst/>
            <a:rect l="l" t="t" r="r" b="b"/>
            <a:pathLst>
              <a:path w="36041" h="838200">
                <a:moveTo>
                  <a:pt x="0" y="0"/>
                </a:moveTo>
                <a:lnTo>
                  <a:pt x="36041" y="0"/>
                </a:lnTo>
                <a:lnTo>
                  <a:pt x="36041" y="838200"/>
                </a:lnTo>
                <a:lnTo>
                  <a:pt x="0" y="838200"/>
                </a:lnTo>
                <a:lnTo>
                  <a:pt x="0" y="0"/>
                </a:lnTo>
                <a:close/>
              </a:path>
            </a:pathLst>
          </a:custGeom>
          <a:solidFill>
            <a:srgbClr val="6C757D"/>
          </a:solidFill>
          <a:ln/>
        </p:spPr>
      </p:sp>
      <p:sp>
        <p:nvSpPr>
          <p:cNvPr id="18" name="Text 15"/>
          <p:cNvSpPr/>
          <p:nvPr/>
        </p:nvSpPr>
        <p:spPr>
          <a:xfrm>
            <a:off x="759908" y="3845316"/>
            <a:ext cx="51244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责任分配矩阵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759908" y="4188184"/>
            <a:ext cx="51054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清晰定义团队成员的职责边界，确保每项任务都有明确的负责人和协作者，避免责任模糊。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571500" y="5657880"/>
            <a:ext cx="5219700" cy="533400"/>
          </a:xfrm>
          <a:custGeom>
            <a:avLst/>
            <a:gdLst/>
            <a:ahLst/>
            <a:cxnLst/>
            <a:rect l="l" t="t" r="r" b="b"/>
            <a:pathLst>
              <a:path w="5219700" h="533400">
                <a:moveTo>
                  <a:pt x="76202" y="0"/>
                </a:moveTo>
                <a:lnTo>
                  <a:pt x="5143498" y="0"/>
                </a:lnTo>
                <a:cubicBezTo>
                  <a:pt x="5185583" y="0"/>
                  <a:pt x="5219700" y="34117"/>
                  <a:pt x="5219700" y="76202"/>
                </a:cubicBezTo>
                <a:lnTo>
                  <a:pt x="5219700" y="457198"/>
                </a:lnTo>
                <a:cubicBezTo>
                  <a:pt x="5219700" y="499283"/>
                  <a:pt x="5185583" y="533400"/>
                  <a:pt x="5143498" y="533400"/>
                </a:cubicBezTo>
                <a:lnTo>
                  <a:pt x="76202" y="533400"/>
                </a:lnTo>
                <a:cubicBezTo>
                  <a:pt x="34117" y="533400"/>
                  <a:pt x="0" y="499283"/>
                  <a:pt x="0" y="457198"/>
                </a:cubicBezTo>
                <a:lnTo>
                  <a:pt x="0" y="76202"/>
                </a:lnTo>
                <a:cubicBezTo>
                  <a:pt x="0" y="34145"/>
                  <a:pt x="34145" y="0"/>
                  <a:pt x="76202" y="0"/>
                </a:cubicBezTo>
                <a:close/>
              </a:path>
            </a:pathLst>
          </a:custGeom>
          <a:solidFill>
            <a:srgbClr val="343A40"/>
          </a:solidFill>
          <a:ln/>
        </p:spPr>
      </p:sp>
      <p:sp>
        <p:nvSpPr>
          <p:cNvPr id="21" name="Shape 18"/>
          <p:cNvSpPr/>
          <p:nvPr/>
        </p:nvSpPr>
        <p:spPr>
          <a:xfrm>
            <a:off x="742918" y="5841141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9525" y="9525"/>
                </a:moveTo>
                <a:cubicBezTo>
                  <a:pt x="14794" y="9525"/>
                  <a:pt x="19050" y="13781"/>
                  <a:pt x="19050" y="19050"/>
                </a:cubicBezTo>
                <a:lnTo>
                  <a:pt x="19050" y="119062"/>
                </a:lnTo>
                <a:cubicBezTo>
                  <a:pt x="19050" y="121682"/>
                  <a:pt x="21193" y="123825"/>
                  <a:pt x="23813" y="123825"/>
                </a:cubicBezTo>
                <a:lnTo>
                  <a:pt x="142875" y="123825"/>
                </a:lnTo>
                <a:cubicBezTo>
                  <a:pt x="148144" y="123825"/>
                  <a:pt x="152400" y="128081"/>
                  <a:pt x="152400" y="133350"/>
                </a:cubicBezTo>
                <a:cubicBezTo>
                  <a:pt x="152400" y="138619"/>
                  <a:pt x="148144" y="142875"/>
                  <a:pt x="142875" y="142875"/>
                </a:cubicBezTo>
                <a:lnTo>
                  <a:pt x="23813" y="142875"/>
                </a:lnTo>
                <a:cubicBezTo>
                  <a:pt x="10656" y="142875"/>
                  <a:pt x="0" y="132219"/>
                  <a:pt x="0" y="119062"/>
                </a:cubicBezTo>
                <a:lnTo>
                  <a:pt x="0" y="19050"/>
                </a:lnTo>
                <a:cubicBezTo>
                  <a:pt x="0" y="13781"/>
                  <a:pt x="4256" y="9525"/>
                  <a:pt x="9525" y="9525"/>
                </a:cubicBezTo>
                <a:close/>
                <a:moveTo>
                  <a:pt x="38100" y="28575"/>
                </a:moveTo>
                <a:cubicBezTo>
                  <a:pt x="38100" y="23306"/>
                  <a:pt x="42356" y="19050"/>
                  <a:pt x="47625" y="19050"/>
                </a:cubicBezTo>
                <a:lnTo>
                  <a:pt x="104775" y="19050"/>
                </a:lnTo>
                <a:cubicBezTo>
                  <a:pt x="110044" y="19050"/>
                  <a:pt x="114300" y="23306"/>
                  <a:pt x="114300" y="28575"/>
                </a:cubicBezTo>
                <a:cubicBezTo>
                  <a:pt x="114300" y="33844"/>
                  <a:pt x="110044" y="38100"/>
                  <a:pt x="104775" y="38100"/>
                </a:cubicBezTo>
                <a:lnTo>
                  <a:pt x="47625" y="38100"/>
                </a:lnTo>
                <a:cubicBezTo>
                  <a:pt x="42356" y="38100"/>
                  <a:pt x="38100" y="33844"/>
                  <a:pt x="38100" y="28575"/>
                </a:cubicBezTo>
                <a:close/>
                <a:moveTo>
                  <a:pt x="47625" y="52388"/>
                </a:moveTo>
                <a:lnTo>
                  <a:pt x="85725" y="52388"/>
                </a:lnTo>
                <a:cubicBezTo>
                  <a:pt x="90994" y="52388"/>
                  <a:pt x="95250" y="56644"/>
                  <a:pt x="95250" y="61912"/>
                </a:cubicBezTo>
                <a:cubicBezTo>
                  <a:pt x="95250" y="67181"/>
                  <a:pt x="90994" y="71438"/>
                  <a:pt x="85725" y="71438"/>
                </a:cubicBezTo>
                <a:lnTo>
                  <a:pt x="47625" y="71438"/>
                </a:lnTo>
                <a:cubicBezTo>
                  <a:pt x="42356" y="71438"/>
                  <a:pt x="38100" y="67181"/>
                  <a:pt x="38100" y="61912"/>
                </a:cubicBezTo>
                <a:cubicBezTo>
                  <a:pt x="38100" y="56644"/>
                  <a:pt x="42356" y="52388"/>
                  <a:pt x="47625" y="52388"/>
                </a:cubicBezTo>
                <a:close/>
                <a:moveTo>
                  <a:pt x="47625" y="85725"/>
                </a:moveTo>
                <a:lnTo>
                  <a:pt x="123825" y="85725"/>
                </a:lnTo>
                <a:cubicBezTo>
                  <a:pt x="129094" y="85725"/>
                  <a:pt x="133350" y="89981"/>
                  <a:pt x="133350" y="95250"/>
                </a:cubicBezTo>
                <a:cubicBezTo>
                  <a:pt x="133350" y="100519"/>
                  <a:pt x="129094" y="104775"/>
                  <a:pt x="123825" y="104775"/>
                </a:cubicBezTo>
                <a:lnTo>
                  <a:pt x="47625" y="104775"/>
                </a:lnTo>
                <a:cubicBezTo>
                  <a:pt x="42356" y="104775"/>
                  <a:pt x="38100" y="100519"/>
                  <a:pt x="38100" y="95250"/>
                </a:cubicBezTo>
                <a:cubicBezTo>
                  <a:pt x="38100" y="89981"/>
                  <a:pt x="42356" y="85725"/>
                  <a:pt x="47625" y="85725"/>
                </a:cubicBez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22" name="Text 19"/>
          <p:cNvSpPr/>
          <p:nvPr/>
        </p:nvSpPr>
        <p:spPr>
          <a:xfrm>
            <a:off x="971518" y="5810250"/>
            <a:ext cx="47434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FFC10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关键成果:</a:t>
            </a:r>
            <a:r>
              <a:rPr lang="en-US" sz="1200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 详细的项目管理文档,为后续阶段提供清晰的路线图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6210235" y="1160939"/>
            <a:ext cx="5600700" cy="5218670"/>
          </a:xfrm>
          <a:custGeom>
            <a:avLst/>
            <a:gdLst/>
            <a:ahLst/>
            <a:cxnLst/>
            <a:rect l="l" t="t" r="r" b="b"/>
            <a:pathLst>
              <a:path w="5600700" h="5218670">
                <a:moveTo>
                  <a:pt x="36041" y="0"/>
                </a:moveTo>
                <a:lnTo>
                  <a:pt x="5564659" y="0"/>
                </a:lnTo>
                <a:cubicBezTo>
                  <a:pt x="5584564" y="0"/>
                  <a:pt x="5600700" y="16136"/>
                  <a:pt x="5600700" y="36041"/>
                </a:cubicBezTo>
                <a:lnTo>
                  <a:pt x="5600700" y="5104381"/>
                </a:lnTo>
                <a:cubicBezTo>
                  <a:pt x="5600700" y="5167501"/>
                  <a:pt x="5549531" y="5218670"/>
                  <a:pt x="5486411" y="5218670"/>
                </a:cubicBezTo>
                <a:lnTo>
                  <a:pt x="114289" y="5218670"/>
                </a:lnTo>
                <a:cubicBezTo>
                  <a:pt x="51169" y="5218670"/>
                  <a:pt x="0" y="5167501"/>
                  <a:pt x="0" y="5104381"/>
                </a:cubicBezTo>
                <a:lnTo>
                  <a:pt x="0" y="36041"/>
                </a:lnTo>
                <a:cubicBezTo>
                  <a:pt x="0" y="16136"/>
                  <a:pt x="16136" y="0"/>
                  <a:pt x="36041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blurRad="142875" dist="95250" dir="5400000" algn="bl" rotWithShape="0">
              <a:srgbClr val="000000">
                <a:alpha val="10196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6210235" y="1160939"/>
            <a:ext cx="5600700" cy="36041"/>
          </a:xfrm>
          <a:custGeom>
            <a:avLst/>
            <a:gdLst/>
            <a:ahLst/>
            <a:cxnLst/>
            <a:rect l="l" t="t" r="r" b="b"/>
            <a:pathLst>
              <a:path w="5600700" h="36041">
                <a:moveTo>
                  <a:pt x="36041" y="0"/>
                </a:moveTo>
                <a:lnTo>
                  <a:pt x="5564659" y="0"/>
                </a:lnTo>
                <a:cubicBezTo>
                  <a:pt x="5584564" y="0"/>
                  <a:pt x="5600700" y="16136"/>
                  <a:pt x="5600700" y="36041"/>
                </a:cubicBezTo>
                <a:lnTo>
                  <a:pt x="5600700" y="36041"/>
                </a:lnTo>
                <a:lnTo>
                  <a:pt x="0" y="36041"/>
                </a:lnTo>
                <a:lnTo>
                  <a:pt x="0" y="36041"/>
                </a:lnTo>
                <a:cubicBezTo>
                  <a:pt x="0" y="16136"/>
                  <a:pt x="16136" y="0"/>
                  <a:pt x="36041" y="0"/>
                </a:cubicBez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25" name="Shape 22"/>
          <p:cNvSpPr/>
          <p:nvPr/>
        </p:nvSpPr>
        <p:spPr>
          <a:xfrm>
            <a:off x="6403117" y="1398019"/>
            <a:ext cx="357188" cy="285750"/>
          </a:xfrm>
          <a:custGeom>
            <a:avLst/>
            <a:gdLst/>
            <a:ahLst/>
            <a:cxnLst/>
            <a:rect l="l" t="t" r="r" b="b"/>
            <a:pathLst>
              <a:path w="357188" h="285750">
                <a:moveTo>
                  <a:pt x="214313" y="17859"/>
                </a:moveTo>
                <a:lnTo>
                  <a:pt x="285750" y="17859"/>
                </a:lnTo>
                <a:cubicBezTo>
                  <a:pt x="295628" y="17859"/>
                  <a:pt x="303609" y="25840"/>
                  <a:pt x="303609" y="35719"/>
                </a:cubicBezTo>
                <a:cubicBezTo>
                  <a:pt x="303609" y="45597"/>
                  <a:pt x="295628" y="53578"/>
                  <a:pt x="285750" y="53578"/>
                </a:cubicBezTo>
                <a:lnTo>
                  <a:pt x="222349" y="53578"/>
                </a:lnTo>
                <a:cubicBezTo>
                  <a:pt x="219447" y="67977"/>
                  <a:pt x="209569" y="79865"/>
                  <a:pt x="196453" y="85558"/>
                </a:cubicBezTo>
                <a:lnTo>
                  <a:pt x="196453" y="250031"/>
                </a:lnTo>
                <a:lnTo>
                  <a:pt x="285750" y="250031"/>
                </a:lnTo>
                <a:cubicBezTo>
                  <a:pt x="295628" y="250031"/>
                  <a:pt x="303609" y="258012"/>
                  <a:pt x="303609" y="267891"/>
                </a:cubicBezTo>
                <a:cubicBezTo>
                  <a:pt x="303609" y="277769"/>
                  <a:pt x="295628" y="285750"/>
                  <a:pt x="285750" y="285750"/>
                </a:cubicBezTo>
                <a:lnTo>
                  <a:pt x="71438" y="285750"/>
                </a:lnTo>
                <a:cubicBezTo>
                  <a:pt x="61559" y="285750"/>
                  <a:pt x="53578" y="277769"/>
                  <a:pt x="53578" y="267891"/>
                </a:cubicBezTo>
                <a:cubicBezTo>
                  <a:pt x="53578" y="258012"/>
                  <a:pt x="61559" y="250031"/>
                  <a:pt x="71438" y="250031"/>
                </a:cubicBezTo>
                <a:lnTo>
                  <a:pt x="160734" y="250031"/>
                </a:lnTo>
                <a:lnTo>
                  <a:pt x="160734" y="85558"/>
                </a:lnTo>
                <a:cubicBezTo>
                  <a:pt x="147619" y="79809"/>
                  <a:pt x="137740" y="67921"/>
                  <a:pt x="134838" y="53578"/>
                </a:cubicBezTo>
                <a:lnTo>
                  <a:pt x="71438" y="53578"/>
                </a:lnTo>
                <a:cubicBezTo>
                  <a:pt x="61559" y="53578"/>
                  <a:pt x="53578" y="45597"/>
                  <a:pt x="53578" y="35719"/>
                </a:cubicBezTo>
                <a:cubicBezTo>
                  <a:pt x="53578" y="25840"/>
                  <a:pt x="61559" y="17859"/>
                  <a:pt x="71438" y="17859"/>
                </a:cubicBezTo>
                <a:lnTo>
                  <a:pt x="142875" y="17859"/>
                </a:lnTo>
                <a:cubicBezTo>
                  <a:pt x="151023" y="7032"/>
                  <a:pt x="163971" y="0"/>
                  <a:pt x="178594" y="0"/>
                </a:cubicBezTo>
                <a:cubicBezTo>
                  <a:pt x="193216" y="0"/>
                  <a:pt x="206164" y="7032"/>
                  <a:pt x="214313" y="17859"/>
                </a:cubicBezTo>
                <a:close/>
                <a:moveTo>
                  <a:pt x="245343" y="178594"/>
                </a:moveTo>
                <a:lnTo>
                  <a:pt x="326157" y="178594"/>
                </a:lnTo>
                <a:lnTo>
                  <a:pt x="285750" y="109277"/>
                </a:lnTo>
                <a:lnTo>
                  <a:pt x="245343" y="178594"/>
                </a:lnTo>
                <a:close/>
                <a:moveTo>
                  <a:pt x="285750" y="232172"/>
                </a:moveTo>
                <a:cubicBezTo>
                  <a:pt x="250645" y="232172"/>
                  <a:pt x="221456" y="213196"/>
                  <a:pt x="215429" y="188137"/>
                </a:cubicBezTo>
                <a:cubicBezTo>
                  <a:pt x="213978" y="181998"/>
                  <a:pt x="215987" y="175692"/>
                  <a:pt x="219168" y="170222"/>
                </a:cubicBezTo>
                <a:lnTo>
                  <a:pt x="272300" y="79139"/>
                </a:lnTo>
                <a:cubicBezTo>
                  <a:pt x="275090" y="74340"/>
                  <a:pt x="280225" y="71438"/>
                  <a:pt x="285750" y="71438"/>
                </a:cubicBezTo>
                <a:cubicBezTo>
                  <a:pt x="291275" y="71438"/>
                  <a:pt x="296410" y="74395"/>
                  <a:pt x="299200" y="79139"/>
                </a:cubicBezTo>
                <a:lnTo>
                  <a:pt x="352332" y="170222"/>
                </a:lnTo>
                <a:cubicBezTo>
                  <a:pt x="355513" y="175692"/>
                  <a:pt x="357522" y="181998"/>
                  <a:pt x="356071" y="188137"/>
                </a:cubicBezTo>
                <a:cubicBezTo>
                  <a:pt x="350044" y="213140"/>
                  <a:pt x="320855" y="232172"/>
                  <a:pt x="285750" y="232172"/>
                </a:cubicBezTo>
                <a:close/>
                <a:moveTo>
                  <a:pt x="70768" y="109277"/>
                </a:moveTo>
                <a:lnTo>
                  <a:pt x="30361" y="178594"/>
                </a:lnTo>
                <a:lnTo>
                  <a:pt x="111230" y="178594"/>
                </a:lnTo>
                <a:lnTo>
                  <a:pt x="70768" y="109277"/>
                </a:lnTo>
                <a:close/>
                <a:moveTo>
                  <a:pt x="502" y="188137"/>
                </a:moveTo>
                <a:cubicBezTo>
                  <a:pt x="-949" y="181998"/>
                  <a:pt x="1060" y="175692"/>
                  <a:pt x="4242" y="170222"/>
                </a:cubicBezTo>
                <a:lnTo>
                  <a:pt x="57373" y="79139"/>
                </a:lnTo>
                <a:cubicBezTo>
                  <a:pt x="60164" y="74340"/>
                  <a:pt x="65298" y="71438"/>
                  <a:pt x="70824" y="71438"/>
                </a:cubicBezTo>
                <a:cubicBezTo>
                  <a:pt x="76349" y="71438"/>
                  <a:pt x="81483" y="74395"/>
                  <a:pt x="84274" y="79139"/>
                </a:cubicBezTo>
                <a:lnTo>
                  <a:pt x="137406" y="170222"/>
                </a:lnTo>
                <a:cubicBezTo>
                  <a:pt x="140587" y="175692"/>
                  <a:pt x="142596" y="181998"/>
                  <a:pt x="141145" y="188137"/>
                </a:cubicBezTo>
                <a:cubicBezTo>
                  <a:pt x="135117" y="213140"/>
                  <a:pt x="105928" y="232172"/>
                  <a:pt x="70824" y="232172"/>
                </a:cubicBezTo>
                <a:cubicBezTo>
                  <a:pt x="35719" y="232172"/>
                  <a:pt x="6530" y="213196"/>
                  <a:pt x="502" y="188137"/>
                </a:cubicBez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26" name="Text 23"/>
          <p:cNvSpPr/>
          <p:nvPr/>
        </p:nvSpPr>
        <p:spPr>
          <a:xfrm>
            <a:off x="6872158" y="1369461"/>
            <a:ext cx="157162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50" b="1" dirty="0">
                <a:solidFill>
                  <a:srgbClr val="343A40"/>
                </a:solidFill>
                <a:latin typeface="阿里妈妈数黑体" pitchFamily="34" charset="0"/>
                <a:ea typeface="阿里妈妈数黑体" pitchFamily="34" charset="-122"/>
                <a:cs typeface="阿里妈妈数黑体" pitchFamily="34" charset="-120"/>
              </a:rPr>
              <a:t>可行性分析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6400735" y="1864695"/>
            <a:ext cx="53149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五维度可行性评估</a:t>
            </a:r>
            <a:endParaRPr lang="en-US" sz="1600" dirty="0"/>
          </a:p>
        </p:txBody>
      </p:sp>
      <p:sp>
        <p:nvSpPr>
          <p:cNvPr id="28" name="Shape 25"/>
          <p:cNvSpPr/>
          <p:nvPr/>
        </p:nvSpPr>
        <p:spPr>
          <a:xfrm>
            <a:off x="6400735" y="2245614"/>
            <a:ext cx="981075" cy="581025"/>
          </a:xfrm>
          <a:custGeom>
            <a:avLst/>
            <a:gdLst/>
            <a:ahLst/>
            <a:cxnLst/>
            <a:rect l="l" t="t" r="r" b="b"/>
            <a:pathLst>
              <a:path w="981075" h="581025">
                <a:moveTo>
                  <a:pt x="76201" y="0"/>
                </a:moveTo>
                <a:lnTo>
                  <a:pt x="904874" y="0"/>
                </a:lnTo>
                <a:cubicBezTo>
                  <a:pt x="946930" y="0"/>
                  <a:pt x="981075" y="34145"/>
                  <a:pt x="981075" y="76201"/>
                </a:cubicBezTo>
                <a:lnTo>
                  <a:pt x="981075" y="504824"/>
                </a:lnTo>
                <a:cubicBezTo>
                  <a:pt x="981075" y="546880"/>
                  <a:pt x="946930" y="581025"/>
                  <a:pt x="904874" y="581025"/>
                </a:cubicBezTo>
                <a:lnTo>
                  <a:pt x="76201" y="581025"/>
                </a:lnTo>
                <a:cubicBezTo>
                  <a:pt x="34145" y="581025"/>
                  <a:pt x="0" y="546880"/>
                  <a:pt x="0" y="504824"/>
                </a:cubicBezTo>
                <a:lnTo>
                  <a:pt x="0" y="76201"/>
                </a:lnTo>
                <a:cubicBezTo>
                  <a:pt x="0" y="34145"/>
                  <a:pt x="34145" y="0"/>
                  <a:pt x="76201" y="0"/>
                </a:cubicBez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29" name="Shape 26"/>
          <p:cNvSpPr/>
          <p:nvPr/>
        </p:nvSpPr>
        <p:spPr>
          <a:xfrm>
            <a:off x="6796940" y="2321798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65484" y="8930"/>
                </a:moveTo>
                <a:cubicBezTo>
                  <a:pt x="65484" y="3981"/>
                  <a:pt x="61503" y="0"/>
                  <a:pt x="56555" y="0"/>
                </a:cubicBezTo>
                <a:cubicBezTo>
                  <a:pt x="51606" y="0"/>
                  <a:pt x="47625" y="3981"/>
                  <a:pt x="47625" y="8930"/>
                </a:cubicBezTo>
                <a:lnTo>
                  <a:pt x="47625" y="23812"/>
                </a:lnTo>
                <a:cubicBezTo>
                  <a:pt x="34491" y="23812"/>
                  <a:pt x="23812" y="34491"/>
                  <a:pt x="23812" y="47625"/>
                </a:cubicBezTo>
                <a:lnTo>
                  <a:pt x="8930" y="47625"/>
                </a:lnTo>
                <a:cubicBezTo>
                  <a:pt x="3981" y="47625"/>
                  <a:pt x="0" y="51606"/>
                  <a:pt x="0" y="56555"/>
                </a:cubicBezTo>
                <a:cubicBezTo>
                  <a:pt x="0" y="61503"/>
                  <a:pt x="3981" y="65484"/>
                  <a:pt x="8930" y="65484"/>
                </a:cubicBezTo>
                <a:lnTo>
                  <a:pt x="23812" y="65484"/>
                </a:lnTo>
                <a:lnTo>
                  <a:pt x="23812" y="86320"/>
                </a:lnTo>
                <a:lnTo>
                  <a:pt x="8930" y="86320"/>
                </a:lnTo>
                <a:cubicBezTo>
                  <a:pt x="3981" y="86320"/>
                  <a:pt x="0" y="90301"/>
                  <a:pt x="0" y="95250"/>
                </a:cubicBezTo>
                <a:cubicBezTo>
                  <a:pt x="0" y="100199"/>
                  <a:pt x="3981" y="104180"/>
                  <a:pt x="8930" y="104180"/>
                </a:cubicBezTo>
                <a:lnTo>
                  <a:pt x="23812" y="104180"/>
                </a:lnTo>
                <a:lnTo>
                  <a:pt x="23812" y="125016"/>
                </a:lnTo>
                <a:lnTo>
                  <a:pt x="8930" y="125016"/>
                </a:lnTo>
                <a:cubicBezTo>
                  <a:pt x="3981" y="125016"/>
                  <a:pt x="0" y="128997"/>
                  <a:pt x="0" y="133945"/>
                </a:cubicBezTo>
                <a:cubicBezTo>
                  <a:pt x="0" y="138894"/>
                  <a:pt x="3981" y="142875"/>
                  <a:pt x="8930" y="142875"/>
                </a:cubicBezTo>
                <a:lnTo>
                  <a:pt x="23812" y="142875"/>
                </a:lnTo>
                <a:cubicBezTo>
                  <a:pt x="23812" y="156009"/>
                  <a:pt x="34491" y="166688"/>
                  <a:pt x="47625" y="166688"/>
                </a:cubicBezTo>
                <a:lnTo>
                  <a:pt x="47625" y="181570"/>
                </a:lnTo>
                <a:cubicBezTo>
                  <a:pt x="47625" y="186519"/>
                  <a:pt x="51606" y="190500"/>
                  <a:pt x="56555" y="190500"/>
                </a:cubicBezTo>
                <a:cubicBezTo>
                  <a:pt x="61503" y="190500"/>
                  <a:pt x="65484" y="186519"/>
                  <a:pt x="65484" y="181570"/>
                </a:cubicBezTo>
                <a:lnTo>
                  <a:pt x="65484" y="166688"/>
                </a:lnTo>
                <a:lnTo>
                  <a:pt x="86320" y="166688"/>
                </a:lnTo>
                <a:lnTo>
                  <a:pt x="86320" y="181570"/>
                </a:lnTo>
                <a:cubicBezTo>
                  <a:pt x="86320" y="186519"/>
                  <a:pt x="90301" y="190500"/>
                  <a:pt x="95250" y="190500"/>
                </a:cubicBezTo>
                <a:cubicBezTo>
                  <a:pt x="100199" y="190500"/>
                  <a:pt x="104180" y="186519"/>
                  <a:pt x="104180" y="181570"/>
                </a:cubicBezTo>
                <a:lnTo>
                  <a:pt x="104180" y="166688"/>
                </a:lnTo>
                <a:lnTo>
                  <a:pt x="125016" y="166688"/>
                </a:lnTo>
                <a:lnTo>
                  <a:pt x="125016" y="181570"/>
                </a:lnTo>
                <a:cubicBezTo>
                  <a:pt x="125016" y="186519"/>
                  <a:pt x="128997" y="190500"/>
                  <a:pt x="133945" y="190500"/>
                </a:cubicBezTo>
                <a:cubicBezTo>
                  <a:pt x="138894" y="190500"/>
                  <a:pt x="142875" y="186519"/>
                  <a:pt x="142875" y="181570"/>
                </a:cubicBezTo>
                <a:lnTo>
                  <a:pt x="142875" y="166688"/>
                </a:lnTo>
                <a:cubicBezTo>
                  <a:pt x="156009" y="166688"/>
                  <a:pt x="166688" y="156009"/>
                  <a:pt x="166688" y="142875"/>
                </a:cubicBezTo>
                <a:lnTo>
                  <a:pt x="181570" y="142875"/>
                </a:lnTo>
                <a:cubicBezTo>
                  <a:pt x="186519" y="142875"/>
                  <a:pt x="190500" y="138894"/>
                  <a:pt x="190500" y="133945"/>
                </a:cubicBezTo>
                <a:cubicBezTo>
                  <a:pt x="190500" y="128997"/>
                  <a:pt x="186519" y="125016"/>
                  <a:pt x="181570" y="125016"/>
                </a:cubicBezTo>
                <a:lnTo>
                  <a:pt x="166688" y="125016"/>
                </a:lnTo>
                <a:lnTo>
                  <a:pt x="166688" y="104180"/>
                </a:lnTo>
                <a:lnTo>
                  <a:pt x="181570" y="104180"/>
                </a:lnTo>
                <a:cubicBezTo>
                  <a:pt x="186519" y="104180"/>
                  <a:pt x="190500" y="100199"/>
                  <a:pt x="190500" y="95250"/>
                </a:cubicBezTo>
                <a:cubicBezTo>
                  <a:pt x="190500" y="90301"/>
                  <a:pt x="186519" y="86320"/>
                  <a:pt x="181570" y="86320"/>
                </a:cubicBezTo>
                <a:lnTo>
                  <a:pt x="166688" y="86320"/>
                </a:lnTo>
                <a:lnTo>
                  <a:pt x="166688" y="65484"/>
                </a:lnTo>
                <a:lnTo>
                  <a:pt x="181570" y="65484"/>
                </a:lnTo>
                <a:cubicBezTo>
                  <a:pt x="186519" y="65484"/>
                  <a:pt x="190500" y="61503"/>
                  <a:pt x="190500" y="56555"/>
                </a:cubicBezTo>
                <a:cubicBezTo>
                  <a:pt x="190500" y="51606"/>
                  <a:pt x="186519" y="47625"/>
                  <a:pt x="181570" y="47625"/>
                </a:cubicBezTo>
                <a:lnTo>
                  <a:pt x="166688" y="47625"/>
                </a:lnTo>
                <a:cubicBezTo>
                  <a:pt x="166688" y="34491"/>
                  <a:pt x="156009" y="23812"/>
                  <a:pt x="142875" y="23812"/>
                </a:cubicBezTo>
                <a:lnTo>
                  <a:pt x="142875" y="8930"/>
                </a:lnTo>
                <a:cubicBezTo>
                  <a:pt x="142875" y="3981"/>
                  <a:pt x="138894" y="0"/>
                  <a:pt x="133945" y="0"/>
                </a:cubicBezTo>
                <a:cubicBezTo>
                  <a:pt x="128997" y="0"/>
                  <a:pt x="125016" y="3981"/>
                  <a:pt x="125016" y="8930"/>
                </a:cubicBezTo>
                <a:lnTo>
                  <a:pt x="125016" y="23812"/>
                </a:lnTo>
                <a:lnTo>
                  <a:pt x="104180" y="23812"/>
                </a:lnTo>
                <a:lnTo>
                  <a:pt x="104180" y="8930"/>
                </a:lnTo>
                <a:cubicBezTo>
                  <a:pt x="104180" y="3981"/>
                  <a:pt x="100199" y="0"/>
                  <a:pt x="95250" y="0"/>
                </a:cubicBezTo>
                <a:cubicBezTo>
                  <a:pt x="90301" y="0"/>
                  <a:pt x="86320" y="3981"/>
                  <a:pt x="86320" y="8930"/>
                </a:cubicBezTo>
                <a:lnTo>
                  <a:pt x="86320" y="23812"/>
                </a:lnTo>
                <a:lnTo>
                  <a:pt x="65484" y="23812"/>
                </a:lnTo>
                <a:lnTo>
                  <a:pt x="65484" y="8930"/>
                </a:lnTo>
                <a:close/>
                <a:moveTo>
                  <a:pt x="59531" y="47625"/>
                </a:moveTo>
                <a:lnTo>
                  <a:pt x="130969" y="47625"/>
                </a:lnTo>
                <a:cubicBezTo>
                  <a:pt x="137554" y="47625"/>
                  <a:pt x="142875" y="52946"/>
                  <a:pt x="142875" y="59531"/>
                </a:cubicBezTo>
                <a:lnTo>
                  <a:pt x="142875" y="130969"/>
                </a:lnTo>
                <a:cubicBezTo>
                  <a:pt x="142875" y="137554"/>
                  <a:pt x="137554" y="142875"/>
                  <a:pt x="130969" y="142875"/>
                </a:cubicBezTo>
                <a:lnTo>
                  <a:pt x="59531" y="142875"/>
                </a:lnTo>
                <a:cubicBezTo>
                  <a:pt x="52946" y="142875"/>
                  <a:pt x="47625" y="137554"/>
                  <a:pt x="47625" y="130969"/>
                </a:cubicBezTo>
                <a:lnTo>
                  <a:pt x="47625" y="59531"/>
                </a:lnTo>
                <a:cubicBezTo>
                  <a:pt x="47625" y="52946"/>
                  <a:pt x="52946" y="47625"/>
                  <a:pt x="59531" y="47625"/>
                </a:cubicBezTo>
                <a:close/>
                <a:moveTo>
                  <a:pt x="65484" y="65484"/>
                </a:moveTo>
                <a:lnTo>
                  <a:pt x="65484" y="125016"/>
                </a:lnTo>
                <a:lnTo>
                  <a:pt x="125016" y="125016"/>
                </a:lnTo>
                <a:lnTo>
                  <a:pt x="125016" y="65484"/>
                </a:lnTo>
                <a:lnTo>
                  <a:pt x="65484" y="65484"/>
                </a:ln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30" name="Text 27"/>
          <p:cNvSpPr/>
          <p:nvPr/>
        </p:nvSpPr>
        <p:spPr>
          <a:xfrm>
            <a:off x="6443582" y="2555500"/>
            <a:ext cx="8953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技术</a:t>
            </a:r>
            <a:endParaRPr lang="en-US" sz="1600" dirty="0"/>
          </a:p>
        </p:txBody>
      </p:sp>
      <p:sp>
        <p:nvSpPr>
          <p:cNvPr id="31" name="Shape 28"/>
          <p:cNvSpPr/>
          <p:nvPr/>
        </p:nvSpPr>
        <p:spPr>
          <a:xfrm>
            <a:off x="7459909" y="2245614"/>
            <a:ext cx="981075" cy="581025"/>
          </a:xfrm>
          <a:custGeom>
            <a:avLst/>
            <a:gdLst/>
            <a:ahLst/>
            <a:cxnLst/>
            <a:rect l="l" t="t" r="r" b="b"/>
            <a:pathLst>
              <a:path w="981075" h="581025">
                <a:moveTo>
                  <a:pt x="76201" y="0"/>
                </a:moveTo>
                <a:lnTo>
                  <a:pt x="904874" y="0"/>
                </a:lnTo>
                <a:cubicBezTo>
                  <a:pt x="946930" y="0"/>
                  <a:pt x="981075" y="34145"/>
                  <a:pt x="981075" y="76201"/>
                </a:cubicBezTo>
                <a:lnTo>
                  <a:pt x="981075" y="504824"/>
                </a:lnTo>
                <a:cubicBezTo>
                  <a:pt x="981075" y="546880"/>
                  <a:pt x="946930" y="581025"/>
                  <a:pt x="904874" y="581025"/>
                </a:cubicBezTo>
                <a:lnTo>
                  <a:pt x="76201" y="581025"/>
                </a:lnTo>
                <a:cubicBezTo>
                  <a:pt x="34145" y="581025"/>
                  <a:pt x="0" y="546880"/>
                  <a:pt x="0" y="504824"/>
                </a:cubicBezTo>
                <a:lnTo>
                  <a:pt x="0" y="76201"/>
                </a:lnTo>
                <a:cubicBezTo>
                  <a:pt x="0" y="34145"/>
                  <a:pt x="34145" y="0"/>
                  <a:pt x="76201" y="0"/>
                </a:cubicBez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32" name="Shape 29"/>
          <p:cNvSpPr/>
          <p:nvPr/>
        </p:nvSpPr>
        <p:spPr>
          <a:xfrm>
            <a:off x="7891832" y="2321798"/>
            <a:ext cx="119063" cy="190500"/>
          </a:xfrm>
          <a:custGeom>
            <a:avLst/>
            <a:gdLst/>
            <a:ahLst/>
            <a:cxnLst/>
            <a:rect l="l" t="t" r="r" b="b"/>
            <a:pathLst>
              <a:path w="119063" h="190500">
                <a:moveTo>
                  <a:pt x="50602" y="8930"/>
                </a:moveTo>
                <a:cubicBezTo>
                  <a:pt x="50602" y="3981"/>
                  <a:pt x="54583" y="0"/>
                  <a:pt x="59531" y="0"/>
                </a:cubicBezTo>
                <a:cubicBezTo>
                  <a:pt x="64480" y="0"/>
                  <a:pt x="68461" y="3981"/>
                  <a:pt x="68461" y="8930"/>
                </a:cubicBezTo>
                <a:lnTo>
                  <a:pt x="68461" y="23812"/>
                </a:lnTo>
                <a:lnTo>
                  <a:pt x="89297" y="23812"/>
                </a:lnTo>
                <a:cubicBezTo>
                  <a:pt x="95883" y="23812"/>
                  <a:pt x="101203" y="29133"/>
                  <a:pt x="101203" y="35719"/>
                </a:cubicBezTo>
                <a:cubicBezTo>
                  <a:pt x="101203" y="42304"/>
                  <a:pt x="95883" y="47625"/>
                  <a:pt x="89297" y="47625"/>
                </a:cubicBezTo>
                <a:lnTo>
                  <a:pt x="46546" y="47625"/>
                </a:lnTo>
                <a:cubicBezTo>
                  <a:pt x="37281" y="47625"/>
                  <a:pt x="29766" y="55141"/>
                  <a:pt x="29766" y="64405"/>
                </a:cubicBezTo>
                <a:cubicBezTo>
                  <a:pt x="29766" y="72777"/>
                  <a:pt x="35905" y="79846"/>
                  <a:pt x="44165" y="81037"/>
                </a:cubicBezTo>
                <a:lnTo>
                  <a:pt x="78246" y="85911"/>
                </a:lnTo>
                <a:cubicBezTo>
                  <a:pt x="98264" y="88776"/>
                  <a:pt x="113109" y="105891"/>
                  <a:pt x="113109" y="126095"/>
                </a:cubicBezTo>
                <a:cubicBezTo>
                  <a:pt x="113109" y="148530"/>
                  <a:pt x="94915" y="166688"/>
                  <a:pt x="72517" y="166688"/>
                </a:cubicBezTo>
                <a:lnTo>
                  <a:pt x="68461" y="166688"/>
                </a:lnTo>
                <a:lnTo>
                  <a:pt x="68461" y="181570"/>
                </a:lnTo>
                <a:cubicBezTo>
                  <a:pt x="68461" y="186519"/>
                  <a:pt x="64480" y="190500"/>
                  <a:pt x="59531" y="190500"/>
                </a:cubicBezTo>
                <a:cubicBezTo>
                  <a:pt x="54583" y="190500"/>
                  <a:pt x="50602" y="186519"/>
                  <a:pt x="50602" y="181570"/>
                </a:cubicBezTo>
                <a:lnTo>
                  <a:pt x="50602" y="166688"/>
                </a:lnTo>
                <a:lnTo>
                  <a:pt x="23812" y="166688"/>
                </a:lnTo>
                <a:cubicBezTo>
                  <a:pt x="17227" y="166688"/>
                  <a:pt x="11906" y="161367"/>
                  <a:pt x="11906" y="154781"/>
                </a:cubicBezTo>
                <a:cubicBezTo>
                  <a:pt x="11906" y="148196"/>
                  <a:pt x="17227" y="142875"/>
                  <a:pt x="23812" y="142875"/>
                </a:cubicBezTo>
                <a:lnTo>
                  <a:pt x="72517" y="142875"/>
                </a:lnTo>
                <a:cubicBezTo>
                  <a:pt x="81781" y="142875"/>
                  <a:pt x="89297" y="135359"/>
                  <a:pt x="89297" y="126095"/>
                </a:cubicBezTo>
                <a:cubicBezTo>
                  <a:pt x="89297" y="117723"/>
                  <a:pt x="83158" y="110654"/>
                  <a:pt x="74898" y="109463"/>
                </a:cubicBezTo>
                <a:lnTo>
                  <a:pt x="40816" y="104589"/>
                </a:lnTo>
                <a:cubicBezTo>
                  <a:pt x="20799" y="101761"/>
                  <a:pt x="5953" y="84609"/>
                  <a:pt x="5953" y="64405"/>
                </a:cubicBezTo>
                <a:cubicBezTo>
                  <a:pt x="5953" y="42007"/>
                  <a:pt x="24147" y="23812"/>
                  <a:pt x="46546" y="23812"/>
                </a:cubicBezTo>
                <a:lnTo>
                  <a:pt x="50602" y="23812"/>
                </a:lnTo>
                <a:lnTo>
                  <a:pt x="50602" y="8930"/>
                </a:ln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33" name="Text 30"/>
          <p:cNvSpPr/>
          <p:nvPr/>
        </p:nvSpPr>
        <p:spPr>
          <a:xfrm>
            <a:off x="7502755" y="2555500"/>
            <a:ext cx="8953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经济</a:t>
            </a:r>
            <a:endParaRPr lang="en-US" sz="1600" dirty="0"/>
          </a:p>
        </p:txBody>
      </p:sp>
      <p:sp>
        <p:nvSpPr>
          <p:cNvPr id="34" name="Shape 31"/>
          <p:cNvSpPr/>
          <p:nvPr/>
        </p:nvSpPr>
        <p:spPr>
          <a:xfrm>
            <a:off x="8519082" y="2245614"/>
            <a:ext cx="981075" cy="581025"/>
          </a:xfrm>
          <a:custGeom>
            <a:avLst/>
            <a:gdLst/>
            <a:ahLst/>
            <a:cxnLst/>
            <a:rect l="l" t="t" r="r" b="b"/>
            <a:pathLst>
              <a:path w="981075" h="581025">
                <a:moveTo>
                  <a:pt x="76201" y="0"/>
                </a:moveTo>
                <a:lnTo>
                  <a:pt x="904874" y="0"/>
                </a:lnTo>
                <a:cubicBezTo>
                  <a:pt x="946930" y="0"/>
                  <a:pt x="981075" y="34145"/>
                  <a:pt x="981075" y="76201"/>
                </a:cubicBezTo>
                <a:lnTo>
                  <a:pt x="981075" y="504824"/>
                </a:lnTo>
                <a:cubicBezTo>
                  <a:pt x="981075" y="546880"/>
                  <a:pt x="946930" y="581025"/>
                  <a:pt x="904874" y="581025"/>
                </a:cubicBezTo>
                <a:lnTo>
                  <a:pt x="76201" y="581025"/>
                </a:lnTo>
                <a:cubicBezTo>
                  <a:pt x="34145" y="581025"/>
                  <a:pt x="0" y="546880"/>
                  <a:pt x="0" y="504824"/>
                </a:cubicBezTo>
                <a:lnTo>
                  <a:pt x="0" y="76201"/>
                </a:lnTo>
                <a:cubicBezTo>
                  <a:pt x="0" y="34145"/>
                  <a:pt x="34145" y="0"/>
                  <a:pt x="76201" y="0"/>
                </a:cubicBez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35" name="Shape 32"/>
          <p:cNvSpPr/>
          <p:nvPr/>
        </p:nvSpPr>
        <p:spPr>
          <a:xfrm>
            <a:off x="8915287" y="2321798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72591" y="3535"/>
                </a:moveTo>
                <a:cubicBezTo>
                  <a:pt x="73707" y="-1972"/>
                  <a:pt x="78581" y="-5953"/>
                  <a:pt x="84237" y="-5953"/>
                </a:cubicBezTo>
                <a:lnTo>
                  <a:pt x="106487" y="-5953"/>
                </a:lnTo>
                <a:cubicBezTo>
                  <a:pt x="112142" y="-5953"/>
                  <a:pt x="117016" y="-1972"/>
                  <a:pt x="118132" y="3535"/>
                </a:cubicBezTo>
                <a:lnTo>
                  <a:pt x="123527" y="29580"/>
                </a:lnTo>
                <a:cubicBezTo>
                  <a:pt x="128774" y="31812"/>
                  <a:pt x="133685" y="34677"/>
                  <a:pt x="138150" y="38063"/>
                </a:cubicBezTo>
                <a:lnTo>
                  <a:pt x="163376" y="29691"/>
                </a:lnTo>
                <a:cubicBezTo>
                  <a:pt x="168734" y="27905"/>
                  <a:pt x="174613" y="30138"/>
                  <a:pt x="177440" y="35049"/>
                </a:cubicBezTo>
                <a:lnTo>
                  <a:pt x="188565" y="54322"/>
                </a:lnTo>
                <a:cubicBezTo>
                  <a:pt x="191393" y="59234"/>
                  <a:pt x="190388" y="65410"/>
                  <a:pt x="186147" y="69168"/>
                </a:cubicBezTo>
                <a:lnTo>
                  <a:pt x="166315" y="86804"/>
                </a:lnTo>
                <a:cubicBezTo>
                  <a:pt x="166650" y="89557"/>
                  <a:pt x="166799" y="92385"/>
                  <a:pt x="166799" y="95250"/>
                </a:cubicBezTo>
                <a:cubicBezTo>
                  <a:pt x="166799" y="98115"/>
                  <a:pt x="166613" y="100943"/>
                  <a:pt x="166315" y="103696"/>
                </a:cubicBezTo>
                <a:lnTo>
                  <a:pt x="186184" y="121369"/>
                </a:lnTo>
                <a:cubicBezTo>
                  <a:pt x="190426" y="125127"/>
                  <a:pt x="191393" y="131341"/>
                  <a:pt x="188602" y="136215"/>
                </a:cubicBezTo>
                <a:lnTo>
                  <a:pt x="177478" y="155488"/>
                </a:lnTo>
                <a:cubicBezTo>
                  <a:pt x="174650" y="160362"/>
                  <a:pt x="168771" y="162632"/>
                  <a:pt x="163413" y="160846"/>
                </a:cubicBezTo>
                <a:lnTo>
                  <a:pt x="138187" y="152474"/>
                </a:lnTo>
                <a:cubicBezTo>
                  <a:pt x="133685" y="155860"/>
                  <a:pt x="128774" y="158688"/>
                  <a:pt x="123565" y="160958"/>
                </a:cubicBezTo>
                <a:lnTo>
                  <a:pt x="118207" y="186965"/>
                </a:lnTo>
                <a:cubicBezTo>
                  <a:pt x="117053" y="192509"/>
                  <a:pt x="112179" y="196453"/>
                  <a:pt x="106561" y="196453"/>
                </a:cubicBezTo>
                <a:lnTo>
                  <a:pt x="84311" y="196453"/>
                </a:lnTo>
                <a:cubicBezTo>
                  <a:pt x="78656" y="196453"/>
                  <a:pt x="73782" y="192472"/>
                  <a:pt x="72665" y="186965"/>
                </a:cubicBezTo>
                <a:lnTo>
                  <a:pt x="67308" y="160958"/>
                </a:lnTo>
                <a:cubicBezTo>
                  <a:pt x="62061" y="158725"/>
                  <a:pt x="57187" y="155860"/>
                  <a:pt x="52685" y="152474"/>
                </a:cubicBezTo>
                <a:lnTo>
                  <a:pt x="27347" y="160846"/>
                </a:lnTo>
                <a:cubicBezTo>
                  <a:pt x="21989" y="162632"/>
                  <a:pt x="16111" y="160400"/>
                  <a:pt x="13283" y="155488"/>
                </a:cubicBezTo>
                <a:lnTo>
                  <a:pt x="2158" y="136215"/>
                </a:lnTo>
                <a:cubicBezTo>
                  <a:pt x="-670" y="131304"/>
                  <a:pt x="335" y="125127"/>
                  <a:pt x="4576" y="121369"/>
                </a:cubicBezTo>
                <a:lnTo>
                  <a:pt x="24445" y="103696"/>
                </a:lnTo>
                <a:cubicBezTo>
                  <a:pt x="24110" y="100943"/>
                  <a:pt x="23961" y="98115"/>
                  <a:pt x="23961" y="95250"/>
                </a:cubicBezTo>
                <a:cubicBezTo>
                  <a:pt x="23961" y="92385"/>
                  <a:pt x="24147" y="89557"/>
                  <a:pt x="24445" y="86804"/>
                </a:cubicBezTo>
                <a:lnTo>
                  <a:pt x="4576" y="69131"/>
                </a:lnTo>
                <a:cubicBezTo>
                  <a:pt x="335" y="65373"/>
                  <a:pt x="-633" y="59159"/>
                  <a:pt x="2158" y="54285"/>
                </a:cubicBezTo>
                <a:lnTo>
                  <a:pt x="13283" y="35012"/>
                </a:lnTo>
                <a:cubicBezTo>
                  <a:pt x="16111" y="30100"/>
                  <a:pt x="21989" y="27868"/>
                  <a:pt x="27347" y="29654"/>
                </a:cubicBezTo>
                <a:lnTo>
                  <a:pt x="52574" y="38026"/>
                </a:lnTo>
                <a:cubicBezTo>
                  <a:pt x="57076" y="34640"/>
                  <a:pt x="61987" y="31812"/>
                  <a:pt x="67196" y="29542"/>
                </a:cubicBezTo>
                <a:lnTo>
                  <a:pt x="72591" y="3535"/>
                </a:lnTo>
                <a:close/>
                <a:moveTo>
                  <a:pt x="95362" y="125016"/>
                </a:moveTo>
                <a:cubicBezTo>
                  <a:pt x="105996" y="124976"/>
                  <a:pt x="115801" y="119266"/>
                  <a:pt x="121084" y="110036"/>
                </a:cubicBezTo>
                <a:cubicBezTo>
                  <a:pt x="126366" y="100807"/>
                  <a:pt x="126324" y="89460"/>
                  <a:pt x="120972" y="80271"/>
                </a:cubicBezTo>
                <a:cubicBezTo>
                  <a:pt x="115620" y="71081"/>
                  <a:pt x="105773" y="65444"/>
                  <a:pt x="95138" y="65484"/>
                </a:cubicBezTo>
                <a:cubicBezTo>
                  <a:pt x="84504" y="65524"/>
                  <a:pt x="74699" y="71234"/>
                  <a:pt x="69416" y="80464"/>
                </a:cubicBezTo>
                <a:cubicBezTo>
                  <a:pt x="64134" y="89693"/>
                  <a:pt x="64176" y="101040"/>
                  <a:pt x="69528" y="110229"/>
                </a:cubicBezTo>
                <a:cubicBezTo>
                  <a:pt x="74880" y="119419"/>
                  <a:pt x="84727" y="125056"/>
                  <a:pt x="95362" y="125016"/>
                </a:cubicBez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36" name="Text 33"/>
          <p:cNvSpPr/>
          <p:nvPr/>
        </p:nvSpPr>
        <p:spPr>
          <a:xfrm>
            <a:off x="8561929" y="2555500"/>
            <a:ext cx="8953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操作</a:t>
            </a:r>
            <a:endParaRPr lang="en-US" sz="1600" dirty="0"/>
          </a:p>
        </p:txBody>
      </p:sp>
      <p:sp>
        <p:nvSpPr>
          <p:cNvPr id="37" name="Shape 34"/>
          <p:cNvSpPr/>
          <p:nvPr/>
        </p:nvSpPr>
        <p:spPr>
          <a:xfrm>
            <a:off x="9578256" y="2245614"/>
            <a:ext cx="981075" cy="581025"/>
          </a:xfrm>
          <a:custGeom>
            <a:avLst/>
            <a:gdLst/>
            <a:ahLst/>
            <a:cxnLst/>
            <a:rect l="l" t="t" r="r" b="b"/>
            <a:pathLst>
              <a:path w="981075" h="581025">
                <a:moveTo>
                  <a:pt x="76201" y="0"/>
                </a:moveTo>
                <a:lnTo>
                  <a:pt x="904874" y="0"/>
                </a:lnTo>
                <a:cubicBezTo>
                  <a:pt x="946930" y="0"/>
                  <a:pt x="981075" y="34145"/>
                  <a:pt x="981075" y="76201"/>
                </a:cubicBezTo>
                <a:lnTo>
                  <a:pt x="981075" y="504824"/>
                </a:lnTo>
                <a:cubicBezTo>
                  <a:pt x="981075" y="546880"/>
                  <a:pt x="946930" y="581025"/>
                  <a:pt x="904874" y="581025"/>
                </a:cubicBezTo>
                <a:lnTo>
                  <a:pt x="76201" y="581025"/>
                </a:lnTo>
                <a:cubicBezTo>
                  <a:pt x="34145" y="581025"/>
                  <a:pt x="0" y="546880"/>
                  <a:pt x="0" y="504824"/>
                </a:cubicBezTo>
                <a:lnTo>
                  <a:pt x="0" y="76201"/>
                </a:lnTo>
                <a:cubicBezTo>
                  <a:pt x="0" y="34145"/>
                  <a:pt x="34145" y="0"/>
                  <a:pt x="76201" y="0"/>
                </a:cubicBez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38" name="Shape 35"/>
          <p:cNvSpPr/>
          <p:nvPr/>
        </p:nvSpPr>
        <p:spPr>
          <a:xfrm>
            <a:off x="9962555" y="2321798"/>
            <a:ext cx="214313" cy="190500"/>
          </a:xfrm>
          <a:custGeom>
            <a:avLst/>
            <a:gdLst/>
            <a:ahLst/>
            <a:cxnLst/>
            <a:rect l="l" t="t" r="r" b="b"/>
            <a:pathLst>
              <a:path w="214313" h="190500">
                <a:moveTo>
                  <a:pt x="63103" y="57076"/>
                </a:moveTo>
                <a:lnTo>
                  <a:pt x="56145" y="50118"/>
                </a:lnTo>
                <a:cubicBezTo>
                  <a:pt x="51495" y="45467"/>
                  <a:pt x="51495" y="37914"/>
                  <a:pt x="56145" y="33263"/>
                </a:cubicBezTo>
                <a:lnTo>
                  <a:pt x="98822" y="-9451"/>
                </a:lnTo>
                <a:cubicBezTo>
                  <a:pt x="103473" y="-14101"/>
                  <a:pt x="111026" y="-14101"/>
                  <a:pt x="115677" y="-9451"/>
                </a:cubicBezTo>
                <a:lnTo>
                  <a:pt x="122634" y="-2456"/>
                </a:lnTo>
                <a:cubicBezTo>
                  <a:pt x="127285" y="2195"/>
                  <a:pt x="127285" y="9748"/>
                  <a:pt x="122634" y="14399"/>
                </a:cubicBezTo>
                <a:lnTo>
                  <a:pt x="79958" y="57076"/>
                </a:lnTo>
                <a:cubicBezTo>
                  <a:pt x="75307" y="61726"/>
                  <a:pt x="67754" y="61726"/>
                  <a:pt x="63103" y="57076"/>
                </a:cubicBezTo>
                <a:close/>
                <a:moveTo>
                  <a:pt x="102691" y="78767"/>
                </a:moveTo>
                <a:lnTo>
                  <a:pt x="91008" y="67084"/>
                </a:lnTo>
                <a:lnTo>
                  <a:pt x="132680" y="25412"/>
                </a:lnTo>
                <a:lnTo>
                  <a:pt x="177105" y="69838"/>
                </a:lnTo>
                <a:lnTo>
                  <a:pt x="135434" y="111509"/>
                </a:lnTo>
                <a:lnTo>
                  <a:pt x="123751" y="99826"/>
                </a:lnTo>
                <a:lnTo>
                  <a:pt x="37430" y="186147"/>
                </a:lnTo>
                <a:cubicBezTo>
                  <a:pt x="31626" y="191951"/>
                  <a:pt x="22213" y="191951"/>
                  <a:pt x="16371" y="186147"/>
                </a:cubicBezTo>
                <a:cubicBezTo>
                  <a:pt x="10530" y="180342"/>
                  <a:pt x="10567" y="170929"/>
                  <a:pt x="16371" y="165088"/>
                </a:cubicBezTo>
                <a:lnTo>
                  <a:pt x="102691" y="78767"/>
                </a:lnTo>
                <a:close/>
                <a:moveTo>
                  <a:pt x="145442" y="139378"/>
                </a:moveTo>
                <a:cubicBezTo>
                  <a:pt x="140791" y="134727"/>
                  <a:pt x="140791" y="127174"/>
                  <a:pt x="145442" y="122523"/>
                </a:cubicBezTo>
                <a:lnTo>
                  <a:pt x="188119" y="79846"/>
                </a:lnTo>
                <a:cubicBezTo>
                  <a:pt x="192770" y="75195"/>
                  <a:pt x="200323" y="75195"/>
                  <a:pt x="204974" y="79846"/>
                </a:cubicBezTo>
                <a:lnTo>
                  <a:pt x="211931" y="86804"/>
                </a:lnTo>
                <a:cubicBezTo>
                  <a:pt x="216582" y="91455"/>
                  <a:pt x="216582" y="99008"/>
                  <a:pt x="211931" y="103659"/>
                </a:cubicBezTo>
                <a:lnTo>
                  <a:pt x="169255" y="146372"/>
                </a:lnTo>
                <a:cubicBezTo>
                  <a:pt x="164604" y="151023"/>
                  <a:pt x="157051" y="151023"/>
                  <a:pt x="152400" y="146372"/>
                </a:cubicBezTo>
                <a:lnTo>
                  <a:pt x="145442" y="139415"/>
                </a:ln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39" name="Text 36"/>
          <p:cNvSpPr/>
          <p:nvPr/>
        </p:nvSpPr>
        <p:spPr>
          <a:xfrm>
            <a:off x="9621102" y="2555500"/>
            <a:ext cx="8953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法律</a:t>
            </a:r>
            <a:endParaRPr lang="en-US" sz="1600" dirty="0"/>
          </a:p>
        </p:txBody>
      </p:sp>
      <p:sp>
        <p:nvSpPr>
          <p:cNvPr id="40" name="Shape 37"/>
          <p:cNvSpPr/>
          <p:nvPr/>
        </p:nvSpPr>
        <p:spPr>
          <a:xfrm>
            <a:off x="10637430" y="2245614"/>
            <a:ext cx="981075" cy="581025"/>
          </a:xfrm>
          <a:custGeom>
            <a:avLst/>
            <a:gdLst/>
            <a:ahLst/>
            <a:cxnLst/>
            <a:rect l="l" t="t" r="r" b="b"/>
            <a:pathLst>
              <a:path w="981075" h="581025">
                <a:moveTo>
                  <a:pt x="76201" y="0"/>
                </a:moveTo>
                <a:lnTo>
                  <a:pt x="904874" y="0"/>
                </a:lnTo>
                <a:cubicBezTo>
                  <a:pt x="946930" y="0"/>
                  <a:pt x="981075" y="34145"/>
                  <a:pt x="981075" y="76201"/>
                </a:cubicBezTo>
                <a:lnTo>
                  <a:pt x="981075" y="504824"/>
                </a:lnTo>
                <a:cubicBezTo>
                  <a:pt x="981075" y="546880"/>
                  <a:pt x="946930" y="581025"/>
                  <a:pt x="904874" y="581025"/>
                </a:cubicBezTo>
                <a:lnTo>
                  <a:pt x="76201" y="581025"/>
                </a:lnTo>
                <a:cubicBezTo>
                  <a:pt x="34145" y="581025"/>
                  <a:pt x="0" y="546880"/>
                  <a:pt x="0" y="504824"/>
                </a:cubicBezTo>
                <a:lnTo>
                  <a:pt x="0" y="76201"/>
                </a:lnTo>
                <a:cubicBezTo>
                  <a:pt x="0" y="34145"/>
                  <a:pt x="34145" y="0"/>
                  <a:pt x="76201" y="0"/>
                </a:cubicBez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41" name="Shape 38"/>
          <p:cNvSpPr/>
          <p:nvPr/>
        </p:nvSpPr>
        <p:spPr>
          <a:xfrm>
            <a:off x="11009902" y="2321798"/>
            <a:ext cx="238125" cy="190500"/>
          </a:xfrm>
          <a:custGeom>
            <a:avLst/>
            <a:gdLst/>
            <a:ahLst/>
            <a:cxnLst/>
            <a:rect l="l" t="t" r="r" b="b"/>
            <a:pathLst>
              <a:path w="238125" h="190500">
                <a:moveTo>
                  <a:pt x="119063" y="5953"/>
                </a:moveTo>
                <a:cubicBezTo>
                  <a:pt x="140419" y="5953"/>
                  <a:pt x="157758" y="23292"/>
                  <a:pt x="157758" y="44648"/>
                </a:cubicBezTo>
                <a:cubicBezTo>
                  <a:pt x="157758" y="66005"/>
                  <a:pt x="140419" y="83344"/>
                  <a:pt x="119063" y="83344"/>
                </a:cubicBezTo>
                <a:cubicBezTo>
                  <a:pt x="97706" y="83344"/>
                  <a:pt x="80367" y="66005"/>
                  <a:pt x="80367" y="44648"/>
                </a:cubicBezTo>
                <a:cubicBezTo>
                  <a:pt x="80367" y="23292"/>
                  <a:pt x="97706" y="5953"/>
                  <a:pt x="119063" y="5953"/>
                </a:cubicBezTo>
                <a:close/>
                <a:moveTo>
                  <a:pt x="35719" y="32742"/>
                </a:moveTo>
                <a:cubicBezTo>
                  <a:pt x="50504" y="32742"/>
                  <a:pt x="62508" y="44746"/>
                  <a:pt x="62508" y="59531"/>
                </a:cubicBezTo>
                <a:cubicBezTo>
                  <a:pt x="62508" y="74317"/>
                  <a:pt x="50504" y="86320"/>
                  <a:pt x="35719" y="86320"/>
                </a:cubicBezTo>
                <a:cubicBezTo>
                  <a:pt x="20933" y="86320"/>
                  <a:pt x="8930" y="74317"/>
                  <a:pt x="8930" y="59531"/>
                </a:cubicBezTo>
                <a:cubicBezTo>
                  <a:pt x="8930" y="44746"/>
                  <a:pt x="20933" y="32742"/>
                  <a:pt x="35719" y="32742"/>
                </a:cubicBezTo>
                <a:close/>
                <a:moveTo>
                  <a:pt x="0" y="154781"/>
                </a:moveTo>
                <a:cubicBezTo>
                  <a:pt x="0" y="128476"/>
                  <a:pt x="21320" y="107156"/>
                  <a:pt x="47625" y="107156"/>
                </a:cubicBezTo>
                <a:cubicBezTo>
                  <a:pt x="52388" y="107156"/>
                  <a:pt x="57001" y="107863"/>
                  <a:pt x="61354" y="109165"/>
                </a:cubicBezTo>
                <a:cubicBezTo>
                  <a:pt x="49113" y="122858"/>
                  <a:pt x="41672" y="140940"/>
                  <a:pt x="41672" y="160734"/>
                </a:cubicBezTo>
                <a:lnTo>
                  <a:pt x="41672" y="166688"/>
                </a:lnTo>
                <a:cubicBezTo>
                  <a:pt x="41672" y="170929"/>
                  <a:pt x="42565" y="174947"/>
                  <a:pt x="44165" y="178594"/>
                </a:cubicBezTo>
                <a:lnTo>
                  <a:pt x="11906" y="178594"/>
                </a:lnTo>
                <a:cubicBezTo>
                  <a:pt x="5321" y="178594"/>
                  <a:pt x="0" y="173273"/>
                  <a:pt x="0" y="166688"/>
                </a:cubicBezTo>
                <a:lnTo>
                  <a:pt x="0" y="154781"/>
                </a:lnTo>
                <a:close/>
                <a:moveTo>
                  <a:pt x="193960" y="178594"/>
                </a:moveTo>
                <a:cubicBezTo>
                  <a:pt x="195560" y="174947"/>
                  <a:pt x="196453" y="170929"/>
                  <a:pt x="196453" y="166688"/>
                </a:cubicBezTo>
                <a:lnTo>
                  <a:pt x="196453" y="160734"/>
                </a:lnTo>
                <a:cubicBezTo>
                  <a:pt x="196453" y="140940"/>
                  <a:pt x="189012" y="122858"/>
                  <a:pt x="176771" y="109165"/>
                </a:cubicBezTo>
                <a:cubicBezTo>
                  <a:pt x="181124" y="107863"/>
                  <a:pt x="185738" y="107156"/>
                  <a:pt x="190500" y="107156"/>
                </a:cubicBezTo>
                <a:cubicBezTo>
                  <a:pt x="216805" y="107156"/>
                  <a:pt x="238125" y="128476"/>
                  <a:pt x="238125" y="154781"/>
                </a:cubicBezTo>
                <a:lnTo>
                  <a:pt x="238125" y="166688"/>
                </a:lnTo>
                <a:cubicBezTo>
                  <a:pt x="238125" y="173273"/>
                  <a:pt x="232804" y="178594"/>
                  <a:pt x="226219" y="178594"/>
                </a:cubicBezTo>
                <a:lnTo>
                  <a:pt x="193960" y="178594"/>
                </a:lnTo>
                <a:close/>
                <a:moveTo>
                  <a:pt x="175617" y="59531"/>
                </a:moveTo>
                <a:cubicBezTo>
                  <a:pt x="175617" y="44746"/>
                  <a:pt x="187621" y="32742"/>
                  <a:pt x="202406" y="32742"/>
                </a:cubicBezTo>
                <a:cubicBezTo>
                  <a:pt x="217192" y="32742"/>
                  <a:pt x="229195" y="44746"/>
                  <a:pt x="229195" y="59531"/>
                </a:cubicBezTo>
                <a:cubicBezTo>
                  <a:pt x="229195" y="74317"/>
                  <a:pt x="217192" y="86320"/>
                  <a:pt x="202406" y="86320"/>
                </a:cubicBezTo>
                <a:cubicBezTo>
                  <a:pt x="187621" y="86320"/>
                  <a:pt x="175617" y="74317"/>
                  <a:pt x="175617" y="59531"/>
                </a:cubicBezTo>
                <a:close/>
                <a:moveTo>
                  <a:pt x="59531" y="160734"/>
                </a:moveTo>
                <a:cubicBezTo>
                  <a:pt x="59531" y="127843"/>
                  <a:pt x="86171" y="101203"/>
                  <a:pt x="119063" y="101203"/>
                </a:cubicBezTo>
                <a:cubicBezTo>
                  <a:pt x="151954" y="101203"/>
                  <a:pt x="178594" y="127843"/>
                  <a:pt x="178594" y="160734"/>
                </a:cubicBezTo>
                <a:lnTo>
                  <a:pt x="178594" y="166688"/>
                </a:lnTo>
                <a:cubicBezTo>
                  <a:pt x="178594" y="173273"/>
                  <a:pt x="173273" y="178594"/>
                  <a:pt x="166688" y="178594"/>
                </a:cubicBezTo>
                <a:lnTo>
                  <a:pt x="71438" y="178594"/>
                </a:lnTo>
                <a:cubicBezTo>
                  <a:pt x="64852" y="178594"/>
                  <a:pt x="59531" y="173273"/>
                  <a:pt x="59531" y="166688"/>
                </a:cubicBezTo>
                <a:lnTo>
                  <a:pt x="59531" y="160734"/>
                </a:ln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42" name="Text 39"/>
          <p:cNvSpPr/>
          <p:nvPr/>
        </p:nvSpPr>
        <p:spPr>
          <a:xfrm>
            <a:off x="10680276" y="2555500"/>
            <a:ext cx="8953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社会</a:t>
            </a:r>
            <a:endParaRPr lang="en-US" sz="1600" dirty="0"/>
          </a:p>
        </p:txBody>
      </p:sp>
      <p:sp>
        <p:nvSpPr>
          <p:cNvPr id="43" name="Shape 40"/>
          <p:cNvSpPr/>
          <p:nvPr/>
        </p:nvSpPr>
        <p:spPr>
          <a:xfrm>
            <a:off x="6418756" y="2974551"/>
            <a:ext cx="36041" cy="1485900"/>
          </a:xfrm>
          <a:custGeom>
            <a:avLst/>
            <a:gdLst/>
            <a:ahLst/>
            <a:cxnLst/>
            <a:rect l="l" t="t" r="r" b="b"/>
            <a:pathLst>
              <a:path w="36041" h="1485900">
                <a:moveTo>
                  <a:pt x="0" y="0"/>
                </a:moveTo>
                <a:lnTo>
                  <a:pt x="36041" y="0"/>
                </a:lnTo>
                <a:lnTo>
                  <a:pt x="36041" y="1485900"/>
                </a:lnTo>
                <a:lnTo>
                  <a:pt x="0" y="1485900"/>
                </a:lnTo>
                <a:lnTo>
                  <a:pt x="0" y="0"/>
                </a:ln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44" name="Text 41"/>
          <p:cNvSpPr/>
          <p:nvPr/>
        </p:nvSpPr>
        <p:spPr>
          <a:xfrm>
            <a:off x="6589144" y="2974551"/>
            <a:ext cx="51244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技术方案对比</a:t>
            </a:r>
            <a:endParaRPr lang="en-US" sz="1600" dirty="0"/>
          </a:p>
        </p:txBody>
      </p:sp>
      <p:sp>
        <p:nvSpPr>
          <p:cNvPr id="45" name="Text 42"/>
          <p:cNvSpPr/>
          <p:nvPr/>
        </p:nvSpPr>
        <p:spPr>
          <a:xfrm>
            <a:off x="6589144" y="3317418"/>
            <a:ext cx="510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对比分析了三种主流技术方案：</a:t>
            </a:r>
            <a:endParaRPr lang="en-US" sz="1600" dirty="0"/>
          </a:p>
        </p:txBody>
      </p:sp>
      <p:sp>
        <p:nvSpPr>
          <p:cNvPr id="46" name="Shape 43"/>
          <p:cNvSpPr/>
          <p:nvPr/>
        </p:nvSpPr>
        <p:spPr>
          <a:xfrm>
            <a:off x="6589144" y="3688766"/>
            <a:ext cx="95250" cy="95250"/>
          </a:xfrm>
          <a:custGeom>
            <a:avLst/>
            <a:gdLst/>
            <a:ahLst/>
            <a:cxnLst/>
            <a:rect l="l" t="t" r="r" b="b"/>
            <a:pathLst>
              <a:path w="95250" h="95250">
                <a:moveTo>
                  <a:pt x="47625" y="0"/>
                </a:moveTo>
                <a:lnTo>
                  <a:pt x="47625" y="0"/>
                </a:lnTo>
                <a:cubicBezTo>
                  <a:pt x="73910" y="0"/>
                  <a:pt x="95250" y="21340"/>
                  <a:pt x="95250" y="47625"/>
                </a:cubicBezTo>
                <a:lnTo>
                  <a:pt x="95250" y="47625"/>
                </a:lnTo>
                <a:cubicBezTo>
                  <a:pt x="95250" y="73910"/>
                  <a:pt x="73910" y="95250"/>
                  <a:pt x="47625" y="95250"/>
                </a:cubicBezTo>
                <a:lnTo>
                  <a:pt x="47625" y="95250"/>
                </a:lnTo>
                <a:cubicBezTo>
                  <a:pt x="21340" y="95250"/>
                  <a:pt x="0" y="73910"/>
                  <a:pt x="0" y="47625"/>
                </a:cubicBezTo>
                <a:lnTo>
                  <a:pt x="0" y="47625"/>
                </a:lnTo>
                <a:cubicBezTo>
                  <a:pt x="0" y="21340"/>
                  <a:pt x="21340" y="0"/>
                  <a:pt x="47625" y="0"/>
                </a:cubicBezTo>
                <a:close/>
              </a:path>
            </a:pathLst>
          </a:custGeom>
          <a:solidFill>
            <a:srgbClr val="DC3545"/>
          </a:solidFill>
          <a:ln/>
        </p:spPr>
      </p:sp>
      <p:sp>
        <p:nvSpPr>
          <p:cNvPr id="47" name="Text 44"/>
          <p:cNvSpPr/>
          <p:nvPr/>
        </p:nvSpPr>
        <p:spPr>
          <a:xfrm>
            <a:off x="6760577" y="3622153"/>
            <a:ext cx="1752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传统单体架构 - 扩展性差</a:t>
            </a:r>
            <a:endParaRPr lang="en-US" sz="1600" dirty="0"/>
          </a:p>
        </p:txBody>
      </p:sp>
      <p:sp>
        <p:nvSpPr>
          <p:cNvPr id="48" name="Shape 45"/>
          <p:cNvSpPr/>
          <p:nvPr/>
        </p:nvSpPr>
        <p:spPr>
          <a:xfrm>
            <a:off x="6589144" y="3993500"/>
            <a:ext cx="95250" cy="95250"/>
          </a:xfrm>
          <a:custGeom>
            <a:avLst/>
            <a:gdLst/>
            <a:ahLst/>
            <a:cxnLst/>
            <a:rect l="l" t="t" r="r" b="b"/>
            <a:pathLst>
              <a:path w="95250" h="95250">
                <a:moveTo>
                  <a:pt x="47625" y="0"/>
                </a:moveTo>
                <a:lnTo>
                  <a:pt x="47625" y="0"/>
                </a:lnTo>
                <a:cubicBezTo>
                  <a:pt x="73910" y="0"/>
                  <a:pt x="95250" y="21340"/>
                  <a:pt x="95250" y="47625"/>
                </a:cubicBezTo>
                <a:lnTo>
                  <a:pt x="95250" y="47625"/>
                </a:lnTo>
                <a:cubicBezTo>
                  <a:pt x="95250" y="73910"/>
                  <a:pt x="73910" y="95250"/>
                  <a:pt x="47625" y="95250"/>
                </a:cubicBezTo>
                <a:lnTo>
                  <a:pt x="47625" y="95250"/>
                </a:lnTo>
                <a:cubicBezTo>
                  <a:pt x="21340" y="95250"/>
                  <a:pt x="0" y="73910"/>
                  <a:pt x="0" y="47625"/>
                </a:cubicBezTo>
                <a:lnTo>
                  <a:pt x="0" y="47625"/>
                </a:lnTo>
                <a:cubicBezTo>
                  <a:pt x="0" y="21340"/>
                  <a:pt x="21340" y="0"/>
                  <a:pt x="47625" y="0"/>
                </a:cubicBezTo>
                <a:close/>
              </a:path>
            </a:pathLst>
          </a:custGeom>
          <a:solidFill>
            <a:srgbClr val="6C757D"/>
          </a:solidFill>
          <a:ln/>
        </p:spPr>
      </p:sp>
      <p:sp>
        <p:nvSpPr>
          <p:cNvPr id="49" name="Text 46"/>
          <p:cNvSpPr/>
          <p:nvPr/>
        </p:nvSpPr>
        <p:spPr>
          <a:xfrm>
            <a:off x="6760577" y="3926891"/>
            <a:ext cx="1752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微服务架构 - 复杂度较高</a:t>
            </a:r>
            <a:endParaRPr lang="en-US" sz="1600" dirty="0"/>
          </a:p>
        </p:txBody>
      </p:sp>
      <p:sp>
        <p:nvSpPr>
          <p:cNvPr id="50" name="Shape 47"/>
          <p:cNvSpPr/>
          <p:nvPr/>
        </p:nvSpPr>
        <p:spPr>
          <a:xfrm>
            <a:off x="6589144" y="4298235"/>
            <a:ext cx="95250" cy="95250"/>
          </a:xfrm>
          <a:custGeom>
            <a:avLst/>
            <a:gdLst/>
            <a:ahLst/>
            <a:cxnLst/>
            <a:rect l="l" t="t" r="r" b="b"/>
            <a:pathLst>
              <a:path w="95250" h="95250">
                <a:moveTo>
                  <a:pt x="47625" y="0"/>
                </a:moveTo>
                <a:lnTo>
                  <a:pt x="47625" y="0"/>
                </a:lnTo>
                <a:cubicBezTo>
                  <a:pt x="73910" y="0"/>
                  <a:pt x="95250" y="21340"/>
                  <a:pt x="95250" y="47625"/>
                </a:cubicBezTo>
                <a:lnTo>
                  <a:pt x="95250" y="47625"/>
                </a:lnTo>
                <a:cubicBezTo>
                  <a:pt x="95250" y="73910"/>
                  <a:pt x="73910" y="95250"/>
                  <a:pt x="47625" y="95250"/>
                </a:cubicBezTo>
                <a:lnTo>
                  <a:pt x="47625" y="95250"/>
                </a:lnTo>
                <a:cubicBezTo>
                  <a:pt x="21340" y="95250"/>
                  <a:pt x="0" y="73910"/>
                  <a:pt x="0" y="47625"/>
                </a:cubicBezTo>
                <a:lnTo>
                  <a:pt x="0" y="47625"/>
                </a:lnTo>
                <a:cubicBezTo>
                  <a:pt x="0" y="21340"/>
                  <a:pt x="21340" y="0"/>
                  <a:pt x="47625" y="0"/>
                </a:cubicBez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51" name="Text 48"/>
          <p:cNvSpPr/>
          <p:nvPr/>
        </p:nvSpPr>
        <p:spPr>
          <a:xfrm>
            <a:off x="6760577" y="4231625"/>
            <a:ext cx="3581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前后端分离的集中式代理架构</a:t>
            </a:r>
            <a:r>
              <a:rPr lang="en-US" sz="1200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 - </a:t>
            </a:r>
            <a:r>
              <a:rPr lang="en-US" sz="1200" dirty="0">
                <a:solidFill>
                  <a:srgbClr val="343A40"/>
                </a:solidFill>
                <a:highlight>
                  <a:srgbClr val="FFC107">
                    <a:alpha val="20000"/>
                  </a:srgbClr>
                </a:highlight>
                <a:latin typeface="MiSans" pitchFamily="34" charset="0"/>
                <a:ea typeface="MiSans" pitchFamily="34" charset="-122"/>
                <a:cs typeface="MiSans" pitchFamily="34" charset="-120"/>
              </a:rPr>
              <a:t>平衡性能与可维护性</a:t>
            </a:r>
            <a:endParaRPr lang="en-US" sz="1600" dirty="0"/>
          </a:p>
        </p:txBody>
      </p:sp>
      <p:sp>
        <p:nvSpPr>
          <p:cNvPr id="52" name="Shape 49"/>
          <p:cNvSpPr/>
          <p:nvPr/>
        </p:nvSpPr>
        <p:spPr>
          <a:xfrm>
            <a:off x="6400735" y="5657880"/>
            <a:ext cx="5219700" cy="533400"/>
          </a:xfrm>
          <a:custGeom>
            <a:avLst/>
            <a:gdLst/>
            <a:ahLst/>
            <a:cxnLst/>
            <a:rect l="l" t="t" r="r" b="b"/>
            <a:pathLst>
              <a:path w="5219700" h="533400">
                <a:moveTo>
                  <a:pt x="76202" y="0"/>
                </a:moveTo>
                <a:lnTo>
                  <a:pt x="5143498" y="0"/>
                </a:lnTo>
                <a:cubicBezTo>
                  <a:pt x="5185583" y="0"/>
                  <a:pt x="5219700" y="34117"/>
                  <a:pt x="5219700" y="76202"/>
                </a:cubicBezTo>
                <a:lnTo>
                  <a:pt x="5219700" y="457198"/>
                </a:lnTo>
                <a:cubicBezTo>
                  <a:pt x="5219700" y="499283"/>
                  <a:pt x="5185583" y="533400"/>
                  <a:pt x="5143498" y="533400"/>
                </a:cubicBezTo>
                <a:lnTo>
                  <a:pt x="76202" y="533400"/>
                </a:lnTo>
                <a:cubicBezTo>
                  <a:pt x="34117" y="533400"/>
                  <a:pt x="0" y="499283"/>
                  <a:pt x="0" y="457198"/>
                </a:cubicBezTo>
                <a:lnTo>
                  <a:pt x="0" y="76202"/>
                </a:lnTo>
                <a:cubicBezTo>
                  <a:pt x="0" y="34145"/>
                  <a:pt x="34145" y="0"/>
                  <a:pt x="76202" y="0"/>
                </a:cubicBez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53" name="Shape 50"/>
          <p:cNvSpPr/>
          <p:nvPr/>
        </p:nvSpPr>
        <p:spPr>
          <a:xfrm>
            <a:off x="6572153" y="5841141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76200" y="152400"/>
                </a:moveTo>
                <a:cubicBezTo>
                  <a:pt x="118256" y="152400"/>
                  <a:pt x="152400" y="118256"/>
                  <a:pt x="152400" y="76200"/>
                </a:cubicBezTo>
                <a:cubicBezTo>
                  <a:pt x="152400" y="34144"/>
                  <a:pt x="118256" y="0"/>
                  <a:pt x="76200" y="0"/>
                </a:cubicBezTo>
                <a:cubicBezTo>
                  <a:pt x="34144" y="0"/>
                  <a:pt x="0" y="34144"/>
                  <a:pt x="0" y="76200"/>
                </a:cubicBezTo>
                <a:cubicBezTo>
                  <a:pt x="0" y="118256"/>
                  <a:pt x="34144" y="152400"/>
                  <a:pt x="76200" y="152400"/>
                </a:cubicBezTo>
                <a:close/>
                <a:moveTo>
                  <a:pt x="101322" y="63311"/>
                </a:moveTo>
                <a:lnTo>
                  <a:pt x="77510" y="101411"/>
                </a:lnTo>
                <a:cubicBezTo>
                  <a:pt x="76260" y="103406"/>
                  <a:pt x="74116" y="104656"/>
                  <a:pt x="71765" y="104775"/>
                </a:cubicBezTo>
                <a:cubicBezTo>
                  <a:pt x="69413" y="104894"/>
                  <a:pt x="67151" y="103823"/>
                  <a:pt x="65752" y="101918"/>
                </a:cubicBezTo>
                <a:lnTo>
                  <a:pt x="51465" y="82867"/>
                </a:lnTo>
                <a:cubicBezTo>
                  <a:pt x="49084" y="79712"/>
                  <a:pt x="49738" y="75248"/>
                  <a:pt x="52894" y="72866"/>
                </a:cubicBezTo>
                <a:cubicBezTo>
                  <a:pt x="56049" y="70485"/>
                  <a:pt x="60514" y="71140"/>
                  <a:pt x="62895" y="74295"/>
                </a:cubicBezTo>
                <a:lnTo>
                  <a:pt x="70931" y="85011"/>
                </a:lnTo>
                <a:lnTo>
                  <a:pt x="89208" y="55751"/>
                </a:lnTo>
                <a:cubicBezTo>
                  <a:pt x="91291" y="52417"/>
                  <a:pt x="95696" y="51375"/>
                  <a:pt x="99060" y="53489"/>
                </a:cubicBezTo>
                <a:cubicBezTo>
                  <a:pt x="102424" y="55602"/>
                  <a:pt x="103436" y="59978"/>
                  <a:pt x="101322" y="63341"/>
                </a:cubicBez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54" name="Text 51"/>
          <p:cNvSpPr/>
          <p:nvPr/>
        </p:nvSpPr>
        <p:spPr>
          <a:xfrm>
            <a:off x="6800753" y="5810250"/>
            <a:ext cx="47434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FFC10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最终选择:</a:t>
            </a:r>
            <a:r>
              <a:rPr lang="en-US" sz="1200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 前后端分离的集中式代理架构,兼顾开发效率与系统性能</a:t>
            </a:r>
            <a:endParaRPr lang="en-US" sz="1600" dirty="0"/>
          </a:p>
        </p:txBody>
      </p:sp>
      <p:sp>
        <p:nvSpPr>
          <p:cNvPr id="58" name="Shape 0">
            <a:extLst>
              <a:ext uri="{FF2B5EF4-FFF2-40B4-BE49-F238E27FC236}">
                <a16:creationId xmlns:a16="http://schemas.microsoft.com/office/drawing/2014/main" id="{26B05013-2C8B-E3F6-1375-23ECF0D05BDA}"/>
              </a:ext>
            </a:extLst>
          </p:cNvPr>
          <p:cNvSpPr/>
          <p:nvPr/>
        </p:nvSpPr>
        <p:spPr>
          <a:xfrm>
            <a:off x="381000" y="457265"/>
            <a:ext cx="485775" cy="304800"/>
          </a:xfrm>
          <a:custGeom>
            <a:avLst/>
            <a:gdLst/>
            <a:ahLst/>
            <a:cxnLst/>
            <a:rect l="l" t="t" r="r" b="b"/>
            <a:pathLst>
              <a:path w="485775" h="304800">
                <a:moveTo>
                  <a:pt x="152400" y="0"/>
                </a:moveTo>
                <a:lnTo>
                  <a:pt x="333375" y="0"/>
                </a:lnTo>
                <a:cubicBezTo>
                  <a:pt x="417487" y="0"/>
                  <a:pt x="485775" y="68288"/>
                  <a:pt x="485775" y="152400"/>
                </a:cubicBezTo>
                <a:lnTo>
                  <a:pt x="485775" y="152400"/>
                </a:lnTo>
                <a:cubicBezTo>
                  <a:pt x="485775" y="236512"/>
                  <a:pt x="417487" y="304800"/>
                  <a:pt x="333375" y="304800"/>
                </a:cubicBezTo>
                <a:lnTo>
                  <a:pt x="152400" y="304800"/>
                </a:lnTo>
                <a:cubicBezTo>
                  <a:pt x="68288" y="304800"/>
                  <a:pt x="0" y="236512"/>
                  <a:pt x="0" y="152400"/>
                </a:cubicBezTo>
                <a:lnTo>
                  <a:pt x="0" y="152400"/>
                </a:lnTo>
                <a:cubicBezTo>
                  <a:pt x="0" y="68288"/>
                  <a:pt x="68288" y="0"/>
                  <a:pt x="152400" y="0"/>
                </a:cubicBez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59" name="Text 1">
            <a:extLst>
              <a:ext uri="{FF2B5EF4-FFF2-40B4-BE49-F238E27FC236}">
                <a16:creationId xmlns:a16="http://schemas.microsoft.com/office/drawing/2014/main" id="{6B76613B-B378-D6BF-BCEA-145A7C23C02B}"/>
              </a:ext>
            </a:extLst>
          </p:cNvPr>
          <p:cNvSpPr/>
          <p:nvPr/>
        </p:nvSpPr>
        <p:spPr>
          <a:xfrm>
            <a:off x="381000" y="457265"/>
            <a:ext cx="561975" cy="304800"/>
          </a:xfrm>
          <a:prstGeom prst="rect">
            <a:avLst/>
          </a:prstGeom>
          <a:noFill/>
          <a:ln/>
        </p:spPr>
        <p:txBody>
          <a:bodyPr wrap="square" lIns="152400" tIns="38100" rIns="152400" bIns="3810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02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slides_tmpl/image/25-10-09-16:35:25-d3jn7j8s8jdo4os5dj2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635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81000" y="457263"/>
            <a:ext cx="485775" cy="304800"/>
          </a:xfrm>
          <a:custGeom>
            <a:avLst/>
            <a:gdLst/>
            <a:ahLst/>
            <a:cxnLst/>
            <a:rect l="l" t="t" r="r" b="b"/>
            <a:pathLst>
              <a:path w="485775" h="304800">
                <a:moveTo>
                  <a:pt x="152400" y="0"/>
                </a:moveTo>
                <a:lnTo>
                  <a:pt x="333375" y="0"/>
                </a:lnTo>
                <a:cubicBezTo>
                  <a:pt x="417487" y="0"/>
                  <a:pt x="485775" y="68288"/>
                  <a:pt x="485775" y="152400"/>
                </a:cubicBezTo>
                <a:lnTo>
                  <a:pt x="485775" y="152400"/>
                </a:lnTo>
                <a:cubicBezTo>
                  <a:pt x="485775" y="236512"/>
                  <a:pt x="417487" y="304800"/>
                  <a:pt x="333375" y="304800"/>
                </a:cubicBezTo>
                <a:lnTo>
                  <a:pt x="152400" y="304800"/>
                </a:lnTo>
                <a:cubicBezTo>
                  <a:pt x="68288" y="304800"/>
                  <a:pt x="0" y="236512"/>
                  <a:pt x="0" y="152400"/>
                </a:cubicBezTo>
                <a:lnTo>
                  <a:pt x="0" y="152400"/>
                </a:lnTo>
                <a:cubicBezTo>
                  <a:pt x="0" y="68288"/>
                  <a:pt x="68288" y="0"/>
                  <a:pt x="152400" y="0"/>
                </a:cubicBez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4" name="Text 1"/>
          <p:cNvSpPr/>
          <p:nvPr/>
        </p:nvSpPr>
        <p:spPr>
          <a:xfrm>
            <a:off x="381000" y="457263"/>
            <a:ext cx="561975" cy="304800"/>
          </a:xfrm>
          <a:prstGeom prst="rect">
            <a:avLst/>
          </a:prstGeom>
          <a:noFill/>
          <a:ln/>
        </p:spPr>
        <p:txBody>
          <a:bodyPr wrap="square" lIns="152400" tIns="38100" rIns="152400" bIns="3810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02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984840" y="381000"/>
            <a:ext cx="4524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en-US" sz="3600" b="1" dirty="0">
                <a:solidFill>
                  <a:srgbClr val="343A40"/>
                </a:solidFill>
                <a:latin typeface="阿里妈妈数黑体" pitchFamily="34" charset="0"/>
                <a:ea typeface="阿里妈妈数黑体" pitchFamily="34" charset="-122"/>
                <a:cs typeface="阿里妈妈数黑体" pitchFamily="34" charset="-120"/>
              </a:rPr>
              <a:t>阶段二:从抽象到蓝图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1143000" y="914367"/>
            <a:ext cx="1066800" cy="38100"/>
          </a:xfrm>
          <a:custGeom>
            <a:avLst/>
            <a:gdLst/>
            <a:ahLst/>
            <a:cxnLst/>
            <a:rect l="l" t="t" r="r" b="b"/>
            <a:pathLst>
              <a:path w="1066800" h="38100">
                <a:moveTo>
                  <a:pt x="0" y="0"/>
                </a:moveTo>
                <a:lnTo>
                  <a:pt x="1066800" y="0"/>
                </a:lnTo>
                <a:lnTo>
                  <a:pt x="10668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7" name="Shape 4"/>
          <p:cNvSpPr/>
          <p:nvPr/>
        </p:nvSpPr>
        <p:spPr>
          <a:xfrm>
            <a:off x="381000" y="1122806"/>
            <a:ext cx="5619750" cy="3332720"/>
          </a:xfrm>
          <a:custGeom>
            <a:avLst/>
            <a:gdLst/>
            <a:ahLst/>
            <a:cxnLst/>
            <a:rect l="l" t="t" r="r" b="b"/>
            <a:pathLst>
              <a:path w="5619750" h="3332720">
                <a:moveTo>
                  <a:pt x="36041" y="0"/>
                </a:moveTo>
                <a:lnTo>
                  <a:pt x="5583709" y="0"/>
                </a:lnTo>
                <a:cubicBezTo>
                  <a:pt x="5603614" y="0"/>
                  <a:pt x="5619750" y="16136"/>
                  <a:pt x="5619750" y="36041"/>
                </a:cubicBezTo>
                <a:lnTo>
                  <a:pt x="5619750" y="3218408"/>
                </a:lnTo>
                <a:cubicBezTo>
                  <a:pt x="5619750" y="3281541"/>
                  <a:pt x="5568571" y="3332720"/>
                  <a:pt x="5505438" y="3332720"/>
                </a:cubicBezTo>
                <a:lnTo>
                  <a:pt x="114312" y="3332720"/>
                </a:lnTo>
                <a:cubicBezTo>
                  <a:pt x="51179" y="3332720"/>
                  <a:pt x="0" y="3281541"/>
                  <a:pt x="0" y="3218408"/>
                </a:cubicBezTo>
                <a:lnTo>
                  <a:pt x="0" y="36041"/>
                </a:lnTo>
                <a:cubicBezTo>
                  <a:pt x="0" y="16136"/>
                  <a:pt x="16136" y="0"/>
                  <a:pt x="36041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blurRad="142875" dist="95250" dir="5400000" algn="bl" rotWithShape="0">
              <a:srgbClr val="000000">
                <a:alpha val="10196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81000" y="1122806"/>
            <a:ext cx="5619750" cy="36041"/>
          </a:xfrm>
          <a:custGeom>
            <a:avLst/>
            <a:gdLst/>
            <a:ahLst/>
            <a:cxnLst/>
            <a:rect l="l" t="t" r="r" b="b"/>
            <a:pathLst>
              <a:path w="5619750" h="36041">
                <a:moveTo>
                  <a:pt x="36041" y="0"/>
                </a:moveTo>
                <a:lnTo>
                  <a:pt x="5583709" y="0"/>
                </a:lnTo>
                <a:cubicBezTo>
                  <a:pt x="5603614" y="0"/>
                  <a:pt x="5619750" y="16136"/>
                  <a:pt x="5619750" y="36041"/>
                </a:cubicBezTo>
                <a:lnTo>
                  <a:pt x="5619750" y="36041"/>
                </a:lnTo>
                <a:lnTo>
                  <a:pt x="0" y="36041"/>
                </a:lnTo>
                <a:lnTo>
                  <a:pt x="0" y="36041"/>
                </a:lnTo>
                <a:cubicBezTo>
                  <a:pt x="0" y="16136"/>
                  <a:pt x="16136" y="0"/>
                  <a:pt x="36041" y="0"/>
                </a:cubicBezTo>
                <a:close/>
              </a:path>
            </a:pathLst>
          </a:custGeom>
          <a:solidFill>
            <a:srgbClr val="343A40"/>
          </a:solidFill>
          <a:ln/>
        </p:spPr>
      </p:sp>
      <p:sp>
        <p:nvSpPr>
          <p:cNvPr id="9" name="Shape 6"/>
          <p:cNvSpPr/>
          <p:nvPr/>
        </p:nvSpPr>
        <p:spPr>
          <a:xfrm>
            <a:off x="590518" y="1331247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0" y="28575"/>
                </a:moveTo>
                <a:cubicBezTo>
                  <a:pt x="0" y="12814"/>
                  <a:pt x="12814" y="0"/>
                  <a:pt x="28575" y="0"/>
                </a:cubicBezTo>
                <a:lnTo>
                  <a:pt x="95324" y="0"/>
                </a:lnTo>
                <a:cubicBezTo>
                  <a:pt x="102915" y="0"/>
                  <a:pt x="110192" y="2991"/>
                  <a:pt x="115550" y="8349"/>
                </a:cubicBezTo>
                <a:lnTo>
                  <a:pt x="163101" y="55944"/>
                </a:lnTo>
                <a:cubicBezTo>
                  <a:pt x="168459" y="61302"/>
                  <a:pt x="171450" y="68580"/>
                  <a:pt x="171450" y="76170"/>
                </a:cubicBezTo>
                <a:lnTo>
                  <a:pt x="171450" y="200025"/>
                </a:lnTo>
                <a:cubicBezTo>
                  <a:pt x="171450" y="215786"/>
                  <a:pt x="158636" y="228600"/>
                  <a:pt x="142875" y="228600"/>
                </a:cubicBezTo>
                <a:lnTo>
                  <a:pt x="28575" y="228600"/>
                </a:lnTo>
                <a:cubicBezTo>
                  <a:pt x="12814" y="228600"/>
                  <a:pt x="0" y="215786"/>
                  <a:pt x="0" y="200025"/>
                </a:cubicBezTo>
                <a:lnTo>
                  <a:pt x="0" y="28575"/>
                </a:lnTo>
                <a:close/>
                <a:moveTo>
                  <a:pt x="92869" y="26119"/>
                </a:moveTo>
                <a:lnTo>
                  <a:pt x="92869" y="67866"/>
                </a:lnTo>
                <a:cubicBezTo>
                  <a:pt x="92869" y="73804"/>
                  <a:pt x="97646" y="78581"/>
                  <a:pt x="103584" y="78581"/>
                </a:cubicBezTo>
                <a:lnTo>
                  <a:pt x="145331" y="78581"/>
                </a:lnTo>
                <a:lnTo>
                  <a:pt x="92869" y="26119"/>
                </a:lnTo>
                <a:close/>
                <a:moveTo>
                  <a:pt x="53578" y="114300"/>
                </a:moveTo>
                <a:cubicBezTo>
                  <a:pt x="47640" y="114300"/>
                  <a:pt x="42863" y="119077"/>
                  <a:pt x="42863" y="125016"/>
                </a:cubicBezTo>
                <a:cubicBezTo>
                  <a:pt x="42863" y="130954"/>
                  <a:pt x="47640" y="135731"/>
                  <a:pt x="53578" y="135731"/>
                </a:cubicBezTo>
                <a:lnTo>
                  <a:pt x="117872" y="135731"/>
                </a:lnTo>
                <a:cubicBezTo>
                  <a:pt x="123810" y="135731"/>
                  <a:pt x="128588" y="130954"/>
                  <a:pt x="128588" y="125016"/>
                </a:cubicBezTo>
                <a:cubicBezTo>
                  <a:pt x="128588" y="119077"/>
                  <a:pt x="123810" y="114300"/>
                  <a:pt x="117872" y="114300"/>
                </a:cubicBezTo>
                <a:lnTo>
                  <a:pt x="53578" y="114300"/>
                </a:lnTo>
                <a:close/>
                <a:moveTo>
                  <a:pt x="53578" y="157163"/>
                </a:moveTo>
                <a:cubicBezTo>
                  <a:pt x="47640" y="157163"/>
                  <a:pt x="42863" y="161940"/>
                  <a:pt x="42863" y="167878"/>
                </a:cubicBezTo>
                <a:cubicBezTo>
                  <a:pt x="42863" y="173816"/>
                  <a:pt x="47640" y="178594"/>
                  <a:pt x="53578" y="178594"/>
                </a:cubicBezTo>
                <a:lnTo>
                  <a:pt x="117872" y="178594"/>
                </a:lnTo>
                <a:cubicBezTo>
                  <a:pt x="123810" y="178594"/>
                  <a:pt x="128588" y="173816"/>
                  <a:pt x="128588" y="167878"/>
                </a:cubicBezTo>
                <a:cubicBezTo>
                  <a:pt x="128588" y="161940"/>
                  <a:pt x="123810" y="157163"/>
                  <a:pt x="117872" y="157163"/>
                </a:cubicBezTo>
                <a:lnTo>
                  <a:pt x="53578" y="157163"/>
                </a:lnTo>
                <a:close/>
              </a:path>
            </a:pathLst>
          </a:custGeom>
          <a:solidFill>
            <a:srgbClr val="343A40"/>
          </a:solidFill>
          <a:ln/>
        </p:spPr>
      </p:sp>
      <p:sp>
        <p:nvSpPr>
          <p:cNvPr id="10" name="Text 7"/>
          <p:cNvSpPr/>
          <p:nvPr/>
        </p:nvSpPr>
        <p:spPr>
          <a:xfrm>
            <a:off x="933353" y="1293195"/>
            <a:ext cx="10287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343A40"/>
                </a:solidFill>
                <a:latin typeface="阿里妈妈数黑体" pitchFamily="34" charset="0"/>
                <a:ea typeface="阿里妈妈数黑体" pitchFamily="34" charset="-122"/>
                <a:cs typeface="阿里妈妈数黑体" pitchFamily="34" charset="-120"/>
              </a:rPr>
              <a:t>需求分析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551388" y="1712247"/>
            <a:ext cx="36041" cy="762000"/>
          </a:xfrm>
          <a:custGeom>
            <a:avLst/>
            <a:gdLst/>
            <a:ahLst/>
            <a:cxnLst/>
            <a:rect l="l" t="t" r="r" b="b"/>
            <a:pathLst>
              <a:path w="36041" h="762000">
                <a:moveTo>
                  <a:pt x="0" y="0"/>
                </a:moveTo>
                <a:lnTo>
                  <a:pt x="36041" y="0"/>
                </a:lnTo>
                <a:lnTo>
                  <a:pt x="36041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solidFill>
            <a:srgbClr val="343A40"/>
          </a:solidFill>
          <a:ln/>
        </p:spPr>
      </p:sp>
      <p:sp>
        <p:nvSpPr>
          <p:cNvPr id="12" name="Text 9"/>
          <p:cNvSpPr/>
          <p:nvPr/>
        </p:nvSpPr>
        <p:spPr>
          <a:xfrm>
            <a:off x="683644" y="1712247"/>
            <a:ext cx="52482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《软件需求规格说明书》(SRS)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683644" y="2016902"/>
            <a:ext cx="52387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产出国家标准的SRS文档，</a:t>
            </a:r>
            <a:r>
              <a:rPr lang="en-US" sz="1200" b="1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明确定义功能需求、非功能需求和接口规范</a:t>
            </a:r>
            <a:r>
              <a:rPr lang="en-US" sz="1200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，为后续设计与开发提供权威依据。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533368" y="2588242"/>
            <a:ext cx="2600325" cy="838200"/>
          </a:xfrm>
          <a:custGeom>
            <a:avLst/>
            <a:gdLst/>
            <a:ahLst/>
            <a:cxnLst/>
            <a:rect l="l" t="t" r="r" b="b"/>
            <a:pathLst>
              <a:path w="2600325" h="838200">
                <a:moveTo>
                  <a:pt x="76201" y="0"/>
                </a:moveTo>
                <a:lnTo>
                  <a:pt x="2524124" y="0"/>
                </a:lnTo>
                <a:cubicBezTo>
                  <a:pt x="2566209" y="0"/>
                  <a:pt x="2600325" y="34116"/>
                  <a:pt x="2600325" y="76201"/>
                </a:cubicBezTo>
                <a:lnTo>
                  <a:pt x="2600325" y="761999"/>
                </a:lnTo>
                <a:cubicBezTo>
                  <a:pt x="2600325" y="804084"/>
                  <a:pt x="2566209" y="838200"/>
                  <a:pt x="2524124" y="838200"/>
                </a:cubicBezTo>
                <a:lnTo>
                  <a:pt x="76201" y="838200"/>
                </a:lnTo>
                <a:cubicBezTo>
                  <a:pt x="34116" y="838200"/>
                  <a:pt x="0" y="804084"/>
                  <a:pt x="0" y="761999"/>
                </a:cubicBezTo>
                <a:lnTo>
                  <a:pt x="0" y="76201"/>
                </a:lnTo>
                <a:cubicBezTo>
                  <a:pt x="0" y="34144"/>
                  <a:pt x="34144" y="0"/>
                  <a:pt x="76201" y="0"/>
                </a:cubicBez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15" name="Text 12"/>
          <p:cNvSpPr/>
          <p:nvPr/>
        </p:nvSpPr>
        <p:spPr>
          <a:xfrm>
            <a:off x="609503" y="2702477"/>
            <a:ext cx="24479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200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用户类型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576166" y="2969079"/>
            <a:ext cx="2514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250" b="1" dirty="0">
                <a:solidFill>
                  <a:srgbClr val="FFC107"/>
                </a:solidFill>
                <a:latin typeface="阿里妈妈数黑体" pitchFamily="34" charset="0"/>
                <a:ea typeface="阿里妈妈数黑体" pitchFamily="34" charset="-122"/>
                <a:cs typeface="阿里妈妈数黑体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3247993" y="2588242"/>
            <a:ext cx="2600325" cy="838200"/>
          </a:xfrm>
          <a:custGeom>
            <a:avLst/>
            <a:gdLst/>
            <a:ahLst/>
            <a:cxnLst/>
            <a:rect l="l" t="t" r="r" b="b"/>
            <a:pathLst>
              <a:path w="2600325" h="838200">
                <a:moveTo>
                  <a:pt x="76201" y="0"/>
                </a:moveTo>
                <a:lnTo>
                  <a:pt x="2524124" y="0"/>
                </a:lnTo>
                <a:cubicBezTo>
                  <a:pt x="2566209" y="0"/>
                  <a:pt x="2600325" y="34116"/>
                  <a:pt x="2600325" y="76201"/>
                </a:cubicBezTo>
                <a:lnTo>
                  <a:pt x="2600325" y="761999"/>
                </a:lnTo>
                <a:cubicBezTo>
                  <a:pt x="2600325" y="804084"/>
                  <a:pt x="2566209" y="838200"/>
                  <a:pt x="2524124" y="838200"/>
                </a:cubicBezTo>
                <a:lnTo>
                  <a:pt x="76201" y="838200"/>
                </a:lnTo>
                <a:cubicBezTo>
                  <a:pt x="34116" y="838200"/>
                  <a:pt x="0" y="804084"/>
                  <a:pt x="0" y="761999"/>
                </a:cubicBezTo>
                <a:lnTo>
                  <a:pt x="0" y="76201"/>
                </a:lnTo>
                <a:cubicBezTo>
                  <a:pt x="0" y="34144"/>
                  <a:pt x="34144" y="0"/>
                  <a:pt x="76201" y="0"/>
                </a:cubicBez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18" name="Text 15"/>
          <p:cNvSpPr/>
          <p:nvPr/>
        </p:nvSpPr>
        <p:spPr>
          <a:xfrm>
            <a:off x="3324128" y="2702477"/>
            <a:ext cx="24479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200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功能模块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3290791" y="2969079"/>
            <a:ext cx="2514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250" b="1" dirty="0">
                <a:solidFill>
                  <a:srgbClr val="FFC107"/>
                </a:solidFill>
                <a:latin typeface="阿里妈妈数黑体" pitchFamily="34" charset="0"/>
                <a:ea typeface="阿里妈妈数黑体" pitchFamily="34" charset="-122"/>
                <a:cs typeface="阿里妈妈数黑体" pitchFamily="34" charset="-120"/>
              </a:rPr>
              <a:t>8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551388" y="3540421"/>
            <a:ext cx="36041" cy="762000"/>
          </a:xfrm>
          <a:custGeom>
            <a:avLst/>
            <a:gdLst/>
            <a:ahLst/>
            <a:cxnLst/>
            <a:rect l="l" t="t" r="r" b="b"/>
            <a:pathLst>
              <a:path w="36041" h="762000">
                <a:moveTo>
                  <a:pt x="0" y="0"/>
                </a:moveTo>
                <a:lnTo>
                  <a:pt x="36041" y="0"/>
                </a:lnTo>
                <a:lnTo>
                  <a:pt x="36041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21" name="Text 18"/>
          <p:cNvSpPr/>
          <p:nvPr/>
        </p:nvSpPr>
        <p:spPr>
          <a:xfrm>
            <a:off x="683644" y="3540421"/>
            <a:ext cx="52482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原型设计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683644" y="3845072"/>
            <a:ext cx="52387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通过</a:t>
            </a:r>
            <a:r>
              <a:rPr lang="en-US" sz="1200" dirty="0">
                <a:solidFill>
                  <a:srgbClr val="343A40"/>
                </a:solidFill>
                <a:highlight>
                  <a:srgbClr val="FFC107">
                    <a:alpha val="20000"/>
                  </a:srgbClr>
                </a:highlight>
                <a:latin typeface="MiSans" pitchFamily="34" charset="0"/>
                <a:ea typeface="MiSans" pitchFamily="34" charset="-122"/>
                <a:cs typeface="MiSans" pitchFamily="34" charset="-120"/>
              </a:rPr>
              <a:t> 高保真原型图 </a:t>
            </a:r>
            <a:r>
              <a:rPr lang="en-US" sz="1200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进行用户需求验证，收集早期反馈并迭代优化，确保设计方向正确。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381000" y="4606914"/>
            <a:ext cx="5619750" cy="800100"/>
          </a:xfrm>
          <a:custGeom>
            <a:avLst/>
            <a:gdLst/>
            <a:ahLst/>
            <a:cxnLst/>
            <a:rect l="l" t="t" r="r" b="b"/>
            <a:pathLst>
              <a:path w="5619750" h="800100">
                <a:moveTo>
                  <a:pt x="114302" y="0"/>
                </a:moveTo>
                <a:lnTo>
                  <a:pt x="5505448" y="0"/>
                </a:lnTo>
                <a:cubicBezTo>
                  <a:pt x="5568533" y="0"/>
                  <a:pt x="5619750" y="51217"/>
                  <a:pt x="5619750" y="114302"/>
                </a:cubicBezTo>
                <a:lnTo>
                  <a:pt x="5619750" y="685798"/>
                </a:lnTo>
                <a:cubicBezTo>
                  <a:pt x="5619750" y="748883"/>
                  <a:pt x="5568533" y="800100"/>
                  <a:pt x="5505448" y="800100"/>
                </a:cubicBezTo>
                <a:lnTo>
                  <a:pt x="114302" y="800100"/>
                </a:lnTo>
                <a:cubicBezTo>
                  <a:pt x="51217" y="800100"/>
                  <a:pt x="0" y="748883"/>
                  <a:pt x="0" y="685798"/>
                </a:cubicBezTo>
                <a:lnTo>
                  <a:pt x="0" y="114302"/>
                </a:lnTo>
                <a:cubicBezTo>
                  <a:pt x="0" y="51217"/>
                  <a:pt x="51217" y="0"/>
                  <a:pt x="114302" y="0"/>
                </a:cubicBezTo>
                <a:close/>
              </a:path>
            </a:pathLst>
          </a:custGeom>
          <a:solidFill>
            <a:srgbClr val="343A40"/>
          </a:solidFill>
          <a:ln/>
          <a:effectLst>
            <a:outerShdw blurRad="142875" dist="95250" dir="5400000" algn="bl" rotWithShape="0">
              <a:srgbClr val="000000">
                <a:alpha val="10196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580993" y="4764430"/>
            <a:ext cx="142875" cy="190500"/>
          </a:xfrm>
          <a:custGeom>
            <a:avLst/>
            <a:gdLst/>
            <a:ahLst/>
            <a:cxnLst/>
            <a:rect l="l" t="t" r="r" b="b"/>
            <a:pathLst>
              <a:path w="142875" h="190500">
                <a:moveTo>
                  <a:pt x="108979" y="142875"/>
                </a:moveTo>
                <a:cubicBezTo>
                  <a:pt x="111696" y="134578"/>
                  <a:pt x="117128" y="127062"/>
                  <a:pt x="123267" y="120588"/>
                </a:cubicBezTo>
                <a:cubicBezTo>
                  <a:pt x="135434" y="107789"/>
                  <a:pt x="142875" y="90488"/>
                  <a:pt x="142875" y="71438"/>
                </a:cubicBezTo>
                <a:cubicBezTo>
                  <a:pt x="142875" y="31998"/>
                  <a:pt x="110877" y="0"/>
                  <a:pt x="71437" y="0"/>
                </a:cubicBezTo>
                <a:cubicBezTo>
                  <a:pt x="31998" y="0"/>
                  <a:pt x="0" y="31998"/>
                  <a:pt x="0" y="71438"/>
                </a:cubicBezTo>
                <a:cubicBezTo>
                  <a:pt x="0" y="90488"/>
                  <a:pt x="7441" y="107789"/>
                  <a:pt x="19608" y="120588"/>
                </a:cubicBezTo>
                <a:cubicBezTo>
                  <a:pt x="25747" y="127062"/>
                  <a:pt x="31217" y="134578"/>
                  <a:pt x="33896" y="142875"/>
                </a:cubicBezTo>
                <a:lnTo>
                  <a:pt x="108942" y="142875"/>
                </a:lnTo>
                <a:close/>
                <a:moveTo>
                  <a:pt x="107156" y="160734"/>
                </a:moveTo>
                <a:lnTo>
                  <a:pt x="35719" y="160734"/>
                </a:lnTo>
                <a:lnTo>
                  <a:pt x="35719" y="166688"/>
                </a:lnTo>
                <a:cubicBezTo>
                  <a:pt x="35719" y="183133"/>
                  <a:pt x="49039" y="196453"/>
                  <a:pt x="65484" y="196453"/>
                </a:cubicBezTo>
                <a:lnTo>
                  <a:pt x="77391" y="196453"/>
                </a:lnTo>
                <a:cubicBezTo>
                  <a:pt x="93836" y="196453"/>
                  <a:pt x="107156" y="183133"/>
                  <a:pt x="107156" y="166688"/>
                </a:cubicBezTo>
                <a:lnTo>
                  <a:pt x="107156" y="160734"/>
                </a:lnTo>
                <a:close/>
                <a:moveTo>
                  <a:pt x="68461" y="41672"/>
                </a:moveTo>
                <a:cubicBezTo>
                  <a:pt x="53653" y="41672"/>
                  <a:pt x="41672" y="53653"/>
                  <a:pt x="41672" y="68461"/>
                </a:cubicBezTo>
                <a:cubicBezTo>
                  <a:pt x="41672" y="73409"/>
                  <a:pt x="37691" y="77391"/>
                  <a:pt x="32742" y="77391"/>
                </a:cubicBezTo>
                <a:cubicBezTo>
                  <a:pt x="27794" y="77391"/>
                  <a:pt x="23812" y="73409"/>
                  <a:pt x="23812" y="68461"/>
                </a:cubicBezTo>
                <a:cubicBezTo>
                  <a:pt x="23812" y="43793"/>
                  <a:pt x="43793" y="23812"/>
                  <a:pt x="68461" y="23812"/>
                </a:cubicBezTo>
                <a:cubicBezTo>
                  <a:pt x="73409" y="23812"/>
                  <a:pt x="77391" y="27794"/>
                  <a:pt x="77391" y="32742"/>
                </a:cubicBezTo>
                <a:cubicBezTo>
                  <a:pt x="77391" y="37691"/>
                  <a:pt x="73409" y="41672"/>
                  <a:pt x="68461" y="41672"/>
                </a:cubicBez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25" name="Text 22"/>
          <p:cNvSpPr/>
          <p:nvPr/>
        </p:nvSpPr>
        <p:spPr>
          <a:xfrm>
            <a:off x="828643" y="4759282"/>
            <a:ext cx="5095875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b="1" dirty="0">
                <a:solidFill>
                  <a:srgbClr val="FFC10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核心成果:</a:t>
            </a:r>
            <a:r>
              <a:rPr lang="en-US" sz="1200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 将用户需求转化为清晰、无歧义的技术规格,为系统设计奠定基础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6191250" y="1122806"/>
            <a:ext cx="5619750" cy="4285220"/>
          </a:xfrm>
          <a:custGeom>
            <a:avLst/>
            <a:gdLst/>
            <a:ahLst/>
            <a:cxnLst/>
            <a:rect l="l" t="t" r="r" b="b"/>
            <a:pathLst>
              <a:path w="5619750" h="4285220">
                <a:moveTo>
                  <a:pt x="36041" y="0"/>
                </a:moveTo>
                <a:lnTo>
                  <a:pt x="5583709" y="0"/>
                </a:lnTo>
                <a:cubicBezTo>
                  <a:pt x="5603614" y="0"/>
                  <a:pt x="5619750" y="16136"/>
                  <a:pt x="5619750" y="36041"/>
                </a:cubicBezTo>
                <a:lnTo>
                  <a:pt x="5619750" y="4170933"/>
                </a:lnTo>
                <a:cubicBezTo>
                  <a:pt x="5619750" y="4234052"/>
                  <a:pt x="5568582" y="4285220"/>
                  <a:pt x="5505463" y="4285220"/>
                </a:cubicBezTo>
                <a:lnTo>
                  <a:pt x="114287" y="4285220"/>
                </a:lnTo>
                <a:cubicBezTo>
                  <a:pt x="51168" y="4285220"/>
                  <a:pt x="0" y="4234052"/>
                  <a:pt x="0" y="4170933"/>
                </a:cubicBezTo>
                <a:lnTo>
                  <a:pt x="0" y="36041"/>
                </a:lnTo>
                <a:cubicBezTo>
                  <a:pt x="0" y="16136"/>
                  <a:pt x="16136" y="0"/>
                  <a:pt x="36041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blurRad="142875" dist="95250" dir="5400000" algn="bl" rotWithShape="0">
              <a:srgbClr val="000000">
                <a:alpha val="10196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6191250" y="1122806"/>
            <a:ext cx="5619750" cy="36041"/>
          </a:xfrm>
          <a:custGeom>
            <a:avLst/>
            <a:gdLst/>
            <a:ahLst/>
            <a:cxnLst/>
            <a:rect l="l" t="t" r="r" b="b"/>
            <a:pathLst>
              <a:path w="5619750" h="36041">
                <a:moveTo>
                  <a:pt x="36041" y="0"/>
                </a:moveTo>
                <a:lnTo>
                  <a:pt x="5583709" y="0"/>
                </a:lnTo>
                <a:cubicBezTo>
                  <a:pt x="5603614" y="0"/>
                  <a:pt x="5619750" y="16136"/>
                  <a:pt x="5619750" y="36041"/>
                </a:cubicBezTo>
                <a:lnTo>
                  <a:pt x="5619750" y="36041"/>
                </a:lnTo>
                <a:lnTo>
                  <a:pt x="0" y="36041"/>
                </a:lnTo>
                <a:lnTo>
                  <a:pt x="0" y="36041"/>
                </a:lnTo>
                <a:cubicBezTo>
                  <a:pt x="0" y="16136"/>
                  <a:pt x="16136" y="0"/>
                  <a:pt x="36041" y="0"/>
                </a:cubicBez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28" name="Shape 25"/>
          <p:cNvSpPr/>
          <p:nvPr/>
        </p:nvSpPr>
        <p:spPr>
          <a:xfrm>
            <a:off x="6372192" y="1331247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85725" y="28575"/>
                </a:moveTo>
                <a:cubicBezTo>
                  <a:pt x="85725" y="20672"/>
                  <a:pt x="92110" y="14288"/>
                  <a:pt x="100013" y="14288"/>
                </a:cubicBezTo>
                <a:lnTo>
                  <a:pt x="128588" y="14288"/>
                </a:lnTo>
                <a:cubicBezTo>
                  <a:pt x="136490" y="14288"/>
                  <a:pt x="142875" y="20672"/>
                  <a:pt x="142875" y="28575"/>
                </a:cubicBezTo>
                <a:lnTo>
                  <a:pt x="142875" y="57150"/>
                </a:lnTo>
                <a:cubicBezTo>
                  <a:pt x="142875" y="65053"/>
                  <a:pt x="136490" y="71438"/>
                  <a:pt x="128588" y="71438"/>
                </a:cubicBezTo>
                <a:lnTo>
                  <a:pt x="125016" y="71438"/>
                </a:lnTo>
                <a:lnTo>
                  <a:pt x="125016" y="100013"/>
                </a:lnTo>
                <a:lnTo>
                  <a:pt x="178594" y="100013"/>
                </a:lnTo>
                <a:cubicBezTo>
                  <a:pt x="196364" y="100013"/>
                  <a:pt x="210741" y="114389"/>
                  <a:pt x="210741" y="132159"/>
                </a:cubicBezTo>
                <a:lnTo>
                  <a:pt x="210741" y="157163"/>
                </a:lnTo>
                <a:lnTo>
                  <a:pt x="214313" y="157163"/>
                </a:lnTo>
                <a:cubicBezTo>
                  <a:pt x="222215" y="157163"/>
                  <a:pt x="228600" y="163547"/>
                  <a:pt x="228600" y="171450"/>
                </a:cubicBezTo>
                <a:lnTo>
                  <a:pt x="228600" y="200025"/>
                </a:lnTo>
                <a:cubicBezTo>
                  <a:pt x="228600" y="207928"/>
                  <a:pt x="222215" y="214313"/>
                  <a:pt x="214313" y="214313"/>
                </a:cubicBezTo>
                <a:lnTo>
                  <a:pt x="185738" y="214313"/>
                </a:lnTo>
                <a:cubicBezTo>
                  <a:pt x="177835" y="214313"/>
                  <a:pt x="171450" y="207928"/>
                  <a:pt x="171450" y="200025"/>
                </a:cubicBezTo>
                <a:lnTo>
                  <a:pt x="171450" y="171450"/>
                </a:lnTo>
                <a:cubicBezTo>
                  <a:pt x="171450" y="163547"/>
                  <a:pt x="177835" y="157163"/>
                  <a:pt x="185738" y="157163"/>
                </a:cubicBezTo>
                <a:lnTo>
                  <a:pt x="189309" y="157163"/>
                </a:lnTo>
                <a:lnTo>
                  <a:pt x="189309" y="132159"/>
                </a:lnTo>
                <a:cubicBezTo>
                  <a:pt x="189309" y="126221"/>
                  <a:pt x="184532" y="121444"/>
                  <a:pt x="178594" y="121444"/>
                </a:cubicBezTo>
                <a:lnTo>
                  <a:pt x="125016" y="121444"/>
                </a:lnTo>
                <a:lnTo>
                  <a:pt x="125016" y="157163"/>
                </a:lnTo>
                <a:lnTo>
                  <a:pt x="128588" y="157163"/>
                </a:lnTo>
                <a:cubicBezTo>
                  <a:pt x="136490" y="157163"/>
                  <a:pt x="142875" y="163547"/>
                  <a:pt x="142875" y="171450"/>
                </a:cubicBezTo>
                <a:lnTo>
                  <a:pt x="142875" y="200025"/>
                </a:lnTo>
                <a:cubicBezTo>
                  <a:pt x="142875" y="207928"/>
                  <a:pt x="136490" y="214313"/>
                  <a:pt x="128588" y="214313"/>
                </a:cubicBezTo>
                <a:lnTo>
                  <a:pt x="100013" y="214313"/>
                </a:lnTo>
                <a:cubicBezTo>
                  <a:pt x="92110" y="214313"/>
                  <a:pt x="85725" y="207928"/>
                  <a:pt x="85725" y="200025"/>
                </a:cubicBezTo>
                <a:lnTo>
                  <a:pt x="85725" y="171450"/>
                </a:lnTo>
                <a:cubicBezTo>
                  <a:pt x="85725" y="163547"/>
                  <a:pt x="92110" y="157163"/>
                  <a:pt x="100013" y="157163"/>
                </a:cubicBezTo>
                <a:lnTo>
                  <a:pt x="103584" y="157163"/>
                </a:lnTo>
                <a:lnTo>
                  <a:pt x="103584" y="121444"/>
                </a:lnTo>
                <a:lnTo>
                  <a:pt x="50006" y="121444"/>
                </a:lnTo>
                <a:cubicBezTo>
                  <a:pt x="44068" y="121444"/>
                  <a:pt x="39291" y="126221"/>
                  <a:pt x="39291" y="132159"/>
                </a:cubicBezTo>
                <a:lnTo>
                  <a:pt x="39291" y="157163"/>
                </a:lnTo>
                <a:lnTo>
                  <a:pt x="42863" y="157163"/>
                </a:lnTo>
                <a:cubicBezTo>
                  <a:pt x="50765" y="157163"/>
                  <a:pt x="57150" y="163547"/>
                  <a:pt x="57150" y="171450"/>
                </a:cubicBezTo>
                <a:lnTo>
                  <a:pt x="57150" y="200025"/>
                </a:lnTo>
                <a:cubicBezTo>
                  <a:pt x="57150" y="207928"/>
                  <a:pt x="50765" y="214313"/>
                  <a:pt x="42863" y="214313"/>
                </a:cubicBezTo>
                <a:lnTo>
                  <a:pt x="14288" y="214313"/>
                </a:lnTo>
                <a:cubicBezTo>
                  <a:pt x="6385" y="214313"/>
                  <a:pt x="0" y="207928"/>
                  <a:pt x="0" y="200025"/>
                </a:cubicBezTo>
                <a:lnTo>
                  <a:pt x="0" y="171450"/>
                </a:lnTo>
                <a:cubicBezTo>
                  <a:pt x="0" y="163547"/>
                  <a:pt x="6385" y="157163"/>
                  <a:pt x="14288" y="157163"/>
                </a:cubicBezTo>
                <a:lnTo>
                  <a:pt x="17859" y="157163"/>
                </a:lnTo>
                <a:lnTo>
                  <a:pt x="17859" y="132159"/>
                </a:lnTo>
                <a:cubicBezTo>
                  <a:pt x="17859" y="114389"/>
                  <a:pt x="32236" y="100013"/>
                  <a:pt x="50006" y="100013"/>
                </a:cubicBezTo>
                <a:lnTo>
                  <a:pt x="103584" y="100013"/>
                </a:lnTo>
                <a:lnTo>
                  <a:pt x="103584" y="71438"/>
                </a:lnTo>
                <a:lnTo>
                  <a:pt x="100013" y="71438"/>
                </a:lnTo>
                <a:cubicBezTo>
                  <a:pt x="92110" y="71438"/>
                  <a:pt x="85725" y="65053"/>
                  <a:pt x="85725" y="57150"/>
                </a:cubicBezTo>
                <a:lnTo>
                  <a:pt x="85725" y="28575"/>
                </a:ln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29" name="Text 26"/>
          <p:cNvSpPr/>
          <p:nvPr/>
        </p:nvSpPr>
        <p:spPr>
          <a:xfrm>
            <a:off x="6743603" y="1293195"/>
            <a:ext cx="10287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343A40"/>
                </a:solidFill>
                <a:latin typeface="阿里妈妈数黑体" pitchFamily="34" charset="0"/>
                <a:ea typeface="阿里妈妈数黑体" pitchFamily="34" charset="-122"/>
                <a:cs typeface="阿里妈妈数黑体" pitchFamily="34" charset="-120"/>
              </a:rPr>
              <a:t>总体设计</a:t>
            </a:r>
            <a:endParaRPr lang="en-US" sz="1600" dirty="0"/>
          </a:p>
        </p:txBody>
      </p:sp>
      <p:sp>
        <p:nvSpPr>
          <p:cNvPr id="30" name="Shape 27"/>
          <p:cNvSpPr/>
          <p:nvPr/>
        </p:nvSpPr>
        <p:spPr>
          <a:xfrm>
            <a:off x="6361638" y="1712247"/>
            <a:ext cx="36041" cy="762000"/>
          </a:xfrm>
          <a:custGeom>
            <a:avLst/>
            <a:gdLst/>
            <a:ahLst/>
            <a:cxnLst/>
            <a:rect l="l" t="t" r="r" b="b"/>
            <a:pathLst>
              <a:path w="36041" h="762000">
                <a:moveTo>
                  <a:pt x="0" y="0"/>
                </a:moveTo>
                <a:lnTo>
                  <a:pt x="36041" y="0"/>
                </a:lnTo>
                <a:lnTo>
                  <a:pt x="36041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31" name="Text 28"/>
          <p:cNvSpPr/>
          <p:nvPr/>
        </p:nvSpPr>
        <p:spPr>
          <a:xfrm>
            <a:off x="6493894" y="1712247"/>
            <a:ext cx="52482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《概要设计说明书》</a:t>
            </a:r>
            <a:endParaRPr lang="en-US" sz="1600" dirty="0"/>
          </a:p>
        </p:txBody>
      </p:sp>
      <p:sp>
        <p:nvSpPr>
          <p:cNvPr id="32" name="Text 29"/>
          <p:cNvSpPr/>
          <p:nvPr/>
        </p:nvSpPr>
        <p:spPr>
          <a:xfrm>
            <a:off x="6493894" y="2016902"/>
            <a:ext cx="52387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产出国家标准的概要设计文档，</a:t>
            </a:r>
            <a:r>
              <a:rPr lang="en-US" sz="1200" b="1" dirty="0">
                <a:solidFill>
                  <a:srgbClr val="0056B3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定义系统架构、模块划分和接口规范</a:t>
            </a:r>
            <a:r>
              <a:rPr lang="en-US" sz="1200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，为详细设计提供顶层指导。</a:t>
            </a:r>
            <a:endParaRPr lang="en-US" sz="1600" dirty="0"/>
          </a:p>
        </p:txBody>
      </p:sp>
      <p:sp>
        <p:nvSpPr>
          <p:cNvPr id="33" name="Shape 30"/>
          <p:cNvSpPr/>
          <p:nvPr/>
        </p:nvSpPr>
        <p:spPr>
          <a:xfrm>
            <a:off x="6361638" y="2588242"/>
            <a:ext cx="36041" cy="914400"/>
          </a:xfrm>
          <a:custGeom>
            <a:avLst/>
            <a:gdLst/>
            <a:ahLst/>
            <a:cxnLst/>
            <a:rect l="l" t="t" r="r" b="b"/>
            <a:pathLst>
              <a:path w="36041" h="914400">
                <a:moveTo>
                  <a:pt x="0" y="0"/>
                </a:moveTo>
                <a:lnTo>
                  <a:pt x="36041" y="0"/>
                </a:lnTo>
                <a:lnTo>
                  <a:pt x="36041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34" name="Text 31"/>
          <p:cNvSpPr/>
          <p:nvPr/>
        </p:nvSpPr>
        <p:spPr>
          <a:xfrm>
            <a:off x="6493894" y="2588242"/>
            <a:ext cx="52482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前后端分离架构</a:t>
            </a:r>
            <a:endParaRPr lang="en-US" sz="1600" dirty="0"/>
          </a:p>
        </p:txBody>
      </p:sp>
      <p:sp>
        <p:nvSpPr>
          <p:cNvPr id="35" name="Text 32"/>
          <p:cNvSpPr/>
          <p:nvPr/>
        </p:nvSpPr>
        <p:spPr>
          <a:xfrm>
            <a:off x="6493894" y="2892898"/>
            <a:ext cx="52387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确定</a:t>
            </a:r>
            <a:r>
              <a:rPr lang="en-US" sz="1200" dirty="0">
                <a:solidFill>
                  <a:srgbClr val="343A40"/>
                </a:solidFill>
                <a:highlight>
                  <a:srgbClr val="FFC107">
                    <a:alpha val="20000"/>
                  </a:srgbClr>
                </a:highlight>
                <a:latin typeface="MiSans" pitchFamily="34" charset="0"/>
                <a:ea typeface="MiSans" pitchFamily="34" charset="-122"/>
                <a:cs typeface="MiSans" pitchFamily="34" charset="-120"/>
              </a:rPr>
              <a:t> 前后端分离 </a:t>
            </a:r>
            <a:r>
              <a:rPr lang="en-US" sz="1200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的技术架构，实现职责分离与并行开发，提升团队效率。</a:t>
            </a:r>
            <a:endParaRPr lang="en-US" sz="1600" dirty="0"/>
          </a:p>
        </p:txBody>
      </p:sp>
      <p:sp>
        <p:nvSpPr>
          <p:cNvPr id="36" name="Shape 33"/>
          <p:cNvSpPr/>
          <p:nvPr/>
        </p:nvSpPr>
        <p:spPr>
          <a:xfrm>
            <a:off x="6493894" y="3197633"/>
            <a:ext cx="1666875" cy="304800"/>
          </a:xfrm>
          <a:custGeom>
            <a:avLst/>
            <a:gdLst/>
            <a:ahLst/>
            <a:cxnLst/>
            <a:rect l="l" t="t" r="r" b="b"/>
            <a:pathLst>
              <a:path w="1666875" h="304800">
                <a:moveTo>
                  <a:pt x="38100" y="0"/>
                </a:moveTo>
                <a:lnTo>
                  <a:pt x="1628775" y="0"/>
                </a:lnTo>
                <a:cubicBezTo>
                  <a:pt x="1649803" y="0"/>
                  <a:pt x="1666875" y="17072"/>
                  <a:pt x="1666875" y="38100"/>
                </a:cubicBezTo>
                <a:lnTo>
                  <a:pt x="1666875" y="266700"/>
                </a:lnTo>
                <a:cubicBezTo>
                  <a:pt x="1666875" y="287728"/>
                  <a:pt x="1649803" y="304800"/>
                  <a:pt x="1628775" y="304800"/>
                </a:cubicBezTo>
                <a:lnTo>
                  <a:pt x="38100" y="304800"/>
                </a:lnTo>
                <a:cubicBezTo>
                  <a:pt x="17072" y="304800"/>
                  <a:pt x="0" y="287728"/>
                  <a:pt x="0" y="2667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343A40"/>
          </a:solidFill>
          <a:ln/>
        </p:spPr>
      </p:sp>
      <p:sp>
        <p:nvSpPr>
          <p:cNvPr id="37" name="Text 34"/>
          <p:cNvSpPr/>
          <p:nvPr/>
        </p:nvSpPr>
        <p:spPr>
          <a:xfrm>
            <a:off x="6460556" y="3197633"/>
            <a:ext cx="1733550" cy="304800"/>
          </a:xfrm>
          <a:prstGeom prst="rect">
            <a:avLst/>
          </a:prstGeom>
          <a:noFill/>
          <a:ln/>
        </p:spPr>
        <p:txBody>
          <a:bodyPr wrap="square" lIns="57150" tIns="57150" rIns="57150" bIns="57150" rtlCol="0" anchor="ctr"/>
          <a:lstStyle/>
          <a:p>
            <a:pPr algn="ctr">
              <a:lnSpc>
                <a:spcPct val="120000"/>
              </a:lnSpc>
            </a:pPr>
            <a:r>
              <a:rPr lang="en-US" sz="1050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表示层</a:t>
            </a:r>
            <a:endParaRPr lang="en-US" sz="1600" dirty="0"/>
          </a:p>
        </p:txBody>
      </p:sp>
      <p:sp>
        <p:nvSpPr>
          <p:cNvPr id="38" name="Shape 35"/>
          <p:cNvSpPr/>
          <p:nvPr/>
        </p:nvSpPr>
        <p:spPr>
          <a:xfrm>
            <a:off x="8240814" y="3197633"/>
            <a:ext cx="1666875" cy="304800"/>
          </a:xfrm>
          <a:custGeom>
            <a:avLst/>
            <a:gdLst/>
            <a:ahLst/>
            <a:cxnLst/>
            <a:rect l="l" t="t" r="r" b="b"/>
            <a:pathLst>
              <a:path w="1666875" h="304800">
                <a:moveTo>
                  <a:pt x="38100" y="0"/>
                </a:moveTo>
                <a:lnTo>
                  <a:pt x="1628775" y="0"/>
                </a:lnTo>
                <a:cubicBezTo>
                  <a:pt x="1649803" y="0"/>
                  <a:pt x="1666875" y="17072"/>
                  <a:pt x="1666875" y="38100"/>
                </a:cubicBezTo>
                <a:lnTo>
                  <a:pt x="1666875" y="266700"/>
                </a:lnTo>
                <a:cubicBezTo>
                  <a:pt x="1666875" y="287728"/>
                  <a:pt x="1649803" y="304800"/>
                  <a:pt x="1628775" y="304800"/>
                </a:cubicBezTo>
                <a:lnTo>
                  <a:pt x="38100" y="304800"/>
                </a:lnTo>
                <a:cubicBezTo>
                  <a:pt x="17072" y="304800"/>
                  <a:pt x="0" y="287728"/>
                  <a:pt x="0" y="2667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39" name="Text 36"/>
          <p:cNvSpPr/>
          <p:nvPr/>
        </p:nvSpPr>
        <p:spPr>
          <a:xfrm>
            <a:off x="8207476" y="3197633"/>
            <a:ext cx="1733550" cy="304800"/>
          </a:xfrm>
          <a:prstGeom prst="rect">
            <a:avLst/>
          </a:prstGeom>
          <a:noFill/>
          <a:ln/>
        </p:spPr>
        <p:txBody>
          <a:bodyPr wrap="square" lIns="57150" tIns="57150" rIns="57150" bIns="57150" rtlCol="0" anchor="ctr"/>
          <a:lstStyle/>
          <a:p>
            <a:pPr algn="ctr">
              <a:lnSpc>
                <a:spcPct val="120000"/>
              </a:lnSpc>
            </a:pPr>
            <a:r>
              <a:rPr lang="en-US" sz="1050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业务逻辑层</a:t>
            </a:r>
            <a:endParaRPr lang="en-US" sz="1600" dirty="0"/>
          </a:p>
        </p:txBody>
      </p:sp>
      <p:sp>
        <p:nvSpPr>
          <p:cNvPr id="40" name="Shape 37"/>
          <p:cNvSpPr/>
          <p:nvPr/>
        </p:nvSpPr>
        <p:spPr>
          <a:xfrm>
            <a:off x="9987815" y="3197633"/>
            <a:ext cx="1666875" cy="304800"/>
          </a:xfrm>
          <a:custGeom>
            <a:avLst/>
            <a:gdLst/>
            <a:ahLst/>
            <a:cxnLst/>
            <a:rect l="l" t="t" r="r" b="b"/>
            <a:pathLst>
              <a:path w="1666875" h="304800">
                <a:moveTo>
                  <a:pt x="38100" y="0"/>
                </a:moveTo>
                <a:lnTo>
                  <a:pt x="1628775" y="0"/>
                </a:lnTo>
                <a:cubicBezTo>
                  <a:pt x="1649803" y="0"/>
                  <a:pt x="1666875" y="17072"/>
                  <a:pt x="1666875" y="38100"/>
                </a:cubicBezTo>
                <a:lnTo>
                  <a:pt x="1666875" y="266700"/>
                </a:lnTo>
                <a:cubicBezTo>
                  <a:pt x="1666875" y="287728"/>
                  <a:pt x="1649803" y="304800"/>
                  <a:pt x="1628775" y="304800"/>
                </a:cubicBezTo>
                <a:lnTo>
                  <a:pt x="38100" y="304800"/>
                </a:lnTo>
                <a:cubicBezTo>
                  <a:pt x="17072" y="304800"/>
                  <a:pt x="0" y="287728"/>
                  <a:pt x="0" y="2667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6C757D"/>
          </a:solidFill>
          <a:ln/>
        </p:spPr>
      </p:sp>
      <p:sp>
        <p:nvSpPr>
          <p:cNvPr id="41" name="Text 38"/>
          <p:cNvSpPr/>
          <p:nvPr/>
        </p:nvSpPr>
        <p:spPr>
          <a:xfrm>
            <a:off x="9954477" y="3197633"/>
            <a:ext cx="1733550" cy="304800"/>
          </a:xfrm>
          <a:prstGeom prst="rect">
            <a:avLst/>
          </a:prstGeom>
          <a:noFill/>
          <a:ln/>
        </p:spPr>
        <p:txBody>
          <a:bodyPr wrap="square" lIns="57150" tIns="57150" rIns="57150" bIns="57150" rtlCol="0" anchor="ctr"/>
          <a:lstStyle/>
          <a:p>
            <a:pPr algn="ctr">
              <a:lnSpc>
                <a:spcPct val="120000"/>
              </a:lnSpc>
            </a:pPr>
            <a:r>
              <a:rPr lang="en-US" sz="1050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数据访问层</a:t>
            </a:r>
            <a:endParaRPr lang="en-US" sz="1600" dirty="0"/>
          </a:p>
        </p:txBody>
      </p:sp>
      <p:sp>
        <p:nvSpPr>
          <p:cNvPr id="42" name="Shape 39"/>
          <p:cNvSpPr/>
          <p:nvPr/>
        </p:nvSpPr>
        <p:spPr>
          <a:xfrm>
            <a:off x="6361638" y="3616603"/>
            <a:ext cx="36041" cy="1638300"/>
          </a:xfrm>
          <a:custGeom>
            <a:avLst/>
            <a:gdLst/>
            <a:ahLst/>
            <a:cxnLst/>
            <a:rect l="l" t="t" r="r" b="b"/>
            <a:pathLst>
              <a:path w="36041" h="1638300">
                <a:moveTo>
                  <a:pt x="0" y="0"/>
                </a:moveTo>
                <a:lnTo>
                  <a:pt x="36041" y="0"/>
                </a:lnTo>
                <a:lnTo>
                  <a:pt x="36041" y="1638300"/>
                </a:lnTo>
                <a:lnTo>
                  <a:pt x="0" y="1638300"/>
                </a:lnTo>
                <a:lnTo>
                  <a:pt x="0" y="0"/>
                </a:lnTo>
                <a:close/>
              </a:path>
            </a:pathLst>
          </a:custGeom>
          <a:solidFill>
            <a:srgbClr val="6C757D"/>
          </a:solidFill>
          <a:ln/>
        </p:spPr>
      </p:sp>
      <p:sp>
        <p:nvSpPr>
          <p:cNvPr id="43" name="Text 40"/>
          <p:cNvSpPr/>
          <p:nvPr/>
        </p:nvSpPr>
        <p:spPr>
          <a:xfrm>
            <a:off x="6493894" y="3616603"/>
            <a:ext cx="52482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数据库ER模型</a:t>
            </a:r>
            <a:endParaRPr lang="en-US" sz="1600" dirty="0"/>
          </a:p>
        </p:txBody>
      </p:sp>
      <p:sp>
        <p:nvSpPr>
          <p:cNvPr id="44" name="Text 41"/>
          <p:cNvSpPr/>
          <p:nvPr/>
        </p:nvSpPr>
        <p:spPr>
          <a:xfrm>
            <a:off x="6493894" y="3921258"/>
            <a:ext cx="52387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设计系统ER图，定义用户、对话、消息等核心实体及关系，为数据持久化提供坚实基础。</a:t>
            </a:r>
            <a:endParaRPr lang="en-US" sz="1600" dirty="0"/>
          </a:p>
        </p:txBody>
      </p:sp>
      <p:sp>
        <p:nvSpPr>
          <p:cNvPr id="45" name="Shape 42"/>
          <p:cNvSpPr/>
          <p:nvPr/>
        </p:nvSpPr>
        <p:spPr>
          <a:xfrm>
            <a:off x="6493894" y="4949619"/>
            <a:ext cx="1238250" cy="304800"/>
          </a:xfrm>
          <a:custGeom>
            <a:avLst/>
            <a:gdLst/>
            <a:ahLst/>
            <a:cxnLst/>
            <a:rect l="l" t="t" r="r" b="b"/>
            <a:pathLst>
              <a:path w="1238250" h="304800">
                <a:moveTo>
                  <a:pt x="38100" y="0"/>
                </a:moveTo>
                <a:lnTo>
                  <a:pt x="1200150" y="0"/>
                </a:lnTo>
                <a:cubicBezTo>
                  <a:pt x="1221178" y="0"/>
                  <a:pt x="1238250" y="17072"/>
                  <a:pt x="1238250" y="38100"/>
                </a:cubicBezTo>
                <a:lnTo>
                  <a:pt x="1238250" y="266700"/>
                </a:lnTo>
                <a:cubicBezTo>
                  <a:pt x="1238250" y="287728"/>
                  <a:pt x="1221178" y="304800"/>
                  <a:pt x="1200150" y="304800"/>
                </a:cubicBezTo>
                <a:lnTo>
                  <a:pt x="38100" y="304800"/>
                </a:lnTo>
                <a:cubicBezTo>
                  <a:pt x="17072" y="304800"/>
                  <a:pt x="0" y="287728"/>
                  <a:pt x="0" y="2667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46" name="Text 43"/>
          <p:cNvSpPr/>
          <p:nvPr/>
        </p:nvSpPr>
        <p:spPr>
          <a:xfrm>
            <a:off x="6460556" y="4949619"/>
            <a:ext cx="1304925" cy="304800"/>
          </a:xfrm>
          <a:prstGeom prst="rect">
            <a:avLst/>
          </a:prstGeom>
          <a:noFill/>
          <a:ln/>
        </p:spPr>
        <p:txBody>
          <a:bodyPr wrap="square" lIns="57150" tIns="57150" rIns="57150" bIns="57150" rtlCol="0" anchor="ctr"/>
          <a:lstStyle/>
          <a:p>
            <a:pPr algn="ctr">
              <a:lnSpc>
                <a:spcPct val="120000"/>
              </a:lnSpc>
            </a:pPr>
            <a:r>
              <a:rPr lang="en-US" sz="1050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用户表</a:t>
            </a:r>
            <a:endParaRPr lang="en-US" sz="1600" dirty="0"/>
          </a:p>
        </p:txBody>
      </p:sp>
      <p:sp>
        <p:nvSpPr>
          <p:cNvPr id="47" name="Shape 44"/>
          <p:cNvSpPr/>
          <p:nvPr/>
        </p:nvSpPr>
        <p:spPr>
          <a:xfrm>
            <a:off x="7804064" y="4949619"/>
            <a:ext cx="1238250" cy="304800"/>
          </a:xfrm>
          <a:custGeom>
            <a:avLst/>
            <a:gdLst/>
            <a:ahLst/>
            <a:cxnLst/>
            <a:rect l="l" t="t" r="r" b="b"/>
            <a:pathLst>
              <a:path w="1238250" h="304800">
                <a:moveTo>
                  <a:pt x="38100" y="0"/>
                </a:moveTo>
                <a:lnTo>
                  <a:pt x="1200150" y="0"/>
                </a:lnTo>
                <a:cubicBezTo>
                  <a:pt x="1221178" y="0"/>
                  <a:pt x="1238250" y="17072"/>
                  <a:pt x="1238250" y="38100"/>
                </a:cubicBezTo>
                <a:lnTo>
                  <a:pt x="1238250" y="266700"/>
                </a:lnTo>
                <a:cubicBezTo>
                  <a:pt x="1238250" y="287728"/>
                  <a:pt x="1221178" y="304800"/>
                  <a:pt x="1200150" y="304800"/>
                </a:cubicBezTo>
                <a:lnTo>
                  <a:pt x="38100" y="304800"/>
                </a:lnTo>
                <a:cubicBezTo>
                  <a:pt x="17072" y="304800"/>
                  <a:pt x="0" y="287728"/>
                  <a:pt x="0" y="2667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48" name="Text 45"/>
          <p:cNvSpPr/>
          <p:nvPr/>
        </p:nvSpPr>
        <p:spPr>
          <a:xfrm>
            <a:off x="7770726" y="4949619"/>
            <a:ext cx="1304925" cy="304800"/>
          </a:xfrm>
          <a:prstGeom prst="rect">
            <a:avLst/>
          </a:prstGeom>
          <a:noFill/>
          <a:ln/>
        </p:spPr>
        <p:txBody>
          <a:bodyPr wrap="square" lIns="57150" tIns="57150" rIns="57150" bIns="57150" rtlCol="0" anchor="ctr"/>
          <a:lstStyle/>
          <a:p>
            <a:pPr algn="ctr">
              <a:lnSpc>
                <a:spcPct val="120000"/>
              </a:lnSpc>
            </a:pPr>
            <a:r>
              <a:rPr lang="en-US" sz="1050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对话表</a:t>
            </a:r>
            <a:endParaRPr lang="en-US" sz="1600" dirty="0"/>
          </a:p>
        </p:txBody>
      </p:sp>
      <p:sp>
        <p:nvSpPr>
          <p:cNvPr id="49" name="Shape 46"/>
          <p:cNvSpPr/>
          <p:nvPr/>
        </p:nvSpPr>
        <p:spPr>
          <a:xfrm>
            <a:off x="9114315" y="4949619"/>
            <a:ext cx="1238250" cy="304800"/>
          </a:xfrm>
          <a:custGeom>
            <a:avLst/>
            <a:gdLst/>
            <a:ahLst/>
            <a:cxnLst/>
            <a:rect l="l" t="t" r="r" b="b"/>
            <a:pathLst>
              <a:path w="1238250" h="304800">
                <a:moveTo>
                  <a:pt x="38100" y="0"/>
                </a:moveTo>
                <a:lnTo>
                  <a:pt x="1200150" y="0"/>
                </a:lnTo>
                <a:cubicBezTo>
                  <a:pt x="1221178" y="0"/>
                  <a:pt x="1238250" y="17072"/>
                  <a:pt x="1238250" y="38100"/>
                </a:cubicBezTo>
                <a:lnTo>
                  <a:pt x="1238250" y="266700"/>
                </a:lnTo>
                <a:cubicBezTo>
                  <a:pt x="1238250" y="287728"/>
                  <a:pt x="1221178" y="304800"/>
                  <a:pt x="1200150" y="304800"/>
                </a:cubicBezTo>
                <a:lnTo>
                  <a:pt x="38100" y="304800"/>
                </a:lnTo>
                <a:cubicBezTo>
                  <a:pt x="17072" y="304800"/>
                  <a:pt x="0" y="287728"/>
                  <a:pt x="0" y="2667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50" name="Text 47"/>
          <p:cNvSpPr/>
          <p:nvPr/>
        </p:nvSpPr>
        <p:spPr>
          <a:xfrm>
            <a:off x="9080977" y="4949619"/>
            <a:ext cx="1304925" cy="304800"/>
          </a:xfrm>
          <a:prstGeom prst="rect">
            <a:avLst/>
          </a:prstGeom>
          <a:noFill/>
          <a:ln/>
        </p:spPr>
        <p:txBody>
          <a:bodyPr wrap="square" lIns="57150" tIns="57150" rIns="57150" bIns="57150" rtlCol="0" anchor="ctr"/>
          <a:lstStyle/>
          <a:p>
            <a:pPr algn="ctr">
              <a:lnSpc>
                <a:spcPct val="120000"/>
              </a:lnSpc>
            </a:pPr>
            <a:r>
              <a:rPr lang="en-US" sz="1050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消息表</a:t>
            </a:r>
            <a:endParaRPr lang="en-US" sz="1600" dirty="0"/>
          </a:p>
        </p:txBody>
      </p:sp>
      <p:sp>
        <p:nvSpPr>
          <p:cNvPr id="51" name="Shape 48"/>
          <p:cNvSpPr/>
          <p:nvPr/>
        </p:nvSpPr>
        <p:spPr>
          <a:xfrm>
            <a:off x="10424565" y="4949619"/>
            <a:ext cx="1238250" cy="304800"/>
          </a:xfrm>
          <a:custGeom>
            <a:avLst/>
            <a:gdLst/>
            <a:ahLst/>
            <a:cxnLst/>
            <a:rect l="l" t="t" r="r" b="b"/>
            <a:pathLst>
              <a:path w="1238250" h="304800">
                <a:moveTo>
                  <a:pt x="38100" y="0"/>
                </a:moveTo>
                <a:lnTo>
                  <a:pt x="1200150" y="0"/>
                </a:lnTo>
                <a:cubicBezTo>
                  <a:pt x="1221178" y="0"/>
                  <a:pt x="1238250" y="17072"/>
                  <a:pt x="1238250" y="38100"/>
                </a:cubicBezTo>
                <a:lnTo>
                  <a:pt x="1238250" y="266700"/>
                </a:lnTo>
                <a:cubicBezTo>
                  <a:pt x="1238250" y="287728"/>
                  <a:pt x="1221178" y="304800"/>
                  <a:pt x="1200150" y="304800"/>
                </a:cubicBezTo>
                <a:lnTo>
                  <a:pt x="38100" y="304800"/>
                </a:lnTo>
                <a:cubicBezTo>
                  <a:pt x="17072" y="304800"/>
                  <a:pt x="0" y="287728"/>
                  <a:pt x="0" y="2667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52" name="Text 49"/>
          <p:cNvSpPr/>
          <p:nvPr/>
        </p:nvSpPr>
        <p:spPr>
          <a:xfrm>
            <a:off x="10391227" y="4949619"/>
            <a:ext cx="1304925" cy="304800"/>
          </a:xfrm>
          <a:prstGeom prst="rect">
            <a:avLst/>
          </a:prstGeom>
          <a:noFill/>
          <a:ln/>
        </p:spPr>
        <p:txBody>
          <a:bodyPr wrap="square" lIns="57150" tIns="57150" rIns="57150" bIns="57150" rtlCol="0" anchor="ctr"/>
          <a:lstStyle/>
          <a:p>
            <a:pPr algn="ctr">
              <a:lnSpc>
                <a:spcPct val="120000"/>
              </a:lnSpc>
            </a:pPr>
            <a:r>
              <a:rPr lang="en-US" sz="1050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配置表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slides_tmpl/image/25-10-09-16:35:25-d3jn7j8s8jdo4os5dj2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635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81000" y="457265"/>
            <a:ext cx="495300" cy="304800"/>
          </a:xfrm>
          <a:custGeom>
            <a:avLst/>
            <a:gdLst/>
            <a:ahLst/>
            <a:cxnLst/>
            <a:rect l="l" t="t" r="r" b="b"/>
            <a:pathLst>
              <a:path w="495300" h="304800">
                <a:moveTo>
                  <a:pt x="152400" y="0"/>
                </a:moveTo>
                <a:lnTo>
                  <a:pt x="342900" y="0"/>
                </a:lnTo>
                <a:cubicBezTo>
                  <a:pt x="427012" y="0"/>
                  <a:pt x="495300" y="68288"/>
                  <a:pt x="495300" y="152400"/>
                </a:cubicBezTo>
                <a:lnTo>
                  <a:pt x="495300" y="152400"/>
                </a:lnTo>
                <a:cubicBezTo>
                  <a:pt x="495300" y="236512"/>
                  <a:pt x="427012" y="304800"/>
                  <a:pt x="342900" y="304800"/>
                </a:cubicBezTo>
                <a:lnTo>
                  <a:pt x="152400" y="304800"/>
                </a:lnTo>
                <a:cubicBezTo>
                  <a:pt x="68288" y="304800"/>
                  <a:pt x="0" y="236512"/>
                  <a:pt x="0" y="152400"/>
                </a:cubicBezTo>
                <a:lnTo>
                  <a:pt x="0" y="152400"/>
                </a:lnTo>
                <a:cubicBezTo>
                  <a:pt x="0" y="68288"/>
                  <a:pt x="68288" y="0"/>
                  <a:pt x="152400" y="0"/>
                </a:cubicBez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4" name="Text 1"/>
          <p:cNvSpPr/>
          <p:nvPr/>
        </p:nvSpPr>
        <p:spPr>
          <a:xfrm>
            <a:off x="381000" y="457265"/>
            <a:ext cx="571500" cy="304800"/>
          </a:xfrm>
          <a:prstGeom prst="rect">
            <a:avLst/>
          </a:prstGeom>
          <a:noFill/>
          <a:ln/>
        </p:spPr>
        <p:txBody>
          <a:bodyPr wrap="square" lIns="152400" tIns="38100" rIns="152400" bIns="3810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05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986529" y="381000"/>
            <a:ext cx="4524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en-US" sz="3600" b="1" dirty="0">
                <a:solidFill>
                  <a:srgbClr val="343A40"/>
                </a:solidFill>
                <a:latin typeface="阿里妈妈数黑体" pitchFamily="34" charset="0"/>
                <a:ea typeface="阿里妈妈数黑体" pitchFamily="34" charset="-122"/>
                <a:cs typeface="阿里妈妈数黑体" pitchFamily="34" charset="-120"/>
              </a:rPr>
              <a:t>阶段三:从蓝图到产品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1143000" y="914367"/>
            <a:ext cx="1066800" cy="38100"/>
          </a:xfrm>
          <a:custGeom>
            <a:avLst/>
            <a:gdLst/>
            <a:ahLst/>
            <a:cxnLst/>
            <a:rect l="l" t="t" r="r" b="b"/>
            <a:pathLst>
              <a:path w="1066800" h="38100">
                <a:moveTo>
                  <a:pt x="0" y="0"/>
                </a:moveTo>
                <a:lnTo>
                  <a:pt x="1066800" y="0"/>
                </a:lnTo>
                <a:lnTo>
                  <a:pt x="10668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7" name="Shape 4"/>
          <p:cNvSpPr/>
          <p:nvPr/>
        </p:nvSpPr>
        <p:spPr>
          <a:xfrm>
            <a:off x="381000" y="1122809"/>
            <a:ext cx="3705225" cy="4094720"/>
          </a:xfrm>
          <a:custGeom>
            <a:avLst/>
            <a:gdLst/>
            <a:ahLst/>
            <a:cxnLst/>
            <a:rect l="l" t="t" r="r" b="b"/>
            <a:pathLst>
              <a:path w="3705225" h="4094720">
                <a:moveTo>
                  <a:pt x="36041" y="0"/>
                </a:moveTo>
                <a:lnTo>
                  <a:pt x="3669184" y="0"/>
                </a:lnTo>
                <a:cubicBezTo>
                  <a:pt x="3689089" y="0"/>
                  <a:pt x="3705225" y="16136"/>
                  <a:pt x="3705225" y="36041"/>
                </a:cubicBezTo>
                <a:lnTo>
                  <a:pt x="3705225" y="3980414"/>
                </a:lnTo>
                <a:cubicBezTo>
                  <a:pt x="3705225" y="4043544"/>
                  <a:pt x="3654048" y="4094720"/>
                  <a:pt x="3590919" y="4094720"/>
                </a:cubicBezTo>
                <a:lnTo>
                  <a:pt x="114306" y="4094720"/>
                </a:lnTo>
                <a:cubicBezTo>
                  <a:pt x="51177" y="4094720"/>
                  <a:pt x="0" y="4043544"/>
                  <a:pt x="0" y="3980414"/>
                </a:cubicBezTo>
                <a:lnTo>
                  <a:pt x="0" y="36041"/>
                </a:lnTo>
                <a:cubicBezTo>
                  <a:pt x="0" y="16136"/>
                  <a:pt x="16136" y="0"/>
                  <a:pt x="36041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blurRad="142875" dist="95250" dir="5400000" algn="bl" rotWithShape="0">
              <a:srgbClr val="000000">
                <a:alpha val="10196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81000" y="1122809"/>
            <a:ext cx="3705225" cy="36041"/>
          </a:xfrm>
          <a:custGeom>
            <a:avLst/>
            <a:gdLst/>
            <a:ahLst/>
            <a:cxnLst/>
            <a:rect l="l" t="t" r="r" b="b"/>
            <a:pathLst>
              <a:path w="3705225" h="36041">
                <a:moveTo>
                  <a:pt x="36041" y="0"/>
                </a:moveTo>
                <a:lnTo>
                  <a:pt x="3669184" y="0"/>
                </a:lnTo>
                <a:cubicBezTo>
                  <a:pt x="3689089" y="0"/>
                  <a:pt x="3705225" y="16136"/>
                  <a:pt x="3705225" y="36041"/>
                </a:cubicBezTo>
                <a:lnTo>
                  <a:pt x="3705225" y="36041"/>
                </a:lnTo>
                <a:lnTo>
                  <a:pt x="0" y="36041"/>
                </a:lnTo>
                <a:lnTo>
                  <a:pt x="0" y="36041"/>
                </a:lnTo>
                <a:cubicBezTo>
                  <a:pt x="0" y="16136"/>
                  <a:pt x="16136" y="0"/>
                  <a:pt x="36041" y="0"/>
                </a:cubicBezTo>
                <a:close/>
              </a:path>
            </a:pathLst>
          </a:custGeom>
          <a:solidFill>
            <a:srgbClr val="343A40"/>
          </a:solidFill>
          <a:ln/>
        </p:spPr>
      </p:sp>
      <p:sp>
        <p:nvSpPr>
          <p:cNvPr id="9" name="Shape 6"/>
          <p:cNvSpPr/>
          <p:nvPr/>
        </p:nvSpPr>
        <p:spPr>
          <a:xfrm>
            <a:off x="561943" y="1331244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80380" y="0"/>
                </a:moveTo>
                <a:cubicBezTo>
                  <a:pt x="188952" y="0"/>
                  <a:pt x="197168" y="3393"/>
                  <a:pt x="203195" y="9465"/>
                </a:cubicBezTo>
                <a:lnTo>
                  <a:pt x="219135" y="25405"/>
                </a:lnTo>
                <a:cubicBezTo>
                  <a:pt x="225207" y="31433"/>
                  <a:pt x="228600" y="39648"/>
                  <a:pt x="228600" y="48220"/>
                </a:cubicBezTo>
                <a:cubicBezTo>
                  <a:pt x="228600" y="56793"/>
                  <a:pt x="225207" y="65008"/>
                  <a:pt x="219135" y="71036"/>
                </a:cubicBezTo>
                <a:lnTo>
                  <a:pt x="199087" y="91083"/>
                </a:lnTo>
                <a:lnTo>
                  <a:pt x="137517" y="29513"/>
                </a:lnTo>
                <a:lnTo>
                  <a:pt x="157564" y="9465"/>
                </a:lnTo>
                <a:cubicBezTo>
                  <a:pt x="163592" y="3393"/>
                  <a:pt x="171807" y="0"/>
                  <a:pt x="180380" y="0"/>
                </a:cubicBezTo>
                <a:close/>
                <a:moveTo>
                  <a:pt x="26298" y="140687"/>
                </a:moveTo>
                <a:lnTo>
                  <a:pt x="122381" y="44648"/>
                </a:lnTo>
                <a:lnTo>
                  <a:pt x="183952" y="106219"/>
                </a:lnTo>
                <a:lnTo>
                  <a:pt x="87913" y="202302"/>
                </a:lnTo>
                <a:cubicBezTo>
                  <a:pt x="83135" y="207079"/>
                  <a:pt x="77153" y="210562"/>
                  <a:pt x="70634" y="212393"/>
                </a:cubicBezTo>
                <a:lnTo>
                  <a:pt x="13573" y="228198"/>
                </a:lnTo>
                <a:cubicBezTo>
                  <a:pt x="9867" y="229225"/>
                  <a:pt x="5849" y="228198"/>
                  <a:pt x="3125" y="225430"/>
                </a:cubicBezTo>
                <a:cubicBezTo>
                  <a:pt x="402" y="222662"/>
                  <a:pt x="-670" y="218688"/>
                  <a:pt x="357" y="214982"/>
                </a:cubicBezTo>
                <a:lnTo>
                  <a:pt x="16252" y="157966"/>
                </a:lnTo>
                <a:cubicBezTo>
                  <a:pt x="18083" y="151448"/>
                  <a:pt x="21521" y="145509"/>
                  <a:pt x="26343" y="140687"/>
                </a:cubicBezTo>
                <a:close/>
                <a:moveTo>
                  <a:pt x="100638" y="36076"/>
                </a:moveTo>
                <a:lnTo>
                  <a:pt x="36076" y="100638"/>
                </a:lnTo>
                <a:lnTo>
                  <a:pt x="5224" y="69786"/>
                </a:lnTo>
                <a:cubicBezTo>
                  <a:pt x="-1741" y="62820"/>
                  <a:pt x="-1741" y="51524"/>
                  <a:pt x="5224" y="44514"/>
                </a:cubicBezTo>
                <a:lnTo>
                  <a:pt x="44514" y="5224"/>
                </a:lnTo>
                <a:cubicBezTo>
                  <a:pt x="51480" y="-1741"/>
                  <a:pt x="62776" y="-1741"/>
                  <a:pt x="69786" y="5224"/>
                </a:cubicBezTo>
                <a:lnTo>
                  <a:pt x="72420" y="7858"/>
                </a:lnTo>
                <a:lnTo>
                  <a:pt x="47283" y="32995"/>
                </a:lnTo>
                <a:cubicBezTo>
                  <a:pt x="43800" y="36478"/>
                  <a:pt x="43800" y="42148"/>
                  <a:pt x="47283" y="45631"/>
                </a:cubicBezTo>
                <a:cubicBezTo>
                  <a:pt x="50765" y="49113"/>
                  <a:pt x="56436" y="49113"/>
                  <a:pt x="59918" y="45631"/>
                </a:cubicBezTo>
                <a:lnTo>
                  <a:pt x="85055" y="20494"/>
                </a:lnTo>
                <a:lnTo>
                  <a:pt x="100638" y="36076"/>
                </a:lnTo>
                <a:close/>
                <a:moveTo>
                  <a:pt x="192524" y="127962"/>
                </a:moveTo>
                <a:lnTo>
                  <a:pt x="208106" y="143545"/>
                </a:lnTo>
                <a:lnTo>
                  <a:pt x="182969" y="168682"/>
                </a:lnTo>
                <a:cubicBezTo>
                  <a:pt x="179487" y="172164"/>
                  <a:pt x="179487" y="177835"/>
                  <a:pt x="182969" y="181317"/>
                </a:cubicBezTo>
                <a:cubicBezTo>
                  <a:pt x="186452" y="184800"/>
                  <a:pt x="192122" y="184800"/>
                  <a:pt x="195605" y="181317"/>
                </a:cubicBezTo>
                <a:lnTo>
                  <a:pt x="220742" y="156180"/>
                </a:lnTo>
                <a:lnTo>
                  <a:pt x="223376" y="158814"/>
                </a:lnTo>
                <a:cubicBezTo>
                  <a:pt x="230341" y="165780"/>
                  <a:pt x="230341" y="177076"/>
                  <a:pt x="223376" y="184086"/>
                </a:cubicBezTo>
                <a:lnTo>
                  <a:pt x="184086" y="223376"/>
                </a:lnTo>
                <a:cubicBezTo>
                  <a:pt x="177120" y="230341"/>
                  <a:pt x="165824" y="230341"/>
                  <a:pt x="158814" y="223376"/>
                </a:cubicBezTo>
                <a:lnTo>
                  <a:pt x="127962" y="192524"/>
                </a:lnTo>
                <a:lnTo>
                  <a:pt x="192524" y="127962"/>
                </a:lnTo>
                <a:close/>
              </a:path>
            </a:pathLst>
          </a:custGeom>
          <a:solidFill>
            <a:srgbClr val="343A40"/>
          </a:solidFill>
          <a:ln/>
        </p:spPr>
      </p:sp>
      <p:sp>
        <p:nvSpPr>
          <p:cNvPr id="10" name="Text 7"/>
          <p:cNvSpPr/>
          <p:nvPr/>
        </p:nvSpPr>
        <p:spPr>
          <a:xfrm>
            <a:off x="895302" y="1293195"/>
            <a:ext cx="10287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343A40"/>
                </a:solidFill>
                <a:latin typeface="阿里妈妈数黑体" pitchFamily="34" charset="0"/>
                <a:ea typeface="阿里妈妈数黑体" pitchFamily="34" charset="-122"/>
                <a:cs typeface="阿里妈妈数黑体" pitchFamily="34" charset="-120"/>
              </a:rPr>
              <a:t>详细设计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551388" y="1712244"/>
            <a:ext cx="36041" cy="762000"/>
          </a:xfrm>
          <a:custGeom>
            <a:avLst/>
            <a:gdLst/>
            <a:ahLst/>
            <a:cxnLst/>
            <a:rect l="l" t="t" r="r" b="b"/>
            <a:pathLst>
              <a:path w="36041" h="762000">
                <a:moveTo>
                  <a:pt x="0" y="0"/>
                </a:moveTo>
                <a:lnTo>
                  <a:pt x="36041" y="0"/>
                </a:lnTo>
                <a:lnTo>
                  <a:pt x="36041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solidFill>
            <a:srgbClr val="343A40"/>
          </a:solidFill>
          <a:ln/>
        </p:spPr>
      </p:sp>
      <p:sp>
        <p:nvSpPr>
          <p:cNvPr id="12" name="Text 9"/>
          <p:cNvSpPr/>
          <p:nvPr/>
        </p:nvSpPr>
        <p:spPr>
          <a:xfrm>
            <a:off x="683644" y="1712244"/>
            <a:ext cx="33432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《详细设计说明书》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683644" y="2016900"/>
            <a:ext cx="33337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产出国家标准的详细设计文档，</a:t>
            </a:r>
            <a:r>
              <a:rPr lang="en-US" sz="1200" b="1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对8个程序模块逐一进行算法和逻辑流程设计</a:t>
            </a:r>
            <a:r>
              <a:rPr lang="en-US" sz="1200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。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551388" y="2588242"/>
            <a:ext cx="36041" cy="838200"/>
          </a:xfrm>
          <a:custGeom>
            <a:avLst/>
            <a:gdLst/>
            <a:ahLst/>
            <a:cxnLst/>
            <a:rect l="l" t="t" r="r" b="b"/>
            <a:pathLst>
              <a:path w="36041" h="838200">
                <a:moveTo>
                  <a:pt x="0" y="0"/>
                </a:moveTo>
                <a:lnTo>
                  <a:pt x="36041" y="0"/>
                </a:lnTo>
                <a:lnTo>
                  <a:pt x="36041" y="838200"/>
                </a:lnTo>
                <a:lnTo>
                  <a:pt x="0" y="838200"/>
                </a:lnTo>
                <a:lnTo>
                  <a:pt x="0" y="0"/>
                </a:ln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15" name="Text 12"/>
          <p:cNvSpPr/>
          <p:nvPr/>
        </p:nvSpPr>
        <p:spPr>
          <a:xfrm>
            <a:off x="683644" y="2588242"/>
            <a:ext cx="33432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设计工具与方法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683644" y="2959508"/>
            <a:ext cx="95250" cy="95250"/>
          </a:xfrm>
          <a:custGeom>
            <a:avLst/>
            <a:gdLst/>
            <a:ahLst/>
            <a:cxnLst/>
            <a:rect l="l" t="t" r="r" b="b"/>
            <a:pathLst>
              <a:path w="95250" h="95250">
                <a:moveTo>
                  <a:pt x="47625" y="0"/>
                </a:moveTo>
                <a:lnTo>
                  <a:pt x="47625" y="0"/>
                </a:lnTo>
                <a:cubicBezTo>
                  <a:pt x="73910" y="0"/>
                  <a:pt x="95250" y="21340"/>
                  <a:pt x="95250" y="47625"/>
                </a:cubicBezTo>
                <a:lnTo>
                  <a:pt x="95250" y="47625"/>
                </a:lnTo>
                <a:cubicBezTo>
                  <a:pt x="95250" y="73910"/>
                  <a:pt x="73910" y="95250"/>
                  <a:pt x="47625" y="95250"/>
                </a:cubicBezTo>
                <a:lnTo>
                  <a:pt x="47625" y="95250"/>
                </a:lnTo>
                <a:cubicBezTo>
                  <a:pt x="21340" y="95250"/>
                  <a:pt x="0" y="73910"/>
                  <a:pt x="0" y="47625"/>
                </a:cubicBezTo>
                <a:lnTo>
                  <a:pt x="0" y="47625"/>
                </a:lnTo>
                <a:cubicBezTo>
                  <a:pt x="0" y="21340"/>
                  <a:pt x="21340" y="0"/>
                  <a:pt x="47625" y="0"/>
                </a:cubicBez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17" name="Text 14"/>
          <p:cNvSpPr/>
          <p:nvPr/>
        </p:nvSpPr>
        <p:spPr>
          <a:xfrm>
            <a:off x="855078" y="2892898"/>
            <a:ext cx="14382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PDL</a:t>
            </a:r>
            <a:r>
              <a:rPr lang="en-US" sz="1200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 - 程序设计语言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683644" y="3264243"/>
            <a:ext cx="95250" cy="95250"/>
          </a:xfrm>
          <a:custGeom>
            <a:avLst/>
            <a:gdLst/>
            <a:ahLst/>
            <a:cxnLst/>
            <a:rect l="l" t="t" r="r" b="b"/>
            <a:pathLst>
              <a:path w="95250" h="95250">
                <a:moveTo>
                  <a:pt x="47625" y="0"/>
                </a:moveTo>
                <a:lnTo>
                  <a:pt x="47625" y="0"/>
                </a:lnTo>
                <a:cubicBezTo>
                  <a:pt x="73910" y="0"/>
                  <a:pt x="95250" y="21340"/>
                  <a:pt x="95250" y="47625"/>
                </a:cubicBezTo>
                <a:lnTo>
                  <a:pt x="95250" y="47625"/>
                </a:lnTo>
                <a:cubicBezTo>
                  <a:pt x="95250" y="73910"/>
                  <a:pt x="73910" y="95250"/>
                  <a:pt x="47625" y="95250"/>
                </a:cubicBezTo>
                <a:lnTo>
                  <a:pt x="47625" y="95250"/>
                </a:lnTo>
                <a:cubicBezTo>
                  <a:pt x="21340" y="95250"/>
                  <a:pt x="0" y="73910"/>
                  <a:pt x="0" y="47625"/>
                </a:cubicBezTo>
                <a:lnTo>
                  <a:pt x="0" y="47625"/>
                </a:lnTo>
                <a:cubicBezTo>
                  <a:pt x="0" y="21340"/>
                  <a:pt x="21340" y="0"/>
                  <a:pt x="47625" y="0"/>
                </a:cubicBez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19" name="Text 16"/>
          <p:cNvSpPr/>
          <p:nvPr/>
        </p:nvSpPr>
        <p:spPr>
          <a:xfrm>
            <a:off x="855078" y="3197633"/>
            <a:ext cx="144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流程图</a:t>
            </a:r>
            <a:r>
              <a:rPr lang="en-US" sz="1200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 - 可视化逻辑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551388" y="3544708"/>
            <a:ext cx="36041" cy="762000"/>
          </a:xfrm>
          <a:custGeom>
            <a:avLst/>
            <a:gdLst/>
            <a:ahLst/>
            <a:cxnLst/>
            <a:rect l="l" t="t" r="r" b="b"/>
            <a:pathLst>
              <a:path w="36041" h="762000">
                <a:moveTo>
                  <a:pt x="0" y="0"/>
                </a:moveTo>
                <a:lnTo>
                  <a:pt x="36041" y="0"/>
                </a:lnTo>
                <a:lnTo>
                  <a:pt x="36041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21" name="Text 18"/>
          <p:cNvSpPr/>
          <p:nvPr/>
        </p:nvSpPr>
        <p:spPr>
          <a:xfrm>
            <a:off x="683644" y="3544708"/>
            <a:ext cx="33432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模块设计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683644" y="3849364"/>
            <a:ext cx="33337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包括用户认证、模型管理、对话管理等核心模块。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4241762" y="1122809"/>
            <a:ext cx="3705225" cy="4094720"/>
          </a:xfrm>
          <a:custGeom>
            <a:avLst/>
            <a:gdLst/>
            <a:ahLst/>
            <a:cxnLst/>
            <a:rect l="l" t="t" r="r" b="b"/>
            <a:pathLst>
              <a:path w="3705225" h="4094720">
                <a:moveTo>
                  <a:pt x="36041" y="0"/>
                </a:moveTo>
                <a:lnTo>
                  <a:pt x="3669184" y="0"/>
                </a:lnTo>
                <a:cubicBezTo>
                  <a:pt x="3689089" y="0"/>
                  <a:pt x="3705225" y="16136"/>
                  <a:pt x="3705225" y="36041"/>
                </a:cubicBezTo>
                <a:lnTo>
                  <a:pt x="3705225" y="3980414"/>
                </a:lnTo>
                <a:cubicBezTo>
                  <a:pt x="3705225" y="4043544"/>
                  <a:pt x="3654048" y="4094720"/>
                  <a:pt x="3590919" y="4094720"/>
                </a:cubicBezTo>
                <a:lnTo>
                  <a:pt x="114306" y="4094720"/>
                </a:lnTo>
                <a:cubicBezTo>
                  <a:pt x="51177" y="4094720"/>
                  <a:pt x="0" y="4043544"/>
                  <a:pt x="0" y="3980414"/>
                </a:cubicBezTo>
                <a:lnTo>
                  <a:pt x="0" y="36041"/>
                </a:lnTo>
                <a:cubicBezTo>
                  <a:pt x="0" y="16136"/>
                  <a:pt x="16136" y="0"/>
                  <a:pt x="36041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blurRad="142875" dist="95250" dir="5400000" algn="bl" rotWithShape="0">
              <a:srgbClr val="000000">
                <a:alpha val="10196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4241762" y="1122809"/>
            <a:ext cx="3705225" cy="36041"/>
          </a:xfrm>
          <a:custGeom>
            <a:avLst/>
            <a:gdLst/>
            <a:ahLst/>
            <a:cxnLst/>
            <a:rect l="l" t="t" r="r" b="b"/>
            <a:pathLst>
              <a:path w="3705225" h="36041">
                <a:moveTo>
                  <a:pt x="36041" y="0"/>
                </a:moveTo>
                <a:lnTo>
                  <a:pt x="3669184" y="0"/>
                </a:lnTo>
                <a:cubicBezTo>
                  <a:pt x="3689089" y="0"/>
                  <a:pt x="3705225" y="16136"/>
                  <a:pt x="3705225" y="36041"/>
                </a:cubicBezTo>
                <a:lnTo>
                  <a:pt x="3705225" y="36041"/>
                </a:lnTo>
                <a:lnTo>
                  <a:pt x="0" y="36041"/>
                </a:lnTo>
                <a:lnTo>
                  <a:pt x="0" y="36041"/>
                </a:lnTo>
                <a:cubicBezTo>
                  <a:pt x="0" y="16136"/>
                  <a:pt x="16136" y="0"/>
                  <a:pt x="36041" y="0"/>
                </a:cubicBez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25" name="Shape 22"/>
          <p:cNvSpPr/>
          <p:nvPr/>
        </p:nvSpPr>
        <p:spPr>
          <a:xfrm>
            <a:off x="4408418" y="1331244"/>
            <a:ext cx="257175" cy="228600"/>
          </a:xfrm>
          <a:custGeom>
            <a:avLst/>
            <a:gdLst/>
            <a:ahLst/>
            <a:cxnLst/>
            <a:rect l="l" t="t" r="r" b="b"/>
            <a:pathLst>
              <a:path w="257175" h="228600">
                <a:moveTo>
                  <a:pt x="161092" y="536"/>
                </a:moveTo>
                <a:cubicBezTo>
                  <a:pt x="153501" y="-1652"/>
                  <a:pt x="145599" y="2768"/>
                  <a:pt x="143411" y="10358"/>
                </a:cubicBezTo>
                <a:lnTo>
                  <a:pt x="86261" y="210383"/>
                </a:lnTo>
                <a:cubicBezTo>
                  <a:pt x="84073" y="217974"/>
                  <a:pt x="88493" y="225876"/>
                  <a:pt x="96083" y="228064"/>
                </a:cubicBezTo>
                <a:cubicBezTo>
                  <a:pt x="103674" y="230252"/>
                  <a:pt x="111576" y="225832"/>
                  <a:pt x="113764" y="218242"/>
                </a:cubicBezTo>
                <a:lnTo>
                  <a:pt x="170914" y="18217"/>
                </a:lnTo>
                <a:cubicBezTo>
                  <a:pt x="173102" y="10626"/>
                  <a:pt x="168682" y="2724"/>
                  <a:pt x="161092" y="536"/>
                </a:cubicBezTo>
                <a:close/>
                <a:moveTo>
                  <a:pt x="189934" y="61302"/>
                </a:moveTo>
                <a:cubicBezTo>
                  <a:pt x="184353" y="66883"/>
                  <a:pt x="184353" y="75947"/>
                  <a:pt x="189934" y="81528"/>
                </a:cubicBezTo>
                <a:lnTo>
                  <a:pt x="222706" y="114300"/>
                </a:lnTo>
                <a:lnTo>
                  <a:pt x="189934" y="147072"/>
                </a:lnTo>
                <a:cubicBezTo>
                  <a:pt x="184353" y="152653"/>
                  <a:pt x="184353" y="161717"/>
                  <a:pt x="189934" y="167298"/>
                </a:cubicBezTo>
                <a:cubicBezTo>
                  <a:pt x="195516" y="172879"/>
                  <a:pt x="204579" y="172879"/>
                  <a:pt x="210160" y="167298"/>
                </a:cubicBezTo>
                <a:lnTo>
                  <a:pt x="253023" y="124435"/>
                </a:lnTo>
                <a:cubicBezTo>
                  <a:pt x="258604" y="118854"/>
                  <a:pt x="258604" y="109791"/>
                  <a:pt x="253023" y="104209"/>
                </a:cubicBezTo>
                <a:lnTo>
                  <a:pt x="210160" y="61347"/>
                </a:lnTo>
                <a:cubicBezTo>
                  <a:pt x="204579" y="55766"/>
                  <a:pt x="195516" y="55766"/>
                  <a:pt x="189934" y="61347"/>
                </a:cubicBezTo>
                <a:close/>
                <a:moveTo>
                  <a:pt x="67285" y="61302"/>
                </a:moveTo>
                <a:cubicBezTo>
                  <a:pt x="61704" y="55721"/>
                  <a:pt x="52641" y="55721"/>
                  <a:pt x="47059" y="61302"/>
                </a:cubicBezTo>
                <a:lnTo>
                  <a:pt x="4197" y="104165"/>
                </a:lnTo>
                <a:cubicBezTo>
                  <a:pt x="-1384" y="109746"/>
                  <a:pt x="-1384" y="118809"/>
                  <a:pt x="4197" y="124391"/>
                </a:cubicBezTo>
                <a:lnTo>
                  <a:pt x="47059" y="167253"/>
                </a:lnTo>
                <a:cubicBezTo>
                  <a:pt x="52641" y="172834"/>
                  <a:pt x="61704" y="172834"/>
                  <a:pt x="67285" y="167253"/>
                </a:cubicBezTo>
                <a:cubicBezTo>
                  <a:pt x="72866" y="161672"/>
                  <a:pt x="72866" y="152608"/>
                  <a:pt x="67285" y="147027"/>
                </a:cubicBezTo>
                <a:lnTo>
                  <a:pt x="34513" y="114300"/>
                </a:lnTo>
                <a:lnTo>
                  <a:pt x="67241" y="81528"/>
                </a:lnTo>
                <a:cubicBezTo>
                  <a:pt x="72822" y="75947"/>
                  <a:pt x="72822" y="66883"/>
                  <a:pt x="67241" y="61302"/>
                </a:cubicBez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26" name="Text 23"/>
          <p:cNvSpPr/>
          <p:nvPr/>
        </p:nvSpPr>
        <p:spPr>
          <a:xfrm>
            <a:off x="4756064" y="1293195"/>
            <a:ext cx="10287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343A40"/>
                </a:solidFill>
                <a:latin typeface="阿里妈妈数黑体" pitchFamily="34" charset="0"/>
                <a:ea typeface="阿里妈妈数黑体" pitchFamily="34" charset="-122"/>
                <a:cs typeface="阿里妈妈数黑体" pitchFamily="34" charset="-120"/>
              </a:rPr>
              <a:t>系统实现</a:t>
            </a:r>
            <a:endParaRPr lang="en-US" sz="1600" dirty="0"/>
          </a:p>
        </p:txBody>
      </p:sp>
      <p:sp>
        <p:nvSpPr>
          <p:cNvPr id="27" name="Shape 24"/>
          <p:cNvSpPr/>
          <p:nvPr/>
        </p:nvSpPr>
        <p:spPr>
          <a:xfrm>
            <a:off x="4412150" y="1712244"/>
            <a:ext cx="36041" cy="1600200"/>
          </a:xfrm>
          <a:custGeom>
            <a:avLst/>
            <a:gdLst/>
            <a:ahLst/>
            <a:cxnLst/>
            <a:rect l="l" t="t" r="r" b="b"/>
            <a:pathLst>
              <a:path w="36041" h="1600200">
                <a:moveTo>
                  <a:pt x="0" y="0"/>
                </a:moveTo>
                <a:lnTo>
                  <a:pt x="36041" y="0"/>
                </a:lnTo>
                <a:lnTo>
                  <a:pt x="36041" y="1600200"/>
                </a:lnTo>
                <a:lnTo>
                  <a:pt x="0" y="1600200"/>
                </a:lnTo>
                <a:lnTo>
                  <a:pt x="0" y="0"/>
                </a:ln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28" name="Text 25"/>
          <p:cNvSpPr/>
          <p:nvPr/>
        </p:nvSpPr>
        <p:spPr>
          <a:xfrm>
            <a:off x="4544406" y="1712244"/>
            <a:ext cx="33432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技术栈</a:t>
            </a:r>
            <a:endParaRPr lang="en-US" sz="1600" dirty="0"/>
          </a:p>
        </p:txBody>
      </p:sp>
      <p:sp>
        <p:nvSpPr>
          <p:cNvPr id="29" name="Shape 26"/>
          <p:cNvSpPr/>
          <p:nvPr/>
        </p:nvSpPr>
        <p:spPr>
          <a:xfrm>
            <a:off x="4544406" y="2016900"/>
            <a:ext cx="3257550" cy="609600"/>
          </a:xfrm>
          <a:custGeom>
            <a:avLst/>
            <a:gdLst/>
            <a:ahLst/>
            <a:cxnLst/>
            <a:rect l="l" t="t" r="r" b="b"/>
            <a:pathLst>
              <a:path w="3257550" h="609600">
                <a:moveTo>
                  <a:pt x="76200" y="0"/>
                </a:moveTo>
                <a:lnTo>
                  <a:pt x="3181350" y="0"/>
                </a:lnTo>
                <a:cubicBezTo>
                  <a:pt x="3223406" y="0"/>
                  <a:pt x="3257550" y="34144"/>
                  <a:pt x="3257550" y="76200"/>
                </a:cubicBezTo>
                <a:lnTo>
                  <a:pt x="3257550" y="533400"/>
                </a:lnTo>
                <a:cubicBezTo>
                  <a:pt x="3257550" y="575456"/>
                  <a:pt x="3223406" y="609600"/>
                  <a:pt x="3181350" y="609600"/>
                </a:cubicBezTo>
                <a:lnTo>
                  <a:pt x="76200" y="609600"/>
                </a:lnTo>
                <a:cubicBezTo>
                  <a:pt x="34144" y="609600"/>
                  <a:pt x="0" y="575456"/>
                  <a:pt x="0" y="5334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solidFill>
            <a:srgbClr val="343A40"/>
          </a:solidFill>
          <a:ln/>
        </p:spPr>
      </p:sp>
      <p:sp>
        <p:nvSpPr>
          <p:cNvPr id="30" name="Text 27"/>
          <p:cNvSpPr/>
          <p:nvPr/>
        </p:nvSpPr>
        <p:spPr>
          <a:xfrm>
            <a:off x="4620590" y="2093086"/>
            <a:ext cx="31813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FFC10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前端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4620590" y="2359689"/>
            <a:ext cx="31718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React 18 + TypeScript + Vite + AntD + Zustand</a:t>
            </a:r>
            <a:endParaRPr lang="en-US" sz="1600" dirty="0"/>
          </a:p>
        </p:txBody>
      </p:sp>
      <p:sp>
        <p:nvSpPr>
          <p:cNvPr id="32" name="Shape 29"/>
          <p:cNvSpPr/>
          <p:nvPr/>
        </p:nvSpPr>
        <p:spPr>
          <a:xfrm>
            <a:off x="4544406" y="2702556"/>
            <a:ext cx="3257550" cy="609600"/>
          </a:xfrm>
          <a:custGeom>
            <a:avLst/>
            <a:gdLst/>
            <a:ahLst/>
            <a:cxnLst/>
            <a:rect l="l" t="t" r="r" b="b"/>
            <a:pathLst>
              <a:path w="3257550" h="609600">
                <a:moveTo>
                  <a:pt x="76200" y="0"/>
                </a:moveTo>
                <a:lnTo>
                  <a:pt x="3181350" y="0"/>
                </a:lnTo>
                <a:cubicBezTo>
                  <a:pt x="3223406" y="0"/>
                  <a:pt x="3257550" y="34144"/>
                  <a:pt x="3257550" y="76200"/>
                </a:cubicBezTo>
                <a:lnTo>
                  <a:pt x="3257550" y="533400"/>
                </a:lnTo>
                <a:cubicBezTo>
                  <a:pt x="3257550" y="575456"/>
                  <a:pt x="3223406" y="609600"/>
                  <a:pt x="3181350" y="609600"/>
                </a:cubicBezTo>
                <a:lnTo>
                  <a:pt x="76200" y="609600"/>
                </a:lnTo>
                <a:cubicBezTo>
                  <a:pt x="34144" y="609600"/>
                  <a:pt x="0" y="575456"/>
                  <a:pt x="0" y="5334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33" name="Text 30"/>
          <p:cNvSpPr/>
          <p:nvPr/>
        </p:nvSpPr>
        <p:spPr>
          <a:xfrm>
            <a:off x="4620590" y="2778742"/>
            <a:ext cx="31813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FFC10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后端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4620590" y="3045344"/>
            <a:ext cx="31718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FastAPI + MySQL + JWT + 密码加盐哈希</a:t>
            </a:r>
            <a:endParaRPr lang="en-US" sz="1600" dirty="0"/>
          </a:p>
        </p:txBody>
      </p:sp>
      <p:sp>
        <p:nvSpPr>
          <p:cNvPr id="35" name="Shape 32"/>
          <p:cNvSpPr/>
          <p:nvPr/>
        </p:nvSpPr>
        <p:spPr>
          <a:xfrm>
            <a:off x="4412150" y="3426265"/>
            <a:ext cx="36041" cy="762000"/>
          </a:xfrm>
          <a:custGeom>
            <a:avLst/>
            <a:gdLst/>
            <a:ahLst/>
            <a:cxnLst/>
            <a:rect l="l" t="t" r="r" b="b"/>
            <a:pathLst>
              <a:path w="36041" h="762000">
                <a:moveTo>
                  <a:pt x="0" y="0"/>
                </a:moveTo>
                <a:lnTo>
                  <a:pt x="36041" y="0"/>
                </a:lnTo>
                <a:lnTo>
                  <a:pt x="36041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36" name="Text 33"/>
          <p:cNvSpPr/>
          <p:nvPr/>
        </p:nvSpPr>
        <p:spPr>
          <a:xfrm>
            <a:off x="4544406" y="3426265"/>
            <a:ext cx="33432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开发模式</a:t>
            </a:r>
            <a:endParaRPr lang="en-US" sz="1600" dirty="0"/>
          </a:p>
        </p:txBody>
      </p:sp>
      <p:sp>
        <p:nvSpPr>
          <p:cNvPr id="37" name="Text 34"/>
          <p:cNvSpPr/>
          <p:nvPr/>
        </p:nvSpPr>
        <p:spPr>
          <a:xfrm>
            <a:off x="4544406" y="3730916"/>
            <a:ext cx="33337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343A40"/>
                </a:solidFill>
                <a:highlight>
                  <a:srgbClr val="FFC107">
                    <a:alpha val="20000"/>
                  </a:srgbClr>
                </a:highlight>
                <a:latin typeface="MiSans" pitchFamily="34" charset="0"/>
                <a:ea typeface="MiSans" pitchFamily="34" charset="-122"/>
                <a:cs typeface="MiSans" pitchFamily="34" charset="-120"/>
              </a:rPr>
              <a:t>前后端并行开发 </a:t>
            </a:r>
            <a:r>
              <a:rPr lang="en-US" sz="1200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，</a:t>
            </a:r>
            <a:r>
              <a:rPr lang="en-US" sz="1200" dirty="0" err="1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通过API</a:t>
            </a:r>
            <a:r>
              <a:rPr lang="zh-CN" altLang="en-US" sz="1200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进行</a:t>
            </a:r>
            <a:r>
              <a:rPr lang="en-US" sz="1200" dirty="0" err="1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契约协作，提升效率</a:t>
            </a:r>
            <a:r>
              <a:rPr lang="en-US" sz="1200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。</a:t>
            </a:r>
            <a:endParaRPr lang="en-US" sz="1600" dirty="0"/>
          </a:p>
        </p:txBody>
      </p:sp>
      <p:sp>
        <p:nvSpPr>
          <p:cNvPr id="38" name="Shape 35"/>
          <p:cNvSpPr/>
          <p:nvPr/>
        </p:nvSpPr>
        <p:spPr>
          <a:xfrm>
            <a:off x="4412150" y="4302258"/>
            <a:ext cx="36041" cy="762000"/>
          </a:xfrm>
          <a:custGeom>
            <a:avLst/>
            <a:gdLst/>
            <a:ahLst/>
            <a:cxnLst/>
            <a:rect l="l" t="t" r="r" b="b"/>
            <a:pathLst>
              <a:path w="36041" h="762000">
                <a:moveTo>
                  <a:pt x="0" y="0"/>
                </a:moveTo>
                <a:lnTo>
                  <a:pt x="36041" y="0"/>
                </a:lnTo>
                <a:lnTo>
                  <a:pt x="36041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solidFill>
            <a:srgbClr val="6C757D"/>
          </a:solidFill>
          <a:ln/>
        </p:spPr>
      </p:sp>
      <p:sp>
        <p:nvSpPr>
          <p:cNvPr id="39" name="Text 36"/>
          <p:cNvSpPr/>
          <p:nvPr/>
        </p:nvSpPr>
        <p:spPr>
          <a:xfrm>
            <a:off x="4544406" y="4302258"/>
            <a:ext cx="33432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完成功能</a:t>
            </a:r>
            <a:endParaRPr lang="en-US" sz="1600" dirty="0"/>
          </a:p>
        </p:txBody>
      </p:sp>
      <p:sp>
        <p:nvSpPr>
          <p:cNvPr id="40" name="Text 37"/>
          <p:cNvSpPr/>
          <p:nvPr/>
        </p:nvSpPr>
        <p:spPr>
          <a:xfrm>
            <a:off x="4544406" y="4606914"/>
            <a:ext cx="33337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 err="1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实现所有核心功能，包括</a:t>
            </a:r>
            <a:r>
              <a:rPr lang="zh-CN" altLang="en-US" sz="1200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额外添加的读取上下文功能</a:t>
            </a:r>
            <a:endParaRPr lang="en-US" sz="1600" dirty="0"/>
          </a:p>
        </p:txBody>
      </p:sp>
      <p:sp>
        <p:nvSpPr>
          <p:cNvPr id="41" name="Shape 38"/>
          <p:cNvSpPr/>
          <p:nvPr/>
        </p:nvSpPr>
        <p:spPr>
          <a:xfrm>
            <a:off x="8102525" y="1122809"/>
            <a:ext cx="3705225" cy="4094720"/>
          </a:xfrm>
          <a:custGeom>
            <a:avLst/>
            <a:gdLst/>
            <a:ahLst/>
            <a:cxnLst/>
            <a:rect l="l" t="t" r="r" b="b"/>
            <a:pathLst>
              <a:path w="3705225" h="4094720">
                <a:moveTo>
                  <a:pt x="36041" y="0"/>
                </a:moveTo>
                <a:lnTo>
                  <a:pt x="3669184" y="0"/>
                </a:lnTo>
                <a:cubicBezTo>
                  <a:pt x="3689089" y="0"/>
                  <a:pt x="3705225" y="16136"/>
                  <a:pt x="3705225" y="36041"/>
                </a:cubicBezTo>
                <a:lnTo>
                  <a:pt x="3705225" y="3980414"/>
                </a:lnTo>
                <a:cubicBezTo>
                  <a:pt x="3705225" y="4043544"/>
                  <a:pt x="3654048" y="4094720"/>
                  <a:pt x="3590919" y="4094720"/>
                </a:cubicBezTo>
                <a:lnTo>
                  <a:pt x="114306" y="4094720"/>
                </a:lnTo>
                <a:cubicBezTo>
                  <a:pt x="51177" y="4094720"/>
                  <a:pt x="0" y="4043544"/>
                  <a:pt x="0" y="3980414"/>
                </a:cubicBezTo>
                <a:lnTo>
                  <a:pt x="0" y="36041"/>
                </a:lnTo>
                <a:cubicBezTo>
                  <a:pt x="0" y="16136"/>
                  <a:pt x="16136" y="0"/>
                  <a:pt x="36041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blurRad="142875" dist="95250" dir="5400000" algn="bl" rotWithShape="0">
              <a:srgbClr val="000000">
                <a:alpha val="10196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8102525" y="1122809"/>
            <a:ext cx="3705225" cy="36041"/>
          </a:xfrm>
          <a:custGeom>
            <a:avLst/>
            <a:gdLst/>
            <a:ahLst/>
            <a:cxnLst/>
            <a:rect l="l" t="t" r="r" b="b"/>
            <a:pathLst>
              <a:path w="3705225" h="36041">
                <a:moveTo>
                  <a:pt x="36041" y="0"/>
                </a:moveTo>
                <a:lnTo>
                  <a:pt x="3669184" y="0"/>
                </a:lnTo>
                <a:cubicBezTo>
                  <a:pt x="3689089" y="0"/>
                  <a:pt x="3705225" y="16136"/>
                  <a:pt x="3705225" y="36041"/>
                </a:cubicBezTo>
                <a:lnTo>
                  <a:pt x="3705225" y="36041"/>
                </a:lnTo>
                <a:lnTo>
                  <a:pt x="0" y="36041"/>
                </a:lnTo>
                <a:lnTo>
                  <a:pt x="0" y="36041"/>
                </a:lnTo>
                <a:cubicBezTo>
                  <a:pt x="0" y="16136"/>
                  <a:pt x="16136" y="0"/>
                  <a:pt x="36041" y="0"/>
                </a:cubicBezTo>
                <a:close/>
              </a:path>
            </a:pathLst>
          </a:custGeom>
          <a:solidFill>
            <a:srgbClr val="6C757D"/>
          </a:solidFill>
          <a:ln/>
        </p:spPr>
      </p:sp>
      <p:sp>
        <p:nvSpPr>
          <p:cNvPr id="43" name="Shape 40"/>
          <p:cNvSpPr/>
          <p:nvPr/>
        </p:nvSpPr>
        <p:spPr>
          <a:xfrm>
            <a:off x="8283468" y="1331244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52966" y="4197"/>
                </a:moveTo>
                <a:cubicBezTo>
                  <a:pt x="147384" y="-1384"/>
                  <a:pt x="138321" y="-1384"/>
                  <a:pt x="132740" y="4197"/>
                </a:cubicBezTo>
                <a:cubicBezTo>
                  <a:pt x="127159" y="9778"/>
                  <a:pt x="127159" y="18842"/>
                  <a:pt x="132740" y="24423"/>
                </a:cubicBezTo>
                <a:lnTo>
                  <a:pt x="136937" y="28575"/>
                </a:lnTo>
                <a:lnTo>
                  <a:pt x="12546" y="152966"/>
                </a:lnTo>
                <a:cubicBezTo>
                  <a:pt x="4509" y="161002"/>
                  <a:pt x="0" y="171896"/>
                  <a:pt x="0" y="183282"/>
                </a:cubicBezTo>
                <a:lnTo>
                  <a:pt x="0" y="185738"/>
                </a:lnTo>
                <a:cubicBezTo>
                  <a:pt x="0" y="209401"/>
                  <a:pt x="19199" y="228600"/>
                  <a:pt x="42863" y="228600"/>
                </a:cubicBezTo>
                <a:lnTo>
                  <a:pt x="45318" y="228600"/>
                </a:lnTo>
                <a:cubicBezTo>
                  <a:pt x="56704" y="228600"/>
                  <a:pt x="67598" y="224091"/>
                  <a:pt x="75634" y="216054"/>
                </a:cubicBezTo>
                <a:lnTo>
                  <a:pt x="200025" y="91663"/>
                </a:lnTo>
                <a:lnTo>
                  <a:pt x="204222" y="95860"/>
                </a:lnTo>
                <a:cubicBezTo>
                  <a:pt x="209803" y="101441"/>
                  <a:pt x="218867" y="101441"/>
                  <a:pt x="224448" y="95860"/>
                </a:cubicBezTo>
                <a:cubicBezTo>
                  <a:pt x="230029" y="90279"/>
                  <a:pt x="230029" y="81216"/>
                  <a:pt x="224448" y="75634"/>
                </a:cubicBezTo>
                <a:lnTo>
                  <a:pt x="153010" y="4197"/>
                </a:lnTo>
                <a:close/>
                <a:moveTo>
                  <a:pt x="91663" y="114300"/>
                </a:moveTo>
                <a:lnTo>
                  <a:pt x="157163" y="48801"/>
                </a:lnTo>
                <a:lnTo>
                  <a:pt x="179799" y="71438"/>
                </a:lnTo>
                <a:lnTo>
                  <a:pt x="136937" y="114300"/>
                </a:lnTo>
                <a:lnTo>
                  <a:pt x="91619" y="114300"/>
                </a:lnTo>
                <a:close/>
              </a:path>
            </a:pathLst>
          </a:custGeom>
          <a:solidFill>
            <a:srgbClr val="6C757D"/>
          </a:solidFill>
          <a:ln/>
        </p:spPr>
      </p:sp>
      <p:sp>
        <p:nvSpPr>
          <p:cNvPr id="44" name="Text 41"/>
          <p:cNvSpPr/>
          <p:nvPr/>
        </p:nvSpPr>
        <p:spPr>
          <a:xfrm>
            <a:off x="8616826" y="1293195"/>
            <a:ext cx="10287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343A40"/>
                </a:solidFill>
                <a:latin typeface="阿里妈妈数黑体" pitchFamily="34" charset="0"/>
                <a:ea typeface="阿里妈妈数黑体" pitchFamily="34" charset="-122"/>
                <a:cs typeface="阿里妈妈数黑体" pitchFamily="34" charset="-120"/>
              </a:rPr>
              <a:t>系统测试</a:t>
            </a:r>
            <a:endParaRPr lang="en-US" sz="1600" dirty="0"/>
          </a:p>
        </p:txBody>
      </p:sp>
      <p:sp>
        <p:nvSpPr>
          <p:cNvPr id="45" name="Shape 42"/>
          <p:cNvSpPr/>
          <p:nvPr/>
        </p:nvSpPr>
        <p:spPr>
          <a:xfrm>
            <a:off x="8272913" y="1712244"/>
            <a:ext cx="36041" cy="1143000"/>
          </a:xfrm>
          <a:custGeom>
            <a:avLst/>
            <a:gdLst/>
            <a:ahLst/>
            <a:cxnLst/>
            <a:rect l="l" t="t" r="r" b="b"/>
            <a:pathLst>
              <a:path w="36041" h="1143000">
                <a:moveTo>
                  <a:pt x="0" y="0"/>
                </a:moveTo>
                <a:lnTo>
                  <a:pt x="36041" y="0"/>
                </a:lnTo>
                <a:lnTo>
                  <a:pt x="36041" y="1143000"/>
                </a:lnTo>
                <a:lnTo>
                  <a:pt x="0" y="1143000"/>
                </a:lnTo>
                <a:lnTo>
                  <a:pt x="0" y="0"/>
                </a:lnTo>
                <a:close/>
              </a:path>
            </a:pathLst>
          </a:custGeom>
          <a:solidFill>
            <a:srgbClr val="6C757D"/>
          </a:solidFill>
          <a:ln/>
        </p:spPr>
      </p:sp>
      <p:sp>
        <p:nvSpPr>
          <p:cNvPr id="46" name="Text 43"/>
          <p:cNvSpPr/>
          <p:nvPr/>
        </p:nvSpPr>
        <p:spPr>
          <a:xfrm>
            <a:off x="8405168" y="1712244"/>
            <a:ext cx="33432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三级测试体系</a:t>
            </a:r>
            <a:endParaRPr lang="en-US" sz="1600" dirty="0"/>
          </a:p>
        </p:txBody>
      </p:sp>
      <p:sp>
        <p:nvSpPr>
          <p:cNvPr id="47" name="Shape 44"/>
          <p:cNvSpPr/>
          <p:nvPr/>
        </p:nvSpPr>
        <p:spPr>
          <a:xfrm>
            <a:off x="8405168" y="2083510"/>
            <a:ext cx="95250" cy="95250"/>
          </a:xfrm>
          <a:custGeom>
            <a:avLst/>
            <a:gdLst/>
            <a:ahLst/>
            <a:cxnLst/>
            <a:rect l="l" t="t" r="r" b="b"/>
            <a:pathLst>
              <a:path w="95250" h="95250">
                <a:moveTo>
                  <a:pt x="47625" y="0"/>
                </a:moveTo>
                <a:lnTo>
                  <a:pt x="47625" y="0"/>
                </a:lnTo>
                <a:cubicBezTo>
                  <a:pt x="73910" y="0"/>
                  <a:pt x="95250" y="21340"/>
                  <a:pt x="95250" y="47625"/>
                </a:cubicBezTo>
                <a:lnTo>
                  <a:pt x="95250" y="47625"/>
                </a:lnTo>
                <a:cubicBezTo>
                  <a:pt x="95250" y="73910"/>
                  <a:pt x="73910" y="95250"/>
                  <a:pt x="47625" y="95250"/>
                </a:cubicBezTo>
                <a:lnTo>
                  <a:pt x="47625" y="95250"/>
                </a:lnTo>
                <a:cubicBezTo>
                  <a:pt x="21340" y="95250"/>
                  <a:pt x="0" y="73910"/>
                  <a:pt x="0" y="47625"/>
                </a:cubicBezTo>
                <a:lnTo>
                  <a:pt x="0" y="47625"/>
                </a:lnTo>
                <a:cubicBezTo>
                  <a:pt x="0" y="21340"/>
                  <a:pt x="21340" y="0"/>
                  <a:pt x="47625" y="0"/>
                </a:cubicBezTo>
                <a:close/>
              </a:path>
            </a:pathLst>
          </a:custGeom>
          <a:solidFill>
            <a:srgbClr val="343A40"/>
          </a:solidFill>
          <a:ln/>
        </p:spPr>
      </p:sp>
      <p:sp>
        <p:nvSpPr>
          <p:cNvPr id="48" name="Text 45"/>
          <p:cNvSpPr/>
          <p:nvPr/>
        </p:nvSpPr>
        <p:spPr>
          <a:xfrm>
            <a:off x="8576603" y="2016900"/>
            <a:ext cx="1752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单元测试</a:t>
            </a:r>
            <a:r>
              <a:rPr lang="en-US" sz="1200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 - 模块功能验证</a:t>
            </a:r>
            <a:endParaRPr lang="en-US" sz="1600" dirty="0"/>
          </a:p>
        </p:txBody>
      </p:sp>
      <p:sp>
        <p:nvSpPr>
          <p:cNvPr id="49" name="Shape 46"/>
          <p:cNvSpPr/>
          <p:nvPr/>
        </p:nvSpPr>
        <p:spPr>
          <a:xfrm>
            <a:off x="8405168" y="2388250"/>
            <a:ext cx="95250" cy="95250"/>
          </a:xfrm>
          <a:custGeom>
            <a:avLst/>
            <a:gdLst/>
            <a:ahLst/>
            <a:cxnLst/>
            <a:rect l="l" t="t" r="r" b="b"/>
            <a:pathLst>
              <a:path w="95250" h="95250">
                <a:moveTo>
                  <a:pt x="47625" y="0"/>
                </a:moveTo>
                <a:lnTo>
                  <a:pt x="47625" y="0"/>
                </a:lnTo>
                <a:cubicBezTo>
                  <a:pt x="73910" y="0"/>
                  <a:pt x="95250" y="21340"/>
                  <a:pt x="95250" y="47625"/>
                </a:cubicBezTo>
                <a:lnTo>
                  <a:pt x="95250" y="47625"/>
                </a:lnTo>
                <a:cubicBezTo>
                  <a:pt x="95250" y="73910"/>
                  <a:pt x="73910" y="95250"/>
                  <a:pt x="47625" y="95250"/>
                </a:cubicBezTo>
                <a:lnTo>
                  <a:pt x="47625" y="95250"/>
                </a:lnTo>
                <a:cubicBezTo>
                  <a:pt x="21340" y="95250"/>
                  <a:pt x="0" y="73910"/>
                  <a:pt x="0" y="47625"/>
                </a:cubicBezTo>
                <a:lnTo>
                  <a:pt x="0" y="47625"/>
                </a:lnTo>
                <a:cubicBezTo>
                  <a:pt x="0" y="21340"/>
                  <a:pt x="21340" y="0"/>
                  <a:pt x="47625" y="0"/>
                </a:cubicBez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50" name="Text 47"/>
          <p:cNvSpPr/>
          <p:nvPr/>
        </p:nvSpPr>
        <p:spPr>
          <a:xfrm>
            <a:off x="8576603" y="2321635"/>
            <a:ext cx="190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集成测试</a:t>
            </a:r>
            <a:r>
              <a:rPr lang="en-US" sz="1200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 - 模块间接口验证</a:t>
            </a:r>
            <a:endParaRPr lang="en-US" sz="1600" dirty="0"/>
          </a:p>
        </p:txBody>
      </p:sp>
      <p:sp>
        <p:nvSpPr>
          <p:cNvPr id="51" name="Shape 48"/>
          <p:cNvSpPr/>
          <p:nvPr/>
        </p:nvSpPr>
        <p:spPr>
          <a:xfrm>
            <a:off x="8405168" y="2692984"/>
            <a:ext cx="95250" cy="95250"/>
          </a:xfrm>
          <a:custGeom>
            <a:avLst/>
            <a:gdLst/>
            <a:ahLst/>
            <a:cxnLst/>
            <a:rect l="l" t="t" r="r" b="b"/>
            <a:pathLst>
              <a:path w="95250" h="95250">
                <a:moveTo>
                  <a:pt x="47625" y="0"/>
                </a:moveTo>
                <a:lnTo>
                  <a:pt x="47625" y="0"/>
                </a:lnTo>
                <a:cubicBezTo>
                  <a:pt x="73910" y="0"/>
                  <a:pt x="95250" y="21340"/>
                  <a:pt x="95250" y="47625"/>
                </a:cubicBezTo>
                <a:lnTo>
                  <a:pt x="95250" y="47625"/>
                </a:lnTo>
                <a:cubicBezTo>
                  <a:pt x="95250" y="73910"/>
                  <a:pt x="73910" y="95250"/>
                  <a:pt x="47625" y="95250"/>
                </a:cubicBezTo>
                <a:lnTo>
                  <a:pt x="47625" y="95250"/>
                </a:lnTo>
                <a:cubicBezTo>
                  <a:pt x="21340" y="95250"/>
                  <a:pt x="0" y="73910"/>
                  <a:pt x="0" y="47625"/>
                </a:cubicBezTo>
                <a:lnTo>
                  <a:pt x="0" y="47625"/>
                </a:lnTo>
                <a:cubicBezTo>
                  <a:pt x="0" y="21340"/>
                  <a:pt x="21340" y="0"/>
                  <a:pt x="47625" y="0"/>
                </a:cubicBez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52" name="Text 49"/>
          <p:cNvSpPr/>
          <p:nvPr/>
        </p:nvSpPr>
        <p:spPr>
          <a:xfrm>
            <a:off x="8576603" y="2626375"/>
            <a:ext cx="190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系统测试</a:t>
            </a:r>
            <a:r>
              <a:rPr lang="en-US" sz="1200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 - 端到端功能验证</a:t>
            </a:r>
            <a:endParaRPr lang="en-US" sz="1600" dirty="0"/>
          </a:p>
        </p:txBody>
      </p:sp>
      <p:sp>
        <p:nvSpPr>
          <p:cNvPr id="53" name="Shape 50"/>
          <p:cNvSpPr/>
          <p:nvPr/>
        </p:nvSpPr>
        <p:spPr>
          <a:xfrm>
            <a:off x="8272913" y="2969158"/>
            <a:ext cx="36041" cy="533400"/>
          </a:xfrm>
          <a:custGeom>
            <a:avLst/>
            <a:gdLst/>
            <a:ahLst/>
            <a:cxnLst/>
            <a:rect l="l" t="t" r="r" b="b"/>
            <a:pathLst>
              <a:path w="36041" h="533400">
                <a:moveTo>
                  <a:pt x="0" y="0"/>
                </a:moveTo>
                <a:lnTo>
                  <a:pt x="36041" y="0"/>
                </a:lnTo>
                <a:lnTo>
                  <a:pt x="36041" y="533400"/>
                </a:lnTo>
                <a:lnTo>
                  <a:pt x="0" y="533400"/>
                </a:lnTo>
                <a:lnTo>
                  <a:pt x="0" y="0"/>
                </a:lnTo>
                <a:close/>
              </a:path>
            </a:pathLst>
          </a:custGeom>
          <a:solidFill>
            <a:srgbClr val="343A40"/>
          </a:solidFill>
          <a:ln/>
        </p:spPr>
      </p:sp>
      <p:sp>
        <p:nvSpPr>
          <p:cNvPr id="54" name="Text 51"/>
          <p:cNvSpPr/>
          <p:nvPr/>
        </p:nvSpPr>
        <p:spPr>
          <a:xfrm>
            <a:off x="8405168" y="2969158"/>
            <a:ext cx="33432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测试维度</a:t>
            </a:r>
            <a:endParaRPr lang="en-US" sz="1600" dirty="0"/>
          </a:p>
        </p:txBody>
      </p:sp>
      <p:sp>
        <p:nvSpPr>
          <p:cNvPr id="55" name="Text 52"/>
          <p:cNvSpPr/>
          <p:nvPr/>
        </p:nvSpPr>
        <p:spPr>
          <a:xfrm>
            <a:off x="8405168" y="3273814"/>
            <a:ext cx="33337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覆盖</a:t>
            </a:r>
            <a:r>
              <a:rPr lang="en-US" sz="1200" b="1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功能、性能、安全</a:t>
            </a:r>
            <a:r>
              <a:rPr lang="en-US" sz="1200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三大维度。</a:t>
            </a:r>
            <a:endParaRPr lang="en-US" sz="1600" dirty="0"/>
          </a:p>
        </p:txBody>
      </p:sp>
      <p:sp>
        <p:nvSpPr>
          <p:cNvPr id="59" name="Shape 56"/>
          <p:cNvSpPr/>
          <p:nvPr/>
        </p:nvSpPr>
        <p:spPr>
          <a:xfrm>
            <a:off x="381000" y="5368751"/>
            <a:ext cx="11430000" cy="581025"/>
          </a:xfrm>
          <a:custGeom>
            <a:avLst/>
            <a:gdLst/>
            <a:ahLst/>
            <a:cxnLst/>
            <a:rect l="l" t="t" r="r" b="b"/>
            <a:pathLst>
              <a:path w="11430000" h="581025">
                <a:moveTo>
                  <a:pt x="114299" y="0"/>
                </a:moveTo>
                <a:lnTo>
                  <a:pt x="11315701" y="0"/>
                </a:lnTo>
                <a:cubicBezTo>
                  <a:pt x="11378826" y="0"/>
                  <a:pt x="11430000" y="51174"/>
                  <a:pt x="11430000" y="114299"/>
                </a:cubicBezTo>
                <a:lnTo>
                  <a:pt x="11430000" y="466726"/>
                </a:lnTo>
                <a:cubicBezTo>
                  <a:pt x="11430000" y="529851"/>
                  <a:pt x="11378826" y="581025"/>
                  <a:pt x="11315701" y="581025"/>
                </a:cubicBezTo>
                <a:lnTo>
                  <a:pt x="114299" y="581025"/>
                </a:lnTo>
                <a:cubicBezTo>
                  <a:pt x="51174" y="581025"/>
                  <a:pt x="0" y="529851"/>
                  <a:pt x="0" y="466726"/>
                </a:cubicBezTo>
                <a:lnTo>
                  <a:pt x="0" y="114299"/>
                </a:lnTo>
                <a:cubicBezTo>
                  <a:pt x="0" y="51174"/>
                  <a:pt x="51174" y="0"/>
                  <a:pt x="114299" y="0"/>
                </a:cubicBezTo>
                <a:close/>
              </a:path>
            </a:pathLst>
          </a:custGeom>
          <a:solidFill>
            <a:srgbClr val="343A40"/>
          </a:solidFill>
          <a:ln/>
          <a:effectLst>
            <a:outerShdw blurRad="142875" dist="95250" dir="5400000" algn="bl" rotWithShape="0">
              <a:srgbClr val="000000">
                <a:alpha val="10196"/>
              </a:srgbClr>
            </a:outerShdw>
          </a:effectLst>
        </p:spPr>
      </p:sp>
      <p:sp>
        <p:nvSpPr>
          <p:cNvPr id="60" name="Shape 57"/>
          <p:cNvSpPr/>
          <p:nvPr/>
        </p:nvSpPr>
        <p:spPr>
          <a:xfrm>
            <a:off x="569087" y="5552010"/>
            <a:ext cx="166688" cy="190500"/>
          </a:xfrm>
          <a:custGeom>
            <a:avLst/>
            <a:gdLst/>
            <a:ahLst/>
            <a:cxnLst/>
            <a:rect l="l" t="t" r="r" b="b"/>
            <a:pathLst>
              <a:path w="166688" h="190500">
                <a:moveTo>
                  <a:pt x="0" y="80367"/>
                </a:moveTo>
                <a:cubicBezTo>
                  <a:pt x="0" y="55699"/>
                  <a:pt x="19980" y="35719"/>
                  <a:pt x="44648" y="35719"/>
                </a:cubicBezTo>
                <a:lnTo>
                  <a:pt x="47625" y="35719"/>
                </a:lnTo>
                <a:cubicBezTo>
                  <a:pt x="54211" y="35719"/>
                  <a:pt x="59531" y="41039"/>
                  <a:pt x="59531" y="47625"/>
                </a:cubicBezTo>
                <a:cubicBezTo>
                  <a:pt x="59531" y="54211"/>
                  <a:pt x="54211" y="59531"/>
                  <a:pt x="47625" y="59531"/>
                </a:cubicBezTo>
                <a:lnTo>
                  <a:pt x="44648" y="59531"/>
                </a:lnTo>
                <a:cubicBezTo>
                  <a:pt x="33151" y="59531"/>
                  <a:pt x="23812" y="68870"/>
                  <a:pt x="23812" y="80367"/>
                </a:cubicBezTo>
                <a:lnTo>
                  <a:pt x="23812" y="83344"/>
                </a:lnTo>
                <a:lnTo>
                  <a:pt x="47625" y="83344"/>
                </a:lnTo>
                <a:cubicBezTo>
                  <a:pt x="60759" y="83344"/>
                  <a:pt x="71438" y="94022"/>
                  <a:pt x="71438" y="107156"/>
                </a:cubicBezTo>
                <a:lnTo>
                  <a:pt x="71438" y="130969"/>
                </a:lnTo>
                <a:cubicBezTo>
                  <a:pt x="71438" y="144103"/>
                  <a:pt x="60759" y="154781"/>
                  <a:pt x="47625" y="154781"/>
                </a:cubicBezTo>
                <a:lnTo>
                  <a:pt x="23812" y="154781"/>
                </a:lnTo>
                <a:cubicBezTo>
                  <a:pt x="10678" y="154781"/>
                  <a:pt x="0" y="144103"/>
                  <a:pt x="0" y="130969"/>
                </a:cubicBezTo>
                <a:lnTo>
                  <a:pt x="0" y="80367"/>
                </a:lnTo>
                <a:close/>
                <a:moveTo>
                  <a:pt x="95250" y="80367"/>
                </a:moveTo>
                <a:cubicBezTo>
                  <a:pt x="95250" y="55699"/>
                  <a:pt x="115230" y="35719"/>
                  <a:pt x="139898" y="35719"/>
                </a:cubicBezTo>
                <a:lnTo>
                  <a:pt x="142875" y="35719"/>
                </a:lnTo>
                <a:cubicBezTo>
                  <a:pt x="149461" y="35719"/>
                  <a:pt x="154781" y="41039"/>
                  <a:pt x="154781" y="47625"/>
                </a:cubicBezTo>
                <a:cubicBezTo>
                  <a:pt x="154781" y="54211"/>
                  <a:pt x="149461" y="59531"/>
                  <a:pt x="142875" y="59531"/>
                </a:cubicBezTo>
                <a:lnTo>
                  <a:pt x="139898" y="59531"/>
                </a:lnTo>
                <a:cubicBezTo>
                  <a:pt x="128401" y="59531"/>
                  <a:pt x="119063" y="68870"/>
                  <a:pt x="119063" y="80367"/>
                </a:cubicBezTo>
                <a:lnTo>
                  <a:pt x="119063" y="83344"/>
                </a:lnTo>
                <a:lnTo>
                  <a:pt x="142875" y="83344"/>
                </a:lnTo>
                <a:cubicBezTo>
                  <a:pt x="156009" y="83344"/>
                  <a:pt x="166688" y="94022"/>
                  <a:pt x="166688" y="107156"/>
                </a:cubicBezTo>
                <a:lnTo>
                  <a:pt x="166688" y="130969"/>
                </a:lnTo>
                <a:cubicBezTo>
                  <a:pt x="166688" y="144103"/>
                  <a:pt x="156009" y="154781"/>
                  <a:pt x="142875" y="154781"/>
                </a:cubicBezTo>
                <a:lnTo>
                  <a:pt x="119063" y="154781"/>
                </a:lnTo>
                <a:cubicBezTo>
                  <a:pt x="105928" y="154781"/>
                  <a:pt x="95250" y="144103"/>
                  <a:pt x="95250" y="130969"/>
                </a:cubicBezTo>
                <a:lnTo>
                  <a:pt x="95250" y="80367"/>
                </a:ln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61" name="Text 58"/>
          <p:cNvSpPr/>
          <p:nvPr/>
        </p:nvSpPr>
        <p:spPr>
          <a:xfrm>
            <a:off x="857218" y="5521119"/>
            <a:ext cx="10887075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350" b="1" dirty="0">
                <a:solidFill>
                  <a:srgbClr val="FFC10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工程理念:</a:t>
            </a:r>
            <a:r>
              <a:rPr lang="en-US" sz="1350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 </a:t>
            </a:r>
            <a:r>
              <a:rPr lang="en-US" sz="1350" dirty="0" err="1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设计是编码的图纸，测试是质量的保障</a:t>
            </a:r>
            <a:r>
              <a:rPr lang="en-US" sz="1350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。</a:t>
            </a:r>
            <a:r>
              <a:rPr lang="zh-CN" altLang="en-US" sz="1350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尽量做到</a:t>
            </a:r>
            <a:r>
              <a:rPr lang="en-US" sz="1350" dirty="0" err="1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每一行代码都有据可依，每一个功能都经过验证</a:t>
            </a:r>
            <a:r>
              <a:rPr lang="en-US" sz="1350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。</a:t>
            </a:r>
            <a:endParaRPr lang="en-US" sz="1600" dirty="0"/>
          </a:p>
        </p:txBody>
      </p:sp>
      <p:sp>
        <p:nvSpPr>
          <p:cNvPr id="62" name="Shape 0">
            <a:extLst>
              <a:ext uri="{FF2B5EF4-FFF2-40B4-BE49-F238E27FC236}">
                <a16:creationId xmlns:a16="http://schemas.microsoft.com/office/drawing/2014/main" id="{F2B0F007-EB3A-8BCF-A226-20C6820665D7}"/>
              </a:ext>
            </a:extLst>
          </p:cNvPr>
          <p:cNvSpPr/>
          <p:nvPr/>
        </p:nvSpPr>
        <p:spPr>
          <a:xfrm>
            <a:off x="381000" y="457265"/>
            <a:ext cx="485775" cy="304800"/>
          </a:xfrm>
          <a:custGeom>
            <a:avLst/>
            <a:gdLst/>
            <a:ahLst/>
            <a:cxnLst/>
            <a:rect l="l" t="t" r="r" b="b"/>
            <a:pathLst>
              <a:path w="485775" h="304800">
                <a:moveTo>
                  <a:pt x="152400" y="0"/>
                </a:moveTo>
                <a:lnTo>
                  <a:pt x="333375" y="0"/>
                </a:lnTo>
                <a:cubicBezTo>
                  <a:pt x="417487" y="0"/>
                  <a:pt x="485775" y="68288"/>
                  <a:pt x="485775" y="152400"/>
                </a:cubicBezTo>
                <a:lnTo>
                  <a:pt x="485775" y="152400"/>
                </a:lnTo>
                <a:cubicBezTo>
                  <a:pt x="485775" y="236512"/>
                  <a:pt x="417487" y="304800"/>
                  <a:pt x="333375" y="304800"/>
                </a:cubicBezTo>
                <a:lnTo>
                  <a:pt x="152400" y="304800"/>
                </a:lnTo>
                <a:cubicBezTo>
                  <a:pt x="68288" y="304800"/>
                  <a:pt x="0" y="236512"/>
                  <a:pt x="0" y="152400"/>
                </a:cubicBezTo>
                <a:lnTo>
                  <a:pt x="0" y="152400"/>
                </a:lnTo>
                <a:cubicBezTo>
                  <a:pt x="0" y="68288"/>
                  <a:pt x="68288" y="0"/>
                  <a:pt x="152400" y="0"/>
                </a:cubicBez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63" name="Text 1">
            <a:extLst>
              <a:ext uri="{FF2B5EF4-FFF2-40B4-BE49-F238E27FC236}">
                <a16:creationId xmlns:a16="http://schemas.microsoft.com/office/drawing/2014/main" id="{F8EBFC58-BF18-98B4-CD0A-328EFB23329A}"/>
              </a:ext>
            </a:extLst>
          </p:cNvPr>
          <p:cNvSpPr/>
          <p:nvPr/>
        </p:nvSpPr>
        <p:spPr>
          <a:xfrm>
            <a:off x="381000" y="457265"/>
            <a:ext cx="561975" cy="304800"/>
          </a:xfrm>
          <a:prstGeom prst="rect">
            <a:avLst/>
          </a:prstGeom>
          <a:noFill/>
          <a:ln/>
        </p:spPr>
        <p:txBody>
          <a:bodyPr wrap="square" lIns="152400" tIns="38100" rIns="152400" bIns="3810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02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slides_tmpl/image/25-10-09-16:35:25-d3jn7j8s8jdo4os5dj2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63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87173" y="38100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en-US" sz="3600" b="1" dirty="0">
                <a:solidFill>
                  <a:srgbClr val="343A40"/>
                </a:solidFill>
                <a:latin typeface="阿里妈妈数黑体" pitchFamily="34" charset="0"/>
                <a:ea typeface="阿里妈妈数黑体" pitchFamily="34" charset="-122"/>
                <a:cs typeface="阿里妈妈数黑体" pitchFamily="34" charset="-120"/>
              </a:rPr>
              <a:t>我们的交付物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1143000" y="914367"/>
            <a:ext cx="1066800" cy="38100"/>
          </a:xfrm>
          <a:custGeom>
            <a:avLst/>
            <a:gdLst/>
            <a:ahLst/>
            <a:cxnLst/>
            <a:rect l="l" t="t" r="r" b="b"/>
            <a:pathLst>
              <a:path w="1066800" h="38100">
                <a:moveTo>
                  <a:pt x="0" y="0"/>
                </a:moveTo>
                <a:lnTo>
                  <a:pt x="1066800" y="0"/>
                </a:lnTo>
                <a:lnTo>
                  <a:pt x="10668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7" name="Shape 4"/>
          <p:cNvSpPr/>
          <p:nvPr/>
        </p:nvSpPr>
        <p:spPr>
          <a:xfrm>
            <a:off x="381000" y="1142916"/>
            <a:ext cx="5143500" cy="4733925"/>
          </a:xfrm>
          <a:custGeom>
            <a:avLst/>
            <a:gdLst/>
            <a:ahLst/>
            <a:cxnLst/>
            <a:rect l="l" t="t" r="r" b="b"/>
            <a:pathLst>
              <a:path w="5143500" h="4733925">
                <a:moveTo>
                  <a:pt x="114277" y="0"/>
                </a:moveTo>
                <a:lnTo>
                  <a:pt x="5029223" y="0"/>
                </a:lnTo>
                <a:cubicBezTo>
                  <a:pt x="5092336" y="0"/>
                  <a:pt x="5143500" y="51164"/>
                  <a:pt x="5143500" y="114277"/>
                </a:cubicBezTo>
                <a:lnTo>
                  <a:pt x="5143500" y="4619648"/>
                </a:lnTo>
                <a:cubicBezTo>
                  <a:pt x="5143500" y="4682761"/>
                  <a:pt x="5092336" y="4733925"/>
                  <a:pt x="5029223" y="4733925"/>
                </a:cubicBezTo>
                <a:lnTo>
                  <a:pt x="114277" y="4733925"/>
                </a:lnTo>
                <a:cubicBezTo>
                  <a:pt x="51164" y="4733925"/>
                  <a:pt x="0" y="4682761"/>
                  <a:pt x="0" y="4619648"/>
                </a:cubicBezTo>
                <a:lnTo>
                  <a:pt x="0" y="114277"/>
                </a:lnTo>
                <a:cubicBezTo>
                  <a:pt x="0" y="51206"/>
                  <a:pt x="51206" y="0"/>
                  <a:pt x="114277" y="0"/>
                </a:cubicBezTo>
                <a:close/>
              </a:path>
            </a:pathLst>
          </a:custGeom>
          <a:solidFill>
            <a:srgbClr val="343A40"/>
          </a:solidFill>
          <a:ln/>
          <a:effectLst>
            <a:outerShdw blurRad="142875" dist="95250" dir="5400000" algn="bl" rotWithShape="0">
              <a:srgbClr val="000000">
                <a:alpha val="10196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609600" y="1361977"/>
            <a:ext cx="285750" cy="285750"/>
          </a:xfrm>
          <a:custGeom>
            <a:avLst/>
            <a:gdLst/>
            <a:ahLst/>
            <a:cxnLst/>
            <a:rect l="l" t="t" r="r" b="b"/>
            <a:pathLst>
              <a:path w="285750" h="285750">
                <a:moveTo>
                  <a:pt x="35719" y="17859"/>
                </a:moveTo>
                <a:cubicBezTo>
                  <a:pt x="16018" y="17859"/>
                  <a:pt x="0" y="33877"/>
                  <a:pt x="0" y="53578"/>
                </a:cubicBezTo>
                <a:lnTo>
                  <a:pt x="0" y="196453"/>
                </a:lnTo>
                <a:cubicBezTo>
                  <a:pt x="0" y="216154"/>
                  <a:pt x="16018" y="232172"/>
                  <a:pt x="35719" y="232172"/>
                </a:cubicBezTo>
                <a:lnTo>
                  <a:pt x="116086" y="232172"/>
                </a:lnTo>
                <a:lnTo>
                  <a:pt x="107156" y="258961"/>
                </a:lnTo>
                <a:lnTo>
                  <a:pt x="66973" y="258961"/>
                </a:lnTo>
                <a:cubicBezTo>
                  <a:pt x="59550" y="258961"/>
                  <a:pt x="53578" y="264933"/>
                  <a:pt x="53578" y="272355"/>
                </a:cubicBezTo>
                <a:cubicBezTo>
                  <a:pt x="53578" y="279778"/>
                  <a:pt x="59550" y="285750"/>
                  <a:pt x="66973" y="285750"/>
                </a:cubicBezTo>
                <a:lnTo>
                  <a:pt x="218777" y="285750"/>
                </a:lnTo>
                <a:cubicBezTo>
                  <a:pt x="226200" y="285750"/>
                  <a:pt x="232172" y="279778"/>
                  <a:pt x="232172" y="272355"/>
                </a:cubicBezTo>
                <a:cubicBezTo>
                  <a:pt x="232172" y="264933"/>
                  <a:pt x="226200" y="258961"/>
                  <a:pt x="218777" y="258961"/>
                </a:cubicBezTo>
                <a:lnTo>
                  <a:pt x="178594" y="258961"/>
                </a:lnTo>
                <a:lnTo>
                  <a:pt x="169664" y="232172"/>
                </a:lnTo>
                <a:lnTo>
                  <a:pt x="250031" y="232172"/>
                </a:lnTo>
                <a:cubicBezTo>
                  <a:pt x="269732" y="232172"/>
                  <a:pt x="285750" y="216154"/>
                  <a:pt x="285750" y="196453"/>
                </a:cubicBezTo>
                <a:lnTo>
                  <a:pt x="285750" y="53578"/>
                </a:lnTo>
                <a:cubicBezTo>
                  <a:pt x="285750" y="33877"/>
                  <a:pt x="269732" y="17859"/>
                  <a:pt x="250031" y="17859"/>
                </a:cubicBezTo>
                <a:lnTo>
                  <a:pt x="35719" y="17859"/>
                </a:lnTo>
                <a:close/>
                <a:moveTo>
                  <a:pt x="53578" y="53578"/>
                </a:moveTo>
                <a:lnTo>
                  <a:pt x="232172" y="53578"/>
                </a:lnTo>
                <a:cubicBezTo>
                  <a:pt x="242050" y="53578"/>
                  <a:pt x="250031" y="61559"/>
                  <a:pt x="250031" y="71438"/>
                </a:cubicBezTo>
                <a:lnTo>
                  <a:pt x="250031" y="160734"/>
                </a:lnTo>
                <a:cubicBezTo>
                  <a:pt x="250031" y="170613"/>
                  <a:pt x="242050" y="178594"/>
                  <a:pt x="232172" y="178594"/>
                </a:cubicBezTo>
                <a:lnTo>
                  <a:pt x="53578" y="178594"/>
                </a:lnTo>
                <a:cubicBezTo>
                  <a:pt x="43700" y="178594"/>
                  <a:pt x="35719" y="170613"/>
                  <a:pt x="35719" y="160734"/>
                </a:cubicBezTo>
                <a:lnTo>
                  <a:pt x="35719" y="71438"/>
                </a:lnTo>
                <a:cubicBezTo>
                  <a:pt x="35719" y="61559"/>
                  <a:pt x="43700" y="53578"/>
                  <a:pt x="53578" y="53578"/>
                </a:cubicBez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9" name="Text 6"/>
          <p:cNvSpPr/>
          <p:nvPr/>
        </p:nvSpPr>
        <p:spPr>
          <a:xfrm>
            <a:off x="1042923" y="1333416"/>
            <a:ext cx="157162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50" b="1" dirty="0">
                <a:solidFill>
                  <a:srgbClr val="F8F9FA"/>
                </a:solidFill>
                <a:latin typeface="阿里妈妈数黑体" pitchFamily="34" charset="0"/>
                <a:ea typeface="阿里妈妈数黑体" pitchFamily="34" charset="-122"/>
                <a:cs typeface="阿里妈妈数黑体" pitchFamily="34" charset="-120"/>
              </a:rPr>
              <a:t>可运行系统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571500" y="2248730"/>
            <a:ext cx="4762500" cy="2495087"/>
          </a:xfrm>
          <a:custGeom>
            <a:avLst/>
            <a:gdLst/>
            <a:ahLst/>
            <a:cxnLst/>
            <a:rect l="l" t="t" r="r" b="b"/>
            <a:pathLst>
              <a:path w="4762500" h="3248025">
                <a:moveTo>
                  <a:pt x="76199" y="0"/>
                </a:moveTo>
                <a:lnTo>
                  <a:pt x="4686301" y="0"/>
                </a:lnTo>
                <a:cubicBezTo>
                  <a:pt x="4728385" y="0"/>
                  <a:pt x="4762500" y="34115"/>
                  <a:pt x="4762500" y="76199"/>
                </a:cubicBezTo>
                <a:lnTo>
                  <a:pt x="4762500" y="3171826"/>
                </a:lnTo>
                <a:cubicBezTo>
                  <a:pt x="4762500" y="3213910"/>
                  <a:pt x="4728385" y="3248025"/>
                  <a:pt x="4686301" y="3248025"/>
                </a:cubicBezTo>
                <a:lnTo>
                  <a:pt x="76199" y="3248025"/>
                </a:lnTo>
                <a:cubicBezTo>
                  <a:pt x="34115" y="3248025"/>
                  <a:pt x="0" y="3213910"/>
                  <a:pt x="0" y="3171826"/>
                </a:cubicBezTo>
                <a:lnTo>
                  <a:pt x="0" y="76199"/>
                </a:lnTo>
                <a:cubicBezTo>
                  <a:pt x="0" y="34143"/>
                  <a:pt x="34143" y="0"/>
                  <a:pt x="76199" y="0"/>
                </a:cubicBezTo>
                <a:close/>
              </a:path>
            </a:pathLst>
          </a:custGeom>
          <a:solidFill>
            <a:srgbClr val="F8F9FA"/>
          </a:solidFill>
          <a:ln/>
        </p:spPr>
      </p:sp>
      <p:sp>
        <p:nvSpPr>
          <p:cNvPr id="12" name="Text 8"/>
          <p:cNvSpPr/>
          <p:nvPr/>
        </p:nvSpPr>
        <p:spPr>
          <a:xfrm>
            <a:off x="571500" y="5194018"/>
            <a:ext cx="48387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已部署上线的完整Web应用，</a:t>
            </a:r>
            <a:r>
              <a:rPr lang="en-US" sz="1200" dirty="0">
                <a:solidFill>
                  <a:srgbClr val="FFC107"/>
                </a:solidFill>
                <a:highlight>
                  <a:srgbClr val="FFC107">
                    <a:alpha val="20000"/>
                  </a:srgbClr>
                </a:highlight>
                <a:latin typeface="MiSans" pitchFamily="34" charset="0"/>
                <a:ea typeface="MiSans" pitchFamily="34" charset="-122"/>
                <a:cs typeface="MiSans" pitchFamily="34" charset="-120"/>
              </a:rPr>
              <a:t> 支持多模型对话、历史管理、用户认证等核心功能 </a:t>
            </a:r>
            <a:r>
              <a:rPr lang="en-US" sz="1200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，用户可直接访问使用。</a:t>
            </a:r>
            <a:endParaRPr lang="en-US" sz="1600" dirty="0"/>
          </a:p>
        </p:txBody>
      </p:sp>
      <p:sp>
        <p:nvSpPr>
          <p:cNvPr id="22" name="Shape 18"/>
          <p:cNvSpPr/>
          <p:nvPr/>
        </p:nvSpPr>
        <p:spPr>
          <a:xfrm>
            <a:off x="5715000" y="1160937"/>
            <a:ext cx="6096000" cy="3046970"/>
          </a:xfrm>
          <a:custGeom>
            <a:avLst/>
            <a:gdLst/>
            <a:ahLst/>
            <a:cxnLst/>
            <a:rect l="l" t="t" r="r" b="b"/>
            <a:pathLst>
              <a:path w="6096000" h="3046970">
                <a:moveTo>
                  <a:pt x="36041" y="0"/>
                </a:moveTo>
                <a:lnTo>
                  <a:pt x="6059959" y="0"/>
                </a:lnTo>
                <a:cubicBezTo>
                  <a:pt x="6079864" y="0"/>
                  <a:pt x="6096000" y="16136"/>
                  <a:pt x="6096000" y="36041"/>
                </a:cubicBezTo>
                <a:lnTo>
                  <a:pt x="6096000" y="2932678"/>
                </a:lnTo>
                <a:cubicBezTo>
                  <a:pt x="6096000" y="2995800"/>
                  <a:pt x="6044830" y="3046970"/>
                  <a:pt x="5981708" y="3046970"/>
                </a:cubicBezTo>
                <a:lnTo>
                  <a:pt x="114292" y="3046970"/>
                </a:lnTo>
                <a:cubicBezTo>
                  <a:pt x="51170" y="3046970"/>
                  <a:pt x="0" y="2995800"/>
                  <a:pt x="0" y="2932678"/>
                </a:cubicBezTo>
                <a:lnTo>
                  <a:pt x="0" y="36041"/>
                </a:lnTo>
                <a:cubicBezTo>
                  <a:pt x="0" y="16136"/>
                  <a:pt x="16136" y="0"/>
                  <a:pt x="36041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blurRad="142875" dist="95250" dir="5400000" algn="bl" rotWithShape="0">
              <a:srgbClr val="000000">
                <a:alpha val="10196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5715000" y="1160937"/>
            <a:ext cx="6096000" cy="36041"/>
          </a:xfrm>
          <a:custGeom>
            <a:avLst/>
            <a:gdLst/>
            <a:ahLst/>
            <a:cxnLst/>
            <a:rect l="l" t="t" r="r" b="b"/>
            <a:pathLst>
              <a:path w="6096000" h="36041">
                <a:moveTo>
                  <a:pt x="36041" y="0"/>
                </a:moveTo>
                <a:lnTo>
                  <a:pt x="6059959" y="0"/>
                </a:lnTo>
                <a:cubicBezTo>
                  <a:pt x="6079864" y="0"/>
                  <a:pt x="6096000" y="16136"/>
                  <a:pt x="6096000" y="36041"/>
                </a:cubicBezTo>
                <a:lnTo>
                  <a:pt x="6096000" y="36041"/>
                </a:lnTo>
                <a:lnTo>
                  <a:pt x="0" y="36041"/>
                </a:lnTo>
                <a:lnTo>
                  <a:pt x="0" y="36041"/>
                </a:lnTo>
                <a:cubicBezTo>
                  <a:pt x="0" y="16136"/>
                  <a:pt x="16136" y="0"/>
                  <a:pt x="36041" y="0"/>
                </a:cubicBezTo>
                <a:close/>
              </a:path>
            </a:pathLst>
          </a:custGeom>
          <a:solidFill>
            <a:srgbClr val="343A40"/>
          </a:solidFill>
          <a:ln/>
        </p:spPr>
      </p:sp>
      <p:sp>
        <p:nvSpPr>
          <p:cNvPr id="24" name="Shape 20"/>
          <p:cNvSpPr/>
          <p:nvPr/>
        </p:nvSpPr>
        <p:spPr>
          <a:xfrm>
            <a:off x="5919788" y="1407509"/>
            <a:ext cx="257175" cy="228600"/>
          </a:xfrm>
          <a:custGeom>
            <a:avLst/>
            <a:gdLst/>
            <a:ahLst/>
            <a:cxnLst/>
            <a:rect l="l" t="t" r="r" b="b"/>
            <a:pathLst>
              <a:path w="257175" h="228600">
                <a:moveTo>
                  <a:pt x="25003" y="100727"/>
                </a:moveTo>
                <a:lnTo>
                  <a:pt x="14466" y="132249"/>
                </a:lnTo>
                <a:lnTo>
                  <a:pt x="14466" y="42863"/>
                </a:lnTo>
                <a:cubicBezTo>
                  <a:pt x="14466" y="27102"/>
                  <a:pt x="27280" y="14288"/>
                  <a:pt x="43041" y="14288"/>
                </a:cubicBezTo>
                <a:lnTo>
                  <a:pt x="104968" y="14288"/>
                </a:lnTo>
                <a:cubicBezTo>
                  <a:pt x="111130" y="14288"/>
                  <a:pt x="117157" y="16297"/>
                  <a:pt x="122113" y="20003"/>
                </a:cubicBezTo>
                <a:lnTo>
                  <a:pt x="139258" y="32861"/>
                </a:lnTo>
                <a:cubicBezTo>
                  <a:pt x="141714" y="34736"/>
                  <a:pt x="144750" y="35719"/>
                  <a:pt x="147831" y="35719"/>
                </a:cubicBezTo>
                <a:lnTo>
                  <a:pt x="200204" y="35719"/>
                </a:lnTo>
                <a:cubicBezTo>
                  <a:pt x="215964" y="35719"/>
                  <a:pt x="228779" y="48533"/>
                  <a:pt x="228779" y="64294"/>
                </a:cubicBezTo>
                <a:lnTo>
                  <a:pt x="228779" y="71438"/>
                </a:lnTo>
                <a:lnTo>
                  <a:pt x="65633" y="71438"/>
                </a:lnTo>
                <a:cubicBezTo>
                  <a:pt x="47193" y="71438"/>
                  <a:pt x="30807" y="83225"/>
                  <a:pt x="24958" y="100727"/>
                </a:cubicBezTo>
                <a:close/>
                <a:moveTo>
                  <a:pt x="213330" y="200025"/>
                </a:moveTo>
                <a:lnTo>
                  <a:pt x="44202" y="200025"/>
                </a:lnTo>
                <a:cubicBezTo>
                  <a:pt x="29557" y="200025"/>
                  <a:pt x="19243" y="185693"/>
                  <a:pt x="23887" y="171807"/>
                </a:cubicBezTo>
                <a:lnTo>
                  <a:pt x="45318" y="107513"/>
                </a:lnTo>
                <a:cubicBezTo>
                  <a:pt x="48220" y="98762"/>
                  <a:pt x="56436" y="92869"/>
                  <a:pt x="65633" y="92869"/>
                </a:cubicBezTo>
                <a:lnTo>
                  <a:pt x="234761" y="92869"/>
                </a:lnTo>
                <a:cubicBezTo>
                  <a:pt x="249406" y="92869"/>
                  <a:pt x="259720" y="107201"/>
                  <a:pt x="255077" y="121087"/>
                </a:cubicBezTo>
                <a:lnTo>
                  <a:pt x="233645" y="185380"/>
                </a:lnTo>
                <a:cubicBezTo>
                  <a:pt x="230743" y="194131"/>
                  <a:pt x="222528" y="200025"/>
                  <a:pt x="213330" y="200025"/>
                </a:cubicBezTo>
                <a:close/>
              </a:path>
            </a:pathLst>
          </a:custGeom>
          <a:solidFill>
            <a:srgbClr val="343A40"/>
          </a:solidFill>
          <a:ln/>
        </p:spPr>
      </p:sp>
      <p:sp>
        <p:nvSpPr>
          <p:cNvPr id="25" name="Text 21"/>
          <p:cNvSpPr/>
          <p:nvPr/>
        </p:nvSpPr>
        <p:spPr>
          <a:xfrm>
            <a:off x="6305485" y="1369461"/>
            <a:ext cx="14859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343A40"/>
                </a:solidFill>
                <a:latin typeface="阿里妈妈数黑体" pitchFamily="34" charset="0"/>
                <a:ea typeface="阿里妈妈数黑体" pitchFamily="34" charset="-122"/>
                <a:cs typeface="阿里妈妈数黑体" pitchFamily="34" charset="-120"/>
              </a:rPr>
              <a:t>全套工程文档</a:t>
            </a:r>
            <a:endParaRPr lang="en-US" sz="1600" dirty="0"/>
          </a:p>
        </p:txBody>
      </p:sp>
      <p:sp>
        <p:nvSpPr>
          <p:cNvPr id="26" name="Text 22"/>
          <p:cNvSpPr/>
          <p:nvPr/>
        </p:nvSpPr>
        <p:spPr>
          <a:xfrm>
            <a:off x="5905500" y="1788509"/>
            <a:ext cx="579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产出</a:t>
            </a:r>
            <a:r>
              <a:rPr lang="en-US" sz="1200" b="1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9份核心工程文档</a:t>
            </a:r>
            <a:r>
              <a:rPr lang="en-US" sz="1200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，覆盖项目全生命周期，符合国家软件工程标准：</a:t>
            </a:r>
            <a:endParaRPr lang="en-US" sz="1600" dirty="0"/>
          </a:p>
        </p:txBody>
      </p:sp>
      <p:sp>
        <p:nvSpPr>
          <p:cNvPr id="27" name="Shape 23"/>
          <p:cNvSpPr/>
          <p:nvPr/>
        </p:nvSpPr>
        <p:spPr>
          <a:xfrm>
            <a:off x="5923520" y="2131298"/>
            <a:ext cx="36041" cy="552450"/>
          </a:xfrm>
          <a:custGeom>
            <a:avLst/>
            <a:gdLst/>
            <a:ahLst/>
            <a:cxnLst/>
            <a:rect l="l" t="t" r="r" b="b"/>
            <a:pathLst>
              <a:path w="36041" h="552450">
                <a:moveTo>
                  <a:pt x="0" y="0"/>
                </a:moveTo>
                <a:lnTo>
                  <a:pt x="36041" y="0"/>
                </a:lnTo>
                <a:lnTo>
                  <a:pt x="36041" y="552450"/>
                </a:lnTo>
                <a:lnTo>
                  <a:pt x="0" y="552450"/>
                </a:lnTo>
                <a:lnTo>
                  <a:pt x="0" y="0"/>
                </a:lnTo>
                <a:close/>
              </a:path>
            </a:pathLst>
          </a:custGeom>
          <a:solidFill>
            <a:srgbClr val="343A40"/>
          </a:solidFill>
          <a:ln/>
        </p:spPr>
      </p:sp>
      <p:sp>
        <p:nvSpPr>
          <p:cNvPr id="28" name="Text 24"/>
          <p:cNvSpPr/>
          <p:nvPr/>
        </p:nvSpPr>
        <p:spPr>
          <a:xfrm>
            <a:off x="6017724" y="2169351"/>
            <a:ext cx="17907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01. 项目计划书</a:t>
            </a:r>
            <a:endParaRPr lang="en-US" sz="1600" dirty="0"/>
          </a:p>
        </p:txBody>
      </p:sp>
      <p:sp>
        <p:nvSpPr>
          <p:cNvPr id="29" name="Shape 25"/>
          <p:cNvSpPr/>
          <p:nvPr/>
        </p:nvSpPr>
        <p:spPr>
          <a:xfrm>
            <a:off x="7866571" y="2131298"/>
            <a:ext cx="36041" cy="552450"/>
          </a:xfrm>
          <a:custGeom>
            <a:avLst/>
            <a:gdLst/>
            <a:ahLst/>
            <a:cxnLst/>
            <a:rect l="l" t="t" r="r" b="b"/>
            <a:pathLst>
              <a:path w="36041" h="552450">
                <a:moveTo>
                  <a:pt x="0" y="0"/>
                </a:moveTo>
                <a:lnTo>
                  <a:pt x="36041" y="0"/>
                </a:lnTo>
                <a:lnTo>
                  <a:pt x="36041" y="552450"/>
                </a:lnTo>
                <a:lnTo>
                  <a:pt x="0" y="552450"/>
                </a:lnTo>
                <a:lnTo>
                  <a:pt x="0" y="0"/>
                </a:ln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30" name="Text 26"/>
          <p:cNvSpPr/>
          <p:nvPr/>
        </p:nvSpPr>
        <p:spPr>
          <a:xfrm>
            <a:off x="7960776" y="2169351"/>
            <a:ext cx="17907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02. 可行性分析报告</a:t>
            </a:r>
            <a:endParaRPr lang="en-US" sz="1600" dirty="0"/>
          </a:p>
        </p:txBody>
      </p:sp>
      <p:sp>
        <p:nvSpPr>
          <p:cNvPr id="31" name="Shape 27"/>
          <p:cNvSpPr/>
          <p:nvPr/>
        </p:nvSpPr>
        <p:spPr>
          <a:xfrm>
            <a:off x="9809624" y="2131298"/>
            <a:ext cx="36041" cy="552450"/>
          </a:xfrm>
          <a:custGeom>
            <a:avLst/>
            <a:gdLst/>
            <a:ahLst/>
            <a:cxnLst/>
            <a:rect l="l" t="t" r="r" b="b"/>
            <a:pathLst>
              <a:path w="36041" h="552450">
                <a:moveTo>
                  <a:pt x="0" y="0"/>
                </a:moveTo>
                <a:lnTo>
                  <a:pt x="36041" y="0"/>
                </a:lnTo>
                <a:lnTo>
                  <a:pt x="36041" y="552450"/>
                </a:lnTo>
                <a:lnTo>
                  <a:pt x="0" y="552450"/>
                </a:lnTo>
                <a:lnTo>
                  <a:pt x="0" y="0"/>
                </a:ln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32" name="Text 28"/>
          <p:cNvSpPr/>
          <p:nvPr/>
        </p:nvSpPr>
        <p:spPr>
          <a:xfrm>
            <a:off x="9903828" y="2169351"/>
            <a:ext cx="17907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03. 软件需求规格说明书</a:t>
            </a:r>
            <a:endParaRPr lang="en-US" sz="1600" dirty="0"/>
          </a:p>
        </p:txBody>
      </p:sp>
      <p:sp>
        <p:nvSpPr>
          <p:cNvPr id="33" name="Shape 29"/>
          <p:cNvSpPr/>
          <p:nvPr/>
        </p:nvSpPr>
        <p:spPr>
          <a:xfrm>
            <a:off x="5923520" y="2799578"/>
            <a:ext cx="36041" cy="552450"/>
          </a:xfrm>
          <a:custGeom>
            <a:avLst/>
            <a:gdLst/>
            <a:ahLst/>
            <a:cxnLst/>
            <a:rect l="l" t="t" r="r" b="b"/>
            <a:pathLst>
              <a:path w="36041" h="552450">
                <a:moveTo>
                  <a:pt x="0" y="0"/>
                </a:moveTo>
                <a:lnTo>
                  <a:pt x="36041" y="0"/>
                </a:lnTo>
                <a:lnTo>
                  <a:pt x="36041" y="552450"/>
                </a:lnTo>
                <a:lnTo>
                  <a:pt x="0" y="552450"/>
                </a:lnTo>
                <a:lnTo>
                  <a:pt x="0" y="0"/>
                </a:lnTo>
                <a:close/>
              </a:path>
            </a:pathLst>
          </a:custGeom>
          <a:solidFill>
            <a:srgbClr val="6C757D"/>
          </a:solidFill>
          <a:ln/>
        </p:spPr>
      </p:sp>
      <p:sp>
        <p:nvSpPr>
          <p:cNvPr id="34" name="Text 30"/>
          <p:cNvSpPr/>
          <p:nvPr/>
        </p:nvSpPr>
        <p:spPr>
          <a:xfrm>
            <a:off x="6017724" y="2837627"/>
            <a:ext cx="17907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04. 概要设计说明书</a:t>
            </a:r>
            <a:endParaRPr lang="en-US" sz="1600" dirty="0"/>
          </a:p>
        </p:txBody>
      </p:sp>
      <p:sp>
        <p:nvSpPr>
          <p:cNvPr id="35" name="Shape 31"/>
          <p:cNvSpPr/>
          <p:nvPr/>
        </p:nvSpPr>
        <p:spPr>
          <a:xfrm>
            <a:off x="7866571" y="2799578"/>
            <a:ext cx="36041" cy="552450"/>
          </a:xfrm>
          <a:custGeom>
            <a:avLst/>
            <a:gdLst/>
            <a:ahLst/>
            <a:cxnLst/>
            <a:rect l="l" t="t" r="r" b="b"/>
            <a:pathLst>
              <a:path w="36041" h="552450">
                <a:moveTo>
                  <a:pt x="0" y="0"/>
                </a:moveTo>
                <a:lnTo>
                  <a:pt x="36041" y="0"/>
                </a:lnTo>
                <a:lnTo>
                  <a:pt x="36041" y="552450"/>
                </a:lnTo>
                <a:lnTo>
                  <a:pt x="0" y="552450"/>
                </a:lnTo>
                <a:lnTo>
                  <a:pt x="0" y="0"/>
                </a:lnTo>
                <a:close/>
              </a:path>
            </a:pathLst>
          </a:custGeom>
          <a:solidFill>
            <a:srgbClr val="343A40"/>
          </a:solidFill>
          <a:ln/>
        </p:spPr>
      </p:sp>
      <p:sp>
        <p:nvSpPr>
          <p:cNvPr id="36" name="Text 32"/>
          <p:cNvSpPr/>
          <p:nvPr/>
        </p:nvSpPr>
        <p:spPr>
          <a:xfrm>
            <a:off x="7960776" y="2837627"/>
            <a:ext cx="17907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05. 详细设计说明书</a:t>
            </a:r>
            <a:endParaRPr lang="en-US" sz="1600" dirty="0"/>
          </a:p>
        </p:txBody>
      </p:sp>
      <p:sp>
        <p:nvSpPr>
          <p:cNvPr id="37" name="Shape 33"/>
          <p:cNvSpPr/>
          <p:nvPr/>
        </p:nvSpPr>
        <p:spPr>
          <a:xfrm>
            <a:off x="9809624" y="2799578"/>
            <a:ext cx="36041" cy="552450"/>
          </a:xfrm>
          <a:custGeom>
            <a:avLst/>
            <a:gdLst/>
            <a:ahLst/>
            <a:cxnLst/>
            <a:rect l="l" t="t" r="r" b="b"/>
            <a:pathLst>
              <a:path w="36041" h="552450">
                <a:moveTo>
                  <a:pt x="0" y="0"/>
                </a:moveTo>
                <a:lnTo>
                  <a:pt x="36041" y="0"/>
                </a:lnTo>
                <a:lnTo>
                  <a:pt x="36041" y="552450"/>
                </a:lnTo>
                <a:lnTo>
                  <a:pt x="0" y="552450"/>
                </a:lnTo>
                <a:lnTo>
                  <a:pt x="0" y="0"/>
                </a:ln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38" name="Text 34"/>
          <p:cNvSpPr/>
          <p:nvPr/>
        </p:nvSpPr>
        <p:spPr>
          <a:xfrm>
            <a:off x="9903828" y="2837627"/>
            <a:ext cx="17907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06. 测试计划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5923520" y="3467937"/>
            <a:ext cx="36041" cy="552450"/>
          </a:xfrm>
          <a:custGeom>
            <a:avLst/>
            <a:gdLst/>
            <a:ahLst/>
            <a:cxnLst/>
            <a:rect l="l" t="t" r="r" b="b"/>
            <a:pathLst>
              <a:path w="36041" h="552450">
                <a:moveTo>
                  <a:pt x="0" y="0"/>
                </a:moveTo>
                <a:lnTo>
                  <a:pt x="36041" y="0"/>
                </a:lnTo>
                <a:lnTo>
                  <a:pt x="36041" y="552450"/>
                </a:lnTo>
                <a:lnTo>
                  <a:pt x="0" y="552450"/>
                </a:lnTo>
                <a:lnTo>
                  <a:pt x="0" y="0"/>
                </a:ln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40" name="Text 36"/>
          <p:cNvSpPr/>
          <p:nvPr/>
        </p:nvSpPr>
        <p:spPr>
          <a:xfrm>
            <a:off x="6017724" y="3505986"/>
            <a:ext cx="17907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07. 测试报告</a:t>
            </a:r>
            <a:endParaRPr lang="en-US" sz="1600" dirty="0"/>
          </a:p>
        </p:txBody>
      </p:sp>
      <p:sp>
        <p:nvSpPr>
          <p:cNvPr id="41" name="Shape 37"/>
          <p:cNvSpPr/>
          <p:nvPr/>
        </p:nvSpPr>
        <p:spPr>
          <a:xfrm>
            <a:off x="7866571" y="3467937"/>
            <a:ext cx="36041" cy="552450"/>
          </a:xfrm>
          <a:custGeom>
            <a:avLst/>
            <a:gdLst/>
            <a:ahLst/>
            <a:cxnLst/>
            <a:rect l="l" t="t" r="r" b="b"/>
            <a:pathLst>
              <a:path w="36041" h="552450">
                <a:moveTo>
                  <a:pt x="0" y="0"/>
                </a:moveTo>
                <a:lnTo>
                  <a:pt x="36041" y="0"/>
                </a:lnTo>
                <a:lnTo>
                  <a:pt x="36041" y="552450"/>
                </a:lnTo>
                <a:lnTo>
                  <a:pt x="0" y="552450"/>
                </a:lnTo>
                <a:lnTo>
                  <a:pt x="0" y="0"/>
                </a:lnTo>
                <a:close/>
              </a:path>
            </a:pathLst>
          </a:custGeom>
          <a:solidFill>
            <a:srgbClr val="6C757D"/>
          </a:solidFill>
          <a:ln/>
        </p:spPr>
      </p:sp>
      <p:sp>
        <p:nvSpPr>
          <p:cNvPr id="42" name="Text 38"/>
          <p:cNvSpPr/>
          <p:nvPr/>
        </p:nvSpPr>
        <p:spPr>
          <a:xfrm>
            <a:off x="7960776" y="3505986"/>
            <a:ext cx="17907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08. 用户手册</a:t>
            </a:r>
            <a:endParaRPr lang="en-US" sz="1600" dirty="0"/>
          </a:p>
        </p:txBody>
      </p:sp>
      <p:sp>
        <p:nvSpPr>
          <p:cNvPr id="43" name="Shape 39"/>
          <p:cNvSpPr/>
          <p:nvPr/>
        </p:nvSpPr>
        <p:spPr>
          <a:xfrm>
            <a:off x="9809624" y="3467937"/>
            <a:ext cx="36041" cy="552450"/>
          </a:xfrm>
          <a:custGeom>
            <a:avLst/>
            <a:gdLst/>
            <a:ahLst/>
            <a:cxnLst/>
            <a:rect l="l" t="t" r="r" b="b"/>
            <a:pathLst>
              <a:path w="36041" h="552450">
                <a:moveTo>
                  <a:pt x="0" y="0"/>
                </a:moveTo>
                <a:lnTo>
                  <a:pt x="36041" y="0"/>
                </a:lnTo>
                <a:lnTo>
                  <a:pt x="36041" y="552450"/>
                </a:lnTo>
                <a:lnTo>
                  <a:pt x="0" y="552450"/>
                </a:lnTo>
                <a:lnTo>
                  <a:pt x="0" y="0"/>
                </a:lnTo>
                <a:close/>
              </a:path>
            </a:pathLst>
          </a:custGeom>
          <a:solidFill>
            <a:srgbClr val="343A40"/>
          </a:solidFill>
          <a:ln/>
        </p:spPr>
      </p:sp>
      <p:sp>
        <p:nvSpPr>
          <p:cNvPr id="44" name="Text 40"/>
          <p:cNvSpPr/>
          <p:nvPr/>
        </p:nvSpPr>
        <p:spPr>
          <a:xfrm>
            <a:off x="9903828" y="3505986"/>
            <a:ext cx="17907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09. 项目总结报告</a:t>
            </a:r>
            <a:endParaRPr lang="en-US" sz="1600" dirty="0"/>
          </a:p>
        </p:txBody>
      </p:sp>
      <p:sp>
        <p:nvSpPr>
          <p:cNvPr id="45" name="Shape 41"/>
          <p:cNvSpPr/>
          <p:nvPr/>
        </p:nvSpPr>
        <p:spPr>
          <a:xfrm>
            <a:off x="5715000" y="4382945"/>
            <a:ext cx="6096000" cy="1999220"/>
          </a:xfrm>
          <a:custGeom>
            <a:avLst/>
            <a:gdLst/>
            <a:ahLst/>
            <a:cxnLst/>
            <a:rect l="l" t="t" r="r" b="b"/>
            <a:pathLst>
              <a:path w="6096000" h="1999220">
                <a:moveTo>
                  <a:pt x="36041" y="0"/>
                </a:moveTo>
                <a:lnTo>
                  <a:pt x="6059959" y="0"/>
                </a:lnTo>
                <a:cubicBezTo>
                  <a:pt x="6079864" y="0"/>
                  <a:pt x="6096000" y="16136"/>
                  <a:pt x="6096000" y="36041"/>
                </a:cubicBezTo>
                <a:lnTo>
                  <a:pt x="6096000" y="1884925"/>
                </a:lnTo>
                <a:cubicBezTo>
                  <a:pt x="6096000" y="1948048"/>
                  <a:pt x="6044828" y="1999220"/>
                  <a:pt x="5981705" y="1999220"/>
                </a:cubicBezTo>
                <a:lnTo>
                  <a:pt x="114295" y="1999220"/>
                </a:lnTo>
                <a:cubicBezTo>
                  <a:pt x="51172" y="1999220"/>
                  <a:pt x="0" y="1948048"/>
                  <a:pt x="0" y="1884925"/>
                </a:cubicBezTo>
                <a:lnTo>
                  <a:pt x="0" y="36041"/>
                </a:lnTo>
                <a:cubicBezTo>
                  <a:pt x="0" y="16136"/>
                  <a:pt x="16136" y="0"/>
                  <a:pt x="36041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blurRad="142875" dist="95250" dir="5400000" algn="bl" rotWithShape="0">
              <a:srgbClr val="000000">
                <a:alpha val="10196"/>
              </a:srgbClr>
            </a:outerShdw>
          </a:effectLst>
        </p:spPr>
      </p:sp>
      <p:sp>
        <p:nvSpPr>
          <p:cNvPr id="46" name="Shape 42"/>
          <p:cNvSpPr/>
          <p:nvPr/>
        </p:nvSpPr>
        <p:spPr>
          <a:xfrm>
            <a:off x="5715000" y="4382945"/>
            <a:ext cx="6096000" cy="36041"/>
          </a:xfrm>
          <a:custGeom>
            <a:avLst/>
            <a:gdLst/>
            <a:ahLst/>
            <a:cxnLst/>
            <a:rect l="l" t="t" r="r" b="b"/>
            <a:pathLst>
              <a:path w="6096000" h="36041">
                <a:moveTo>
                  <a:pt x="36041" y="0"/>
                </a:moveTo>
                <a:lnTo>
                  <a:pt x="6059959" y="0"/>
                </a:lnTo>
                <a:cubicBezTo>
                  <a:pt x="6079864" y="0"/>
                  <a:pt x="6096000" y="16136"/>
                  <a:pt x="6096000" y="36041"/>
                </a:cubicBezTo>
                <a:lnTo>
                  <a:pt x="6096000" y="36041"/>
                </a:lnTo>
                <a:lnTo>
                  <a:pt x="0" y="36041"/>
                </a:lnTo>
                <a:lnTo>
                  <a:pt x="0" y="36041"/>
                </a:lnTo>
                <a:cubicBezTo>
                  <a:pt x="0" y="16136"/>
                  <a:pt x="16136" y="0"/>
                  <a:pt x="36041" y="0"/>
                </a:cubicBez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47" name="Shape 43"/>
          <p:cNvSpPr/>
          <p:nvPr/>
        </p:nvSpPr>
        <p:spPr>
          <a:xfrm>
            <a:off x="5934075" y="4629517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78581" y="25003"/>
                </a:moveTo>
                <a:lnTo>
                  <a:pt x="78581" y="42863"/>
                </a:lnTo>
                <a:lnTo>
                  <a:pt x="150019" y="42863"/>
                </a:lnTo>
                <a:lnTo>
                  <a:pt x="150019" y="25003"/>
                </a:lnTo>
                <a:cubicBezTo>
                  <a:pt x="150019" y="23039"/>
                  <a:pt x="148411" y="21431"/>
                  <a:pt x="146447" y="21431"/>
                </a:cubicBezTo>
                <a:lnTo>
                  <a:pt x="82153" y="21431"/>
                </a:lnTo>
                <a:cubicBezTo>
                  <a:pt x="80189" y="21431"/>
                  <a:pt x="78581" y="23039"/>
                  <a:pt x="78581" y="25003"/>
                </a:cubicBezTo>
                <a:close/>
                <a:moveTo>
                  <a:pt x="57150" y="42863"/>
                </a:moveTo>
                <a:lnTo>
                  <a:pt x="57150" y="25003"/>
                </a:lnTo>
                <a:cubicBezTo>
                  <a:pt x="57150" y="11207"/>
                  <a:pt x="68357" y="0"/>
                  <a:pt x="82153" y="0"/>
                </a:cubicBezTo>
                <a:lnTo>
                  <a:pt x="146447" y="0"/>
                </a:lnTo>
                <a:cubicBezTo>
                  <a:pt x="160243" y="0"/>
                  <a:pt x="171450" y="11207"/>
                  <a:pt x="171450" y="25003"/>
                </a:cubicBezTo>
                <a:lnTo>
                  <a:pt x="171450" y="42863"/>
                </a:lnTo>
                <a:lnTo>
                  <a:pt x="183996" y="42863"/>
                </a:lnTo>
                <a:cubicBezTo>
                  <a:pt x="189667" y="42863"/>
                  <a:pt x="195114" y="45140"/>
                  <a:pt x="199132" y="49158"/>
                </a:cubicBezTo>
                <a:lnTo>
                  <a:pt x="222305" y="72330"/>
                </a:lnTo>
                <a:cubicBezTo>
                  <a:pt x="226323" y="76349"/>
                  <a:pt x="228600" y="81796"/>
                  <a:pt x="228600" y="87466"/>
                </a:cubicBezTo>
                <a:lnTo>
                  <a:pt x="228600" y="121444"/>
                </a:lnTo>
                <a:lnTo>
                  <a:pt x="167878" y="121444"/>
                </a:lnTo>
                <a:lnTo>
                  <a:pt x="167878" y="114300"/>
                </a:lnTo>
                <a:cubicBezTo>
                  <a:pt x="167878" y="108362"/>
                  <a:pt x="163101" y="103584"/>
                  <a:pt x="157163" y="103584"/>
                </a:cubicBezTo>
                <a:cubicBezTo>
                  <a:pt x="151224" y="103584"/>
                  <a:pt x="146447" y="108362"/>
                  <a:pt x="146447" y="114300"/>
                </a:cubicBezTo>
                <a:lnTo>
                  <a:pt x="146447" y="121444"/>
                </a:lnTo>
                <a:lnTo>
                  <a:pt x="82153" y="121444"/>
                </a:lnTo>
                <a:lnTo>
                  <a:pt x="82153" y="114300"/>
                </a:lnTo>
                <a:cubicBezTo>
                  <a:pt x="82153" y="108362"/>
                  <a:pt x="77376" y="103584"/>
                  <a:pt x="71438" y="103584"/>
                </a:cubicBezTo>
                <a:cubicBezTo>
                  <a:pt x="65499" y="103584"/>
                  <a:pt x="60722" y="108362"/>
                  <a:pt x="60722" y="114300"/>
                </a:cubicBezTo>
                <a:lnTo>
                  <a:pt x="60722" y="121444"/>
                </a:lnTo>
                <a:lnTo>
                  <a:pt x="0" y="121444"/>
                </a:lnTo>
                <a:lnTo>
                  <a:pt x="0" y="87466"/>
                </a:lnTo>
                <a:cubicBezTo>
                  <a:pt x="0" y="81796"/>
                  <a:pt x="2277" y="76349"/>
                  <a:pt x="6295" y="72330"/>
                </a:cubicBezTo>
                <a:lnTo>
                  <a:pt x="29468" y="49158"/>
                </a:lnTo>
                <a:cubicBezTo>
                  <a:pt x="33486" y="45140"/>
                  <a:pt x="38933" y="42863"/>
                  <a:pt x="44604" y="42863"/>
                </a:cubicBezTo>
                <a:lnTo>
                  <a:pt x="57150" y="42863"/>
                </a:lnTo>
                <a:close/>
                <a:moveTo>
                  <a:pt x="0" y="185738"/>
                </a:moveTo>
                <a:lnTo>
                  <a:pt x="0" y="142875"/>
                </a:lnTo>
                <a:lnTo>
                  <a:pt x="60722" y="142875"/>
                </a:lnTo>
                <a:lnTo>
                  <a:pt x="60722" y="150019"/>
                </a:lnTo>
                <a:cubicBezTo>
                  <a:pt x="60722" y="155957"/>
                  <a:pt x="65499" y="160734"/>
                  <a:pt x="71438" y="160734"/>
                </a:cubicBezTo>
                <a:cubicBezTo>
                  <a:pt x="77376" y="160734"/>
                  <a:pt x="82153" y="155957"/>
                  <a:pt x="82153" y="150019"/>
                </a:cubicBezTo>
                <a:lnTo>
                  <a:pt x="82153" y="142875"/>
                </a:lnTo>
                <a:lnTo>
                  <a:pt x="146447" y="142875"/>
                </a:lnTo>
                <a:lnTo>
                  <a:pt x="146447" y="150019"/>
                </a:lnTo>
                <a:cubicBezTo>
                  <a:pt x="146447" y="155957"/>
                  <a:pt x="151224" y="160734"/>
                  <a:pt x="157163" y="160734"/>
                </a:cubicBezTo>
                <a:cubicBezTo>
                  <a:pt x="163101" y="160734"/>
                  <a:pt x="167878" y="155957"/>
                  <a:pt x="167878" y="150019"/>
                </a:cubicBezTo>
                <a:lnTo>
                  <a:pt x="167878" y="142875"/>
                </a:lnTo>
                <a:lnTo>
                  <a:pt x="228600" y="142875"/>
                </a:lnTo>
                <a:lnTo>
                  <a:pt x="228600" y="185738"/>
                </a:lnTo>
                <a:cubicBezTo>
                  <a:pt x="228600" y="201498"/>
                  <a:pt x="215786" y="214313"/>
                  <a:pt x="200025" y="214313"/>
                </a:cubicBezTo>
                <a:lnTo>
                  <a:pt x="28575" y="214313"/>
                </a:lnTo>
                <a:cubicBezTo>
                  <a:pt x="12814" y="214313"/>
                  <a:pt x="0" y="201498"/>
                  <a:pt x="0" y="185738"/>
                </a:cubicBez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48" name="Text 44"/>
          <p:cNvSpPr/>
          <p:nvPr/>
        </p:nvSpPr>
        <p:spPr>
          <a:xfrm>
            <a:off x="6305485" y="4591469"/>
            <a:ext cx="10287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343A40"/>
                </a:solidFill>
                <a:latin typeface="阿里妈妈数黑体" pitchFamily="34" charset="0"/>
                <a:ea typeface="阿里妈妈数黑体" pitchFamily="34" charset="-122"/>
                <a:cs typeface="阿里妈妈数黑体" pitchFamily="34" charset="-120"/>
              </a:rPr>
              <a:t>支撑材料</a:t>
            </a:r>
            <a:endParaRPr lang="en-US" sz="1600" dirty="0"/>
          </a:p>
        </p:txBody>
      </p:sp>
      <p:sp>
        <p:nvSpPr>
          <p:cNvPr id="49" name="Shape 45"/>
          <p:cNvSpPr/>
          <p:nvPr/>
        </p:nvSpPr>
        <p:spPr>
          <a:xfrm>
            <a:off x="5923520" y="5010517"/>
            <a:ext cx="36041" cy="533400"/>
          </a:xfrm>
          <a:custGeom>
            <a:avLst/>
            <a:gdLst/>
            <a:ahLst/>
            <a:cxnLst/>
            <a:rect l="l" t="t" r="r" b="b"/>
            <a:pathLst>
              <a:path w="36041" h="533400">
                <a:moveTo>
                  <a:pt x="0" y="0"/>
                </a:moveTo>
                <a:lnTo>
                  <a:pt x="36041" y="0"/>
                </a:lnTo>
                <a:lnTo>
                  <a:pt x="36041" y="533400"/>
                </a:lnTo>
                <a:lnTo>
                  <a:pt x="0" y="533400"/>
                </a:lnTo>
                <a:lnTo>
                  <a:pt x="0" y="0"/>
                </a:ln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50" name="Shape 46"/>
          <p:cNvSpPr/>
          <p:nvPr/>
        </p:nvSpPr>
        <p:spPr>
          <a:xfrm>
            <a:off x="6084351" y="5067635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114300" y="152400"/>
                </a:moveTo>
                <a:lnTo>
                  <a:pt x="28575" y="152400"/>
                </a:lnTo>
                <a:cubicBezTo>
                  <a:pt x="12799" y="152400"/>
                  <a:pt x="0" y="139601"/>
                  <a:pt x="0" y="123825"/>
                </a:cubicBezTo>
                <a:lnTo>
                  <a:pt x="0" y="28575"/>
                </a:lnTo>
                <a:cubicBezTo>
                  <a:pt x="0" y="12799"/>
                  <a:pt x="12799" y="0"/>
                  <a:pt x="28575" y="0"/>
                </a:cubicBezTo>
                <a:lnTo>
                  <a:pt x="119062" y="0"/>
                </a:lnTo>
                <a:cubicBezTo>
                  <a:pt x="126950" y="0"/>
                  <a:pt x="133350" y="6400"/>
                  <a:pt x="133350" y="14288"/>
                </a:cubicBezTo>
                <a:lnTo>
                  <a:pt x="133350" y="100013"/>
                </a:lnTo>
                <a:cubicBezTo>
                  <a:pt x="133350" y="106234"/>
                  <a:pt x="129361" y="111532"/>
                  <a:pt x="123825" y="113496"/>
                </a:cubicBezTo>
                <a:lnTo>
                  <a:pt x="123825" y="133350"/>
                </a:lnTo>
                <a:cubicBezTo>
                  <a:pt x="129094" y="133350"/>
                  <a:pt x="133350" y="137606"/>
                  <a:pt x="133350" y="142875"/>
                </a:cubicBezTo>
                <a:cubicBezTo>
                  <a:pt x="133350" y="148144"/>
                  <a:pt x="129094" y="152400"/>
                  <a:pt x="123825" y="152400"/>
                </a:cubicBezTo>
                <a:lnTo>
                  <a:pt x="114300" y="152400"/>
                </a:lnTo>
                <a:close/>
                <a:moveTo>
                  <a:pt x="28575" y="114300"/>
                </a:moveTo>
                <a:cubicBezTo>
                  <a:pt x="23306" y="114300"/>
                  <a:pt x="19050" y="118556"/>
                  <a:pt x="19050" y="123825"/>
                </a:cubicBezTo>
                <a:cubicBezTo>
                  <a:pt x="19050" y="129094"/>
                  <a:pt x="23306" y="133350"/>
                  <a:pt x="28575" y="133350"/>
                </a:cubicBezTo>
                <a:lnTo>
                  <a:pt x="104775" y="133350"/>
                </a:lnTo>
                <a:lnTo>
                  <a:pt x="104775" y="114300"/>
                </a:lnTo>
                <a:lnTo>
                  <a:pt x="28575" y="114300"/>
                </a:lnTo>
                <a:close/>
                <a:moveTo>
                  <a:pt x="38100" y="45244"/>
                </a:moveTo>
                <a:cubicBezTo>
                  <a:pt x="38100" y="49203"/>
                  <a:pt x="41285" y="52388"/>
                  <a:pt x="45244" y="52388"/>
                </a:cubicBezTo>
                <a:lnTo>
                  <a:pt x="97631" y="52388"/>
                </a:lnTo>
                <a:cubicBezTo>
                  <a:pt x="101590" y="52388"/>
                  <a:pt x="104775" y="49203"/>
                  <a:pt x="104775" y="45244"/>
                </a:cubicBezTo>
                <a:cubicBezTo>
                  <a:pt x="104775" y="41285"/>
                  <a:pt x="101590" y="38100"/>
                  <a:pt x="97631" y="38100"/>
                </a:cubicBezTo>
                <a:lnTo>
                  <a:pt x="45244" y="38100"/>
                </a:lnTo>
                <a:cubicBezTo>
                  <a:pt x="41285" y="38100"/>
                  <a:pt x="38100" y="41285"/>
                  <a:pt x="38100" y="45244"/>
                </a:cubicBezTo>
                <a:close/>
                <a:moveTo>
                  <a:pt x="45244" y="66675"/>
                </a:moveTo>
                <a:cubicBezTo>
                  <a:pt x="41285" y="66675"/>
                  <a:pt x="38100" y="69860"/>
                  <a:pt x="38100" y="73819"/>
                </a:cubicBezTo>
                <a:cubicBezTo>
                  <a:pt x="38100" y="77778"/>
                  <a:pt x="41285" y="80962"/>
                  <a:pt x="45244" y="80962"/>
                </a:cubicBezTo>
                <a:lnTo>
                  <a:pt x="97631" y="80962"/>
                </a:lnTo>
                <a:cubicBezTo>
                  <a:pt x="101590" y="80962"/>
                  <a:pt x="104775" y="77778"/>
                  <a:pt x="104775" y="73819"/>
                </a:cubicBezTo>
                <a:cubicBezTo>
                  <a:pt x="104775" y="69860"/>
                  <a:pt x="101590" y="66675"/>
                  <a:pt x="97631" y="66675"/>
                </a:cubicBezTo>
                <a:lnTo>
                  <a:pt x="45244" y="66675"/>
                </a:ln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51" name="Text 47"/>
          <p:cNvSpPr/>
          <p:nvPr/>
        </p:nvSpPr>
        <p:spPr>
          <a:xfrm>
            <a:off x="6322460" y="5010517"/>
            <a:ext cx="7715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用户手册</a:t>
            </a:r>
            <a:endParaRPr lang="en-US" sz="1600" dirty="0"/>
          </a:p>
        </p:txBody>
      </p:sp>
      <p:sp>
        <p:nvSpPr>
          <p:cNvPr id="52" name="Text 48"/>
          <p:cNvSpPr/>
          <p:nvPr/>
        </p:nvSpPr>
        <p:spPr>
          <a:xfrm>
            <a:off x="6055776" y="5315173"/>
            <a:ext cx="27241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6C757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详细的操作指南</a:t>
            </a:r>
            <a:endParaRPr lang="en-US" sz="1600" dirty="0"/>
          </a:p>
        </p:txBody>
      </p:sp>
      <p:sp>
        <p:nvSpPr>
          <p:cNvPr id="53" name="Shape 49"/>
          <p:cNvSpPr/>
          <p:nvPr/>
        </p:nvSpPr>
        <p:spPr>
          <a:xfrm>
            <a:off x="8838138" y="5010517"/>
            <a:ext cx="36041" cy="533400"/>
          </a:xfrm>
          <a:custGeom>
            <a:avLst/>
            <a:gdLst/>
            <a:ahLst/>
            <a:cxnLst/>
            <a:rect l="l" t="t" r="r" b="b"/>
            <a:pathLst>
              <a:path w="36041" h="533400">
                <a:moveTo>
                  <a:pt x="0" y="0"/>
                </a:moveTo>
                <a:lnTo>
                  <a:pt x="36041" y="0"/>
                </a:lnTo>
                <a:lnTo>
                  <a:pt x="36041" y="533400"/>
                </a:lnTo>
                <a:lnTo>
                  <a:pt x="0" y="533400"/>
                </a:lnTo>
                <a:lnTo>
                  <a:pt x="0" y="0"/>
                </a:ln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54" name="Shape 50"/>
          <p:cNvSpPr/>
          <p:nvPr/>
        </p:nvSpPr>
        <p:spPr>
          <a:xfrm>
            <a:off x="8979919" y="5067635"/>
            <a:ext cx="171450" cy="152400"/>
          </a:xfrm>
          <a:custGeom>
            <a:avLst/>
            <a:gdLst/>
            <a:ahLst/>
            <a:cxnLst/>
            <a:rect l="l" t="t" r="r" b="b"/>
            <a:pathLst>
              <a:path w="171450" h="152400">
                <a:moveTo>
                  <a:pt x="107394" y="357"/>
                </a:moveTo>
                <a:cubicBezTo>
                  <a:pt x="102334" y="-1101"/>
                  <a:pt x="97066" y="1845"/>
                  <a:pt x="95607" y="6906"/>
                </a:cubicBezTo>
                <a:lnTo>
                  <a:pt x="57507" y="140256"/>
                </a:lnTo>
                <a:cubicBezTo>
                  <a:pt x="56049" y="145316"/>
                  <a:pt x="58995" y="150584"/>
                  <a:pt x="64056" y="152043"/>
                </a:cubicBezTo>
                <a:cubicBezTo>
                  <a:pt x="69116" y="153501"/>
                  <a:pt x="74384" y="150555"/>
                  <a:pt x="75843" y="145494"/>
                </a:cubicBezTo>
                <a:lnTo>
                  <a:pt x="113943" y="12144"/>
                </a:lnTo>
                <a:cubicBezTo>
                  <a:pt x="115401" y="7084"/>
                  <a:pt x="112455" y="1816"/>
                  <a:pt x="107394" y="357"/>
                </a:cubicBezTo>
                <a:close/>
                <a:moveTo>
                  <a:pt x="126623" y="40868"/>
                </a:moveTo>
                <a:cubicBezTo>
                  <a:pt x="122902" y="44589"/>
                  <a:pt x="122902" y="50631"/>
                  <a:pt x="126623" y="54352"/>
                </a:cubicBezTo>
                <a:lnTo>
                  <a:pt x="148471" y="76200"/>
                </a:lnTo>
                <a:lnTo>
                  <a:pt x="126623" y="98048"/>
                </a:lnTo>
                <a:cubicBezTo>
                  <a:pt x="122902" y="101769"/>
                  <a:pt x="122902" y="107811"/>
                  <a:pt x="126623" y="111532"/>
                </a:cubicBezTo>
                <a:cubicBezTo>
                  <a:pt x="130344" y="115253"/>
                  <a:pt x="136386" y="115253"/>
                  <a:pt x="140107" y="111532"/>
                </a:cubicBezTo>
                <a:lnTo>
                  <a:pt x="168682" y="82957"/>
                </a:lnTo>
                <a:cubicBezTo>
                  <a:pt x="172403" y="79236"/>
                  <a:pt x="172403" y="73194"/>
                  <a:pt x="168682" y="69473"/>
                </a:cubicBezTo>
                <a:lnTo>
                  <a:pt x="140107" y="40898"/>
                </a:lnTo>
                <a:cubicBezTo>
                  <a:pt x="136386" y="37177"/>
                  <a:pt x="130344" y="37177"/>
                  <a:pt x="126623" y="40898"/>
                </a:cubicBezTo>
                <a:close/>
                <a:moveTo>
                  <a:pt x="44857" y="40868"/>
                </a:moveTo>
                <a:cubicBezTo>
                  <a:pt x="41136" y="37147"/>
                  <a:pt x="35094" y="37147"/>
                  <a:pt x="31373" y="40868"/>
                </a:cubicBezTo>
                <a:lnTo>
                  <a:pt x="2798" y="69443"/>
                </a:lnTo>
                <a:cubicBezTo>
                  <a:pt x="-923" y="73164"/>
                  <a:pt x="-923" y="79206"/>
                  <a:pt x="2798" y="82927"/>
                </a:cubicBezTo>
                <a:lnTo>
                  <a:pt x="31373" y="111502"/>
                </a:lnTo>
                <a:cubicBezTo>
                  <a:pt x="35094" y="115223"/>
                  <a:pt x="41136" y="115223"/>
                  <a:pt x="44857" y="111502"/>
                </a:cubicBezTo>
                <a:cubicBezTo>
                  <a:pt x="48578" y="107781"/>
                  <a:pt x="48578" y="101739"/>
                  <a:pt x="44857" y="98018"/>
                </a:cubicBezTo>
                <a:lnTo>
                  <a:pt x="23009" y="76200"/>
                </a:lnTo>
                <a:lnTo>
                  <a:pt x="44827" y="54352"/>
                </a:lnTo>
                <a:cubicBezTo>
                  <a:pt x="48548" y="50631"/>
                  <a:pt x="48548" y="44589"/>
                  <a:pt x="44827" y="40868"/>
                </a:cubicBez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55" name="Text 51"/>
          <p:cNvSpPr/>
          <p:nvPr/>
        </p:nvSpPr>
        <p:spPr>
          <a:xfrm>
            <a:off x="9237077" y="5010517"/>
            <a:ext cx="7715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代码规范</a:t>
            </a:r>
            <a:endParaRPr lang="en-US" sz="1600" dirty="0"/>
          </a:p>
        </p:txBody>
      </p:sp>
      <p:sp>
        <p:nvSpPr>
          <p:cNvPr id="56" name="Text 52"/>
          <p:cNvSpPr/>
          <p:nvPr/>
        </p:nvSpPr>
        <p:spPr>
          <a:xfrm>
            <a:off x="8970394" y="5315173"/>
            <a:ext cx="27241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6C757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统一的编码标准</a:t>
            </a:r>
            <a:endParaRPr lang="en-US" sz="1600" dirty="0"/>
          </a:p>
        </p:txBody>
      </p:sp>
      <p:sp>
        <p:nvSpPr>
          <p:cNvPr id="57" name="Shape 53"/>
          <p:cNvSpPr/>
          <p:nvPr/>
        </p:nvSpPr>
        <p:spPr>
          <a:xfrm>
            <a:off x="5923520" y="5657962"/>
            <a:ext cx="36041" cy="533400"/>
          </a:xfrm>
          <a:custGeom>
            <a:avLst/>
            <a:gdLst/>
            <a:ahLst/>
            <a:cxnLst/>
            <a:rect l="l" t="t" r="r" b="b"/>
            <a:pathLst>
              <a:path w="36041" h="533400">
                <a:moveTo>
                  <a:pt x="0" y="0"/>
                </a:moveTo>
                <a:lnTo>
                  <a:pt x="36041" y="0"/>
                </a:lnTo>
                <a:lnTo>
                  <a:pt x="36041" y="533400"/>
                </a:lnTo>
                <a:lnTo>
                  <a:pt x="0" y="533400"/>
                </a:lnTo>
                <a:lnTo>
                  <a:pt x="0" y="0"/>
                </a:lnTo>
                <a:close/>
              </a:path>
            </a:pathLst>
          </a:custGeom>
          <a:solidFill>
            <a:srgbClr val="6C757D"/>
          </a:solidFill>
          <a:ln/>
        </p:spPr>
      </p:sp>
      <p:sp>
        <p:nvSpPr>
          <p:cNvPr id="58" name="Shape 54"/>
          <p:cNvSpPr/>
          <p:nvPr/>
        </p:nvSpPr>
        <p:spPr>
          <a:xfrm>
            <a:off x="6074826" y="5715079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11906" y="14288"/>
                </a:moveTo>
                <a:cubicBezTo>
                  <a:pt x="7947" y="14288"/>
                  <a:pt x="4763" y="17472"/>
                  <a:pt x="4763" y="21431"/>
                </a:cubicBezTo>
                <a:lnTo>
                  <a:pt x="4763" y="35719"/>
                </a:lnTo>
                <a:cubicBezTo>
                  <a:pt x="4763" y="39678"/>
                  <a:pt x="7947" y="42863"/>
                  <a:pt x="11906" y="42863"/>
                </a:cubicBezTo>
                <a:lnTo>
                  <a:pt x="26194" y="42863"/>
                </a:lnTo>
                <a:cubicBezTo>
                  <a:pt x="30153" y="42863"/>
                  <a:pt x="33338" y="39678"/>
                  <a:pt x="33338" y="35719"/>
                </a:cubicBezTo>
                <a:lnTo>
                  <a:pt x="33338" y="21431"/>
                </a:lnTo>
                <a:cubicBezTo>
                  <a:pt x="33338" y="17472"/>
                  <a:pt x="30153" y="14288"/>
                  <a:pt x="26194" y="14288"/>
                </a:cubicBezTo>
                <a:lnTo>
                  <a:pt x="11906" y="14288"/>
                </a:lnTo>
                <a:close/>
                <a:moveTo>
                  <a:pt x="57150" y="19050"/>
                </a:moveTo>
                <a:cubicBezTo>
                  <a:pt x="51881" y="19050"/>
                  <a:pt x="47625" y="23306"/>
                  <a:pt x="47625" y="28575"/>
                </a:cubicBezTo>
                <a:cubicBezTo>
                  <a:pt x="47625" y="33844"/>
                  <a:pt x="51881" y="38100"/>
                  <a:pt x="57150" y="38100"/>
                </a:cubicBezTo>
                <a:lnTo>
                  <a:pt x="142875" y="38100"/>
                </a:lnTo>
                <a:cubicBezTo>
                  <a:pt x="148144" y="38100"/>
                  <a:pt x="152400" y="33844"/>
                  <a:pt x="152400" y="28575"/>
                </a:cubicBezTo>
                <a:cubicBezTo>
                  <a:pt x="152400" y="23306"/>
                  <a:pt x="148144" y="19050"/>
                  <a:pt x="142875" y="19050"/>
                </a:cubicBezTo>
                <a:lnTo>
                  <a:pt x="57150" y="19050"/>
                </a:lnTo>
                <a:close/>
                <a:moveTo>
                  <a:pt x="57150" y="66675"/>
                </a:moveTo>
                <a:cubicBezTo>
                  <a:pt x="51881" y="66675"/>
                  <a:pt x="47625" y="70931"/>
                  <a:pt x="47625" y="76200"/>
                </a:cubicBezTo>
                <a:cubicBezTo>
                  <a:pt x="47625" y="81469"/>
                  <a:pt x="51881" y="85725"/>
                  <a:pt x="57150" y="85725"/>
                </a:cubicBezTo>
                <a:lnTo>
                  <a:pt x="142875" y="85725"/>
                </a:lnTo>
                <a:cubicBezTo>
                  <a:pt x="148144" y="85725"/>
                  <a:pt x="152400" y="81469"/>
                  <a:pt x="152400" y="76200"/>
                </a:cubicBezTo>
                <a:cubicBezTo>
                  <a:pt x="152400" y="70931"/>
                  <a:pt x="148144" y="66675"/>
                  <a:pt x="142875" y="66675"/>
                </a:cubicBezTo>
                <a:lnTo>
                  <a:pt x="57150" y="66675"/>
                </a:lnTo>
                <a:close/>
                <a:moveTo>
                  <a:pt x="57150" y="114300"/>
                </a:moveTo>
                <a:cubicBezTo>
                  <a:pt x="51881" y="114300"/>
                  <a:pt x="47625" y="118556"/>
                  <a:pt x="47625" y="123825"/>
                </a:cubicBezTo>
                <a:cubicBezTo>
                  <a:pt x="47625" y="129094"/>
                  <a:pt x="51881" y="133350"/>
                  <a:pt x="57150" y="133350"/>
                </a:cubicBezTo>
                <a:lnTo>
                  <a:pt x="142875" y="133350"/>
                </a:lnTo>
                <a:cubicBezTo>
                  <a:pt x="148144" y="133350"/>
                  <a:pt x="152400" y="129094"/>
                  <a:pt x="152400" y="123825"/>
                </a:cubicBezTo>
                <a:cubicBezTo>
                  <a:pt x="152400" y="118556"/>
                  <a:pt x="148144" y="114300"/>
                  <a:pt x="142875" y="114300"/>
                </a:cubicBezTo>
                <a:lnTo>
                  <a:pt x="57150" y="114300"/>
                </a:lnTo>
                <a:close/>
                <a:moveTo>
                  <a:pt x="4763" y="69056"/>
                </a:moveTo>
                <a:lnTo>
                  <a:pt x="4763" y="83344"/>
                </a:lnTo>
                <a:cubicBezTo>
                  <a:pt x="4763" y="87303"/>
                  <a:pt x="7947" y="90488"/>
                  <a:pt x="11906" y="90488"/>
                </a:cubicBezTo>
                <a:lnTo>
                  <a:pt x="26194" y="90488"/>
                </a:lnTo>
                <a:cubicBezTo>
                  <a:pt x="30153" y="90488"/>
                  <a:pt x="33338" y="87303"/>
                  <a:pt x="33338" y="83344"/>
                </a:cubicBezTo>
                <a:lnTo>
                  <a:pt x="33338" y="69056"/>
                </a:lnTo>
                <a:cubicBezTo>
                  <a:pt x="33338" y="65097"/>
                  <a:pt x="30153" y="61912"/>
                  <a:pt x="26194" y="61912"/>
                </a:cubicBezTo>
                <a:lnTo>
                  <a:pt x="11906" y="61912"/>
                </a:lnTo>
                <a:cubicBezTo>
                  <a:pt x="7947" y="61912"/>
                  <a:pt x="4763" y="65097"/>
                  <a:pt x="4763" y="69056"/>
                </a:cubicBezTo>
                <a:close/>
                <a:moveTo>
                  <a:pt x="11906" y="109537"/>
                </a:moveTo>
                <a:cubicBezTo>
                  <a:pt x="7947" y="109537"/>
                  <a:pt x="4763" y="112722"/>
                  <a:pt x="4763" y="116681"/>
                </a:cubicBezTo>
                <a:lnTo>
                  <a:pt x="4763" y="130969"/>
                </a:lnTo>
                <a:cubicBezTo>
                  <a:pt x="4763" y="134928"/>
                  <a:pt x="7947" y="138113"/>
                  <a:pt x="11906" y="138113"/>
                </a:cubicBezTo>
                <a:lnTo>
                  <a:pt x="26194" y="138113"/>
                </a:lnTo>
                <a:cubicBezTo>
                  <a:pt x="30153" y="138113"/>
                  <a:pt x="33338" y="134928"/>
                  <a:pt x="33338" y="130969"/>
                </a:cubicBezTo>
                <a:lnTo>
                  <a:pt x="33338" y="116681"/>
                </a:lnTo>
                <a:cubicBezTo>
                  <a:pt x="33338" y="112722"/>
                  <a:pt x="30153" y="109537"/>
                  <a:pt x="26194" y="109537"/>
                </a:cubicBezTo>
                <a:lnTo>
                  <a:pt x="11906" y="109537"/>
                </a:lnTo>
                <a:close/>
              </a:path>
            </a:pathLst>
          </a:custGeom>
          <a:solidFill>
            <a:srgbClr val="6C757D"/>
          </a:solidFill>
          <a:ln/>
        </p:spPr>
      </p:sp>
      <p:sp>
        <p:nvSpPr>
          <p:cNvPr id="59" name="Text 55"/>
          <p:cNvSpPr/>
          <p:nvPr/>
        </p:nvSpPr>
        <p:spPr>
          <a:xfrm>
            <a:off x="6322460" y="5657962"/>
            <a:ext cx="7715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程序清单</a:t>
            </a:r>
            <a:endParaRPr lang="en-US" sz="1600" dirty="0"/>
          </a:p>
        </p:txBody>
      </p:sp>
      <p:sp>
        <p:nvSpPr>
          <p:cNvPr id="60" name="Text 56"/>
          <p:cNvSpPr/>
          <p:nvPr/>
        </p:nvSpPr>
        <p:spPr>
          <a:xfrm>
            <a:off x="6055776" y="5962617"/>
            <a:ext cx="27241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6C757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完整的文件结构</a:t>
            </a:r>
            <a:endParaRPr lang="en-US" sz="1600" dirty="0"/>
          </a:p>
        </p:txBody>
      </p:sp>
      <p:sp>
        <p:nvSpPr>
          <p:cNvPr id="61" name="Shape 57"/>
          <p:cNvSpPr/>
          <p:nvPr/>
        </p:nvSpPr>
        <p:spPr>
          <a:xfrm>
            <a:off x="8838138" y="5657962"/>
            <a:ext cx="36041" cy="533400"/>
          </a:xfrm>
          <a:custGeom>
            <a:avLst/>
            <a:gdLst/>
            <a:ahLst/>
            <a:cxnLst/>
            <a:rect l="l" t="t" r="r" b="b"/>
            <a:pathLst>
              <a:path w="36041" h="533400">
                <a:moveTo>
                  <a:pt x="0" y="0"/>
                </a:moveTo>
                <a:lnTo>
                  <a:pt x="36041" y="0"/>
                </a:lnTo>
                <a:lnTo>
                  <a:pt x="36041" y="533400"/>
                </a:lnTo>
                <a:lnTo>
                  <a:pt x="0" y="533400"/>
                </a:lnTo>
                <a:lnTo>
                  <a:pt x="0" y="0"/>
                </a:lnTo>
                <a:close/>
              </a:path>
            </a:pathLst>
          </a:custGeom>
          <a:solidFill>
            <a:srgbClr val="343A40"/>
          </a:solidFill>
          <a:ln/>
        </p:spPr>
      </p:sp>
      <p:sp>
        <p:nvSpPr>
          <p:cNvPr id="62" name="Shape 58"/>
          <p:cNvSpPr/>
          <p:nvPr/>
        </p:nvSpPr>
        <p:spPr>
          <a:xfrm>
            <a:off x="8998969" y="5715079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130850" y="70277"/>
                </a:moveTo>
                <a:lnTo>
                  <a:pt x="72628" y="12055"/>
                </a:lnTo>
                <a:cubicBezTo>
                  <a:pt x="71021" y="10418"/>
                  <a:pt x="68818" y="9525"/>
                  <a:pt x="66556" y="9525"/>
                </a:cubicBezTo>
                <a:cubicBezTo>
                  <a:pt x="64294" y="9525"/>
                  <a:pt x="62091" y="10418"/>
                  <a:pt x="60484" y="12025"/>
                </a:cubicBezTo>
                <a:lnTo>
                  <a:pt x="48369" y="24110"/>
                </a:lnTo>
                <a:lnTo>
                  <a:pt x="63698" y="39439"/>
                </a:lnTo>
                <a:cubicBezTo>
                  <a:pt x="71765" y="36731"/>
                  <a:pt x="79385" y="44440"/>
                  <a:pt x="76617" y="52447"/>
                </a:cubicBezTo>
                <a:lnTo>
                  <a:pt x="91410" y="67241"/>
                </a:lnTo>
                <a:cubicBezTo>
                  <a:pt x="101590" y="63728"/>
                  <a:pt x="109627" y="76468"/>
                  <a:pt x="101977" y="84118"/>
                </a:cubicBezTo>
                <a:cubicBezTo>
                  <a:pt x="94089" y="92006"/>
                  <a:pt x="81082" y="83254"/>
                  <a:pt x="85308" y="73015"/>
                </a:cubicBezTo>
                <a:lnTo>
                  <a:pt x="71527" y="59234"/>
                </a:lnTo>
                <a:lnTo>
                  <a:pt x="71527" y="95518"/>
                </a:lnTo>
                <a:cubicBezTo>
                  <a:pt x="79057" y="99239"/>
                  <a:pt x="78165" y="107960"/>
                  <a:pt x="74235" y="111889"/>
                </a:cubicBezTo>
                <a:cubicBezTo>
                  <a:pt x="72330" y="113794"/>
                  <a:pt x="69711" y="114895"/>
                  <a:pt x="67002" y="114895"/>
                </a:cubicBezTo>
                <a:cubicBezTo>
                  <a:pt x="64294" y="114895"/>
                  <a:pt x="61704" y="113824"/>
                  <a:pt x="59769" y="111889"/>
                </a:cubicBezTo>
                <a:cubicBezTo>
                  <a:pt x="54531" y="106650"/>
                  <a:pt x="56465" y="97929"/>
                  <a:pt x="63103" y="95220"/>
                </a:cubicBezTo>
                <a:lnTo>
                  <a:pt x="63103" y="58609"/>
                </a:lnTo>
                <a:cubicBezTo>
                  <a:pt x="56912" y="56078"/>
                  <a:pt x="55781" y="49470"/>
                  <a:pt x="57567" y="45214"/>
                </a:cubicBezTo>
                <a:lnTo>
                  <a:pt x="42446" y="30063"/>
                </a:lnTo>
                <a:lnTo>
                  <a:pt x="2530" y="69979"/>
                </a:lnTo>
                <a:cubicBezTo>
                  <a:pt x="893" y="71616"/>
                  <a:pt x="0" y="73789"/>
                  <a:pt x="0" y="76051"/>
                </a:cubicBezTo>
                <a:cubicBezTo>
                  <a:pt x="0" y="78313"/>
                  <a:pt x="893" y="80516"/>
                  <a:pt x="2530" y="82123"/>
                </a:cubicBezTo>
                <a:lnTo>
                  <a:pt x="60752" y="140375"/>
                </a:lnTo>
                <a:cubicBezTo>
                  <a:pt x="62359" y="141982"/>
                  <a:pt x="64532" y="142875"/>
                  <a:pt x="66824" y="142875"/>
                </a:cubicBezTo>
                <a:cubicBezTo>
                  <a:pt x="69116" y="142875"/>
                  <a:pt x="71289" y="141982"/>
                  <a:pt x="72896" y="140375"/>
                </a:cubicBezTo>
                <a:lnTo>
                  <a:pt x="130850" y="82421"/>
                </a:lnTo>
                <a:cubicBezTo>
                  <a:pt x="132457" y="80814"/>
                  <a:pt x="133350" y="78611"/>
                  <a:pt x="133350" y="76349"/>
                </a:cubicBezTo>
                <a:cubicBezTo>
                  <a:pt x="133350" y="74087"/>
                  <a:pt x="132457" y="71884"/>
                  <a:pt x="130850" y="70277"/>
                </a:cubicBezTo>
                <a:close/>
              </a:path>
            </a:pathLst>
          </a:custGeom>
          <a:solidFill>
            <a:srgbClr val="343A40"/>
          </a:solidFill>
          <a:ln/>
        </p:spPr>
      </p:sp>
      <p:sp>
        <p:nvSpPr>
          <p:cNvPr id="63" name="Text 59"/>
          <p:cNvSpPr/>
          <p:nvPr/>
        </p:nvSpPr>
        <p:spPr>
          <a:xfrm>
            <a:off x="9237077" y="5657962"/>
            <a:ext cx="9429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源代码仓库</a:t>
            </a:r>
            <a:endParaRPr lang="en-US" sz="1600" dirty="0"/>
          </a:p>
        </p:txBody>
      </p:sp>
      <p:sp>
        <p:nvSpPr>
          <p:cNvPr id="64" name="Text 60"/>
          <p:cNvSpPr/>
          <p:nvPr/>
        </p:nvSpPr>
        <p:spPr>
          <a:xfrm>
            <a:off x="8970394" y="5962617"/>
            <a:ext cx="27241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6C757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版本控制的代码库</a:t>
            </a:r>
            <a:endParaRPr lang="en-US" sz="1600" dirty="0"/>
          </a:p>
        </p:txBody>
      </p:sp>
      <p:pic>
        <p:nvPicPr>
          <p:cNvPr id="66" name="图片 65">
            <a:extLst>
              <a:ext uri="{FF2B5EF4-FFF2-40B4-BE49-F238E27FC236}">
                <a16:creationId xmlns:a16="http://schemas.microsoft.com/office/drawing/2014/main" id="{6203F9A8-6CCF-E825-2C6C-617D8A168E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387" y="2248730"/>
            <a:ext cx="4762500" cy="2495087"/>
          </a:xfrm>
          <a:prstGeom prst="rect">
            <a:avLst/>
          </a:prstGeom>
        </p:spPr>
      </p:pic>
      <p:sp>
        <p:nvSpPr>
          <p:cNvPr id="71" name="Shape 0">
            <a:extLst>
              <a:ext uri="{FF2B5EF4-FFF2-40B4-BE49-F238E27FC236}">
                <a16:creationId xmlns:a16="http://schemas.microsoft.com/office/drawing/2014/main" id="{CAA24A15-D615-AF5A-EBDF-99E7A72E4DA0}"/>
              </a:ext>
            </a:extLst>
          </p:cNvPr>
          <p:cNvSpPr/>
          <p:nvPr/>
        </p:nvSpPr>
        <p:spPr>
          <a:xfrm>
            <a:off x="371707" y="446108"/>
            <a:ext cx="464634" cy="297366"/>
          </a:xfrm>
          <a:custGeom>
            <a:avLst/>
            <a:gdLst/>
            <a:ahLst/>
            <a:cxnLst/>
            <a:rect l="l" t="t" r="r" b="b"/>
            <a:pathLst>
              <a:path w="464634" h="297366">
                <a:moveTo>
                  <a:pt x="148683" y="0"/>
                </a:moveTo>
                <a:lnTo>
                  <a:pt x="315951" y="0"/>
                </a:lnTo>
                <a:cubicBezTo>
                  <a:pt x="398067" y="0"/>
                  <a:pt x="464634" y="66568"/>
                  <a:pt x="464634" y="148683"/>
                </a:cubicBezTo>
                <a:lnTo>
                  <a:pt x="464634" y="148683"/>
                </a:lnTo>
                <a:cubicBezTo>
                  <a:pt x="464634" y="230798"/>
                  <a:pt x="398067" y="297366"/>
                  <a:pt x="315951" y="297366"/>
                </a:cubicBezTo>
                <a:lnTo>
                  <a:pt x="148683" y="297366"/>
                </a:lnTo>
                <a:cubicBezTo>
                  <a:pt x="66568" y="297366"/>
                  <a:pt x="0" y="230798"/>
                  <a:pt x="0" y="148683"/>
                </a:cubicBezTo>
                <a:lnTo>
                  <a:pt x="0" y="148683"/>
                </a:lnTo>
                <a:cubicBezTo>
                  <a:pt x="0" y="66568"/>
                  <a:pt x="66568" y="0"/>
                  <a:pt x="148683" y="0"/>
                </a:cubicBez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72" name="Text 1">
            <a:extLst>
              <a:ext uri="{FF2B5EF4-FFF2-40B4-BE49-F238E27FC236}">
                <a16:creationId xmlns:a16="http://schemas.microsoft.com/office/drawing/2014/main" id="{E1A920AB-DB4F-D12D-F95F-6C7381C3EAD2}"/>
              </a:ext>
            </a:extLst>
          </p:cNvPr>
          <p:cNvSpPr/>
          <p:nvPr/>
        </p:nvSpPr>
        <p:spPr>
          <a:xfrm>
            <a:off x="371707" y="446108"/>
            <a:ext cx="538976" cy="297366"/>
          </a:xfrm>
          <a:prstGeom prst="rect">
            <a:avLst/>
          </a:prstGeom>
          <a:noFill/>
          <a:ln/>
        </p:spPr>
        <p:txBody>
          <a:bodyPr wrap="square" lIns="148683" tIns="37171" rIns="148683" bIns="37171" rtlCol="0" anchor="ctr"/>
          <a:lstStyle/>
          <a:p>
            <a:pPr>
              <a:lnSpc>
                <a:spcPct val="130000"/>
              </a:lnSpc>
            </a:pPr>
            <a:r>
              <a:rPr lang="en-US" sz="1171" b="1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03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slides_tmpl/image/25-10-09-16:35:25-d3jn7j8s8jdo4os5dj2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137"/>
            <a:ext cx="12192000" cy="685863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50773" y="371707"/>
            <a:ext cx="6644268" cy="446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en-US" sz="3512" b="1" dirty="0">
                <a:solidFill>
                  <a:srgbClr val="343A40"/>
                </a:solidFill>
                <a:latin typeface="阿里妈妈数黑体" pitchFamily="34" charset="0"/>
                <a:ea typeface="阿里妈妈数黑体" pitchFamily="34" charset="-122"/>
                <a:cs typeface="阿里妈妈数黑体" pitchFamily="34" charset="-120"/>
              </a:rPr>
              <a:t>技术实现:稳健的架构与关键技术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1115122" y="892066"/>
            <a:ext cx="1040780" cy="37171"/>
          </a:xfrm>
          <a:custGeom>
            <a:avLst/>
            <a:gdLst/>
            <a:ahLst/>
            <a:cxnLst/>
            <a:rect l="l" t="t" r="r" b="b"/>
            <a:pathLst>
              <a:path w="1040780" h="37171">
                <a:moveTo>
                  <a:pt x="0" y="0"/>
                </a:moveTo>
                <a:lnTo>
                  <a:pt x="1040780" y="0"/>
                </a:lnTo>
                <a:lnTo>
                  <a:pt x="1040780" y="37171"/>
                </a:lnTo>
                <a:lnTo>
                  <a:pt x="0" y="37171"/>
                </a:lnTo>
                <a:lnTo>
                  <a:pt x="0" y="0"/>
                </a:ln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7" name="Shape 4"/>
          <p:cNvSpPr/>
          <p:nvPr/>
        </p:nvSpPr>
        <p:spPr>
          <a:xfrm>
            <a:off x="371707" y="1095419"/>
            <a:ext cx="7573537" cy="2954069"/>
          </a:xfrm>
          <a:custGeom>
            <a:avLst/>
            <a:gdLst/>
            <a:ahLst/>
            <a:cxnLst/>
            <a:rect l="l" t="t" r="r" b="b"/>
            <a:pathLst>
              <a:path w="7573537" h="2954069">
                <a:moveTo>
                  <a:pt x="35161" y="0"/>
                </a:moveTo>
                <a:lnTo>
                  <a:pt x="7538375" y="0"/>
                </a:lnTo>
                <a:cubicBezTo>
                  <a:pt x="7557794" y="0"/>
                  <a:pt x="7573537" y="15742"/>
                  <a:pt x="7573537" y="35161"/>
                </a:cubicBezTo>
                <a:lnTo>
                  <a:pt x="7573537" y="2842552"/>
                </a:lnTo>
                <a:cubicBezTo>
                  <a:pt x="7573537" y="2904141"/>
                  <a:pt x="7523609" y="2954069"/>
                  <a:pt x="7462020" y="2954069"/>
                </a:cubicBezTo>
                <a:lnTo>
                  <a:pt x="111516" y="2954069"/>
                </a:lnTo>
                <a:cubicBezTo>
                  <a:pt x="49927" y="2954069"/>
                  <a:pt x="0" y="2904141"/>
                  <a:pt x="0" y="2842552"/>
                </a:cubicBezTo>
                <a:lnTo>
                  <a:pt x="0" y="35161"/>
                </a:lnTo>
                <a:cubicBezTo>
                  <a:pt x="0" y="15755"/>
                  <a:pt x="15755" y="0"/>
                  <a:pt x="35161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blurRad="139390" dist="92927" dir="5400000" algn="bl" rotWithShape="0">
              <a:srgbClr val="000000">
                <a:alpha val="10196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71707" y="1095419"/>
            <a:ext cx="7573537" cy="35161"/>
          </a:xfrm>
          <a:custGeom>
            <a:avLst/>
            <a:gdLst/>
            <a:ahLst/>
            <a:cxnLst/>
            <a:rect l="l" t="t" r="r" b="b"/>
            <a:pathLst>
              <a:path w="7573537" h="35161">
                <a:moveTo>
                  <a:pt x="35161" y="0"/>
                </a:moveTo>
                <a:lnTo>
                  <a:pt x="7538375" y="0"/>
                </a:lnTo>
                <a:cubicBezTo>
                  <a:pt x="7557794" y="0"/>
                  <a:pt x="7573537" y="15742"/>
                  <a:pt x="7573537" y="35161"/>
                </a:cubicBezTo>
                <a:lnTo>
                  <a:pt x="7573537" y="35161"/>
                </a:lnTo>
                <a:lnTo>
                  <a:pt x="0" y="35161"/>
                </a:lnTo>
                <a:lnTo>
                  <a:pt x="0" y="35161"/>
                </a:lnTo>
                <a:cubicBezTo>
                  <a:pt x="0" y="15755"/>
                  <a:pt x="15755" y="0"/>
                  <a:pt x="35161" y="0"/>
                </a:cubicBezTo>
                <a:close/>
              </a:path>
            </a:pathLst>
          </a:custGeom>
          <a:solidFill>
            <a:srgbClr val="343A40"/>
          </a:solidFill>
          <a:ln/>
        </p:spPr>
      </p:sp>
      <p:sp>
        <p:nvSpPr>
          <p:cNvPr id="9" name="Shape 6"/>
          <p:cNvSpPr/>
          <p:nvPr/>
        </p:nvSpPr>
        <p:spPr>
          <a:xfrm>
            <a:off x="548237" y="1298775"/>
            <a:ext cx="223024" cy="223024"/>
          </a:xfrm>
          <a:custGeom>
            <a:avLst/>
            <a:gdLst/>
            <a:ahLst/>
            <a:cxnLst/>
            <a:rect l="l" t="t" r="r" b="b"/>
            <a:pathLst>
              <a:path w="223024" h="223024">
                <a:moveTo>
                  <a:pt x="101276" y="2265"/>
                </a:moveTo>
                <a:cubicBezTo>
                  <a:pt x="107766" y="-741"/>
                  <a:pt x="115258" y="-741"/>
                  <a:pt x="121749" y="2265"/>
                </a:cubicBezTo>
                <a:lnTo>
                  <a:pt x="216970" y="46260"/>
                </a:lnTo>
                <a:cubicBezTo>
                  <a:pt x="220672" y="47959"/>
                  <a:pt x="223024" y="51662"/>
                  <a:pt x="223024" y="55756"/>
                </a:cubicBezTo>
                <a:cubicBezTo>
                  <a:pt x="223024" y="59851"/>
                  <a:pt x="220672" y="63553"/>
                  <a:pt x="216970" y="65252"/>
                </a:cubicBezTo>
                <a:lnTo>
                  <a:pt x="121749" y="109247"/>
                </a:lnTo>
                <a:cubicBezTo>
                  <a:pt x="115258" y="112253"/>
                  <a:pt x="107766" y="112253"/>
                  <a:pt x="101276" y="109247"/>
                </a:cubicBezTo>
                <a:lnTo>
                  <a:pt x="6055" y="65252"/>
                </a:lnTo>
                <a:cubicBezTo>
                  <a:pt x="2352" y="63510"/>
                  <a:pt x="0" y="59807"/>
                  <a:pt x="0" y="55756"/>
                </a:cubicBezTo>
                <a:cubicBezTo>
                  <a:pt x="0" y="51705"/>
                  <a:pt x="2352" y="47959"/>
                  <a:pt x="6055" y="46260"/>
                </a:cubicBezTo>
                <a:lnTo>
                  <a:pt x="101276" y="2265"/>
                </a:lnTo>
                <a:close/>
                <a:moveTo>
                  <a:pt x="20952" y="95134"/>
                </a:moveTo>
                <a:lnTo>
                  <a:pt x="92520" y="128195"/>
                </a:lnTo>
                <a:cubicBezTo>
                  <a:pt x="104586" y="133771"/>
                  <a:pt x="118482" y="133771"/>
                  <a:pt x="130548" y="128195"/>
                </a:cubicBezTo>
                <a:lnTo>
                  <a:pt x="202116" y="95134"/>
                </a:lnTo>
                <a:lnTo>
                  <a:pt x="216970" y="102016"/>
                </a:lnTo>
                <a:cubicBezTo>
                  <a:pt x="220672" y="103715"/>
                  <a:pt x="223024" y="107418"/>
                  <a:pt x="223024" y="111512"/>
                </a:cubicBezTo>
                <a:cubicBezTo>
                  <a:pt x="223024" y="115607"/>
                  <a:pt x="220672" y="119309"/>
                  <a:pt x="216970" y="121008"/>
                </a:cubicBezTo>
                <a:lnTo>
                  <a:pt x="121749" y="165003"/>
                </a:lnTo>
                <a:cubicBezTo>
                  <a:pt x="115258" y="168009"/>
                  <a:pt x="107766" y="168009"/>
                  <a:pt x="101276" y="165003"/>
                </a:cubicBezTo>
                <a:lnTo>
                  <a:pt x="6055" y="121008"/>
                </a:lnTo>
                <a:cubicBezTo>
                  <a:pt x="2352" y="119266"/>
                  <a:pt x="0" y="115563"/>
                  <a:pt x="0" y="111512"/>
                </a:cubicBezTo>
                <a:cubicBezTo>
                  <a:pt x="0" y="107461"/>
                  <a:pt x="2352" y="103715"/>
                  <a:pt x="6055" y="102016"/>
                </a:cubicBezTo>
                <a:lnTo>
                  <a:pt x="20909" y="95134"/>
                </a:lnTo>
                <a:close/>
                <a:moveTo>
                  <a:pt x="6055" y="157772"/>
                </a:moveTo>
                <a:lnTo>
                  <a:pt x="20909" y="150890"/>
                </a:lnTo>
                <a:lnTo>
                  <a:pt x="92477" y="183952"/>
                </a:lnTo>
                <a:cubicBezTo>
                  <a:pt x="104543" y="189527"/>
                  <a:pt x="118438" y="189527"/>
                  <a:pt x="130504" y="183952"/>
                </a:cubicBezTo>
                <a:lnTo>
                  <a:pt x="202072" y="150890"/>
                </a:lnTo>
                <a:lnTo>
                  <a:pt x="216926" y="157772"/>
                </a:lnTo>
                <a:cubicBezTo>
                  <a:pt x="220629" y="159471"/>
                  <a:pt x="222981" y="163174"/>
                  <a:pt x="222981" y="167268"/>
                </a:cubicBezTo>
                <a:cubicBezTo>
                  <a:pt x="222981" y="171363"/>
                  <a:pt x="220629" y="175065"/>
                  <a:pt x="216926" y="176764"/>
                </a:cubicBezTo>
                <a:lnTo>
                  <a:pt x="121705" y="220759"/>
                </a:lnTo>
                <a:cubicBezTo>
                  <a:pt x="115215" y="223765"/>
                  <a:pt x="107723" y="223765"/>
                  <a:pt x="101232" y="220759"/>
                </a:cubicBezTo>
                <a:lnTo>
                  <a:pt x="6055" y="176764"/>
                </a:lnTo>
                <a:cubicBezTo>
                  <a:pt x="2352" y="175022"/>
                  <a:pt x="0" y="171319"/>
                  <a:pt x="0" y="167268"/>
                </a:cubicBezTo>
                <a:cubicBezTo>
                  <a:pt x="0" y="163217"/>
                  <a:pt x="2352" y="159471"/>
                  <a:pt x="6055" y="157772"/>
                </a:cubicBezTo>
                <a:close/>
              </a:path>
            </a:pathLst>
          </a:custGeom>
          <a:solidFill>
            <a:srgbClr val="343A40"/>
          </a:solidFill>
          <a:ln/>
        </p:spPr>
      </p:sp>
      <p:sp>
        <p:nvSpPr>
          <p:cNvPr id="10" name="Text 7"/>
          <p:cNvSpPr/>
          <p:nvPr/>
        </p:nvSpPr>
        <p:spPr>
          <a:xfrm>
            <a:off x="910589" y="1261654"/>
            <a:ext cx="1003610" cy="2973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756" b="1" dirty="0">
                <a:solidFill>
                  <a:srgbClr val="343A40"/>
                </a:solidFill>
                <a:latin typeface="阿里妈妈数黑体" pitchFamily="34" charset="0"/>
                <a:ea typeface="阿里妈妈数黑体" pitchFamily="34" charset="-122"/>
                <a:cs typeface="阿里妈妈数黑体" pitchFamily="34" charset="-120"/>
              </a:rPr>
              <a:t>系统架构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671318" y="1820553"/>
            <a:ext cx="7350512" cy="223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71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采用</a:t>
            </a:r>
            <a:r>
              <a:rPr lang="en-US" sz="1171" b="1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前后端分离、分层设计</a:t>
            </a:r>
            <a:r>
              <a:rPr lang="en-US" sz="1171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的现代架构模式，实现职责清晰、高内聚低耦合的系统设计。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539318" y="2882629"/>
            <a:ext cx="2378927" cy="594732"/>
          </a:xfrm>
          <a:custGeom>
            <a:avLst/>
            <a:gdLst/>
            <a:ahLst/>
            <a:cxnLst/>
            <a:rect l="l" t="t" r="r" b="b"/>
            <a:pathLst>
              <a:path w="2378927" h="594732">
                <a:moveTo>
                  <a:pt x="74341" y="0"/>
                </a:moveTo>
                <a:lnTo>
                  <a:pt x="2304585" y="0"/>
                </a:lnTo>
                <a:cubicBezTo>
                  <a:pt x="2345643" y="0"/>
                  <a:pt x="2378927" y="33284"/>
                  <a:pt x="2378927" y="74341"/>
                </a:cubicBezTo>
                <a:lnTo>
                  <a:pt x="2378927" y="520390"/>
                </a:lnTo>
                <a:cubicBezTo>
                  <a:pt x="2378927" y="561448"/>
                  <a:pt x="2345643" y="594732"/>
                  <a:pt x="2304585" y="594732"/>
                </a:cubicBezTo>
                <a:lnTo>
                  <a:pt x="74341" y="594732"/>
                </a:lnTo>
                <a:cubicBezTo>
                  <a:pt x="33311" y="594732"/>
                  <a:pt x="0" y="561420"/>
                  <a:pt x="0" y="520390"/>
                </a:cubicBezTo>
                <a:lnTo>
                  <a:pt x="0" y="74341"/>
                </a:lnTo>
                <a:cubicBezTo>
                  <a:pt x="0" y="33284"/>
                  <a:pt x="33284" y="0"/>
                  <a:pt x="74341" y="0"/>
                </a:cubicBezTo>
                <a:close/>
              </a:path>
            </a:pathLst>
          </a:custGeom>
          <a:solidFill>
            <a:srgbClr val="343A40"/>
          </a:solidFill>
          <a:ln/>
        </p:spPr>
      </p:sp>
      <p:sp>
        <p:nvSpPr>
          <p:cNvPr id="14" name="Text 10"/>
          <p:cNvSpPr/>
          <p:nvPr/>
        </p:nvSpPr>
        <p:spPr>
          <a:xfrm>
            <a:off x="576473" y="2956953"/>
            <a:ext cx="2304585" cy="223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171" b="1" dirty="0">
                <a:solidFill>
                  <a:srgbClr val="FFC10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表示层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581119" y="3217057"/>
            <a:ext cx="2295293" cy="185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24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React + TS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2988458" y="2882629"/>
            <a:ext cx="2378927" cy="594732"/>
          </a:xfrm>
          <a:custGeom>
            <a:avLst/>
            <a:gdLst/>
            <a:ahLst/>
            <a:cxnLst/>
            <a:rect l="l" t="t" r="r" b="b"/>
            <a:pathLst>
              <a:path w="2378927" h="594732">
                <a:moveTo>
                  <a:pt x="74341" y="0"/>
                </a:moveTo>
                <a:lnTo>
                  <a:pt x="2304585" y="0"/>
                </a:lnTo>
                <a:cubicBezTo>
                  <a:pt x="2345643" y="0"/>
                  <a:pt x="2378927" y="33284"/>
                  <a:pt x="2378927" y="74341"/>
                </a:cubicBezTo>
                <a:lnTo>
                  <a:pt x="2378927" y="520390"/>
                </a:lnTo>
                <a:cubicBezTo>
                  <a:pt x="2378927" y="561448"/>
                  <a:pt x="2345643" y="594732"/>
                  <a:pt x="2304585" y="594732"/>
                </a:cubicBezTo>
                <a:lnTo>
                  <a:pt x="74341" y="594732"/>
                </a:lnTo>
                <a:cubicBezTo>
                  <a:pt x="33311" y="594732"/>
                  <a:pt x="0" y="561420"/>
                  <a:pt x="0" y="520390"/>
                </a:cubicBezTo>
                <a:lnTo>
                  <a:pt x="0" y="74341"/>
                </a:lnTo>
                <a:cubicBezTo>
                  <a:pt x="0" y="33284"/>
                  <a:pt x="33284" y="0"/>
                  <a:pt x="74341" y="0"/>
                </a:cubicBez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17" name="Text 13"/>
          <p:cNvSpPr/>
          <p:nvPr/>
        </p:nvSpPr>
        <p:spPr>
          <a:xfrm>
            <a:off x="3025613" y="2956953"/>
            <a:ext cx="2304585" cy="223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171" b="1" dirty="0">
                <a:solidFill>
                  <a:srgbClr val="FFC10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业务逻辑层</a:t>
            </a:r>
            <a:endParaRPr lang="en-US" sz="1600" dirty="0"/>
          </a:p>
        </p:txBody>
      </p:sp>
      <p:sp>
        <p:nvSpPr>
          <p:cNvPr id="18" name="Text 14"/>
          <p:cNvSpPr/>
          <p:nvPr/>
        </p:nvSpPr>
        <p:spPr>
          <a:xfrm>
            <a:off x="3030259" y="3217057"/>
            <a:ext cx="2295293" cy="185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24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FastAPI</a:t>
            </a:r>
            <a:endParaRPr lang="en-US" sz="1600" dirty="0"/>
          </a:p>
        </p:txBody>
      </p:sp>
      <p:sp>
        <p:nvSpPr>
          <p:cNvPr id="19" name="Shape 15"/>
          <p:cNvSpPr/>
          <p:nvPr/>
        </p:nvSpPr>
        <p:spPr>
          <a:xfrm>
            <a:off x="5437598" y="2882629"/>
            <a:ext cx="2378927" cy="594732"/>
          </a:xfrm>
          <a:custGeom>
            <a:avLst/>
            <a:gdLst/>
            <a:ahLst/>
            <a:cxnLst/>
            <a:rect l="l" t="t" r="r" b="b"/>
            <a:pathLst>
              <a:path w="2378927" h="594732">
                <a:moveTo>
                  <a:pt x="74341" y="0"/>
                </a:moveTo>
                <a:lnTo>
                  <a:pt x="2304585" y="0"/>
                </a:lnTo>
                <a:cubicBezTo>
                  <a:pt x="2345643" y="0"/>
                  <a:pt x="2378927" y="33284"/>
                  <a:pt x="2378927" y="74341"/>
                </a:cubicBezTo>
                <a:lnTo>
                  <a:pt x="2378927" y="520390"/>
                </a:lnTo>
                <a:cubicBezTo>
                  <a:pt x="2378927" y="561448"/>
                  <a:pt x="2345643" y="594732"/>
                  <a:pt x="2304585" y="594732"/>
                </a:cubicBezTo>
                <a:lnTo>
                  <a:pt x="74341" y="594732"/>
                </a:lnTo>
                <a:cubicBezTo>
                  <a:pt x="33311" y="594732"/>
                  <a:pt x="0" y="561420"/>
                  <a:pt x="0" y="520390"/>
                </a:cubicBezTo>
                <a:lnTo>
                  <a:pt x="0" y="74341"/>
                </a:lnTo>
                <a:cubicBezTo>
                  <a:pt x="0" y="33284"/>
                  <a:pt x="33284" y="0"/>
                  <a:pt x="74341" y="0"/>
                </a:cubicBezTo>
                <a:close/>
              </a:path>
            </a:pathLst>
          </a:custGeom>
          <a:solidFill>
            <a:srgbClr val="6C757D"/>
          </a:solidFill>
          <a:ln/>
        </p:spPr>
      </p:sp>
      <p:sp>
        <p:nvSpPr>
          <p:cNvPr id="20" name="Text 16"/>
          <p:cNvSpPr/>
          <p:nvPr/>
        </p:nvSpPr>
        <p:spPr>
          <a:xfrm>
            <a:off x="5474752" y="2956953"/>
            <a:ext cx="2304585" cy="223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171" b="1" dirty="0">
                <a:solidFill>
                  <a:srgbClr val="FFC10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数据访问层</a:t>
            </a:r>
            <a:endParaRPr lang="en-US" sz="1600" dirty="0"/>
          </a:p>
        </p:txBody>
      </p:sp>
      <p:sp>
        <p:nvSpPr>
          <p:cNvPr id="21" name="Text 17"/>
          <p:cNvSpPr/>
          <p:nvPr/>
        </p:nvSpPr>
        <p:spPr>
          <a:xfrm>
            <a:off x="5479399" y="3217057"/>
            <a:ext cx="2295293" cy="185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24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MySQL</a:t>
            </a:r>
            <a:endParaRPr lang="en-US" sz="1600" dirty="0"/>
          </a:p>
        </p:txBody>
      </p:sp>
      <p:sp>
        <p:nvSpPr>
          <p:cNvPr id="22" name="Shape 18"/>
          <p:cNvSpPr/>
          <p:nvPr/>
        </p:nvSpPr>
        <p:spPr>
          <a:xfrm>
            <a:off x="371707" y="4215296"/>
            <a:ext cx="3707780" cy="1281386"/>
          </a:xfrm>
          <a:custGeom>
            <a:avLst/>
            <a:gdLst/>
            <a:ahLst/>
            <a:cxnLst/>
            <a:rect l="l" t="t" r="r" b="b"/>
            <a:pathLst>
              <a:path w="3707780" h="1281386">
                <a:moveTo>
                  <a:pt x="35161" y="0"/>
                </a:moveTo>
                <a:lnTo>
                  <a:pt x="3672619" y="0"/>
                </a:lnTo>
                <a:cubicBezTo>
                  <a:pt x="3692038" y="0"/>
                  <a:pt x="3707780" y="15742"/>
                  <a:pt x="3707780" y="35161"/>
                </a:cubicBezTo>
                <a:lnTo>
                  <a:pt x="3707780" y="1169879"/>
                </a:lnTo>
                <a:cubicBezTo>
                  <a:pt x="3707780" y="1231463"/>
                  <a:pt x="3657857" y="1281386"/>
                  <a:pt x="3596274" y="1281386"/>
                </a:cubicBezTo>
                <a:lnTo>
                  <a:pt x="111506" y="1281386"/>
                </a:lnTo>
                <a:cubicBezTo>
                  <a:pt x="49923" y="1281386"/>
                  <a:pt x="0" y="1231463"/>
                  <a:pt x="0" y="1169879"/>
                </a:cubicBezTo>
                <a:lnTo>
                  <a:pt x="0" y="35161"/>
                </a:lnTo>
                <a:cubicBezTo>
                  <a:pt x="0" y="15755"/>
                  <a:pt x="15755" y="0"/>
                  <a:pt x="35161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blurRad="139390" dist="92927" dir="5400000" algn="bl" rotWithShape="0">
              <a:srgbClr val="000000">
                <a:alpha val="10196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371707" y="4215296"/>
            <a:ext cx="3707780" cy="35161"/>
          </a:xfrm>
          <a:custGeom>
            <a:avLst/>
            <a:gdLst/>
            <a:ahLst/>
            <a:cxnLst/>
            <a:rect l="l" t="t" r="r" b="b"/>
            <a:pathLst>
              <a:path w="3707780" h="35161">
                <a:moveTo>
                  <a:pt x="35161" y="0"/>
                </a:moveTo>
                <a:lnTo>
                  <a:pt x="3672619" y="0"/>
                </a:lnTo>
                <a:cubicBezTo>
                  <a:pt x="3692038" y="0"/>
                  <a:pt x="3707780" y="15742"/>
                  <a:pt x="3707780" y="35161"/>
                </a:cubicBezTo>
                <a:lnTo>
                  <a:pt x="3707780" y="35161"/>
                </a:lnTo>
                <a:lnTo>
                  <a:pt x="0" y="35161"/>
                </a:lnTo>
                <a:lnTo>
                  <a:pt x="0" y="35161"/>
                </a:lnTo>
                <a:cubicBezTo>
                  <a:pt x="0" y="15755"/>
                  <a:pt x="15755" y="0"/>
                  <a:pt x="35161" y="0"/>
                </a:cubicBez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24" name="Shape 20"/>
          <p:cNvSpPr/>
          <p:nvPr/>
        </p:nvSpPr>
        <p:spPr>
          <a:xfrm>
            <a:off x="543591" y="4418653"/>
            <a:ext cx="185854" cy="185854"/>
          </a:xfrm>
          <a:custGeom>
            <a:avLst/>
            <a:gdLst/>
            <a:ahLst/>
            <a:cxnLst/>
            <a:rect l="l" t="t" r="r" b="b"/>
            <a:pathLst>
              <a:path w="185854" h="185854">
                <a:moveTo>
                  <a:pt x="151805" y="64323"/>
                </a:moveTo>
                <a:cubicBezTo>
                  <a:pt x="149845" y="63669"/>
                  <a:pt x="147884" y="63052"/>
                  <a:pt x="145924" y="62472"/>
                </a:cubicBezTo>
                <a:cubicBezTo>
                  <a:pt x="146251" y="61128"/>
                  <a:pt x="146541" y="59785"/>
                  <a:pt x="146832" y="58442"/>
                </a:cubicBezTo>
                <a:cubicBezTo>
                  <a:pt x="151296" y="36808"/>
                  <a:pt x="148356" y="19420"/>
                  <a:pt x="138446" y="13685"/>
                </a:cubicBezTo>
                <a:cubicBezTo>
                  <a:pt x="128900" y="8204"/>
                  <a:pt x="113327" y="13903"/>
                  <a:pt x="97573" y="27624"/>
                </a:cubicBezTo>
                <a:cubicBezTo>
                  <a:pt x="96012" y="28967"/>
                  <a:pt x="94488" y="30383"/>
                  <a:pt x="93036" y="31798"/>
                </a:cubicBezTo>
                <a:cubicBezTo>
                  <a:pt x="92056" y="30855"/>
                  <a:pt x="91039" y="29911"/>
                  <a:pt x="90023" y="29003"/>
                </a:cubicBezTo>
                <a:cubicBezTo>
                  <a:pt x="73507" y="14338"/>
                  <a:pt x="56954" y="8167"/>
                  <a:pt x="47044" y="13939"/>
                </a:cubicBezTo>
                <a:cubicBezTo>
                  <a:pt x="37534" y="19457"/>
                  <a:pt x="34702" y="35828"/>
                  <a:pt x="38695" y="56301"/>
                </a:cubicBezTo>
                <a:cubicBezTo>
                  <a:pt x="39095" y="58333"/>
                  <a:pt x="39530" y="60330"/>
                  <a:pt x="40038" y="62363"/>
                </a:cubicBezTo>
                <a:cubicBezTo>
                  <a:pt x="37715" y="63016"/>
                  <a:pt x="35428" y="63742"/>
                  <a:pt x="33287" y="64504"/>
                </a:cubicBezTo>
                <a:cubicBezTo>
                  <a:pt x="13903" y="71220"/>
                  <a:pt x="0" y="81819"/>
                  <a:pt x="0" y="92782"/>
                </a:cubicBezTo>
                <a:cubicBezTo>
                  <a:pt x="0" y="104107"/>
                  <a:pt x="14810" y="115469"/>
                  <a:pt x="34956" y="122366"/>
                </a:cubicBezTo>
                <a:cubicBezTo>
                  <a:pt x="36590" y="122910"/>
                  <a:pt x="38223" y="123455"/>
                  <a:pt x="39893" y="123927"/>
                </a:cubicBezTo>
                <a:cubicBezTo>
                  <a:pt x="39349" y="126105"/>
                  <a:pt x="38877" y="128246"/>
                  <a:pt x="38441" y="130461"/>
                </a:cubicBezTo>
                <a:cubicBezTo>
                  <a:pt x="34630" y="150607"/>
                  <a:pt x="37606" y="166579"/>
                  <a:pt x="47117" y="172060"/>
                </a:cubicBezTo>
                <a:cubicBezTo>
                  <a:pt x="56918" y="177723"/>
                  <a:pt x="73398" y="171915"/>
                  <a:pt x="89442" y="157867"/>
                </a:cubicBezTo>
                <a:cubicBezTo>
                  <a:pt x="90713" y="156741"/>
                  <a:pt x="91983" y="155580"/>
                  <a:pt x="93254" y="154346"/>
                </a:cubicBezTo>
                <a:cubicBezTo>
                  <a:pt x="94851" y="155907"/>
                  <a:pt x="96520" y="157395"/>
                  <a:pt x="98190" y="158847"/>
                </a:cubicBezTo>
                <a:cubicBezTo>
                  <a:pt x="113726" y="172205"/>
                  <a:pt x="129081" y="177614"/>
                  <a:pt x="138555" y="172132"/>
                </a:cubicBezTo>
                <a:cubicBezTo>
                  <a:pt x="148356" y="166470"/>
                  <a:pt x="151551" y="149300"/>
                  <a:pt x="147412" y="128391"/>
                </a:cubicBezTo>
                <a:cubicBezTo>
                  <a:pt x="147086" y="126794"/>
                  <a:pt x="146723" y="125161"/>
                  <a:pt x="146323" y="123491"/>
                </a:cubicBezTo>
                <a:cubicBezTo>
                  <a:pt x="147485" y="123164"/>
                  <a:pt x="148610" y="122801"/>
                  <a:pt x="149736" y="122438"/>
                </a:cubicBezTo>
                <a:cubicBezTo>
                  <a:pt x="170680" y="115505"/>
                  <a:pt x="185854" y="104289"/>
                  <a:pt x="185854" y="92782"/>
                </a:cubicBezTo>
                <a:cubicBezTo>
                  <a:pt x="185854" y="81783"/>
                  <a:pt x="171552" y="71111"/>
                  <a:pt x="151805" y="64323"/>
                </a:cubicBezTo>
                <a:close/>
                <a:moveTo>
                  <a:pt x="102691" y="33504"/>
                </a:moveTo>
                <a:cubicBezTo>
                  <a:pt x="116195" y="21743"/>
                  <a:pt x="128791" y="17133"/>
                  <a:pt x="134526" y="20437"/>
                </a:cubicBezTo>
                <a:cubicBezTo>
                  <a:pt x="140661" y="23958"/>
                  <a:pt x="143020" y="38187"/>
                  <a:pt x="139172" y="56881"/>
                </a:cubicBezTo>
                <a:cubicBezTo>
                  <a:pt x="138918" y="58116"/>
                  <a:pt x="138664" y="59313"/>
                  <a:pt x="138338" y="60511"/>
                </a:cubicBezTo>
                <a:cubicBezTo>
                  <a:pt x="130279" y="58696"/>
                  <a:pt x="122112" y="57390"/>
                  <a:pt x="113908" y="56664"/>
                </a:cubicBezTo>
                <a:cubicBezTo>
                  <a:pt x="109189" y="49912"/>
                  <a:pt x="104034" y="43451"/>
                  <a:pt x="98444" y="37389"/>
                </a:cubicBezTo>
                <a:cubicBezTo>
                  <a:pt x="99860" y="36045"/>
                  <a:pt x="101239" y="34775"/>
                  <a:pt x="102691" y="33504"/>
                </a:cubicBezTo>
                <a:close/>
                <a:moveTo>
                  <a:pt x="60693" y="111621"/>
                </a:moveTo>
                <a:cubicBezTo>
                  <a:pt x="62544" y="114779"/>
                  <a:pt x="64432" y="117937"/>
                  <a:pt x="66428" y="121023"/>
                </a:cubicBezTo>
                <a:cubicBezTo>
                  <a:pt x="60765" y="120406"/>
                  <a:pt x="55139" y="119498"/>
                  <a:pt x="49585" y="118300"/>
                </a:cubicBezTo>
                <a:cubicBezTo>
                  <a:pt x="51182" y="113073"/>
                  <a:pt x="53179" y="107664"/>
                  <a:pt x="55502" y="102147"/>
                </a:cubicBezTo>
                <a:cubicBezTo>
                  <a:pt x="57172" y="105341"/>
                  <a:pt x="58878" y="108499"/>
                  <a:pt x="60693" y="111621"/>
                </a:cubicBezTo>
                <a:close/>
                <a:moveTo>
                  <a:pt x="49694" y="67953"/>
                </a:moveTo>
                <a:cubicBezTo>
                  <a:pt x="54921" y="66791"/>
                  <a:pt x="60475" y="65847"/>
                  <a:pt x="66247" y="65121"/>
                </a:cubicBezTo>
                <a:cubicBezTo>
                  <a:pt x="64323" y="68134"/>
                  <a:pt x="62435" y="71220"/>
                  <a:pt x="60657" y="74341"/>
                </a:cubicBezTo>
                <a:cubicBezTo>
                  <a:pt x="58878" y="77427"/>
                  <a:pt x="57135" y="80585"/>
                  <a:pt x="55502" y="83779"/>
                </a:cubicBezTo>
                <a:cubicBezTo>
                  <a:pt x="53215" y="78371"/>
                  <a:pt x="51291" y="73071"/>
                  <a:pt x="49694" y="67953"/>
                </a:cubicBezTo>
                <a:close/>
                <a:moveTo>
                  <a:pt x="59640" y="92963"/>
                </a:moveTo>
                <a:cubicBezTo>
                  <a:pt x="62036" y="87954"/>
                  <a:pt x="64649" y="83053"/>
                  <a:pt x="67408" y="78226"/>
                </a:cubicBezTo>
                <a:cubicBezTo>
                  <a:pt x="70167" y="73398"/>
                  <a:pt x="73144" y="68715"/>
                  <a:pt x="76265" y="64105"/>
                </a:cubicBezTo>
                <a:cubicBezTo>
                  <a:pt x="81710" y="63706"/>
                  <a:pt x="87264" y="63488"/>
                  <a:pt x="92927" y="63488"/>
                </a:cubicBezTo>
                <a:cubicBezTo>
                  <a:pt x="98590" y="63488"/>
                  <a:pt x="104180" y="63706"/>
                  <a:pt x="109588" y="64105"/>
                </a:cubicBezTo>
                <a:cubicBezTo>
                  <a:pt x="112674" y="68679"/>
                  <a:pt x="115614" y="73361"/>
                  <a:pt x="118409" y="78153"/>
                </a:cubicBezTo>
                <a:cubicBezTo>
                  <a:pt x="121204" y="82944"/>
                  <a:pt x="123818" y="87845"/>
                  <a:pt x="126286" y="92818"/>
                </a:cubicBezTo>
                <a:cubicBezTo>
                  <a:pt x="123854" y="97827"/>
                  <a:pt x="121240" y="102764"/>
                  <a:pt x="118445" y="107628"/>
                </a:cubicBezTo>
                <a:cubicBezTo>
                  <a:pt x="115687" y="112456"/>
                  <a:pt x="112746" y="117139"/>
                  <a:pt x="109661" y="121785"/>
                </a:cubicBezTo>
                <a:cubicBezTo>
                  <a:pt x="104252" y="122184"/>
                  <a:pt x="98626" y="122366"/>
                  <a:pt x="92927" y="122366"/>
                </a:cubicBezTo>
                <a:cubicBezTo>
                  <a:pt x="87228" y="122366"/>
                  <a:pt x="81710" y="122184"/>
                  <a:pt x="76374" y="121858"/>
                </a:cubicBezTo>
                <a:cubicBezTo>
                  <a:pt x="73216" y="117248"/>
                  <a:pt x="70240" y="112529"/>
                  <a:pt x="67445" y="107701"/>
                </a:cubicBezTo>
                <a:cubicBezTo>
                  <a:pt x="64649" y="102873"/>
                  <a:pt x="62072" y="97972"/>
                  <a:pt x="59640" y="92963"/>
                </a:cubicBezTo>
                <a:close/>
                <a:moveTo>
                  <a:pt x="125197" y="111548"/>
                </a:moveTo>
                <a:cubicBezTo>
                  <a:pt x="127048" y="108354"/>
                  <a:pt x="128791" y="105123"/>
                  <a:pt x="130497" y="101857"/>
                </a:cubicBezTo>
                <a:cubicBezTo>
                  <a:pt x="132820" y="107120"/>
                  <a:pt x="134853" y="112456"/>
                  <a:pt x="136631" y="117937"/>
                </a:cubicBezTo>
                <a:cubicBezTo>
                  <a:pt x="131005" y="119208"/>
                  <a:pt x="125306" y="120188"/>
                  <a:pt x="119571" y="120841"/>
                </a:cubicBezTo>
                <a:cubicBezTo>
                  <a:pt x="121531" y="117792"/>
                  <a:pt x="123382" y="114670"/>
                  <a:pt x="125197" y="111548"/>
                </a:cubicBezTo>
                <a:close/>
                <a:moveTo>
                  <a:pt x="130424" y="83779"/>
                </a:moveTo>
                <a:cubicBezTo>
                  <a:pt x="128718" y="80585"/>
                  <a:pt x="126976" y="77391"/>
                  <a:pt x="125161" y="74269"/>
                </a:cubicBezTo>
                <a:cubicBezTo>
                  <a:pt x="123382" y="71183"/>
                  <a:pt x="121531" y="68134"/>
                  <a:pt x="119607" y="65121"/>
                </a:cubicBezTo>
                <a:cubicBezTo>
                  <a:pt x="125451" y="65847"/>
                  <a:pt x="131041" y="66827"/>
                  <a:pt x="136268" y="68025"/>
                </a:cubicBezTo>
                <a:cubicBezTo>
                  <a:pt x="134599" y="73398"/>
                  <a:pt x="132639" y="78625"/>
                  <a:pt x="130424" y="83779"/>
                </a:cubicBezTo>
                <a:close/>
                <a:moveTo>
                  <a:pt x="92999" y="42942"/>
                </a:moveTo>
                <a:cubicBezTo>
                  <a:pt x="96811" y="47081"/>
                  <a:pt x="100405" y="51436"/>
                  <a:pt x="103744" y="55938"/>
                </a:cubicBezTo>
                <a:cubicBezTo>
                  <a:pt x="96557" y="55611"/>
                  <a:pt x="89333" y="55611"/>
                  <a:pt x="82146" y="55938"/>
                </a:cubicBezTo>
                <a:cubicBezTo>
                  <a:pt x="85703" y="51255"/>
                  <a:pt x="89369" y="46899"/>
                  <a:pt x="92999" y="42942"/>
                </a:cubicBezTo>
                <a:close/>
                <a:moveTo>
                  <a:pt x="50892" y="20691"/>
                </a:moveTo>
                <a:cubicBezTo>
                  <a:pt x="56990" y="17133"/>
                  <a:pt x="70530" y="22215"/>
                  <a:pt x="84796" y="34848"/>
                </a:cubicBezTo>
                <a:cubicBezTo>
                  <a:pt x="85703" y="35646"/>
                  <a:pt x="86611" y="36517"/>
                  <a:pt x="87554" y="37389"/>
                </a:cubicBezTo>
                <a:cubicBezTo>
                  <a:pt x="81928" y="43451"/>
                  <a:pt x="76737" y="49912"/>
                  <a:pt x="71982" y="56664"/>
                </a:cubicBezTo>
                <a:cubicBezTo>
                  <a:pt x="63778" y="57390"/>
                  <a:pt x="55647" y="58660"/>
                  <a:pt x="47589" y="60439"/>
                </a:cubicBezTo>
                <a:cubicBezTo>
                  <a:pt x="47117" y="58587"/>
                  <a:pt x="46718" y="56700"/>
                  <a:pt x="46318" y="54812"/>
                </a:cubicBezTo>
                <a:cubicBezTo>
                  <a:pt x="42906" y="37243"/>
                  <a:pt x="45157" y="23994"/>
                  <a:pt x="50892" y="20691"/>
                </a:cubicBezTo>
                <a:close/>
                <a:moveTo>
                  <a:pt x="41999" y="116376"/>
                </a:moveTo>
                <a:cubicBezTo>
                  <a:pt x="40474" y="115941"/>
                  <a:pt x="38986" y="115469"/>
                  <a:pt x="37497" y="114961"/>
                </a:cubicBezTo>
                <a:cubicBezTo>
                  <a:pt x="29766" y="112529"/>
                  <a:pt x="20981" y="108681"/>
                  <a:pt x="14629" y="103635"/>
                </a:cubicBezTo>
                <a:cubicBezTo>
                  <a:pt x="10962" y="101094"/>
                  <a:pt x="8494" y="97174"/>
                  <a:pt x="7804" y="92782"/>
                </a:cubicBezTo>
                <a:cubicBezTo>
                  <a:pt x="7804" y="86139"/>
                  <a:pt x="19275" y="77645"/>
                  <a:pt x="35828" y="71873"/>
                </a:cubicBezTo>
                <a:cubicBezTo>
                  <a:pt x="37897" y="71147"/>
                  <a:pt x="40002" y="70494"/>
                  <a:pt x="42107" y="69877"/>
                </a:cubicBezTo>
                <a:cubicBezTo>
                  <a:pt x="44576" y="77754"/>
                  <a:pt x="47552" y="85485"/>
                  <a:pt x="51001" y="92963"/>
                </a:cubicBezTo>
                <a:cubicBezTo>
                  <a:pt x="47516" y="100550"/>
                  <a:pt x="44503" y="108390"/>
                  <a:pt x="41999" y="116376"/>
                </a:cubicBezTo>
                <a:close/>
                <a:moveTo>
                  <a:pt x="84324" y="151950"/>
                </a:moveTo>
                <a:cubicBezTo>
                  <a:pt x="78334" y="157431"/>
                  <a:pt x="71401" y="161787"/>
                  <a:pt x="63851" y="164764"/>
                </a:cubicBezTo>
                <a:cubicBezTo>
                  <a:pt x="59822" y="166688"/>
                  <a:pt x="55175" y="166869"/>
                  <a:pt x="51037" y="165236"/>
                </a:cubicBezTo>
                <a:cubicBezTo>
                  <a:pt x="45266" y="161896"/>
                  <a:pt x="42870" y="149082"/>
                  <a:pt x="46137" y="131840"/>
                </a:cubicBezTo>
                <a:cubicBezTo>
                  <a:pt x="46536" y="129807"/>
                  <a:pt x="46972" y="127774"/>
                  <a:pt x="47480" y="125778"/>
                </a:cubicBezTo>
                <a:cubicBezTo>
                  <a:pt x="55611" y="127520"/>
                  <a:pt x="63815" y="128718"/>
                  <a:pt x="72127" y="129335"/>
                </a:cubicBezTo>
                <a:cubicBezTo>
                  <a:pt x="76919" y="136123"/>
                  <a:pt x="82182" y="142621"/>
                  <a:pt x="87809" y="148719"/>
                </a:cubicBezTo>
                <a:cubicBezTo>
                  <a:pt x="86647" y="149845"/>
                  <a:pt x="85485" y="150933"/>
                  <a:pt x="84324" y="151950"/>
                </a:cubicBezTo>
                <a:close/>
                <a:moveTo>
                  <a:pt x="93217" y="143129"/>
                </a:moveTo>
                <a:cubicBezTo>
                  <a:pt x="89515" y="139136"/>
                  <a:pt x="85812" y="134708"/>
                  <a:pt x="82218" y="129952"/>
                </a:cubicBezTo>
                <a:cubicBezTo>
                  <a:pt x="85703" y="130098"/>
                  <a:pt x="89297" y="130170"/>
                  <a:pt x="92927" y="130170"/>
                </a:cubicBezTo>
                <a:cubicBezTo>
                  <a:pt x="96666" y="130170"/>
                  <a:pt x="100332" y="130098"/>
                  <a:pt x="103962" y="129916"/>
                </a:cubicBezTo>
                <a:cubicBezTo>
                  <a:pt x="100622" y="134526"/>
                  <a:pt x="97029" y="138918"/>
                  <a:pt x="93217" y="143129"/>
                </a:cubicBezTo>
                <a:close/>
                <a:moveTo>
                  <a:pt x="140661" y="154019"/>
                </a:moveTo>
                <a:cubicBezTo>
                  <a:pt x="140334" y="158448"/>
                  <a:pt x="138156" y="162586"/>
                  <a:pt x="134671" y="165381"/>
                </a:cubicBezTo>
                <a:cubicBezTo>
                  <a:pt x="128900" y="168720"/>
                  <a:pt x="116594" y="164364"/>
                  <a:pt x="103308" y="152966"/>
                </a:cubicBezTo>
                <a:cubicBezTo>
                  <a:pt x="101784" y="151659"/>
                  <a:pt x="100259" y="150244"/>
                  <a:pt x="98698" y="148792"/>
                </a:cubicBezTo>
                <a:cubicBezTo>
                  <a:pt x="104252" y="142657"/>
                  <a:pt x="109371" y="136160"/>
                  <a:pt x="114017" y="129335"/>
                </a:cubicBezTo>
                <a:cubicBezTo>
                  <a:pt x="122329" y="128646"/>
                  <a:pt x="130606" y="127375"/>
                  <a:pt x="138773" y="125524"/>
                </a:cubicBezTo>
                <a:cubicBezTo>
                  <a:pt x="139136" y="127012"/>
                  <a:pt x="139463" y="128500"/>
                  <a:pt x="139753" y="129952"/>
                </a:cubicBezTo>
                <a:cubicBezTo>
                  <a:pt x="141532" y="137793"/>
                  <a:pt x="141822" y="145960"/>
                  <a:pt x="140661" y="154019"/>
                </a:cubicBezTo>
                <a:close/>
                <a:moveTo>
                  <a:pt x="147267" y="114997"/>
                </a:moveTo>
                <a:cubicBezTo>
                  <a:pt x="146251" y="115324"/>
                  <a:pt x="145234" y="115650"/>
                  <a:pt x="144182" y="115941"/>
                </a:cubicBezTo>
                <a:cubicBezTo>
                  <a:pt x="141641" y="108027"/>
                  <a:pt x="138519" y="100296"/>
                  <a:pt x="134925" y="92782"/>
                </a:cubicBezTo>
                <a:cubicBezTo>
                  <a:pt x="138410" y="85377"/>
                  <a:pt x="141350" y="77754"/>
                  <a:pt x="143819" y="69949"/>
                </a:cubicBezTo>
                <a:cubicBezTo>
                  <a:pt x="145706" y="70494"/>
                  <a:pt x="147521" y="71075"/>
                  <a:pt x="149264" y="71655"/>
                </a:cubicBezTo>
                <a:cubicBezTo>
                  <a:pt x="166179" y="77463"/>
                  <a:pt x="178049" y="86103"/>
                  <a:pt x="178049" y="92709"/>
                </a:cubicBezTo>
                <a:cubicBezTo>
                  <a:pt x="178049" y="99824"/>
                  <a:pt x="165381" y="109008"/>
                  <a:pt x="147267" y="114997"/>
                </a:cubicBezTo>
                <a:close/>
                <a:moveTo>
                  <a:pt x="92927" y="109552"/>
                </a:moveTo>
                <a:cubicBezTo>
                  <a:pt x="102103" y="109552"/>
                  <a:pt x="109552" y="102103"/>
                  <a:pt x="109552" y="92927"/>
                </a:cubicBezTo>
                <a:cubicBezTo>
                  <a:pt x="109552" y="83751"/>
                  <a:pt x="102103" y="76302"/>
                  <a:pt x="92927" y="76302"/>
                </a:cubicBezTo>
                <a:cubicBezTo>
                  <a:pt x="83751" y="76302"/>
                  <a:pt x="76302" y="83751"/>
                  <a:pt x="76302" y="92927"/>
                </a:cubicBezTo>
                <a:cubicBezTo>
                  <a:pt x="76302" y="102103"/>
                  <a:pt x="83751" y="109552"/>
                  <a:pt x="92927" y="109552"/>
                </a:cubicBez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25" name="Text 21"/>
          <p:cNvSpPr/>
          <p:nvPr/>
        </p:nvSpPr>
        <p:spPr>
          <a:xfrm>
            <a:off x="827002" y="4381527"/>
            <a:ext cx="1022195" cy="26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63" b="1" dirty="0">
                <a:solidFill>
                  <a:srgbClr val="343A40"/>
                </a:solidFill>
                <a:latin typeface="阿里妈妈数黑体" pitchFamily="34" charset="0"/>
                <a:ea typeface="阿里妈妈数黑体" pitchFamily="34" charset="-122"/>
                <a:cs typeface="阿里妈妈数黑体" pitchFamily="34" charset="-120"/>
              </a:rPr>
              <a:t>前端技术栈</a:t>
            </a:r>
            <a:endParaRPr lang="en-US" sz="1600" dirty="0"/>
          </a:p>
        </p:txBody>
      </p:sp>
      <p:sp>
        <p:nvSpPr>
          <p:cNvPr id="26" name="Shape 22"/>
          <p:cNvSpPr/>
          <p:nvPr/>
        </p:nvSpPr>
        <p:spPr>
          <a:xfrm>
            <a:off x="527893" y="4753157"/>
            <a:ext cx="15069" cy="260195"/>
          </a:xfrm>
          <a:custGeom>
            <a:avLst/>
            <a:gdLst/>
            <a:ahLst/>
            <a:cxnLst/>
            <a:rect l="l" t="t" r="r" b="b"/>
            <a:pathLst>
              <a:path w="15069" h="260195">
                <a:moveTo>
                  <a:pt x="0" y="0"/>
                </a:moveTo>
                <a:lnTo>
                  <a:pt x="15069" y="0"/>
                </a:lnTo>
                <a:lnTo>
                  <a:pt x="15069" y="260195"/>
                </a:lnTo>
                <a:lnTo>
                  <a:pt x="0" y="260195"/>
                </a:lnTo>
                <a:lnTo>
                  <a:pt x="0" y="0"/>
                </a:ln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27" name="Text 23"/>
          <p:cNvSpPr/>
          <p:nvPr/>
        </p:nvSpPr>
        <p:spPr>
          <a:xfrm>
            <a:off x="609754" y="4790283"/>
            <a:ext cx="1059366" cy="185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24" b="1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React 18</a:t>
            </a:r>
            <a:endParaRPr lang="en-US" sz="1600" dirty="0"/>
          </a:p>
        </p:txBody>
      </p:sp>
      <p:sp>
        <p:nvSpPr>
          <p:cNvPr id="28" name="Shape 24"/>
          <p:cNvSpPr/>
          <p:nvPr/>
        </p:nvSpPr>
        <p:spPr>
          <a:xfrm>
            <a:off x="1690499" y="4753157"/>
            <a:ext cx="15069" cy="260195"/>
          </a:xfrm>
          <a:custGeom>
            <a:avLst/>
            <a:gdLst/>
            <a:ahLst/>
            <a:cxnLst/>
            <a:rect l="l" t="t" r="r" b="b"/>
            <a:pathLst>
              <a:path w="15069" h="260195">
                <a:moveTo>
                  <a:pt x="0" y="0"/>
                </a:moveTo>
                <a:lnTo>
                  <a:pt x="15069" y="0"/>
                </a:lnTo>
                <a:lnTo>
                  <a:pt x="15069" y="260195"/>
                </a:lnTo>
                <a:lnTo>
                  <a:pt x="0" y="260195"/>
                </a:lnTo>
                <a:lnTo>
                  <a:pt x="0" y="0"/>
                </a:ln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29" name="Text 25"/>
          <p:cNvSpPr/>
          <p:nvPr/>
        </p:nvSpPr>
        <p:spPr>
          <a:xfrm>
            <a:off x="1772359" y="4790283"/>
            <a:ext cx="1059366" cy="185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24" b="1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TypeScript</a:t>
            </a:r>
            <a:endParaRPr lang="en-US" sz="1600" dirty="0"/>
          </a:p>
        </p:txBody>
      </p:sp>
      <p:sp>
        <p:nvSpPr>
          <p:cNvPr id="30" name="Shape 26"/>
          <p:cNvSpPr/>
          <p:nvPr/>
        </p:nvSpPr>
        <p:spPr>
          <a:xfrm>
            <a:off x="2853105" y="4753157"/>
            <a:ext cx="15069" cy="260195"/>
          </a:xfrm>
          <a:custGeom>
            <a:avLst/>
            <a:gdLst/>
            <a:ahLst/>
            <a:cxnLst/>
            <a:rect l="l" t="t" r="r" b="b"/>
            <a:pathLst>
              <a:path w="15069" h="260195">
                <a:moveTo>
                  <a:pt x="0" y="0"/>
                </a:moveTo>
                <a:lnTo>
                  <a:pt x="15069" y="0"/>
                </a:lnTo>
                <a:lnTo>
                  <a:pt x="15069" y="260195"/>
                </a:lnTo>
                <a:lnTo>
                  <a:pt x="0" y="260195"/>
                </a:lnTo>
                <a:lnTo>
                  <a:pt x="0" y="0"/>
                </a:ln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31" name="Text 27"/>
          <p:cNvSpPr/>
          <p:nvPr/>
        </p:nvSpPr>
        <p:spPr>
          <a:xfrm>
            <a:off x="2934965" y="4790283"/>
            <a:ext cx="1059366" cy="185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24" b="1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Vite</a:t>
            </a:r>
            <a:endParaRPr lang="en-US" sz="1600" dirty="0"/>
          </a:p>
        </p:txBody>
      </p:sp>
      <p:sp>
        <p:nvSpPr>
          <p:cNvPr id="32" name="Shape 28"/>
          <p:cNvSpPr/>
          <p:nvPr/>
        </p:nvSpPr>
        <p:spPr>
          <a:xfrm>
            <a:off x="527893" y="5087585"/>
            <a:ext cx="15069" cy="260195"/>
          </a:xfrm>
          <a:custGeom>
            <a:avLst/>
            <a:gdLst/>
            <a:ahLst/>
            <a:cxnLst/>
            <a:rect l="l" t="t" r="r" b="b"/>
            <a:pathLst>
              <a:path w="15069" h="260195">
                <a:moveTo>
                  <a:pt x="0" y="0"/>
                </a:moveTo>
                <a:lnTo>
                  <a:pt x="15069" y="0"/>
                </a:lnTo>
                <a:lnTo>
                  <a:pt x="15069" y="260195"/>
                </a:lnTo>
                <a:lnTo>
                  <a:pt x="0" y="260195"/>
                </a:lnTo>
                <a:lnTo>
                  <a:pt x="0" y="0"/>
                </a:ln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33" name="Text 29"/>
          <p:cNvSpPr/>
          <p:nvPr/>
        </p:nvSpPr>
        <p:spPr>
          <a:xfrm>
            <a:off x="609754" y="5124710"/>
            <a:ext cx="1059366" cy="185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24" b="1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Ant Design</a:t>
            </a:r>
            <a:endParaRPr lang="en-US" sz="1600" dirty="0"/>
          </a:p>
        </p:txBody>
      </p:sp>
      <p:sp>
        <p:nvSpPr>
          <p:cNvPr id="34" name="Shape 30"/>
          <p:cNvSpPr/>
          <p:nvPr/>
        </p:nvSpPr>
        <p:spPr>
          <a:xfrm>
            <a:off x="1690499" y="5087585"/>
            <a:ext cx="15069" cy="260195"/>
          </a:xfrm>
          <a:custGeom>
            <a:avLst/>
            <a:gdLst/>
            <a:ahLst/>
            <a:cxnLst/>
            <a:rect l="l" t="t" r="r" b="b"/>
            <a:pathLst>
              <a:path w="15069" h="260195">
                <a:moveTo>
                  <a:pt x="0" y="0"/>
                </a:moveTo>
                <a:lnTo>
                  <a:pt x="15069" y="0"/>
                </a:lnTo>
                <a:lnTo>
                  <a:pt x="15069" y="260195"/>
                </a:lnTo>
                <a:lnTo>
                  <a:pt x="0" y="260195"/>
                </a:lnTo>
                <a:lnTo>
                  <a:pt x="0" y="0"/>
                </a:ln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35" name="Text 31"/>
          <p:cNvSpPr/>
          <p:nvPr/>
        </p:nvSpPr>
        <p:spPr>
          <a:xfrm>
            <a:off x="1772359" y="5124710"/>
            <a:ext cx="1059366" cy="185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24" b="1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Zustand</a:t>
            </a:r>
            <a:endParaRPr lang="en-US" sz="1600" dirty="0"/>
          </a:p>
        </p:txBody>
      </p:sp>
      <p:sp>
        <p:nvSpPr>
          <p:cNvPr id="36" name="Shape 32"/>
          <p:cNvSpPr/>
          <p:nvPr/>
        </p:nvSpPr>
        <p:spPr>
          <a:xfrm>
            <a:off x="2853105" y="5087585"/>
            <a:ext cx="15069" cy="260195"/>
          </a:xfrm>
          <a:custGeom>
            <a:avLst/>
            <a:gdLst/>
            <a:ahLst/>
            <a:cxnLst/>
            <a:rect l="l" t="t" r="r" b="b"/>
            <a:pathLst>
              <a:path w="15069" h="260195">
                <a:moveTo>
                  <a:pt x="0" y="0"/>
                </a:moveTo>
                <a:lnTo>
                  <a:pt x="15069" y="0"/>
                </a:lnTo>
                <a:lnTo>
                  <a:pt x="15069" y="260195"/>
                </a:lnTo>
                <a:lnTo>
                  <a:pt x="0" y="260195"/>
                </a:lnTo>
                <a:lnTo>
                  <a:pt x="0" y="0"/>
                </a:lnTo>
                <a:close/>
              </a:path>
            </a:pathLst>
          </a:custGeom>
          <a:solidFill>
            <a:srgbClr val="6C757D"/>
          </a:solidFill>
          <a:ln/>
        </p:spPr>
      </p:sp>
      <p:sp>
        <p:nvSpPr>
          <p:cNvPr id="37" name="Text 33"/>
          <p:cNvSpPr/>
          <p:nvPr/>
        </p:nvSpPr>
        <p:spPr>
          <a:xfrm>
            <a:off x="2934965" y="5124710"/>
            <a:ext cx="1059366" cy="185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24" b="1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Axios</a:t>
            </a:r>
            <a:endParaRPr lang="en-US" sz="1600" dirty="0"/>
          </a:p>
        </p:txBody>
      </p:sp>
      <p:sp>
        <p:nvSpPr>
          <p:cNvPr id="38" name="Shape 34"/>
          <p:cNvSpPr/>
          <p:nvPr/>
        </p:nvSpPr>
        <p:spPr>
          <a:xfrm>
            <a:off x="4231232" y="4215296"/>
            <a:ext cx="3707780" cy="1281386"/>
          </a:xfrm>
          <a:custGeom>
            <a:avLst/>
            <a:gdLst/>
            <a:ahLst/>
            <a:cxnLst/>
            <a:rect l="l" t="t" r="r" b="b"/>
            <a:pathLst>
              <a:path w="3707780" h="1281386">
                <a:moveTo>
                  <a:pt x="35161" y="0"/>
                </a:moveTo>
                <a:lnTo>
                  <a:pt x="3672619" y="0"/>
                </a:lnTo>
                <a:cubicBezTo>
                  <a:pt x="3692038" y="0"/>
                  <a:pt x="3707780" y="15742"/>
                  <a:pt x="3707780" y="35161"/>
                </a:cubicBezTo>
                <a:lnTo>
                  <a:pt x="3707780" y="1169879"/>
                </a:lnTo>
                <a:cubicBezTo>
                  <a:pt x="3707780" y="1231463"/>
                  <a:pt x="3657857" y="1281386"/>
                  <a:pt x="3596274" y="1281386"/>
                </a:cubicBezTo>
                <a:lnTo>
                  <a:pt x="111506" y="1281386"/>
                </a:lnTo>
                <a:cubicBezTo>
                  <a:pt x="49923" y="1281386"/>
                  <a:pt x="0" y="1231463"/>
                  <a:pt x="0" y="1169879"/>
                </a:cubicBezTo>
                <a:lnTo>
                  <a:pt x="0" y="35161"/>
                </a:lnTo>
                <a:cubicBezTo>
                  <a:pt x="0" y="15755"/>
                  <a:pt x="15755" y="0"/>
                  <a:pt x="35161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blurRad="139390" dist="92927" dir="5400000" algn="bl" rotWithShape="0">
              <a:srgbClr val="000000">
                <a:alpha val="10196"/>
              </a:srgbClr>
            </a:outerShdw>
          </a:effectLst>
        </p:spPr>
      </p:sp>
      <p:sp>
        <p:nvSpPr>
          <p:cNvPr id="39" name="Shape 35"/>
          <p:cNvSpPr/>
          <p:nvPr/>
        </p:nvSpPr>
        <p:spPr>
          <a:xfrm>
            <a:off x="4231232" y="4215296"/>
            <a:ext cx="3707780" cy="35161"/>
          </a:xfrm>
          <a:custGeom>
            <a:avLst/>
            <a:gdLst/>
            <a:ahLst/>
            <a:cxnLst/>
            <a:rect l="l" t="t" r="r" b="b"/>
            <a:pathLst>
              <a:path w="3707780" h="35161">
                <a:moveTo>
                  <a:pt x="35161" y="0"/>
                </a:moveTo>
                <a:lnTo>
                  <a:pt x="3672619" y="0"/>
                </a:lnTo>
                <a:cubicBezTo>
                  <a:pt x="3692038" y="0"/>
                  <a:pt x="3707780" y="15742"/>
                  <a:pt x="3707780" y="35161"/>
                </a:cubicBezTo>
                <a:lnTo>
                  <a:pt x="3707780" y="35161"/>
                </a:lnTo>
                <a:lnTo>
                  <a:pt x="0" y="35161"/>
                </a:lnTo>
                <a:lnTo>
                  <a:pt x="0" y="35161"/>
                </a:lnTo>
                <a:cubicBezTo>
                  <a:pt x="0" y="15755"/>
                  <a:pt x="15755" y="0"/>
                  <a:pt x="35161" y="0"/>
                </a:cubicBezTo>
                <a:close/>
              </a:path>
            </a:pathLst>
          </a:custGeom>
          <a:solidFill>
            <a:srgbClr val="343A40"/>
          </a:solidFill>
          <a:ln/>
        </p:spPr>
      </p:sp>
      <p:sp>
        <p:nvSpPr>
          <p:cNvPr id="40" name="Shape 36"/>
          <p:cNvSpPr/>
          <p:nvPr/>
        </p:nvSpPr>
        <p:spPr>
          <a:xfrm>
            <a:off x="4414731" y="4418653"/>
            <a:ext cx="162622" cy="185854"/>
          </a:xfrm>
          <a:custGeom>
            <a:avLst/>
            <a:gdLst/>
            <a:ahLst/>
            <a:cxnLst/>
            <a:rect l="l" t="t" r="r" b="b"/>
            <a:pathLst>
              <a:path w="162622" h="185854">
                <a:moveTo>
                  <a:pt x="23232" y="11616"/>
                </a:moveTo>
                <a:cubicBezTo>
                  <a:pt x="10418" y="11616"/>
                  <a:pt x="0" y="22034"/>
                  <a:pt x="0" y="34848"/>
                </a:cubicBezTo>
                <a:lnTo>
                  <a:pt x="0" y="58079"/>
                </a:lnTo>
                <a:cubicBezTo>
                  <a:pt x="0" y="70893"/>
                  <a:pt x="10418" y="81311"/>
                  <a:pt x="23232" y="81311"/>
                </a:cubicBezTo>
                <a:lnTo>
                  <a:pt x="139390" y="81311"/>
                </a:lnTo>
                <a:cubicBezTo>
                  <a:pt x="152204" y="81311"/>
                  <a:pt x="162622" y="70893"/>
                  <a:pt x="162622" y="58079"/>
                </a:cubicBezTo>
                <a:lnTo>
                  <a:pt x="162622" y="34848"/>
                </a:lnTo>
                <a:cubicBezTo>
                  <a:pt x="162622" y="22034"/>
                  <a:pt x="152204" y="11616"/>
                  <a:pt x="139390" y="11616"/>
                </a:cubicBezTo>
                <a:lnTo>
                  <a:pt x="23232" y="11616"/>
                </a:lnTo>
                <a:close/>
                <a:moveTo>
                  <a:pt x="101639" y="37752"/>
                </a:moveTo>
                <a:cubicBezTo>
                  <a:pt x="106447" y="37752"/>
                  <a:pt x="110351" y="41655"/>
                  <a:pt x="110351" y="46463"/>
                </a:cubicBezTo>
                <a:cubicBezTo>
                  <a:pt x="110351" y="51272"/>
                  <a:pt x="106447" y="55175"/>
                  <a:pt x="101639" y="55175"/>
                </a:cubicBezTo>
                <a:cubicBezTo>
                  <a:pt x="96830" y="55175"/>
                  <a:pt x="92927" y="51272"/>
                  <a:pt x="92927" y="46463"/>
                </a:cubicBezTo>
                <a:cubicBezTo>
                  <a:pt x="92927" y="41655"/>
                  <a:pt x="96830" y="37752"/>
                  <a:pt x="101639" y="37752"/>
                </a:cubicBezTo>
                <a:close/>
                <a:moveTo>
                  <a:pt x="121966" y="46463"/>
                </a:moveTo>
                <a:cubicBezTo>
                  <a:pt x="121966" y="41655"/>
                  <a:pt x="125870" y="37752"/>
                  <a:pt x="130678" y="37752"/>
                </a:cubicBezTo>
                <a:cubicBezTo>
                  <a:pt x="135487" y="37752"/>
                  <a:pt x="139390" y="41655"/>
                  <a:pt x="139390" y="46463"/>
                </a:cubicBezTo>
                <a:cubicBezTo>
                  <a:pt x="139390" y="51272"/>
                  <a:pt x="135487" y="55175"/>
                  <a:pt x="130678" y="55175"/>
                </a:cubicBezTo>
                <a:cubicBezTo>
                  <a:pt x="125870" y="55175"/>
                  <a:pt x="121966" y="51272"/>
                  <a:pt x="121966" y="46463"/>
                </a:cubicBezTo>
                <a:close/>
                <a:moveTo>
                  <a:pt x="23232" y="104543"/>
                </a:moveTo>
                <a:cubicBezTo>
                  <a:pt x="10418" y="104543"/>
                  <a:pt x="0" y="114961"/>
                  <a:pt x="0" y="127774"/>
                </a:cubicBezTo>
                <a:lnTo>
                  <a:pt x="0" y="151006"/>
                </a:lnTo>
                <a:cubicBezTo>
                  <a:pt x="0" y="163820"/>
                  <a:pt x="10418" y="174238"/>
                  <a:pt x="23232" y="174238"/>
                </a:cubicBezTo>
                <a:lnTo>
                  <a:pt x="139390" y="174238"/>
                </a:lnTo>
                <a:cubicBezTo>
                  <a:pt x="152204" y="174238"/>
                  <a:pt x="162622" y="163820"/>
                  <a:pt x="162622" y="151006"/>
                </a:cubicBezTo>
                <a:lnTo>
                  <a:pt x="162622" y="127774"/>
                </a:lnTo>
                <a:cubicBezTo>
                  <a:pt x="162622" y="114961"/>
                  <a:pt x="152204" y="104543"/>
                  <a:pt x="139390" y="104543"/>
                </a:cubicBezTo>
                <a:lnTo>
                  <a:pt x="23232" y="104543"/>
                </a:lnTo>
                <a:close/>
                <a:moveTo>
                  <a:pt x="101639" y="130678"/>
                </a:moveTo>
                <a:cubicBezTo>
                  <a:pt x="106447" y="130678"/>
                  <a:pt x="110351" y="134582"/>
                  <a:pt x="110351" y="139390"/>
                </a:cubicBezTo>
                <a:cubicBezTo>
                  <a:pt x="110351" y="144198"/>
                  <a:pt x="106447" y="148102"/>
                  <a:pt x="101639" y="148102"/>
                </a:cubicBezTo>
                <a:cubicBezTo>
                  <a:pt x="96830" y="148102"/>
                  <a:pt x="92927" y="144198"/>
                  <a:pt x="92927" y="139390"/>
                </a:cubicBezTo>
                <a:cubicBezTo>
                  <a:pt x="92927" y="134582"/>
                  <a:pt x="96830" y="130678"/>
                  <a:pt x="101639" y="130678"/>
                </a:cubicBezTo>
                <a:close/>
                <a:moveTo>
                  <a:pt x="121966" y="139390"/>
                </a:moveTo>
                <a:cubicBezTo>
                  <a:pt x="121966" y="134582"/>
                  <a:pt x="125870" y="130678"/>
                  <a:pt x="130678" y="130678"/>
                </a:cubicBezTo>
                <a:cubicBezTo>
                  <a:pt x="135487" y="130678"/>
                  <a:pt x="139390" y="134582"/>
                  <a:pt x="139390" y="139390"/>
                </a:cubicBezTo>
                <a:cubicBezTo>
                  <a:pt x="139390" y="144198"/>
                  <a:pt x="135487" y="148102"/>
                  <a:pt x="130678" y="148102"/>
                </a:cubicBezTo>
                <a:cubicBezTo>
                  <a:pt x="125870" y="148102"/>
                  <a:pt x="121966" y="144198"/>
                  <a:pt x="121966" y="139390"/>
                </a:cubicBezTo>
                <a:close/>
              </a:path>
            </a:pathLst>
          </a:custGeom>
          <a:solidFill>
            <a:srgbClr val="343A40"/>
          </a:solidFill>
          <a:ln/>
        </p:spPr>
      </p:sp>
      <p:sp>
        <p:nvSpPr>
          <p:cNvPr id="41" name="Text 37"/>
          <p:cNvSpPr/>
          <p:nvPr/>
        </p:nvSpPr>
        <p:spPr>
          <a:xfrm>
            <a:off x="4686526" y="4381527"/>
            <a:ext cx="1022195" cy="26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63" b="1" dirty="0">
                <a:solidFill>
                  <a:srgbClr val="343A40"/>
                </a:solidFill>
                <a:latin typeface="阿里妈妈数黑体" pitchFamily="34" charset="0"/>
                <a:ea typeface="阿里妈妈数黑体" pitchFamily="34" charset="-122"/>
                <a:cs typeface="阿里妈妈数黑体" pitchFamily="34" charset="-120"/>
              </a:rPr>
              <a:t>后端技术栈</a:t>
            </a:r>
            <a:endParaRPr lang="en-US" sz="1600" dirty="0"/>
          </a:p>
        </p:txBody>
      </p:sp>
      <p:sp>
        <p:nvSpPr>
          <p:cNvPr id="42" name="Shape 38"/>
          <p:cNvSpPr/>
          <p:nvPr/>
        </p:nvSpPr>
        <p:spPr>
          <a:xfrm>
            <a:off x="4387418" y="4753157"/>
            <a:ext cx="15069" cy="260195"/>
          </a:xfrm>
          <a:custGeom>
            <a:avLst/>
            <a:gdLst/>
            <a:ahLst/>
            <a:cxnLst/>
            <a:rect l="l" t="t" r="r" b="b"/>
            <a:pathLst>
              <a:path w="15069" h="260195">
                <a:moveTo>
                  <a:pt x="0" y="0"/>
                </a:moveTo>
                <a:lnTo>
                  <a:pt x="15069" y="0"/>
                </a:lnTo>
                <a:lnTo>
                  <a:pt x="15069" y="260195"/>
                </a:lnTo>
                <a:lnTo>
                  <a:pt x="0" y="260195"/>
                </a:lnTo>
                <a:lnTo>
                  <a:pt x="0" y="0"/>
                </a:lnTo>
                <a:close/>
              </a:path>
            </a:pathLst>
          </a:custGeom>
          <a:solidFill>
            <a:srgbClr val="343A40"/>
          </a:solidFill>
          <a:ln/>
        </p:spPr>
      </p:sp>
      <p:sp>
        <p:nvSpPr>
          <p:cNvPr id="43" name="Text 39"/>
          <p:cNvSpPr/>
          <p:nvPr/>
        </p:nvSpPr>
        <p:spPr>
          <a:xfrm>
            <a:off x="4469278" y="4790283"/>
            <a:ext cx="1644805" cy="185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24" b="1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FastAPI</a:t>
            </a:r>
            <a:endParaRPr lang="en-US" sz="1600" dirty="0"/>
          </a:p>
        </p:txBody>
      </p:sp>
      <p:sp>
        <p:nvSpPr>
          <p:cNvPr id="44" name="Shape 40"/>
          <p:cNvSpPr/>
          <p:nvPr/>
        </p:nvSpPr>
        <p:spPr>
          <a:xfrm>
            <a:off x="6131365" y="4753157"/>
            <a:ext cx="15069" cy="260195"/>
          </a:xfrm>
          <a:custGeom>
            <a:avLst/>
            <a:gdLst/>
            <a:ahLst/>
            <a:cxnLst/>
            <a:rect l="l" t="t" r="r" b="b"/>
            <a:pathLst>
              <a:path w="15069" h="260195">
                <a:moveTo>
                  <a:pt x="0" y="0"/>
                </a:moveTo>
                <a:lnTo>
                  <a:pt x="15069" y="0"/>
                </a:lnTo>
                <a:lnTo>
                  <a:pt x="15069" y="260195"/>
                </a:lnTo>
                <a:lnTo>
                  <a:pt x="0" y="260195"/>
                </a:lnTo>
                <a:lnTo>
                  <a:pt x="0" y="0"/>
                </a:lnTo>
                <a:close/>
              </a:path>
            </a:pathLst>
          </a:custGeom>
          <a:solidFill>
            <a:srgbClr val="343A40"/>
          </a:solidFill>
          <a:ln/>
        </p:spPr>
      </p:sp>
      <p:sp>
        <p:nvSpPr>
          <p:cNvPr id="45" name="Text 41"/>
          <p:cNvSpPr/>
          <p:nvPr/>
        </p:nvSpPr>
        <p:spPr>
          <a:xfrm>
            <a:off x="6213225" y="4790283"/>
            <a:ext cx="1644805" cy="185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24" b="1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MySQL</a:t>
            </a:r>
            <a:endParaRPr lang="en-US" sz="1600" dirty="0"/>
          </a:p>
        </p:txBody>
      </p:sp>
      <p:sp>
        <p:nvSpPr>
          <p:cNvPr id="46" name="Shape 42"/>
          <p:cNvSpPr/>
          <p:nvPr/>
        </p:nvSpPr>
        <p:spPr>
          <a:xfrm>
            <a:off x="4387418" y="5087585"/>
            <a:ext cx="15069" cy="260195"/>
          </a:xfrm>
          <a:custGeom>
            <a:avLst/>
            <a:gdLst/>
            <a:ahLst/>
            <a:cxnLst/>
            <a:rect l="l" t="t" r="r" b="b"/>
            <a:pathLst>
              <a:path w="15069" h="260195">
                <a:moveTo>
                  <a:pt x="0" y="0"/>
                </a:moveTo>
                <a:lnTo>
                  <a:pt x="15069" y="0"/>
                </a:lnTo>
                <a:lnTo>
                  <a:pt x="15069" y="260195"/>
                </a:lnTo>
                <a:lnTo>
                  <a:pt x="0" y="260195"/>
                </a:lnTo>
                <a:lnTo>
                  <a:pt x="0" y="0"/>
                </a:ln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47" name="Text 43"/>
          <p:cNvSpPr/>
          <p:nvPr/>
        </p:nvSpPr>
        <p:spPr>
          <a:xfrm>
            <a:off x="4469278" y="5124710"/>
            <a:ext cx="1644805" cy="185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24" b="1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JWT认证</a:t>
            </a:r>
            <a:endParaRPr lang="en-US" sz="1600" dirty="0"/>
          </a:p>
        </p:txBody>
      </p:sp>
      <p:sp>
        <p:nvSpPr>
          <p:cNvPr id="48" name="Shape 44"/>
          <p:cNvSpPr/>
          <p:nvPr/>
        </p:nvSpPr>
        <p:spPr>
          <a:xfrm>
            <a:off x="6131365" y="5087585"/>
            <a:ext cx="15069" cy="260195"/>
          </a:xfrm>
          <a:custGeom>
            <a:avLst/>
            <a:gdLst/>
            <a:ahLst/>
            <a:cxnLst/>
            <a:rect l="l" t="t" r="r" b="b"/>
            <a:pathLst>
              <a:path w="15069" h="260195">
                <a:moveTo>
                  <a:pt x="0" y="0"/>
                </a:moveTo>
                <a:lnTo>
                  <a:pt x="15069" y="0"/>
                </a:lnTo>
                <a:lnTo>
                  <a:pt x="15069" y="260195"/>
                </a:lnTo>
                <a:lnTo>
                  <a:pt x="0" y="260195"/>
                </a:lnTo>
                <a:lnTo>
                  <a:pt x="0" y="0"/>
                </a:ln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49" name="Text 45"/>
          <p:cNvSpPr/>
          <p:nvPr/>
        </p:nvSpPr>
        <p:spPr>
          <a:xfrm>
            <a:off x="6213225" y="5124710"/>
            <a:ext cx="1644805" cy="185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24" b="1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密码加盐哈希</a:t>
            </a:r>
            <a:endParaRPr lang="en-US" sz="1600" dirty="0"/>
          </a:p>
        </p:txBody>
      </p:sp>
      <p:sp>
        <p:nvSpPr>
          <p:cNvPr id="50" name="Shape 46"/>
          <p:cNvSpPr/>
          <p:nvPr/>
        </p:nvSpPr>
        <p:spPr>
          <a:xfrm>
            <a:off x="8127958" y="1077838"/>
            <a:ext cx="3689195" cy="4414024"/>
          </a:xfrm>
          <a:custGeom>
            <a:avLst/>
            <a:gdLst/>
            <a:ahLst/>
            <a:cxnLst/>
            <a:rect l="l" t="t" r="r" b="b"/>
            <a:pathLst>
              <a:path w="3689195" h="4414024">
                <a:moveTo>
                  <a:pt x="111524" y="0"/>
                </a:moveTo>
                <a:lnTo>
                  <a:pt x="3577671" y="0"/>
                </a:lnTo>
                <a:cubicBezTo>
                  <a:pt x="3639264" y="0"/>
                  <a:pt x="3689195" y="49931"/>
                  <a:pt x="3689195" y="111524"/>
                </a:cubicBezTo>
                <a:lnTo>
                  <a:pt x="3689195" y="4302500"/>
                </a:lnTo>
                <a:cubicBezTo>
                  <a:pt x="3689195" y="4364093"/>
                  <a:pt x="3639264" y="4414024"/>
                  <a:pt x="3577671" y="4414024"/>
                </a:cubicBezTo>
                <a:lnTo>
                  <a:pt x="111524" y="4414024"/>
                </a:lnTo>
                <a:cubicBezTo>
                  <a:pt x="49931" y="4414024"/>
                  <a:pt x="0" y="4364093"/>
                  <a:pt x="0" y="4302500"/>
                </a:cubicBezTo>
                <a:lnTo>
                  <a:pt x="0" y="111524"/>
                </a:lnTo>
                <a:cubicBezTo>
                  <a:pt x="0" y="49972"/>
                  <a:pt x="49972" y="0"/>
                  <a:pt x="111524" y="0"/>
                </a:cubicBezTo>
                <a:close/>
              </a:path>
            </a:pathLst>
          </a:custGeom>
          <a:solidFill>
            <a:srgbClr val="343A40"/>
          </a:solidFill>
          <a:ln/>
          <a:effectLst>
            <a:outerShdw blurRad="139390" dist="92927" dir="5400000" algn="bl" rotWithShape="0">
              <a:srgbClr val="000000">
                <a:alpha val="10196"/>
              </a:srgbClr>
            </a:outerShdw>
          </a:effectLst>
        </p:spPr>
      </p:sp>
      <p:sp>
        <p:nvSpPr>
          <p:cNvPr id="51" name="Shape 47"/>
          <p:cNvSpPr/>
          <p:nvPr/>
        </p:nvSpPr>
        <p:spPr>
          <a:xfrm>
            <a:off x="8290548" y="1245015"/>
            <a:ext cx="250902" cy="223024"/>
          </a:xfrm>
          <a:custGeom>
            <a:avLst/>
            <a:gdLst/>
            <a:ahLst/>
            <a:cxnLst/>
            <a:rect l="l" t="t" r="r" b="b"/>
            <a:pathLst>
              <a:path w="250902" h="223024">
                <a:moveTo>
                  <a:pt x="134817" y="-8233"/>
                </a:moveTo>
                <a:cubicBezTo>
                  <a:pt x="133031" y="-11717"/>
                  <a:pt x="129415" y="-13939"/>
                  <a:pt x="125495" y="-13939"/>
                </a:cubicBezTo>
                <a:cubicBezTo>
                  <a:pt x="121574" y="-13939"/>
                  <a:pt x="117959" y="-11717"/>
                  <a:pt x="116173" y="-8233"/>
                </a:cubicBezTo>
                <a:lnTo>
                  <a:pt x="84113" y="54580"/>
                </a:lnTo>
                <a:lnTo>
                  <a:pt x="14462" y="65644"/>
                </a:lnTo>
                <a:cubicBezTo>
                  <a:pt x="10585" y="66254"/>
                  <a:pt x="7362" y="68998"/>
                  <a:pt x="6142" y="72744"/>
                </a:cubicBezTo>
                <a:cubicBezTo>
                  <a:pt x="4922" y="76490"/>
                  <a:pt x="5924" y="80585"/>
                  <a:pt x="8668" y="83373"/>
                </a:cubicBezTo>
                <a:lnTo>
                  <a:pt x="58500" y="133248"/>
                </a:lnTo>
                <a:lnTo>
                  <a:pt x="47523" y="202900"/>
                </a:lnTo>
                <a:cubicBezTo>
                  <a:pt x="46914" y="206777"/>
                  <a:pt x="48525" y="210697"/>
                  <a:pt x="51705" y="213006"/>
                </a:cubicBezTo>
                <a:cubicBezTo>
                  <a:pt x="54885" y="215314"/>
                  <a:pt x="59067" y="215663"/>
                  <a:pt x="62595" y="213877"/>
                </a:cubicBezTo>
                <a:lnTo>
                  <a:pt x="125495" y="181904"/>
                </a:lnTo>
                <a:lnTo>
                  <a:pt x="188351" y="213877"/>
                </a:lnTo>
                <a:cubicBezTo>
                  <a:pt x="191836" y="215663"/>
                  <a:pt x="196061" y="215314"/>
                  <a:pt x="199241" y="213006"/>
                </a:cubicBezTo>
                <a:cubicBezTo>
                  <a:pt x="202421" y="210697"/>
                  <a:pt x="204032" y="206820"/>
                  <a:pt x="203423" y="202900"/>
                </a:cubicBezTo>
                <a:lnTo>
                  <a:pt x="192402" y="133248"/>
                </a:lnTo>
                <a:lnTo>
                  <a:pt x="242234" y="83373"/>
                </a:lnTo>
                <a:cubicBezTo>
                  <a:pt x="245022" y="80585"/>
                  <a:pt x="245980" y="76490"/>
                  <a:pt x="244761" y="72744"/>
                </a:cubicBezTo>
                <a:cubicBezTo>
                  <a:pt x="243541" y="68998"/>
                  <a:pt x="240361" y="66254"/>
                  <a:pt x="236441" y="65644"/>
                </a:cubicBezTo>
                <a:lnTo>
                  <a:pt x="166833" y="54580"/>
                </a:lnTo>
                <a:lnTo>
                  <a:pt x="134817" y="-8233"/>
                </a:ln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52" name="Text 48"/>
          <p:cNvSpPr/>
          <p:nvPr/>
        </p:nvSpPr>
        <p:spPr>
          <a:xfrm>
            <a:off x="8666839" y="1226489"/>
            <a:ext cx="836341" cy="26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63" b="1" dirty="0">
                <a:solidFill>
                  <a:srgbClr val="F8F9FA"/>
                </a:solidFill>
                <a:latin typeface="阿里妈妈数黑体" pitchFamily="34" charset="0"/>
                <a:ea typeface="阿里妈妈数黑体" pitchFamily="34" charset="-122"/>
                <a:cs typeface="阿里妈妈数黑体" pitchFamily="34" charset="-120"/>
              </a:rPr>
              <a:t>核心亮点</a:t>
            </a:r>
            <a:endParaRPr lang="en-US" sz="1600" dirty="0"/>
          </a:p>
        </p:txBody>
      </p:sp>
      <p:sp>
        <p:nvSpPr>
          <p:cNvPr id="53" name="Shape 49"/>
          <p:cNvSpPr/>
          <p:nvPr/>
        </p:nvSpPr>
        <p:spPr>
          <a:xfrm>
            <a:off x="8294190" y="1598119"/>
            <a:ext cx="35161" cy="678366"/>
          </a:xfrm>
          <a:custGeom>
            <a:avLst/>
            <a:gdLst/>
            <a:ahLst/>
            <a:cxnLst/>
            <a:rect l="l" t="t" r="r" b="b"/>
            <a:pathLst>
              <a:path w="35161" h="678366">
                <a:moveTo>
                  <a:pt x="0" y="0"/>
                </a:moveTo>
                <a:lnTo>
                  <a:pt x="35161" y="0"/>
                </a:lnTo>
                <a:lnTo>
                  <a:pt x="35161" y="678366"/>
                </a:lnTo>
                <a:lnTo>
                  <a:pt x="0" y="678366"/>
                </a:lnTo>
                <a:lnTo>
                  <a:pt x="0" y="0"/>
                </a:ln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54" name="Shape 50"/>
          <p:cNvSpPr/>
          <p:nvPr/>
        </p:nvSpPr>
        <p:spPr>
          <a:xfrm>
            <a:off x="8423220" y="1616723"/>
            <a:ext cx="260195" cy="185854"/>
          </a:xfrm>
          <a:custGeom>
            <a:avLst/>
            <a:gdLst/>
            <a:ahLst/>
            <a:cxnLst/>
            <a:rect l="l" t="t" r="r" b="b"/>
            <a:pathLst>
              <a:path w="260195" h="185854">
                <a:moveTo>
                  <a:pt x="92927" y="0"/>
                </a:moveTo>
                <a:lnTo>
                  <a:pt x="167268" y="0"/>
                </a:lnTo>
                <a:cubicBezTo>
                  <a:pt x="218556" y="0"/>
                  <a:pt x="260195" y="41639"/>
                  <a:pt x="260195" y="92927"/>
                </a:cubicBezTo>
                <a:lnTo>
                  <a:pt x="260195" y="92927"/>
                </a:lnTo>
                <a:cubicBezTo>
                  <a:pt x="260195" y="144215"/>
                  <a:pt x="218556" y="185854"/>
                  <a:pt x="167268" y="185854"/>
                </a:cubicBezTo>
                <a:lnTo>
                  <a:pt x="92927" y="185854"/>
                </a:lnTo>
                <a:cubicBezTo>
                  <a:pt x="41605" y="185854"/>
                  <a:pt x="0" y="144249"/>
                  <a:pt x="0" y="92927"/>
                </a:cubicBezTo>
                <a:lnTo>
                  <a:pt x="0" y="92927"/>
                </a:lnTo>
                <a:cubicBezTo>
                  <a:pt x="0" y="41605"/>
                  <a:pt x="41605" y="0"/>
                  <a:pt x="92927" y="0"/>
                </a:cubicBez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55" name="Text 51"/>
          <p:cNvSpPr/>
          <p:nvPr/>
        </p:nvSpPr>
        <p:spPr>
          <a:xfrm>
            <a:off x="8423220" y="1616723"/>
            <a:ext cx="315951" cy="185854"/>
          </a:xfrm>
          <a:prstGeom prst="rect">
            <a:avLst/>
          </a:prstGeom>
          <a:noFill/>
          <a:ln/>
        </p:spPr>
        <p:txBody>
          <a:bodyPr wrap="square" lIns="74341" tIns="18585" rIns="74341" bIns="18585" rtlCol="0" anchor="ctr"/>
          <a:lstStyle/>
          <a:p>
            <a:pPr>
              <a:lnSpc>
                <a:spcPct val="110000"/>
              </a:lnSpc>
            </a:pPr>
            <a:r>
              <a:rPr lang="en-US" sz="878" b="1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01</a:t>
            </a:r>
            <a:endParaRPr lang="en-US" sz="1600" dirty="0"/>
          </a:p>
        </p:txBody>
      </p:sp>
      <p:sp>
        <p:nvSpPr>
          <p:cNvPr id="56" name="Text 52"/>
          <p:cNvSpPr/>
          <p:nvPr/>
        </p:nvSpPr>
        <p:spPr>
          <a:xfrm>
            <a:off x="8760001" y="1598119"/>
            <a:ext cx="817756" cy="223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71" b="1" dirty="0">
                <a:solidFill>
                  <a:srgbClr val="FFC10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适配器模式</a:t>
            </a:r>
            <a:endParaRPr lang="en-US" sz="1600" dirty="0"/>
          </a:p>
        </p:txBody>
      </p:sp>
      <p:sp>
        <p:nvSpPr>
          <p:cNvPr id="57" name="Text 53"/>
          <p:cNvSpPr/>
          <p:nvPr/>
        </p:nvSpPr>
        <p:spPr>
          <a:xfrm>
            <a:off x="8423220" y="1858219"/>
            <a:ext cx="3317488" cy="4274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024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采用</a:t>
            </a:r>
            <a:r>
              <a:rPr lang="en-US" sz="1024" b="1" dirty="0">
                <a:solidFill>
                  <a:srgbClr val="FFC10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适配器设计模式</a:t>
            </a:r>
            <a:r>
              <a:rPr lang="en-US" sz="1024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，统一对接多个第三方模型API，实现新模型的快速接入。</a:t>
            </a:r>
            <a:endParaRPr lang="en-US" sz="1600" dirty="0"/>
          </a:p>
        </p:txBody>
      </p:sp>
      <p:sp>
        <p:nvSpPr>
          <p:cNvPr id="58" name="Shape 54"/>
          <p:cNvSpPr/>
          <p:nvPr/>
        </p:nvSpPr>
        <p:spPr>
          <a:xfrm>
            <a:off x="8294190" y="2664914"/>
            <a:ext cx="35161" cy="473927"/>
          </a:xfrm>
          <a:custGeom>
            <a:avLst/>
            <a:gdLst/>
            <a:ahLst/>
            <a:cxnLst/>
            <a:rect l="l" t="t" r="r" b="b"/>
            <a:pathLst>
              <a:path w="35161" h="473927">
                <a:moveTo>
                  <a:pt x="0" y="0"/>
                </a:moveTo>
                <a:lnTo>
                  <a:pt x="35161" y="0"/>
                </a:lnTo>
                <a:lnTo>
                  <a:pt x="35161" y="473927"/>
                </a:lnTo>
                <a:lnTo>
                  <a:pt x="0" y="473927"/>
                </a:lnTo>
                <a:lnTo>
                  <a:pt x="0" y="0"/>
                </a:ln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59" name="Shape 55"/>
          <p:cNvSpPr/>
          <p:nvPr/>
        </p:nvSpPr>
        <p:spPr>
          <a:xfrm>
            <a:off x="8423220" y="2683518"/>
            <a:ext cx="278780" cy="185854"/>
          </a:xfrm>
          <a:custGeom>
            <a:avLst/>
            <a:gdLst/>
            <a:ahLst/>
            <a:cxnLst/>
            <a:rect l="l" t="t" r="r" b="b"/>
            <a:pathLst>
              <a:path w="278780" h="185854">
                <a:moveTo>
                  <a:pt x="92927" y="0"/>
                </a:moveTo>
                <a:lnTo>
                  <a:pt x="185854" y="0"/>
                </a:lnTo>
                <a:cubicBezTo>
                  <a:pt x="237141" y="0"/>
                  <a:pt x="278780" y="41639"/>
                  <a:pt x="278780" y="92927"/>
                </a:cubicBezTo>
                <a:lnTo>
                  <a:pt x="278780" y="92927"/>
                </a:lnTo>
                <a:cubicBezTo>
                  <a:pt x="278780" y="144215"/>
                  <a:pt x="237141" y="185854"/>
                  <a:pt x="185854" y="185854"/>
                </a:cubicBezTo>
                <a:lnTo>
                  <a:pt x="92927" y="185854"/>
                </a:lnTo>
                <a:cubicBezTo>
                  <a:pt x="41605" y="185854"/>
                  <a:pt x="0" y="144249"/>
                  <a:pt x="0" y="92927"/>
                </a:cubicBezTo>
                <a:lnTo>
                  <a:pt x="0" y="92927"/>
                </a:lnTo>
                <a:cubicBezTo>
                  <a:pt x="0" y="41605"/>
                  <a:pt x="41605" y="0"/>
                  <a:pt x="92927" y="0"/>
                </a:cubicBez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60" name="Text 56"/>
          <p:cNvSpPr/>
          <p:nvPr/>
        </p:nvSpPr>
        <p:spPr>
          <a:xfrm>
            <a:off x="8423220" y="2683518"/>
            <a:ext cx="334537" cy="185854"/>
          </a:xfrm>
          <a:prstGeom prst="rect">
            <a:avLst/>
          </a:prstGeom>
          <a:noFill/>
          <a:ln/>
        </p:spPr>
        <p:txBody>
          <a:bodyPr wrap="square" lIns="74341" tIns="18585" rIns="74341" bIns="18585" rtlCol="0" anchor="ctr"/>
          <a:lstStyle/>
          <a:p>
            <a:pPr>
              <a:lnSpc>
                <a:spcPct val="110000"/>
              </a:lnSpc>
            </a:pPr>
            <a:r>
              <a:rPr lang="en-US" sz="878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02</a:t>
            </a:r>
            <a:endParaRPr lang="en-US" sz="1600" dirty="0"/>
          </a:p>
        </p:txBody>
      </p:sp>
      <p:sp>
        <p:nvSpPr>
          <p:cNvPr id="61" name="Text 57"/>
          <p:cNvSpPr/>
          <p:nvPr/>
        </p:nvSpPr>
        <p:spPr>
          <a:xfrm>
            <a:off x="8778838" y="2664914"/>
            <a:ext cx="1115122" cy="223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71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安全的密钥管理</a:t>
            </a:r>
            <a:endParaRPr lang="en-US" sz="1600" dirty="0"/>
          </a:p>
        </p:txBody>
      </p:sp>
      <p:sp>
        <p:nvSpPr>
          <p:cNvPr id="62" name="Text 58"/>
          <p:cNvSpPr/>
          <p:nvPr/>
        </p:nvSpPr>
        <p:spPr>
          <a:xfrm>
            <a:off x="8423220" y="2925019"/>
            <a:ext cx="3317488" cy="213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024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用户API密钥采用</a:t>
            </a:r>
            <a:r>
              <a:rPr lang="en-US" sz="1024" dirty="0">
                <a:solidFill>
                  <a:srgbClr val="FFC107"/>
                </a:solidFill>
                <a:highlight>
                  <a:srgbClr val="FFC107">
                    <a:alpha val="20000"/>
                  </a:srgbClr>
                </a:highlight>
                <a:latin typeface="MiSans" pitchFamily="34" charset="0"/>
                <a:ea typeface="MiSans" pitchFamily="34" charset="-122"/>
                <a:cs typeface="MiSans" pitchFamily="34" charset="-120"/>
              </a:rPr>
              <a:t> 加密存储 </a:t>
            </a:r>
            <a:r>
              <a:rPr lang="en-US" sz="1024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，确保敏感信息不泄露。</a:t>
            </a:r>
            <a:endParaRPr lang="en-US" sz="1600" dirty="0"/>
          </a:p>
        </p:txBody>
      </p:sp>
      <p:sp>
        <p:nvSpPr>
          <p:cNvPr id="63" name="Shape 59"/>
          <p:cNvSpPr/>
          <p:nvPr/>
        </p:nvSpPr>
        <p:spPr>
          <a:xfrm>
            <a:off x="8308694" y="3575657"/>
            <a:ext cx="35161" cy="678366"/>
          </a:xfrm>
          <a:custGeom>
            <a:avLst/>
            <a:gdLst/>
            <a:ahLst/>
            <a:cxnLst/>
            <a:rect l="l" t="t" r="r" b="b"/>
            <a:pathLst>
              <a:path w="35161" h="678366">
                <a:moveTo>
                  <a:pt x="0" y="0"/>
                </a:moveTo>
                <a:lnTo>
                  <a:pt x="35161" y="0"/>
                </a:lnTo>
                <a:lnTo>
                  <a:pt x="35161" y="678366"/>
                </a:lnTo>
                <a:lnTo>
                  <a:pt x="0" y="678366"/>
                </a:lnTo>
                <a:lnTo>
                  <a:pt x="0" y="0"/>
                </a:lnTo>
                <a:close/>
              </a:path>
            </a:pathLst>
          </a:custGeom>
          <a:solidFill>
            <a:srgbClr val="6C757D"/>
          </a:solidFill>
          <a:ln/>
        </p:spPr>
      </p:sp>
      <p:sp>
        <p:nvSpPr>
          <p:cNvPr id="64" name="Shape 60"/>
          <p:cNvSpPr/>
          <p:nvPr/>
        </p:nvSpPr>
        <p:spPr>
          <a:xfrm>
            <a:off x="8437724" y="3594256"/>
            <a:ext cx="288073" cy="185854"/>
          </a:xfrm>
          <a:custGeom>
            <a:avLst/>
            <a:gdLst/>
            <a:ahLst/>
            <a:cxnLst/>
            <a:rect l="l" t="t" r="r" b="b"/>
            <a:pathLst>
              <a:path w="288073" h="185854">
                <a:moveTo>
                  <a:pt x="92927" y="0"/>
                </a:moveTo>
                <a:lnTo>
                  <a:pt x="195146" y="0"/>
                </a:lnTo>
                <a:cubicBezTo>
                  <a:pt x="246434" y="0"/>
                  <a:pt x="288073" y="41639"/>
                  <a:pt x="288073" y="92927"/>
                </a:cubicBezTo>
                <a:lnTo>
                  <a:pt x="288073" y="92927"/>
                </a:lnTo>
                <a:cubicBezTo>
                  <a:pt x="288073" y="144215"/>
                  <a:pt x="246434" y="185854"/>
                  <a:pt x="195146" y="185854"/>
                </a:cubicBezTo>
                <a:lnTo>
                  <a:pt x="92927" y="185854"/>
                </a:lnTo>
                <a:cubicBezTo>
                  <a:pt x="41605" y="185854"/>
                  <a:pt x="0" y="144249"/>
                  <a:pt x="0" y="92927"/>
                </a:cubicBezTo>
                <a:lnTo>
                  <a:pt x="0" y="92927"/>
                </a:lnTo>
                <a:cubicBezTo>
                  <a:pt x="0" y="41605"/>
                  <a:pt x="41605" y="0"/>
                  <a:pt x="92927" y="0"/>
                </a:cubicBezTo>
                <a:close/>
              </a:path>
            </a:pathLst>
          </a:custGeom>
          <a:solidFill>
            <a:srgbClr val="6C757D"/>
          </a:solidFill>
          <a:ln/>
        </p:spPr>
      </p:sp>
      <p:sp>
        <p:nvSpPr>
          <p:cNvPr id="65" name="Text 61"/>
          <p:cNvSpPr/>
          <p:nvPr/>
        </p:nvSpPr>
        <p:spPr>
          <a:xfrm>
            <a:off x="8437724" y="3594256"/>
            <a:ext cx="343829" cy="185854"/>
          </a:xfrm>
          <a:prstGeom prst="rect">
            <a:avLst/>
          </a:prstGeom>
          <a:noFill/>
          <a:ln/>
        </p:spPr>
        <p:txBody>
          <a:bodyPr wrap="square" lIns="74341" tIns="18585" rIns="74341" bIns="18585" rtlCol="0" anchor="ctr"/>
          <a:lstStyle/>
          <a:p>
            <a:pPr>
              <a:lnSpc>
                <a:spcPct val="110000"/>
              </a:lnSpc>
            </a:pPr>
            <a:r>
              <a:rPr lang="en-US" sz="878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03</a:t>
            </a:r>
            <a:endParaRPr lang="en-US" sz="1600" dirty="0"/>
          </a:p>
        </p:txBody>
      </p:sp>
      <p:sp>
        <p:nvSpPr>
          <p:cNvPr id="66" name="Text 62"/>
          <p:cNvSpPr/>
          <p:nvPr/>
        </p:nvSpPr>
        <p:spPr>
          <a:xfrm>
            <a:off x="8796246" y="3575657"/>
            <a:ext cx="669073" cy="223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71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对话管理</a:t>
            </a:r>
            <a:endParaRPr lang="en-US" sz="1600" dirty="0"/>
          </a:p>
        </p:txBody>
      </p:sp>
      <p:sp>
        <p:nvSpPr>
          <p:cNvPr id="67" name="Text 63"/>
          <p:cNvSpPr/>
          <p:nvPr/>
        </p:nvSpPr>
        <p:spPr>
          <a:xfrm>
            <a:off x="8437724" y="3835756"/>
            <a:ext cx="3317488" cy="4274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024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实现完整的</a:t>
            </a:r>
            <a:r>
              <a:rPr lang="en-US" sz="1024" b="1" dirty="0">
                <a:solidFill>
                  <a:srgbClr val="FFC10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增删改查</a:t>
            </a:r>
            <a:r>
              <a:rPr lang="en-US" sz="1024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与软删除逻辑，支持对话历史的灵活管理。</a:t>
            </a:r>
            <a:endParaRPr lang="en-US" sz="1600" dirty="0"/>
          </a:p>
        </p:txBody>
      </p:sp>
      <p:sp>
        <p:nvSpPr>
          <p:cNvPr id="68" name="Shape 64"/>
          <p:cNvSpPr/>
          <p:nvPr/>
        </p:nvSpPr>
        <p:spPr>
          <a:xfrm>
            <a:off x="8294190" y="4664704"/>
            <a:ext cx="35161" cy="678366"/>
          </a:xfrm>
          <a:custGeom>
            <a:avLst/>
            <a:gdLst/>
            <a:ahLst/>
            <a:cxnLst/>
            <a:rect l="l" t="t" r="r" b="b"/>
            <a:pathLst>
              <a:path w="35161" h="678366">
                <a:moveTo>
                  <a:pt x="0" y="0"/>
                </a:moveTo>
                <a:lnTo>
                  <a:pt x="35161" y="0"/>
                </a:lnTo>
                <a:lnTo>
                  <a:pt x="35161" y="678366"/>
                </a:lnTo>
                <a:lnTo>
                  <a:pt x="0" y="678366"/>
                </a:lnTo>
                <a:lnTo>
                  <a:pt x="0" y="0"/>
                </a:ln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69" name="Shape 65"/>
          <p:cNvSpPr/>
          <p:nvPr/>
        </p:nvSpPr>
        <p:spPr>
          <a:xfrm>
            <a:off x="8423220" y="4683308"/>
            <a:ext cx="288073" cy="185854"/>
          </a:xfrm>
          <a:custGeom>
            <a:avLst/>
            <a:gdLst/>
            <a:ahLst/>
            <a:cxnLst/>
            <a:rect l="l" t="t" r="r" b="b"/>
            <a:pathLst>
              <a:path w="288073" h="185854">
                <a:moveTo>
                  <a:pt x="92927" y="0"/>
                </a:moveTo>
                <a:lnTo>
                  <a:pt x="195146" y="0"/>
                </a:lnTo>
                <a:cubicBezTo>
                  <a:pt x="246434" y="0"/>
                  <a:pt x="288073" y="41639"/>
                  <a:pt x="288073" y="92927"/>
                </a:cubicBezTo>
                <a:lnTo>
                  <a:pt x="288073" y="92927"/>
                </a:lnTo>
                <a:cubicBezTo>
                  <a:pt x="288073" y="144215"/>
                  <a:pt x="246434" y="185854"/>
                  <a:pt x="195146" y="185854"/>
                </a:cubicBezTo>
                <a:lnTo>
                  <a:pt x="92927" y="185854"/>
                </a:lnTo>
                <a:cubicBezTo>
                  <a:pt x="41605" y="185854"/>
                  <a:pt x="0" y="144249"/>
                  <a:pt x="0" y="92927"/>
                </a:cubicBezTo>
                <a:lnTo>
                  <a:pt x="0" y="92927"/>
                </a:lnTo>
                <a:cubicBezTo>
                  <a:pt x="0" y="41605"/>
                  <a:pt x="41605" y="0"/>
                  <a:pt x="92927" y="0"/>
                </a:cubicBez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70" name="Text 66"/>
          <p:cNvSpPr/>
          <p:nvPr/>
        </p:nvSpPr>
        <p:spPr>
          <a:xfrm>
            <a:off x="8423220" y="4683308"/>
            <a:ext cx="343829" cy="185854"/>
          </a:xfrm>
          <a:prstGeom prst="rect">
            <a:avLst/>
          </a:prstGeom>
          <a:noFill/>
          <a:ln/>
        </p:spPr>
        <p:txBody>
          <a:bodyPr wrap="square" lIns="74341" tIns="18585" rIns="74341" bIns="18585" rtlCol="0" anchor="ctr"/>
          <a:lstStyle/>
          <a:p>
            <a:pPr>
              <a:lnSpc>
                <a:spcPct val="110000"/>
              </a:lnSpc>
            </a:pPr>
            <a:r>
              <a:rPr lang="en-US" sz="878" b="1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04</a:t>
            </a:r>
            <a:endParaRPr lang="en-US" sz="1600" dirty="0"/>
          </a:p>
        </p:txBody>
      </p:sp>
      <p:sp>
        <p:nvSpPr>
          <p:cNvPr id="71" name="Text 67"/>
          <p:cNvSpPr/>
          <p:nvPr/>
        </p:nvSpPr>
        <p:spPr>
          <a:xfrm>
            <a:off x="8781507" y="4664704"/>
            <a:ext cx="817756" cy="223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71" b="1" dirty="0">
                <a:solidFill>
                  <a:srgbClr val="FFC10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响应式设计</a:t>
            </a:r>
            <a:endParaRPr lang="en-US" sz="1600" dirty="0"/>
          </a:p>
        </p:txBody>
      </p:sp>
      <p:sp>
        <p:nvSpPr>
          <p:cNvPr id="72" name="Text 68"/>
          <p:cNvSpPr/>
          <p:nvPr/>
        </p:nvSpPr>
        <p:spPr>
          <a:xfrm>
            <a:off x="8423220" y="4924804"/>
            <a:ext cx="3317488" cy="4274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024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采用响应式布局，适配多种设备屏幕，提供一致的视觉体验。</a:t>
            </a:r>
            <a:endParaRPr lang="en-US" sz="1600" dirty="0"/>
          </a:p>
        </p:txBody>
      </p:sp>
      <p:sp>
        <p:nvSpPr>
          <p:cNvPr id="73" name="Shape 69"/>
          <p:cNvSpPr/>
          <p:nvPr/>
        </p:nvSpPr>
        <p:spPr>
          <a:xfrm>
            <a:off x="371707" y="5644987"/>
            <a:ext cx="11448585" cy="836341"/>
          </a:xfrm>
          <a:custGeom>
            <a:avLst/>
            <a:gdLst/>
            <a:ahLst/>
            <a:cxnLst/>
            <a:rect l="l" t="t" r="r" b="b"/>
            <a:pathLst>
              <a:path w="11448585" h="836341">
                <a:moveTo>
                  <a:pt x="111509" y="0"/>
                </a:moveTo>
                <a:lnTo>
                  <a:pt x="11337076" y="0"/>
                </a:lnTo>
                <a:cubicBezTo>
                  <a:pt x="11398661" y="0"/>
                  <a:pt x="11448585" y="49924"/>
                  <a:pt x="11448585" y="111509"/>
                </a:cubicBezTo>
                <a:lnTo>
                  <a:pt x="11448585" y="724832"/>
                </a:lnTo>
                <a:cubicBezTo>
                  <a:pt x="11448585" y="786417"/>
                  <a:pt x="11398661" y="836341"/>
                  <a:pt x="11337076" y="836341"/>
                </a:cubicBezTo>
                <a:lnTo>
                  <a:pt x="111509" y="836341"/>
                </a:lnTo>
                <a:cubicBezTo>
                  <a:pt x="49924" y="836341"/>
                  <a:pt x="0" y="786417"/>
                  <a:pt x="0" y="724832"/>
                </a:cubicBezTo>
                <a:lnTo>
                  <a:pt x="0" y="111509"/>
                </a:lnTo>
                <a:cubicBezTo>
                  <a:pt x="0" y="49966"/>
                  <a:pt x="49966" y="0"/>
                  <a:pt x="111509" y="0"/>
                </a:cubicBezTo>
                <a:close/>
              </a:path>
            </a:pathLst>
          </a:custGeom>
          <a:solidFill>
            <a:srgbClr val="0056B3"/>
          </a:solidFill>
          <a:ln/>
          <a:effectLst>
            <a:outerShdw blurRad="139390" dist="92927" dir="5400000" algn="bl" rotWithShape="0">
              <a:srgbClr val="000000">
                <a:alpha val="10196"/>
              </a:srgbClr>
            </a:outerShdw>
          </a:effectLst>
        </p:spPr>
      </p:sp>
      <p:sp>
        <p:nvSpPr>
          <p:cNvPr id="74" name="Shape 70"/>
          <p:cNvSpPr/>
          <p:nvPr/>
        </p:nvSpPr>
        <p:spPr>
          <a:xfrm>
            <a:off x="566822" y="5823781"/>
            <a:ext cx="139390" cy="185854"/>
          </a:xfrm>
          <a:custGeom>
            <a:avLst/>
            <a:gdLst/>
            <a:ahLst/>
            <a:cxnLst/>
            <a:rect l="l" t="t" r="r" b="b"/>
            <a:pathLst>
              <a:path w="139390" h="185854">
                <a:moveTo>
                  <a:pt x="106321" y="139390"/>
                </a:moveTo>
                <a:cubicBezTo>
                  <a:pt x="108971" y="131295"/>
                  <a:pt x="114271" y="123963"/>
                  <a:pt x="120260" y="117647"/>
                </a:cubicBezTo>
                <a:cubicBezTo>
                  <a:pt x="132130" y="105160"/>
                  <a:pt x="139390" y="88280"/>
                  <a:pt x="139390" y="69695"/>
                </a:cubicBezTo>
                <a:cubicBezTo>
                  <a:pt x="139390" y="31218"/>
                  <a:pt x="108173" y="0"/>
                  <a:pt x="69695" y="0"/>
                </a:cubicBezTo>
                <a:cubicBezTo>
                  <a:pt x="31218" y="0"/>
                  <a:pt x="0" y="31218"/>
                  <a:pt x="0" y="69695"/>
                </a:cubicBezTo>
                <a:cubicBezTo>
                  <a:pt x="0" y="88280"/>
                  <a:pt x="7260" y="105160"/>
                  <a:pt x="19130" y="117647"/>
                </a:cubicBezTo>
                <a:cubicBezTo>
                  <a:pt x="25119" y="123963"/>
                  <a:pt x="30455" y="131295"/>
                  <a:pt x="33069" y="139390"/>
                </a:cubicBezTo>
                <a:lnTo>
                  <a:pt x="106285" y="139390"/>
                </a:lnTo>
                <a:close/>
                <a:moveTo>
                  <a:pt x="104543" y="156814"/>
                </a:moveTo>
                <a:lnTo>
                  <a:pt x="34848" y="156814"/>
                </a:lnTo>
                <a:lnTo>
                  <a:pt x="34848" y="162622"/>
                </a:lnTo>
                <a:cubicBezTo>
                  <a:pt x="34848" y="178666"/>
                  <a:pt x="47843" y="191662"/>
                  <a:pt x="63887" y="191662"/>
                </a:cubicBezTo>
                <a:lnTo>
                  <a:pt x="75503" y="191662"/>
                </a:lnTo>
                <a:cubicBezTo>
                  <a:pt x="91547" y="191662"/>
                  <a:pt x="104543" y="178666"/>
                  <a:pt x="104543" y="162622"/>
                </a:cubicBezTo>
                <a:lnTo>
                  <a:pt x="104543" y="156814"/>
                </a:lnTo>
                <a:close/>
                <a:moveTo>
                  <a:pt x="66791" y="40655"/>
                </a:moveTo>
                <a:cubicBezTo>
                  <a:pt x="52344" y="40655"/>
                  <a:pt x="40655" y="52344"/>
                  <a:pt x="40655" y="66791"/>
                </a:cubicBezTo>
                <a:cubicBezTo>
                  <a:pt x="40655" y="71619"/>
                  <a:pt x="36771" y="75503"/>
                  <a:pt x="31944" y="75503"/>
                </a:cubicBezTo>
                <a:cubicBezTo>
                  <a:pt x="27116" y="75503"/>
                  <a:pt x="23232" y="71619"/>
                  <a:pt x="23232" y="66791"/>
                </a:cubicBezTo>
                <a:cubicBezTo>
                  <a:pt x="23232" y="42725"/>
                  <a:pt x="42725" y="23232"/>
                  <a:pt x="66791" y="23232"/>
                </a:cubicBezTo>
                <a:cubicBezTo>
                  <a:pt x="71619" y="23232"/>
                  <a:pt x="75503" y="27116"/>
                  <a:pt x="75503" y="31944"/>
                </a:cubicBezTo>
                <a:cubicBezTo>
                  <a:pt x="75503" y="36771"/>
                  <a:pt x="71619" y="40655"/>
                  <a:pt x="66791" y="40655"/>
                </a:cubicBez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75" name="Text 71"/>
          <p:cNvSpPr/>
          <p:nvPr/>
        </p:nvSpPr>
        <p:spPr>
          <a:xfrm>
            <a:off x="834270" y="5793638"/>
            <a:ext cx="10920942" cy="538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317" b="1" dirty="0">
                <a:solidFill>
                  <a:srgbClr val="FFC10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技术优势:</a:t>
            </a:r>
            <a:r>
              <a:rPr lang="en-US" sz="1317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 我们运用了多项现代Web开发技术和设计模式，确保了系统的</a:t>
            </a:r>
            <a:r>
              <a:rPr lang="en-US" sz="1317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安全性、扩展性和可维护性</a:t>
            </a:r>
            <a:r>
              <a:rPr lang="en-US" sz="1317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。适配器模式的应用使系统具备极强的开放性和可扩展性。</a:t>
            </a:r>
            <a:endParaRPr lang="en-US" sz="1600" dirty="0"/>
          </a:p>
        </p:txBody>
      </p:sp>
      <p:sp>
        <p:nvSpPr>
          <p:cNvPr id="76" name="Shape 0">
            <a:extLst>
              <a:ext uri="{FF2B5EF4-FFF2-40B4-BE49-F238E27FC236}">
                <a16:creationId xmlns:a16="http://schemas.microsoft.com/office/drawing/2014/main" id="{684235A8-54F8-AE7C-F1A1-C4413BE4622D}"/>
              </a:ext>
            </a:extLst>
          </p:cNvPr>
          <p:cNvSpPr/>
          <p:nvPr/>
        </p:nvSpPr>
        <p:spPr>
          <a:xfrm>
            <a:off x="381000" y="457265"/>
            <a:ext cx="485775" cy="304800"/>
          </a:xfrm>
          <a:custGeom>
            <a:avLst/>
            <a:gdLst/>
            <a:ahLst/>
            <a:cxnLst/>
            <a:rect l="l" t="t" r="r" b="b"/>
            <a:pathLst>
              <a:path w="485775" h="304800">
                <a:moveTo>
                  <a:pt x="152400" y="0"/>
                </a:moveTo>
                <a:lnTo>
                  <a:pt x="333375" y="0"/>
                </a:lnTo>
                <a:cubicBezTo>
                  <a:pt x="417487" y="0"/>
                  <a:pt x="485775" y="68288"/>
                  <a:pt x="485775" y="152400"/>
                </a:cubicBezTo>
                <a:lnTo>
                  <a:pt x="485775" y="152400"/>
                </a:lnTo>
                <a:cubicBezTo>
                  <a:pt x="485775" y="236512"/>
                  <a:pt x="417487" y="304800"/>
                  <a:pt x="333375" y="304800"/>
                </a:cubicBezTo>
                <a:lnTo>
                  <a:pt x="152400" y="304800"/>
                </a:lnTo>
                <a:cubicBezTo>
                  <a:pt x="68288" y="304800"/>
                  <a:pt x="0" y="236512"/>
                  <a:pt x="0" y="152400"/>
                </a:cubicBezTo>
                <a:lnTo>
                  <a:pt x="0" y="152400"/>
                </a:lnTo>
                <a:cubicBezTo>
                  <a:pt x="0" y="68288"/>
                  <a:pt x="68288" y="0"/>
                  <a:pt x="152400" y="0"/>
                </a:cubicBez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77" name="Text 1">
            <a:extLst>
              <a:ext uri="{FF2B5EF4-FFF2-40B4-BE49-F238E27FC236}">
                <a16:creationId xmlns:a16="http://schemas.microsoft.com/office/drawing/2014/main" id="{AAD40E00-6579-D643-6653-A4B89080E195}"/>
              </a:ext>
            </a:extLst>
          </p:cNvPr>
          <p:cNvSpPr/>
          <p:nvPr/>
        </p:nvSpPr>
        <p:spPr>
          <a:xfrm>
            <a:off x="381000" y="457265"/>
            <a:ext cx="561975" cy="304800"/>
          </a:xfrm>
          <a:prstGeom prst="rect">
            <a:avLst/>
          </a:prstGeom>
          <a:noFill/>
          <a:ln/>
        </p:spPr>
        <p:txBody>
          <a:bodyPr wrap="square" lIns="152400" tIns="38100" rIns="152400" bIns="3810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04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slides_tmpl/image/25-10-09-16:35:25-d3jn7j8s8jdo4os5dj2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63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16705" y="352625"/>
            <a:ext cx="6497111" cy="423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en-US" sz="3332" b="1" dirty="0">
                <a:solidFill>
                  <a:srgbClr val="343A40"/>
                </a:solidFill>
                <a:latin typeface="阿里妈妈数黑体" pitchFamily="34" charset="0"/>
                <a:ea typeface="阿里妈妈数黑体" pitchFamily="34" charset="-122"/>
                <a:cs typeface="阿里妈妈数黑体" pitchFamily="34" charset="-120"/>
              </a:rPr>
              <a:t>团队协作:两人如何高效推进项目?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1057874" y="846269"/>
            <a:ext cx="987349" cy="35262"/>
          </a:xfrm>
          <a:custGeom>
            <a:avLst/>
            <a:gdLst/>
            <a:ahLst/>
            <a:cxnLst/>
            <a:rect l="l" t="t" r="r" b="b"/>
            <a:pathLst>
              <a:path w="987349" h="35262">
                <a:moveTo>
                  <a:pt x="0" y="0"/>
                </a:moveTo>
                <a:lnTo>
                  <a:pt x="987349" y="0"/>
                </a:lnTo>
                <a:lnTo>
                  <a:pt x="987349" y="35262"/>
                </a:lnTo>
                <a:lnTo>
                  <a:pt x="0" y="35262"/>
                </a:lnTo>
                <a:lnTo>
                  <a:pt x="0" y="0"/>
                </a:ln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7" name="Shape 4"/>
          <p:cNvSpPr/>
          <p:nvPr/>
        </p:nvSpPr>
        <p:spPr>
          <a:xfrm>
            <a:off x="352625" y="1039187"/>
            <a:ext cx="5659627" cy="4318700"/>
          </a:xfrm>
          <a:custGeom>
            <a:avLst/>
            <a:gdLst/>
            <a:ahLst/>
            <a:cxnLst/>
            <a:rect l="l" t="t" r="r" b="b"/>
            <a:pathLst>
              <a:path w="5659627" h="4318700">
                <a:moveTo>
                  <a:pt x="33356" y="0"/>
                </a:moveTo>
                <a:lnTo>
                  <a:pt x="5626271" y="0"/>
                </a:lnTo>
                <a:cubicBezTo>
                  <a:pt x="5644693" y="0"/>
                  <a:pt x="5659627" y="14934"/>
                  <a:pt x="5659627" y="33356"/>
                </a:cubicBezTo>
                <a:lnTo>
                  <a:pt x="5659627" y="4212892"/>
                </a:lnTo>
                <a:cubicBezTo>
                  <a:pt x="5659627" y="4271328"/>
                  <a:pt x="5612255" y="4318700"/>
                  <a:pt x="5553819" y="4318700"/>
                </a:cubicBezTo>
                <a:lnTo>
                  <a:pt x="105808" y="4318700"/>
                </a:lnTo>
                <a:cubicBezTo>
                  <a:pt x="47372" y="4318700"/>
                  <a:pt x="0" y="4271328"/>
                  <a:pt x="0" y="4212892"/>
                </a:cubicBezTo>
                <a:lnTo>
                  <a:pt x="0" y="33356"/>
                </a:lnTo>
                <a:cubicBezTo>
                  <a:pt x="0" y="14946"/>
                  <a:pt x="14946" y="0"/>
                  <a:pt x="33356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blurRad="132234" dist="88156" dir="5400000" algn="bl" rotWithShape="0">
              <a:srgbClr val="000000">
                <a:alpha val="10196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52625" y="1039187"/>
            <a:ext cx="5659627" cy="33356"/>
          </a:xfrm>
          <a:custGeom>
            <a:avLst/>
            <a:gdLst/>
            <a:ahLst/>
            <a:cxnLst/>
            <a:rect l="l" t="t" r="r" b="b"/>
            <a:pathLst>
              <a:path w="5659627" h="33356">
                <a:moveTo>
                  <a:pt x="33356" y="0"/>
                </a:moveTo>
                <a:lnTo>
                  <a:pt x="5626271" y="0"/>
                </a:lnTo>
                <a:cubicBezTo>
                  <a:pt x="5644693" y="0"/>
                  <a:pt x="5659627" y="14934"/>
                  <a:pt x="5659627" y="33356"/>
                </a:cubicBezTo>
                <a:lnTo>
                  <a:pt x="5659627" y="33356"/>
                </a:lnTo>
                <a:lnTo>
                  <a:pt x="0" y="33356"/>
                </a:lnTo>
                <a:lnTo>
                  <a:pt x="0" y="33356"/>
                </a:lnTo>
                <a:cubicBezTo>
                  <a:pt x="0" y="14934"/>
                  <a:pt x="14934" y="0"/>
                  <a:pt x="33356" y="0"/>
                </a:cubicBezTo>
                <a:close/>
              </a:path>
            </a:pathLst>
          </a:custGeom>
          <a:solidFill>
            <a:srgbClr val="343A40"/>
          </a:solidFill>
          <a:ln/>
        </p:spPr>
      </p:sp>
      <p:sp>
        <p:nvSpPr>
          <p:cNvPr id="9" name="Shape 6"/>
          <p:cNvSpPr/>
          <p:nvPr/>
        </p:nvSpPr>
        <p:spPr>
          <a:xfrm>
            <a:off x="495849" y="1223318"/>
            <a:ext cx="330586" cy="264469"/>
          </a:xfrm>
          <a:custGeom>
            <a:avLst/>
            <a:gdLst/>
            <a:ahLst/>
            <a:cxnLst/>
            <a:rect l="l" t="t" r="r" b="b"/>
            <a:pathLst>
              <a:path w="330586" h="264469">
                <a:moveTo>
                  <a:pt x="165293" y="115705"/>
                </a:moveTo>
                <a:cubicBezTo>
                  <a:pt x="194942" y="115705"/>
                  <a:pt x="219013" y="91634"/>
                  <a:pt x="219013" y="61985"/>
                </a:cubicBezTo>
                <a:cubicBezTo>
                  <a:pt x="219013" y="32336"/>
                  <a:pt x="194942" y="8265"/>
                  <a:pt x="165293" y="8265"/>
                </a:cubicBezTo>
                <a:cubicBezTo>
                  <a:pt x="135644" y="8265"/>
                  <a:pt x="111573" y="32336"/>
                  <a:pt x="111573" y="61985"/>
                </a:cubicBezTo>
                <a:cubicBezTo>
                  <a:pt x="111573" y="91634"/>
                  <a:pt x="135644" y="115705"/>
                  <a:pt x="165293" y="115705"/>
                </a:cubicBezTo>
                <a:close/>
                <a:moveTo>
                  <a:pt x="49588" y="119837"/>
                </a:moveTo>
                <a:cubicBezTo>
                  <a:pt x="70114" y="119837"/>
                  <a:pt x="86779" y="103173"/>
                  <a:pt x="86779" y="82646"/>
                </a:cubicBezTo>
                <a:cubicBezTo>
                  <a:pt x="86779" y="62120"/>
                  <a:pt x="70114" y="45456"/>
                  <a:pt x="49588" y="45456"/>
                </a:cubicBezTo>
                <a:cubicBezTo>
                  <a:pt x="29062" y="45456"/>
                  <a:pt x="12397" y="62120"/>
                  <a:pt x="12397" y="82646"/>
                </a:cubicBezTo>
                <a:cubicBezTo>
                  <a:pt x="12397" y="103173"/>
                  <a:pt x="29062" y="119837"/>
                  <a:pt x="49588" y="119837"/>
                </a:cubicBezTo>
                <a:close/>
                <a:moveTo>
                  <a:pt x="0" y="214881"/>
                </a:moveTo>
                <a:lnTo>
                  <a:pt x="0" y="231410"/>
                </a:lnTo>
                <a:cubicBezTo>
                  <a:pt x="0" y="240553"/>
                  <a:pt x="7387" y="247939"/>
                  <a:pt x="16529" y="247939"/>
                </a:cubicBezTo>
                <a:lnTo>
                  <a:pt x="61313" y="247939"/>
                </a:lnTo>
                <a:cubicBezTo>
                  <a:pt x="59092" y="242877"/>
                  <a:pt x="57852" y="237299"/>
                  <a:pt x="57852" y="231410"/>
                </a:cubicBezTo>
                <a:lnTo>
                  <a:pt x="57852" y="223145"/>
                </a:lnTo>
                <a:cubicBezTo>
                  <a:pt x="57852" y="195665"/>
                  <a:pt x="68183" y="170562"/>
                  <a:pt x="85177" y="151553"/>
                </a:cubicBezTo>
                <a:cubicBezTo>
                  <a:pt x="79134" y="149745"/>
                  <a:pt x="72729" y="148764"/>
                  <a:pt x="66117" y="148764"/>
                </a:cubicBezTo>
                <a:cubicBezTo>
                  <a:pt x="29598" y="148764"/>
                  <a:pt x="0" y="178361"/>
                  <a:pt x="0" y="214881"/>
                </a:cubicBezTo>
                <a:close/>
                <a:moveTo>
                  <a:pt x="318189" y="82646"/>
                </a:moveTo>
                <a:cubicBezTo>
                  <a:pt x="318189" y="62120"/>
                  <a:pt x="301524" y="45456"/>
                  <a:pt x="280998" y="45456"/>
                </a:cubicBezTo>
                <a:cubicBezTo>
                  <a:pt x="260472" y="45456"/>
                  <a:pt x="243807" y="62120"/>
                  <a:pt x="243807" y="82646"/>
                </a:cubicBezTo>
                <a:cubicBezTo>
                  <a:pt x="243807" y="103173"/>
                  <a:pt x="260472" y="119837"/>
                  <a:pt x="280998" y="119837"/>
                </a:cubicBezTo>
                <a:cubicBezTo>
                  <a:pt x="301524" y="119837"/>
                  <a:pt x="318189" y="103173"/>
                  <a:pt x="318189" y="82646"/>
                </a:cubicBezTo>
                <a:close/>
                <a:moveTo>
                  <a:pt x="82646" y="223145"/>
                </a:moveTo>
                <a:lnTo>
                  <a:pt x="82646" y="231410"/>
                </a:lnTo>
                <a:cubicBezTo>
                  <a:pt x="82646" y="240553"/>
                  <a:pt x="90033" y="247939"/>
                  <a:pt x="99176" y="247939"/>
                </a:cubicBezTo>
                <a:lnTo>
                  <a:pt x="180169" y="247939"/>
                </a:lnTo>
                <a:cubicBezTo>
                  <a:pt x="176502" y="236782"/>
                  <a:pt x="176915" y="225005"/>
                  <a:pt x="185696" y="214881"/>
                </a:cubicBezTo>
                <a:cubicBezTo>
                  <a:pt x="178465" y="206513"/>
                  <a:pt x="175107" y="194374"/>
                  <a:pt x="179808" y="182184"/>
                </a:cubicBezTo>
                <a:cubicBezTo>
                  <a:pt x="183217" y="173351"/>
                  <a:pt x="188021" y="165086"/>
                  <a:pt x="193961" y="157751"/>
                </a:cubicBezTo>
                <a:cubicBezTo>
                  <a:pt x="196750" y="154342"/>
                  <a:pt x="199953" y="151708"/>
                  <a:pt x="203414" y="149797"/>
                </a:cubicBezTo>
                <a:cubicBezTo>
                  <a:pt x="191998" y="143856"/>
                  <a:pt x="179033" y="140499"/>
                  <a:pt x="165293" y="140499"/>
                </a:cubicBezTo>
                <a:cubicBezTo>
                  <a:pt x="119631" y="140499"/>
                  <a:pt x="82646" y="177483"/>
                  <a:pt x="82646" y="223145"/>
                </a:cubicBezTo>
                <a:close/>
                <a:moveTo>
                  <a:pt x="322631" y="200366"/>
                </a:moveTo>
                <a:cubicBezTo>
                  <a:pt x="325885" y="198506"/>
                  <a:pt x="327538" y="194632"/>
                  <a:pt x="326143" y="191068"/>
                </a:cubicBezTo>
                <a:cubicBezTo>
                  <a:pt x="323664" y="184663"/>
                  <a:pt x="320203" y="178620"/>
                  <a:pt x="315864" y="173299"/>
                </a:cubicBezTo>
                <a:cubicBezTo>
                  <a:pt x="313488" y="170355"/>
                  <a:pt x="309304" y="169838"/>
                  <a:pt x="306050" y="171750"/>
                </a:cubicBezTo>
                <a:cubicBezTo>
                  <a:pt x="294789" y="178258"/>
                  <a:pt x="280946" y="170303"/>
                  <a:pt x="280946" y="157235"/>
                </a:cubicBezTo>
                <a:cubicBezTo>
                  <a:pt x="280946" y="153464"/>
                  <a:pt x="278415" y="150107"/>
                  <a:pt x="274696" y="149538"/>
                </a:cubicBezTo>
                <a:cubicBezTo>
                  <a:pt x="268033" y="148505"/>
                  <a:pt x="260853" y="148505"/>
                  <a:pt x="254189" y="149538"/>
                </a:cubicBezTo>
                <a:cubicBezTo>
                  <a:pt x="250470" y="150107"/>
                  <a:pt x="247939" y="153464"/>
                  <a:pt x="247939" y="157235"/>
                </a:cubicBezTo>
                <a:cubicBezTo>
                  <a:pt x="247939" y="170252"/>
                  <a:pt x="234096" y="178258"/>
                  <a:pt x="222835" y="171750"/>
                </a:cubicBezTo>
                <a:cubicBezTo>
                  <a:pt x="219581" y="169890"/>
                  <a:pt x="215397" y="170407"/>
                  <a:pt x="213021" y="173299"/>
                </a:cubicBezTo>
                <a:cubicBezTo>
                  <a:pt x="208682" y="178620"/>
                  <a:pt x="205221" y="184663"/>
                  <a:pt x="202742" y="191068"/>
                </a:cubicBezTo>
                <a:cubicBezTo>
                  <a:pt x="201399" y="194581"/>
                  <a:pt x="203000" y="198455"/>
                  <a:pt x="206254" y="200314"/>
                </a:cubicBezTo>
                <a:cubicBezTo>
                  <a:pt x="217567" y="206823"/>
                  <a:pt x="217567" y="222784"/>
                  <a:pt x="206254" y="229344"/>
                </a:cubicBezTo>
                <a:cubicBezTo>
                  <a:pt x="203000" y="231203"/>
                  <a:pt x="201347" y="235077"/>
                  <a:pt x="202742" y="238590"/>
                </a:cubicBezTo>
                <a:cubicBezTo>
                  <a:pt x="205221" y="244995"/>
                  <a:pt x="208682" y="251039"/>
                  <a:pt x="213021" y="256359"/>
                </a:cubicBezTo>
                <a:cubicBezTo>
                  <a:pt x="215397" y="259303"/>
                  <a:pt x="219581" y="259820"/>
                  <a:pt x="222835" y="257908"/>
                </a:cubicBezTo>
                <a:cubicBezTo>
                  <a:pt x="234096" y="251400"/>
                  <a:pt x="247939" y="259406"/>
                  <a:pt x="247939" y="272423"/>
                </a:cubicBezTo>
                <a:cubicBezTo>
                  <a:pt x="247939" y="276194"/>
                  <a:pt x="250470" y="279552"/>
                  <a:pt x="254189" y="280120"/>
                </a:cubicBezTo>
                <a:cubicBezTo>
                  <a:pt x="260853" y="281153"/>
                  <a:pt x="268033" y="281153"/>
                  <a:pt x="274696" y="280120"/>
                </a:cubicBezTo>
                <a:cubicBezTo>
                  <a:pt x="278415" y="279552"/>
                  <a:pt x="280946" y="276194"/>
                  <a:pt x="280946" y="272423"/>
                </a:cubicBezTo>
                <a:cubicBezTo>
                  <a:pt x="280946" y="259406"/>
                  <a:pt x="294789" y="251400"/>
                  <a:pt x="306050" y="257908"/>
                </a:cubicBezTo>
                <a:cubicBezTo>
                  <a:pt x="309304" y="259768"/>
                  <a:pt x="313488" y="259251"/>
                  <a:pt x="315864" y="256359"/>
                </a:cubicBezTo>
                <a:cubicBezTo>
                  <a:pt x="320203" y="251039"/>
                  <a:pt x="323664" y="244995"/>
                  <a:pt x="326143" y="238590"/>
                </a:cubicBezTo>
                <a:cubicBezTo>
                  <a:pt x="327486" y="235077"/>
                  <a:pt x="325885" y="231203"/>
                  <a:pt x="322631" y="229344"/>
                </a:cubicBezTo>
                <a:cubicBezTo>
                  <a:pt x="311319" y="222835"/>
                  <a:pt x="311319" y="206874"/>
                  <a:pt x="322631" y="200314"/>
                </a:cubicBezTo>
                <a:close/>
                <a:moveTo>
                  <a:pt x="243807" y="214881"/>
                </a:moveTo>
                <a:cubicBezTo>
                  <a:pt x="243807" y="203477"/>
                  <a:pt x="253065" y="194219"/>
                  <a:pt x="264469" y="194219"/>
                </a:cubicBezTo>
                <a:cubicBezTo>
                  <a:pt x="275872" y="194219"/>
                  <a:pt x="285130" y="203477"/>
                  <a:pt x="285130" y="214881"/>
                </a:cubicBezTo>
                <a:cubicBezTo>
                  <a:pt x="285130" y="226284"/>
                  <a:pt x="275872" y="235542"/>
                  <a:pt x="264469" y="235542"/>
                </a:cubicBezTo>
                <a:cubicBezTo>
                  <a:pt x="253065" y="235542"/>
                  <a:pt x="243807" y="226284"/>
                  <a:pt x="243807" y="214881"/>
                </a:cubicBezTo>
                <a:close/>
              </a:path>
            </a:pathLst>
          </a:custGeom>
          <a:solidFill>
            <a:srgbClr val="343A40"/>
          </a:solidFill>
          <a:ln/>
        </p:spPr>
      </p:sp>
      <p:sp>
        <p:nvSpPr>
          <p:cNvPr id="10" name="Text 7"/>
          <p:cNvSpPr/>
          <p:nvPr/>
        </p:nvSpPr>
        <p:spPr>
          <a:xfrm>
            <a:off x="929958" y="1196884"/>
            <a:ext cx="1190108" cy="3173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82" b="1" dirty="0">
                <a:solidFill>
                  <a:srgbClr val="343A40"/>
                </a:solidFill>
                <a:latin typeface="阿里妈妈数黑体" pitchFamily="34" charset="0"/>
                <a:ea typeface="阿里妈妈数黑体" pitchFamily="34" charset="-122"/>
                <a:cs typeface="阿里妈妈数黑体" pitchFamily="34" charset="-120"/>
              </a:rPr>
              <a:t>分工明确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536414" y="2151962"/>
            <a:ext cx="33356" cy="952087"/>
          </a:xfrm>
          <a:custGeom>
            <a:avLst/>
            <a:gdLst/>
            <a:ahLst/>
            <a:cxnLst/>
            <a:rect l="l" t="t" r="r" b="b"/>
            <a:pathLst>
              <a:path w="33356" h="952087">
                <a:moveTo>
                  <a:pt x="0" y="0"/>
                </a:moveTo>
                <a:lnTo>
                  <a:pt x="33356" y="0"/>
                </a:lnTo>
                <a:lnTo>
                  <a:pt x="33356" y="952087"/>
                </a:lnTo>
                <a:lnTo>
                  <a:pt x="0" y="952087"/>
                </a:lnTo>
                <a:lnTo>
                  <a:pt x="0" y="0"/>
                </a:lnTo>
                <a:close/>
              </a:path>
            </a:pathLst>
          </a:custGeom>
          <a:solidFill>
            <a:srgbClr val="343A40"/>
          </a:solidFill>
          <a:ln/>
        </p:spPr>
      </p:sp>
      <p:sp>
        <p:nvSpPr>
          <p:cNvPr id="12" name="Shape 9"/>
          <p:cNvSpPr/>
          <p:nvPr/>
        </p:nvSpPr>
        <p:spPr>
          <a:xfrm>
            <a:off x="694112" y="2169533"/>
            <a:ext cx="423150" cy="423150"/>
          </a:xfrm>
          <a:custGeom>
            <a:avLst/>
            <a:gdLst/>
            <a:ahLst/>
            <a:cxnLst/>
            <a:rect l="l" t="t" r="r" b="b"/>
            <a:pathLst>
              <a:path w="423150" h="423150">
                <a:moveTo>
                  <a:pt x="211575" y="0"/>
                </a:moveTo>
                <a:lnTo>
                  <a:pt x="211575" y="0"/>
                </a:lnTo>
                <a:cubicBezTo>
                  <a:pt x="328346" y="0"/>
                  <a:pt x="423150" y="94804"/>
                  <a:pt x="423150" y="211575"/>
                </a:cubicBezTo>
                <a:lnTo>
                  <a:pt x="423150" y="211575"/>
                </a:lnTo>
                <a:cubicBezTo>
                  <a:pt x="423150" y="328346"/>
                  <a:pt x="328346" y="423150"/>
                  <a:pt x="211575" y="423150"/>
                </a:cubicBezTo>
                <a:lnTo>
                  <a:pt x="211575" y="423150"/>
                </a:lnTo>
                <a:cubicBezTo>
                  <a:pt x="94804" y="423150"/>
                  <a:pt x="0" y="328346"/>
                  <a:pt x="0" y="211575"/>
                </a:cubicBezTo>
                <a:lnTo>
                  <a:pt x="0" y="211575"/>
                </a:lnTo>
                <a:cubicBezTo>
                  <a:pt x="0" y="94804"/>
                  <a:pt x="94804" y="0"/>
                  <a:pt x="211575" y="0"/>
                </a:cubicBezTo>
                <a:close/>
              </a:path>
            </a:pathLst>
          </a:custGeom>
          <a:solidFill>
            <a:srgbClr val="343A40"/>
          </a:solidFill>
          <a:ln/>
        </p:spPr>
      </p:sp>
      <p:sp>
        <p:nvSpPr>
          <p:cNvPr id="13" name="Text 10"/>
          <p:cNvSpPr/>
          <p:nvPr/>
        </p:nvSpPr>
        <p:spPr>
          <a:xfrm>
            <a:off x="650034" y="2169533"/>
            <a:ext cx="511306" cy="423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388" b="1" dirty="0">
                <a:solidFill>
                  <a:srgbClr val="FFC107"/>
                </a:solidFill>
                <a:latin typeface="阿里妈妈数黑体" pitchFamily="34" charset="0"/>
                <a:ea typeface="阿里妈妈数黑体" pitchFamily="34" charset="-122"/>
                <a:cs typeface="阿里妈妈数黑体" pitchFamily="34" charset="-120"/>
              </a:rPr>
              <a:t>黄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1222975" y="2151962"/>
            <a:ext cx="1075505" cy="2468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388" b="1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黄飞扬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1222975" y="2398782"/>
            <a:ext cx="1057874" cy="2115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11" dirty="0">
                <a:solidFill>
                  <a:srgbClr val="6C757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后端开发与架构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694112" y="2733686"/>
            <a:ext cx="70525" cy="70525"/>
          </a:xfrm>
          <a:custGeom>
            <a:avLst/>
            <a:gdLst/>
            <a:ahLst/>
            <a:cxnLst/>
            <a:rect l="l" t="t" r="r" b="b"/>
            <a:pathLst>
              <a:path w="70525" h="70525">
                <a:moveTo>
                  <a:pt x="35262" y="0"/>
                </a:moveTo>
                <a:lnTo>
                  <a:pt x="35262" y="0"/>
                </a:lnTo>
                <a:cubicBezTo>
                  <a:pt x="54724" y="0"/>
                  <a:pt x="70525" y="15801"/>
                  <a:pt x="70525" y="35262"/>
                </a:cubicBezTo>
                <a:lnTo>
                  <a:pt x="70525" y="35262"/>
                </a:lnTo>
                <a:cubicBezTo>
                  <a:pt x="70525" y="54724"/>
                  <a:pt x="54724" y="70525"/>
                  <a:pt x="35262" y="70525"/>
                </a:cubicBezTo>
                <a:lnTo>
                  <a:pt x="35262" y="70525"/>
                </a:lnTo>
                <a:cubicBezTo>
                  <a:pt x="15801" y="70525"/>
                  <a:pt x="0" y="54724"/>
                  <a:pt x="0" y="35262"/>
                </a:cubicBezTo>
                <a:lnTo>
                  <a:pt x="0" y="35262"/>
                </a:lnTo>
                <a:cubicBezTo>
                  <a:pt x="0" y="15801"/>
                  <a:pt x="15801" y="0"/>
                  <a:pt x="35262" y="0"/>
                </a:cubicBez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17" name="Text 14"/>
          <p:cNvSpPr/>
          <p:nvPr/>
        </p:nvSpPr>
        <p:spPr>
          <a:xfrm>
            <a:off x="835132" y="2680822"/>
            <a:ext cx="802221" cy="176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72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系统架构设计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3328969" y="2733686"/>
            <a:ext cx="70525" cy="70525"/>
          </a:xfrm>
          <a:custGeom>
            <a:avLst/>
            <a:gdLst/>
            <a:ahLst/>
            <a:cxnLst/>
            <a:rect l="l" t="t" r="r" b="b"/>
            <a:pathLst>
              <a:path w="70525" h="70525">
                <a:moveTo>
                  <a:pt x="35262" y="0"/>
                </a:moveTo>
                <a:lnTo>
                  <a:pt x="35262" y="0"/>
                </a:lnTo>
                <a:cubicBezTo>
                  <a:pt x="54724" y="0"/>
                  <a:pt x="70525" y="15801"/>
                  <a:pt x="70525" y="35262"/>
                </a:cubicBezTo>
                <a:lnTo>
                  <a:pt x="70525" y="35262"/>
                </a:lnTo>
                <a:cubicBezTo>
                  <a:pt x="70525" y="54724"/>
                  <a:pt x="54724" y="70525"/>
                  <a:pt x="35262" y="70525"/>
                </a:cubicBezTo>
                <a:lnTo>
                  <a:pt x="35262" y="70525"/>
                </a:lnTo>
                <a:cubicBezTo>
                  <a:pt x="15801" y="70525"/>
                  <a:pt x="0" y="54724"/>
                  <a:pt x="0" y="35262"/>
                </a:cubicBezTo>
                <a:lnTo>
                  <a:pt x="0" y="35262"/>
                </a:lnTo>
                <a:cubicBezTo>
                  <a:pt x="0" y="15801"/>
                  <a:pt x="15801" y="0"/>
                  <a:pt x="35262" y="0"/>
                </a:cubicBez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19" name="Text 16"/>
          <p:cNvSpPr/>
          <p:nvPr/>
        </p:nvSpPr>
        <p:spPr>
          <a:xfrm>
            <a:off x="3469989" y="2680822"/>
            <a:ext cx="740512" cy="176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72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API接口开发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694112" y="2980510"/>
            <a:ext cx="70525" cy="70525"/>
          </a:xfrm>
          <a:custGeom>
            <a:avLst/>
            <a:gdLst/>
            <a:ahLst/>
            <a:cxnLst/>
            <a:rect l="l" t="t" r="r" b="b"/>
            <a:pathLst>
              <a:path w="70525" h="70525">
                <a:moveTo>
                  <a:pt x="35262" y="0"/>
                </a:moveTo>
                <a:lnTo>
                  <a:pt x="35262" y="0"/>
                </a:lnTo>
                <a:cubicBezTo>
                  <a:pt x="54724" y="0"/>
                  <a:pt x="70525" y="15801"/>
                  <a:pt x="70525" y="35262"/>
                </a:cubicBezTo>
                <a:lnTo>
                  <a:pt x="70525" y="35262"/>
                </a:lnTo>
                <a:cubicBezTo>
                  <a:pt x="70525" y="54724"/>
                  <a:pt x="54724" y="70525"/>
                  <a:pt x="35262" y="70525"/>
                </a:cubicBezTo>
                <a:lnTo>
                  <a:pt x="35262" y="70525"/>
                </a:lnTo>
                <a:cubicBezTo>
                  <a:pt x="15801" y="70525"/>
                  <a:pt x="0" y="54724"/>
                  <a:pt x="0" y="35262"/>
                </a:cubicBezTo>
                <a:lnTo>
                  <a:pt x="0" y="35262"/>
                </a:lnTo>
                <a:cubicBezTo>
                  <a:pt x="0" y="15801"/>
                  <a:pt x="15801" y="0"/>
                  <a:pt x="35262" y="0"/>
                </a:cubicBez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21" name="Text 18"/>
          <p:cNvSpPr/>
          <p:nvPr/>
        </p:nvSpPr>
        <p:spPr>
          <a:xfrm>
            <a:off x="835132" y="2927646"/>
            <a:ext cx="678803" cy="176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72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数据库设计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3328969" y="2980510"/>
            <a:ext cx="70525" cy="70525"/>
          </a:xfrm>
          <a:custGeom>
            <a:avLst/>
            <a:gdLst/>
            <a:ahLst/>
            <a:cxnLst/>
            <a:rect l="l" t="t" r="r" b="b"/>
            <a:pathLst>
              <a:path w="70525" h="70525">
                <a:moveTo>
                  <a:pt x="35262" y="0"/>
                </a:moveTo>
                <a:lnTo>
                  <a:pt x="35262" y="0"/>
                </a:lnTo>
                <a:cubicBezTo>
                  <a:pt x="54724" y="0"/>
                  <a:pt x="70525" y="15801"/>
                  <a:pt x="70525" y="35262"/>
                </a:cubicBezTo>
                <a:lnTo>
                  <a:pt x="70525" y="35262"/>
                </a:lnTo>
                <a:cubicBezTo>
                  <a:pt x="70525" y="54724"/>
                  <a:pt x="54724" y="70525"/>
                  <a:pt x="35262" y="70525"/>
                </a:cubicBezTo>
                <a:lnTo>
                  <a:pt x="35262" y="70525"/>
                </a:lnTo>
                <a:cubicBezTo>
                  <a:pt x="15801" y="70525"/>
                  <a:pt x="0" y="54724"/>
                  <a:pt x="0" y="35262"/>
                </a:cubicBezTo>
                <a:lnTo>
                  <a:pt x="0" y="35262"/>
                </a:lnTo>
                <a:cubicBezTo>
                  <a:pt x="0" y="15801"/>
                  <a:pt x="15801" y="0"/>
                  <a:pt x="35262" y="0"/>
                </a:cubicBez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23" name="Text 20"/>
          <p:cNvSpPr/>
          <p:nvPr/>
        </p:nvSpPr>
        <p:spPr>
          <a:xfrm>
            <a:off x="3469989" y="2927646"/>
            <a:ext cx="678803" cy="176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72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模型适配器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510323" y="3814978"/>
            <a:ext cx="33356" cy="952087"/>
          </a:xfrm>
          <a:custGeom>
            <a:avLst/>
            <a:gdLst/>
            <a:ahLst/>
            <a:cxnLst/>
            <a:rect l="l" t="t" r="r" b="b"/>
            <a:pathLst>
              <a:path w="33356" h="952087">
                <a:moveTo>
                  <a:pt x="0" y="0"/>
                </a:moveTo>
                <a:lnTo>
                  <a:pt x="33356" y="0"/>
                </a:lnTo>
                <a:lnTo>
                  <a:pt x="33356" y="952087"/>
                </a:lnTo>
                <a:lnTo>
                  <a:pt x="0" y="952087"/>
                </a:lnTo>
                <a:lnTo>
                  <a:pt x="0" y="0"/>
                </a:ln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25" name="Shape 22"/>
          <p:cNvSpPr/>
          <p:nvPr/>
        </p:nvSpPr>
        <p:spPr>
          <a:xfrm>
            <a:off x="668021" y="3832549"/>
            <a:ext cx="423150" cy="423150"/>
          </a:xfrm>
          <a:custGeom>
            <a:avLst/>
            <a:gdLst/>
            <a:ahLst/>
            <a:cxnLst/>
            <a:rect l="l" t="t" r="r" b="b"/>
            <a:pathLst>
              <a:path w="423150" h="423150">
                <a:moveTo>
                  <a:pt x="211575" y="0"/>
                </a:moveTo>
                <a:lnTo>
                  <a:pt x="211575" y="0"/>
                </a:lnTo>
                <a:cubicBezTo>
                  <a:pt x="328346" y="0"/>
                  <a:pt x="423150" y="94804"/>
                  <a:pt x="423150" y="211575"/>
                </a:cubicBezTo>
                <a:lnTo>
                  <a:pt x="423150" y="211575"/>
                </a:lnTo>
                <a:cubicBezTo>
                  <a:pt x="423150" y="328346"/>
                  <a:pt x="328346" y="423150"/>
                  <a:pt x="211575" y="423150"/>
                </a:cubicBezTo>
                <a:lnTo>
                  <a:pt x="211575" y="423150"/>
                </a:lnTo>
                <a:cubicBezTo>
                  <a:pt x="94804" y="423150"/>
                  <a:pt x="0" y="328346"/>
                  <a:pt x="0" y="211575"/>
                </a:cubicBezTo>
                <a:lnTo>
                  <a:pt x="0" y="211575"/>
                </a:lnTo>
                <a:cubicBezTo>
                  <a:pt x="0" y="94804"/>
                  <a:pt x="94804" y="0"/>
                  <a:pt x="211575" y="0"/>
                </a:cubicBez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26" name="Text 23"/>
          <p:cNvSpPr/>
          <p:nvPr/>
        </p:nvSpPr>
        <p:spPr>
          <a:xfrm>
            <a:off x="623943" y="3832549"/>
            <a:ext cx="511306" cy="423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388" b="1" dirty="0">
                <a:solidFill>
                  <a:srgbClr val="F8F9FA"/>
                </a:solidFill>
                <a:latin typeface="阿里妈妈数黑体" pitchFamily="34" charset="0"/>
                <a:ea typeface="阿里妈妈数黑体" pitchFamily="34" charset="-122"/>
                <a:cs typeface="阿里妈妈数黑体" pitchFamily="34" charset="-120"/>
              </a:rPr>
              <a:t>谷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1196884" y="3814978"/>
            <a:ext cx="1075505" cy="2468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388" b="1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谷强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1196884" y="4061802"/>
            <a:ext cx="1057874" cy="2115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11" dirty="0">
                <a:solidFill>
                  <a:srgbClr val="6C757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前端开发与交互</a:t>
            </a:r>
            <a:endParaRPr lang="en-US" sz="1600" dirty="0"/>
          </a:p>
        </p:txBody>
      </p:sp>
      <p:sp>
        <p:nvSpPr>
          <p:cNvPr id="29" name="Shape 26"/>
          <p:cNvSpPr/>
          <p:nvPr/>
        </p:nvSpPr>
        <p:spPr>
          <a:xfrm>
            <a:off x="668021" y="4396705"/>
            <a:ext cx="70525" cy="70525"/>
          </a:xfrm>
          <a:custGeom>
            <a:avLst/>
            <a:gdLst/>
            <a:ahLst/>
            <a:cxnLst/>
            <a:rect l="l" t="t" r="r" b="b"/>
            <a:pathLst>
              <a:path w="70525" h="70525">
                <a:moveTo>
                  <a:pt x="35262" y="0"/>
                </a:moveTo>
                <a:lnTo>
                  <a:pt x="35262" y="0"/>
                </a:lnTo>
                <a:cubicBezTo>
                  <a:pt x="54724" y="0"/>
                  <a:pt x="70525" y="15801"/>
                  <a:pt x="70525" y="35262"/>
                </a:cubicBezTo>
                <a:lnTo>
                  <a:pt x="70525" y="35262"/>
                </a:lnTo>
                <a:cubicBezTo>
                  <a:pt x="70525" y="54724"/>
                  <a:pt x="54724" y="70525"/>
                  <a:pt x="35262" y="70525"/>
                </a:cubicBezTo>
                <a:lnTo>
                  <a:pt x="35262" y="70525"/>
                </a:lnTo>
                <a:cubicBezTo>
                  <a:pt x="15801" y="70525"/>
                  <a:pt x="0" y="54724"/>
                  <a:pt x="0" y="35262"/>
                </a:cubicBezTo>
                <a:lnTo>
                  <a:pt x="0" y="35262"/>
                </a:lnTo>
                <a:cubicBezTo>
                  <a:pt x="0" y="15801"/>
                  <a:pt x="15801" y="0"/>
                  <a:pt x="35262" y="0"/>
                </a:cubicBez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30" name="Text 27"/>
          <p:cNvSpPr/>
          <p:nvPr/>
        </p:nvSpPr>
        <p:spPr>
          <a:xfrm>
            <a:off x="809041" y="4343842"/>
            <a:ext cx="669987" cy="176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72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UI界面开发</a:t>
            </a:r>
            <a:endParaRPr lang="en-US" sz="1600" dirty="0"/>
          </a:p>
        </p:txBody>
      </p:sp>
      <p:sp>
        <p:nvSpPr>
          <p:cNvPr id="31" name="Shape 28"/>
          <p:cNvSpPr/>
          <p:nvPr/>
        </p:nvSpPr>
        <p:spPr>
          <a:xfrm>
            <a:off x="3302878" y="4396705"/>
            <a:ext cx="70525" cy="70525"/>
          </a:xfrm>
          <a:custGeom>
            <a:avLst/>
            <a:gdLst/>
            <a:ahLst/>
            <a:cxnLst/>
            <a:rect l="l" t="t" r="r" b="b"/>
            <a:pathLst>
              <a:path w="70525" h="70525">
                <a:moveTo>
                  <a:pt x="35262" y="0"/>
                </a:moveTo>
                <a:lnTo>
                  <a:pt x="35262" y="0"/>
                </a:lnTo>
                <a:cubicBezTo>
                  <a:pt x="54724" y="0"/>
                  <a:pt x="70525" y="15801"/>
                  <a:pt x="70525" y="35262"/>
                </a:cubicBezTo>
                <a:lnTo>
                  <a:pt x="70525" y="35262"/>
                </a:lnTo>
                <a:cubicBezTo>
                  <a:pt x="70525" y="54724"/>
                  <a:pt x="54724" y="70525"/>
                  <a:pt x="35262" y="70525"/>
                </a:cubicBezTo>
                <a:lnTo>
                  <a:pt x="35262" y="70525"/>
                </a:lnTo>
                <a:cubicBezTo>
                  <a:pt x="15801" y="70525"/>
                  <a:pt x="0" y="54724"/>
                  <a:pt x="0" y="35262"/>
                </a:cubicBezTo>
                <a:lnTo>
                  <a:pt x="0" y="35262"/>
                </a:lnTo>
                <a:cubicBezTo>
                  <a:pt x="0" y="15801"/>
                  <a:pt x="15801" y="0"/>
                  <a:pt x="35262" y="0"/>
                </a:cubicBez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32" name="Text 29"/>
          <p:cNvSpPr/>
          <p:nvPr/>
        </p:nvSpPr>
        <p:spPr>
          <a:xfrm>
            <a:off x="3443898" y="4343842"/>
            <a:ext cx="555384" cy="176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72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状态管理</a:t>
            </a:r>
            <a:endParaRPr lang="en-US" sz="1600" dirty="0"/>
          </a:p>
        </p:txBody>
      </p:sp>
      <p:sp>
        <p:nvSpPr>
          <p:cNvPr id="33" name="Shape 30"/>
          <p:cNvSpPr/>
          <p:nvPr/>
        </p:nvSpPr>
        <p:spPr>
          <a:xfrm>
            <a:off x="668021" y="4643525"/>
            <a:ext cx="70525" cy="70525"/>
          </a:xfrm>
          <a:custGeom>
            <a:avLst/>
            <a:gdLst/>
            <a:ahLst/>
            <a:cxnLst/>
            <a:rect l="l" t="t" r="r" b="b"/>
            <a:pathLst>
              <a:path w="70525" h="70525">
                <a:moveTo>
                  <a:pt x="35262" y="0"/>
                </a:moveTo>
                <a:lnTo>
                  <a:pt x="35262" y="0"/>
                </a:lnTo>
                <a:cubicBezTo>
                  <a:pt x="54724" y="0"/>
                  <a:pt x="70525" y="15801"/>
                  <a:pt x="70525" y="35262"/>
                </a:cubicBezTo>
                <a:lnTo>
                  <a:pt x="70525" y="35262"/>
                </a:lnTo>
                <a:cubicBezTo>
                  <a:pt x="70525" y="54724"/>
                  <a:pt x="54724" y="70525"/>
                  <a:pt x="35262" y="70525"/>
                </a:cubicBezTo>
                <a:lnTo>
                  <a:pt x="35262" y="70525"/>
                </a:lnTo>
                <a:cubicBezTo>
                  <a:pt x="15801" y="70525"/>
                  <a:pt x="0" y="54724"/>
                  <a:pt x="0" y="35262"/>
                </a:cubicBezTo>
                <a:lnTo>
                  <a:pt x="0" y="35262"/>
                </a:lnTo>
                <a:cubicBezTo>
                  <a:pt x="0" y="15801"/>
                  <a:pt x="15801" y="0"/>
                  <a:pt x="35262" y="0"/>
                </a:cubicBez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34" name="Text 31"/>
          <p:cNvSpPr/>
          <p:nvPr/>
        </p:nvSpPr>
        <p:spPr>
          <a:xfrm>
            <a:off x="809041" y="4590662"/>
            <a:ext cx="802221" cy="176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72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用户体验设计</a:t>
            </a:r>
            <a:endParaRPr lang="en-US" sz="1600" dirty="0"/>
          </a:p>
        </p:txBody>
      </p:sp>
      <p:sp>
        <p:nvSpPr>
          <p:cNvPr id="35" name="Shape 32"/>
          <p:cNvSpPr/>
          <p:nvPr/>
        </p:nvSpPr>
        <p:spPr>
          <a:xfrm>
            <a:off x="3302878" y="4643525"/>
            <a:ext cx="70525" cy="70525"/>
          </a:xfrm>
          <a:custGeom>
            <a:avLst/>
            <a:gdLst/>
            <a:ahLst/>
            <a:cxnLst/>
            <a:rect l="l" t="t" r="r" b="b"/>
            <a:pathLst>
              <a:path w="70525" h="70525">
                <a:moveTo>
                  <a:pt x="35262" y="0"/>
                </a:moveTo>
                <a:lnTo>
                  <a:pt x="35262" y="0"/>
                </a:lnTo>
                <a:cubicBezTo>
                  <a:pt x="54724" y="0"/>
                  <a:pt x="70525" y="15801"/>
                  <a:pt x="70525" y="35262"/>
                </a:cubicBezTo>
                <a:lnTo>
                  <a:pt x="70525" y="35262"/>
                </a:lnTo>
                <a:cubicBezTo>
                  <a:pt x="70525" y="54724"/>
                  <a:pt x="54724" y="70525"/>
                  <a:pt x="35262" y="70525"/>
                </a:cubicBezTo>
                <a:lnTo>
                  <a:pt x="35262" y="70525"/>
                </a:lnTo>
                <a:cubicBezTo>
                  <a:pt x="15801" y="70525"/>
                  <a:pt x="0" y="54724"/>
                  <a:pt x="0" y="35262"/>
                </a:cubicBezTo>
                <a:lnTo>
                  <a:pt x="0" y="35262"/>
                </a:lnTo>
                <a:cubicBezTo>
                  <a:pt x="0" y="15801"/>
                  <a:pt x="15801" y="0"/>
                  <a:pt x="35262" y="0"/>
                </a:cubicBez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36" name="Text 33"/>
          <p:cNvSpPr/>
          <p:nvPr/>
        </p:nvSpPr>
        <p:spPr>
          <a:xfrm>
            <a:off x="3443898" y="4590662"/>
            <a:ext cx="555384" cy="176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72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文档撰写</a:t>
            </a:r>
            <a:endParaRPr lang="en-US" sz="1600" dirty="0"/>
          </a:p>
        </p:txBody>
      </p:sp>
      <p:sp>
        <p:nvSpPr>
          <p:cNvPr id="37" name="Shape 34"/>
          <p:cNvSpPr/>
          <p:nvPr/>
        </p:nvSpPr>
        <p:spPr>
          <a:xfrm>
            <a:off x="6184632" y="1039187"/>
            <a:ext cx="5659627" cy="1815064"/>
          </a:xfrm>
          <a:custGeom>
            <a:avLst/>
            <a:gdLst/>
            <a:ahLst/>
            <a:cxnLst/>
            <a:rect l="l" t="t" r="r" b="b"/>
            <a:pathLst>
              <a:path w="5659627" h="1815064">
                <a:moveTo>
                  <a:pt x="33356" y="0"/>
                </a:moveTo>
                <a:lnTo>
                  <a:pt x="5626271" y="0"/>
                </a:lnTo>
                <a:cubicBezTo>
                  <a:pt x="5644693" y="0"/>
                  <a:pt x="5659627" y="14934"/>
                  <a:pt x="5659627" y="33356"/>
                </a:cubicBezTo>
                <a:lnTo>
                  <a:pt x="5659627" y="1709282"/>
                </a:lnTo>
                <a:cubicBezTo>
                  <a:pt x="5659627" y="1767704"/>
                  <a:pt x="5612267" y="1815064"/>
                  <a:pt x="5553845" y="1815064"/>
                </a:cubicBezTo>
                <a:lnTo>
                  <a:pt x="105782" y="1815064"/>
                </a:lnTo>
                <a:cubicBezTo>
                  <a:pt x="47360" y="1815064"/>
                  <a:pt x="0" y="1767704"/>
                  <a:pt x="0" y="1709282"/>
                </a:cubicBezTo>
                <a:lnTo>
                  <a:pt x="0" y="33356"/>
                </a:lnTo>
                <a:cubicBezTo>
                  <a:pt x="0" y="14946"/>
                  <a:pt x="14946" y="0"/>
                  <a:pt x="33356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blurRad="132234" dist="88156" dir="5400000" algn="bl" rotWithShape="0">
              <a:srgbClr val="000000">
                <a:alpha val="10196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184632" y="1039187"/>
            <a:ext cx="5659627" cy="33356"/>
          </a:xfrm>
          <a:custGeom>
            <a:avLst/>
            <a:gdLst/>
            <a:ahLst/>
            <a:cxnLst/>
            <a:rect l="l" t="t" r="r" b="b"/>
            <a:pathLst>
              <a:path w="5659627" h="33356">
                <a:moveTo>
                  <a:pt x="33356" y="0"/>
                </a:moveTo>
                <a:lnTo>
                  <a:pt x="5626271" y="0"/>
                </a:lnTo>
                <a:cubicBezTo>
                  <a:pt x="5644693" y="0"/>
                  <a:pt x="5659627" y="14934"/>
                  <a:pt x="5659627" y="33356"/>
                </a:cubicBezTo>
                <a:lnTo>
                  <a:pt x="5659627" y="33356"/>
                </a:lnTo>
                <a:lnTo>
                  <a:pt x="0" y="33356"/>
                </a:lnTo>
                <a:lnTo>
                  <a:pt x="0" y="33356"/>
                </a:lnTo>
                <a:cubicBezTo>
                  <a:pt x="0" y="14934"/>
                  <a:pt x="14934" y="0"/>
                  <a:pt x="33356" y="0"/>
                </a:cubicBez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39" name="Shape 36"/>
          <p:cNvSpPr/>
          <p:nvPr/>
        </p:nvSpPr>
        <p:spPr>
          <a:xfrm>
            <a:off x="6360915" y="1223318"/>
            <a:ext cx="264469" cy="264469"/>
          </a:xfrm>
          <a:custGeom>
            <a:avLst/>
            <a:gdLst/>
            <a:ahLst/>
            <a:cxnLst/>
            <a:rect l="l" t="t" r="r" b="b"/>
            <a:pathLst>
              <a:path w="264469" h="264469">
                <a:moveTo>
                  <a:pt x="33059" y="33059"/>
                </a:moveTo>
                <a:cubicBezTo>
                  <a:pt x="33059" y="23916"/>
                  <a:pt x="25672" y="16529"/>
                  <a:pt x="16529" y="16529"/>
                </a:cubicBezTo>
                <a:cubicBezTo>
                  <a:pt x="7387" y="16529"/>
                  <a:pt x="0" y="23916"/>
                  <a:pt x="0" y="33059"/>
                </a:cubicBezTo>
                <a:lnTo>
                  <a:pt x="0" y="206616"/>
                </a:lnTo>
                <a:cubicBezTo>
                  <a:pt x="0" y="229447"/>
                  <a:pt x="18492" y="247939"/>
                  <a:pt x="41323" y="247939"/>
                </a:cubicBezTo>
                <a:lnTo>
                  <a:pt x="247939" y="247939"/>
                </a:lnTo>
                <a:cubicBezTo>
                  <a:pt x="257082" y="247939"/>
                  <a:pt x="264469" y="240553"/>
                  <a:pt x="264469" y="231410"/>
                </a:cubicBezTo>
                <a:cubicBezTo>
                  <a:pt x="264469" y="222267"/>
                  <a:pt x="257082" y="214881"/>
                  <a:pt x="247939" y="214881"/>
                </a:cubicBezTo>
                <a:lnTo>
                  <a:pt x="41323" y="214881"/>
                </a:lnTo>
                <a:cubicBezTo>
                  <a:pt x="36778" y="214881"/>
                  <a:pt x="33059" y="211162"/>
                  <a:pt x="33059" y="206616"/>
                </a:cubicBezTo>
                <a:lnTo>
                  <a:pt x="33059" y="33059"/>
                </a:lnTo>
                <a:close/>
                <a:moveTo>
                  <a:pt x="243084" y="77791"/>
                </a:moveTo>
                <a:cubicBezTo>
                  <a:pt x="249541" y="71334"/>
                  <a:pt x="249541" y="60848"/>
                  <a:pt x="243084" y="54392"/>
                </a:cubicBezTo>
                <a:cubicBezTo>
                  <a:pt x="236627" y="47935"/>
                  <a:pt x="226141" y="47935"/>
                  <a:pt x="219685" y="54392"/>
                </a:cubicBezTo>
                <a:lnTo>
                  <a:pt x="165293" y="108835"/>
                </a:lnTo>
                <a:lnTo>
                  <a:pt x="135643" y="79237"/>
                </a:lnTo>
                <a:cubicBezTo>
                  <a:pt x="129187" y="72781"/>
                  <a:pt x="118701" y="72781"/>
                  <a:pt x="112244" y="79237"/>
                </a:cubicBezTo>
                <a:lnTo>
                  <a:pt x="62656" y="128825"/>
                </a:lnTo>
                <a:cubicBezTo>
                  <a:pt x="56200" y="135282"/>
                  <a:pt x="56200" y="145768"/>
                  <a:pt x="62656" y="152224"/>
                </a:cubicBezTo>
                <a:cubicBezTo>
                  <a:pt x="69113" y="158681"/>
                  <a:pt x="79599" y="158681"/>
                  <a:pt x="86056" y="152224"/>
                </a:cubicBezTo>
                <a:lnTo>
                  <a:pt x="123970" y="114310"/>
                </a:lnTo>
                <a:lnTo>
                  <a:pt x="153619" y="143960"/>
                </a:lnTo>
                <a:cubicBezTo>
                  <a:pt x="160076" y="150416"/>
                  <a:pt x="170562" y="150416"/>
                  <a:pt x="177018" y="143960"/>
                </a:cubicBezTo>
                <a:lnTo>
                  <a:pt x="243135" y="77843"/>
                </a:ln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40" name="Text 37"/>
          <p:cNvSpPr/>
          <p:nvPr/>
        </p:nvSpPr>
        <p:spPr>
          <a:xfrm>
            <a:off x="6761966" y="1196884"/>
            <a:ext cx="1190108" cy="3173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82" b="1" dirty="0">
                <a:solidFill>
                  <a:srgbClr val="343A40"/>
                </a:solidFill>
                <a:latin typeface="阿里妈妈数黑体" pitchFamily="34" charset="0"/>
                <a:ea typeface="阿里妈妈数黑体" pitchFamily="34" charset="-122"/>
                <a:cs typeface="阿里妈妈数黑体" pitchFamily="34" charset="-120"/>
              </a:rPr>
              <a:t>进度可控</a:t>
            </a:r>
            <a:endParaRPr lang="en-US" sz="1600" dirty="0"/>
          </a:p>
        </p:txBody>
      </p:sp>
      <p:sp>
        <p:nvSpPr>
          <p:cNvPr id="41" name="Text 38"/>
          <p:cNvSpPr/>
          <p:nvPr/>
        </p:nvSpPr>
        <p:spPr>
          <a:xfrm>
            <a:off x="6325653" y="1619947"/>
            <a:ext cx="5448052" cy="2115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11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严格遵循甘特图规划，</a:t>
            </a:r>
            <a:r>
              <a:rPr lang="en-US" sz="1111" dirty="0">
                <a:solidFill>
                  <a:srgbClr val="0056B3"/>
                </a:solidFill>
                <a:highlight>
                  <a:srgbClr val="0056B3">
                    <a:alpha val="10000"/>
                  </a:srgbClr>
                </a:highlight>
                <a:latin typeface="MiSans" pitchFamily="34" charset="0"/>
                <a:ea typeface="MiSans" pitchFamily="34" charset="-122"/>
                <a:cs typeface="MiSans" pitchFamily="34" charset="-120"/>
              </a:rPr>
              <a:t> 所有里程碑节点均按时或提前完成 </a:t>
            </a:r>
            <a:r>
              <a:rPr lang="en-US" sz="1111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，确保项目按期交付。</a:t>
            </a:r>
            <a:endParaRPr lang="en-US" sz="1600" dirty="0"/>
          </a:p>
        </p:txBody>
      </p:sp>
      <p:sp>
        <p:nvSpPr>
          <p:cNvPr id="42" name="Shape 39"/>
          <p:cNvSpPr/>
          <p:nvPr/>
        </p:nvSpPr>
        <p:spPr>
          <a:xfrm>
            <a:off x="6325653" y="1937202"/>
            <a:ext cx="1719046" cy="775774"/>
          </a:xfrm>
          <a:custGeom>
            <a:avLst/>
            <a:gdLst/>
            <a:ahLst/>
            <a:cxnLst/>
            <a:rect l="l" t="t" r="r" b="b"/>
            <a:pathLst>
              <a:path w="1719046" h="775774">
                <a:moveTo>
                  <a:pt x="70526" y="0"/>
                </a:moveTo>
                <a:lnTo>
                  <a:pt x="1648520" y="0"/>
                </a:lnTo>
                <a:cubicBezTo>
                  <a:pt x="1687470" y="0"/>
                  <a:pt x="1719046" y="31575"/>
                  <a:pt x="1719046" y="70526"/>
                </a:cubicBezTo>
                <a:lnTo>
                  <a:pt x="1719046" y="705249"/>
                </a:lnTo>
                <a:cubicBezTo>
                  <a:pt x="1719046" y="744199"/>
                  <a:pt x="1687470" y="775774"/>
                  <a:pt x="1648520" y="775774"/>
                </a:cubicBezTo>
                <a:lnTo>
                  <a:pt x="70526" y="775774"/>
                </a:lnTo>
                <a:cubicBezTo>
                  <a:pt x="31575" y="775774"/>
                  <a:pt x="0" y="744199"/>
                  <a:pt x="0" y="705249"/>
                </a:cubicBezTo>
                <a:lnTo>
                  <a:pt x="0" y="70526"/>
                </a:lnTo>
                <a:cubicBezTo>
                  <a:pt x="0" y="31575"/>
                  <a:pt x="31575" y="0"/>
                  <a:pt x="70526" y="0"/>
                </a:cubicBez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43" name="Text 40"/>
          <p:cNvSpPr/>
          <p:nvPr/>
        </p:nvSpPr>
        <p:spPr>
          <a:xfrm>
            <a:off x="6396118" y="2042933"/>
            <a:ext cx="1577996" cy="2115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11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计划里程碑</a:t>
            </a:r>
            <a:endParaRPr lang="en-US" sz="1600" dirty="0"/>
          </a:p>
        </p:txBody>
      </p:sp>
      <p:sp>
        <p:nvSpPr>
          <p:cNvPr id="44" name="Text 41"/>
          <p:cNvSpPr/>
          <p:nvPr/>
        </p:nvSpPr>
        <p:spPr>
          <a:xfrm>
            <a:off x="6365263" y="2289680"/>
            <a:ext cx="1639705" cy="3173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082" b="1" dirty="0">
                <a:solidFill>
                  <a:srgbClr val="FFC107"/>
                </a:solidFill>
                <a:latin typeface="阿里妈妈数黑体" pitchFamily="34" charset="0"/>
                <a:ea typeface="阿里妈妈数黑体" pitchFamily="34" charset="-122"/>
                <a:cs typeface="阿里妈妈数黑体" pitchFamily="34" charset="-120"/>
              </a:rPr>
              <a:t>7</a:t>
            </a:r>
            <a:endParaRPr lang="en-US" sz="1600" dirty="0"/>
          </a:p>
        </p:txBody>
      </p:sp>
      <p:sp>
        <p:nvSpPr>
          <p:cNvPr id="45" name="Shape 42"/>
          <p:cNvSpPr/>
          <p:nvPr/>
        </p:nvSpPr>
        <p:spPr>
          <a:xfrm>
            <a:off x="8152064" y="1937202"/>
            <a:ext cx="1719046" cy="775774"/>
          </a:xfrm>
          <a:custGeom>
            <a:avLst/>
            <a:gdLst/>
            <a:ahLst/>
            <a:cxnLst/>
            <a:rect l="l" t="t" r="r" b="b"/>
            <a:pathLst>
              <a:path w="1719046" h="775774">
                <a:moveTo>
                  <a:pt x="70526" y="0"/>
                </a:moveTo>
                <a:lnTo>
                  <a:pt x="1648520" y="0"/>
                </a:lnTo>
                <a:cubicBezTo>
                  <a:pt x="1687470" y="0"/>
                  <a:pt x="1719046" y="31575"/>
                  <a:pt x="1719046" y="70526"/>
                </a:cubicBezTo>
                <a:lnTo>
                  <a:pt x="1719046" y="705249"/>
                </a:lnTo>
                <a:cubicBezTo>
                  <a:pt x="1719046" y="744199"/>
                  <a:pt x="1687470" y="775774"/>
                  <a:pt x="1648520" y="775774"/>
                </a:cubicBezTo>
                <a:lnTo>
                  <a:pt x="70526" y="775774"/>
                </a:lnTo>
                <a:cubicBezTo>
                  <a:pt x="31575" y="775774"/>
                  <a:pt x="0" y="744199"/>
                  <a:pt x="0" y="705249"/>
                </a:cubicBezTo>
                <a:lnTo>
                  <a:pt x="0" y="70526"/>
                </a:lnTo>
                <a:cubicBezTo>
                  <a:pt x="0" y="31575"/>
                  <a:pt x="31575" y="0"/>
                  <a:pt x="70526" y="0"/>
                </a:cubicBez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46" name="Text 43"/>
          <p:cNvSpPr/>
          <p:nvPr/>
        </p:nvSpPr>
        <p:spPr>
          <a:xfrm>
            <a:off x="8222530" y="2042933"/>
            <a:ext cx="1577996" cy="2115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11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按时完成</a:t>
            </a:r>
            <a:endParaRPr lang="en-US" sz="1600" dirty="0"/>
          </a:p>
        </p:txBody>
      </p:sp>
      <p:sp>
        <p:nvSpPr>
          <p:cNvPr id="47" name="Text 44"/>
          <p:cNvSpPr/>
          <p:nvPr/>
        </p:nvSpPr>
        <p:spPr>
          <a:xfrm>
            <a:off x="8191675" y="2289680"/>
            <a:ext cx="1639705" cy="3173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082" b="1" dirty="0">
                <a:solidFill>
                  <a:srgbClr val="FFC107"/>
                </a:solidFill>
                <a:latin typeface="阿里妈妈数黑体" pitchFamily="34" charset="0"/>
                <a:ea typeface="阿里妈妈数黑体" pitchFamily="34" charset="-122"/>
                <a:cs typeface="阿里妈妈数黑体" pitchFamily="34" charset="-120"/>
              </a:rPr>
              <a:t>7</a:t>
            </a:r>
            <a:endParaRPr lang="en-US" sz="1600" dirty="0"/>
          </a:p>
        </p:txBody>
      </p:sp>
      <p:sp>
        <p:nvSpPr>
          <p:cNvPr id="48" name="Shape 45"/>
          <p:cNvSpPr/>
          <p:nvPr/>
        </p:nvSpPr>
        <p:spPr>
          <a:xfrm>
            <a:off x="9978550" y="1937202"/>
            <a:ext cx="1719046" cy="775774"/>
          </a:xfrm>
          <a:custGeom>
            <a:avLst/>
            <a:gdLst/>
            <a:ahLst/>
            <a:cxnLst/>
            <a:rect l="l" t="t" r="r" b="b"/>
            <a:pathLst>
              <a:path w="1719046" h="775774">
                <a:moveTo>
                  <a:pt x="70526" y="0"/>
                </a:moveTo>
                <a:lnTo>
                  <a:pt x="1648520" y="0"/>
                </a:lnTo>
                <a:cubicBezTo>
                  <a:pt x="1687470" y="0"/>
                  <a:pt x="1719046" y="31575"/>
                  <a:pt x="1719046" y="70526"/>
                </a:cubicBezTo>
                <a:lnTo>
                  <a:pt x="1719046" y="705249"/>
                </a:lnTo>
                <a:cubicBezTo>
                  <a:pt x="1719046" y="744199"/>
                  <a:pt x="1687470" y="775774"/>
                  <a:pt x="1648520" y="775774"/>
                </a:cubicBezTo>
                <a:lnTo>
                  <a:pt x="70526" y="775774"/>
                </a:lnTo>
                <a:cubicBezTo>
                  <a:pt x="31575" y="775774"/>
                  <a:pt x="0" y="744199"/>
                  <a:pt x="0" y="705249"/>
                </a:cubicBezTo>
                <a:lnTo>
                  <a:pt x="0" y="70526"/>
                </a:lnTo>
                <a:cubicBezTo>
                  <a:pt x="0" y="31575"/>
                  <a:pt x="31575" y="0"/>
                  <a:pt x="70526" y="0"/>
                </a:cubicBez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49" name="Text 46"/>
          <p:cNvSpPr/>
          <p:nvPr/>
        </p:nvSpPr>
        <p:spPr>
          <a:xfrm>
            <a:off x="10049015" y="2042933"/>
            <a:ext cx="1577996" cy="2115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111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准时率</a:t>
            </a:r>
            <a:endParaRPr lang="en-US" sz="1600" dirty="0"/>
          </a:p>
        </p:txBody>
      </p:sp>
      <p:sp>
        <p:nvSpPr>
          <p:cNvPr id="50" name="Text 47"/>
          <p:cNvSpPr/>
          <p:nvPr/>
        </p:nvSpPr>
        <p:spPr>
          <a:xfrm>
            <a:off x="10018160" y="2289680"/>
            <a:ext cx="1639705" cy="3173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082" b="1" dirty="0">
                <a:solidFill>
                  <a:srgbClr val="343A40"/>
                </a:solidFill>
                <a:latin typeface="阿里妈妈数黑体" pitchFamily="34" charset="0"/>
                <a:ea typeface="阿里妈妈数黑体" pitchFamily="34" charset="-122"/>
                <a:cs typeface="阿里妈妈数黑体" pitchFamily="34" charset="-120"/>
              </a:rPr>
              <a:t>100%</a:t>
            </a:r>
            <a:endParaRPr lang="en-US" sz="1600" dirty="0"/>
          </a:p>
        </p:txBody>
      </p:sp>
      <p:sp>
        <p:nvSpPr>
          <p:cNvPr id="51" name="Shape 48"/>
          <p:cNvSpPr/>
          <p:nvPr/>
        </p:nvSpPr>
        <p:spPr>
          <a:xfrm>
            <a:off x="6184632" y="3011457"/>
            <a:ext cx="5659627" cy="2344001"/>
          </a:xfrm>
          <a:custGeom>
            <a:avLst/>
            <a:gdLst/>
            <a:ahLst/>
            <a:cxnLst/>
            <a:rect l="l" t="t" r="r" b="b"/>
            <a:pathLst>
              <a:path w="5659627" h="2344001">
                <a:moveTo>
                  <a:pt x="33356" y="0"/>
                </a:moveTo>
                <a:lnTo>
                  <a:pt x="5626271" y="0"/>
                </a:lnTo>
                <a:cubicBezTo>
                  <a:pt x="5644693" y="0"/>
                  <a:pt x="5659627" y="14934"/>
                  <a:pt x="5659627" y="33356"/>
                </a:cubicBezTo>
                <a:lnTo>
                  <a:pt x="5659627" y="2238217"/>
                </a:lnTo>
                <a:cubicBezTo>
                  <a:pt x="5659627" y="2296640"/>
                  <a:pt x="5612265" y="2344001"/>
                  <a:pt x="5553842" y="2344001"/>
                </a:cubicBezTo>
                <a:lnTo>
                  <a:pt x="105785" y="2344001"/>
                </a:lnTo>
                <a:cubicBezTo>
                  <a:pt x="47361" y="2344001"/>
                  <a:pt x="0" y="2296640"/>
                  <a:pt x="0" y="2238217"/>
                </a:cubicBezTo>
                <a:lnTo>
                  <a:pt x="0" y="33356"/>
                </a:lnTo>
                <a:cubicBezTo>
                  <a:pt x="0" y="14946"/>
                  <a:pt x="14946" y="0"/>
                  <a:pt x="33356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blurRad="132234" dist="88156" dir="5400000" algn="bl" rotWithShape="0">
              <a:srgbClr val="000000">
                <a:alpha val="10196"/>
              </a:srgbClr>
            </a:outerShdw>
          </a:effectLst>
        </p:spPr>
      </p:sp>
      <p:sp>
        <p:nvSpPr>
          <p:cNvPr id="52" name="Shape 49"/>
          <p:cNvSpPr/>
          <p:nvPr/>
        </p:nvSpPr>
        <p:spPr>
          <a:xfrm>
            <a:off x="6184632" y="3011457"/>
            <a:ext cx="5659627" cy="33356"/>
          </a:xfrm>
          <a:custGeom>
            <a:avLst/>
            <a:gdLst/>
            <a:ahLst/>
            <a:cxnLst/>
            <a:rect l="l" t="t" r="r" b="b"/>
            <a:pathLst>
              <a:path w="5659627" h="33356">
                <a:moveTo>
                  <a:pt x="33356" y="0"/>
                </a:moveTo>
                <a:lnTo>
                  <a:pt x="5626271" y="0"/>
                </a:lnTo>
                <a:cubicBezTo>
                  <a:pt x="5644693" y="0"/>
                  <a:pt x="5659627" y="14934"/>
                  <a:pt x="5659627" y="33356"/>
                </a:cubicBezTo>
                <a:lnTo>
                  <a:pt x="5659627" y="33356"/>
                </a:lnTo>
                <a:lnTo>
                  <a:pt x="0" y="33356"/>
                </a:lnTo>
                <a:lnTo>
                  <a:pt x="0" y="33356"/>
                </a:lnTo>
                <a:cubicBezTo>
                  <a:pt x="0" y="14934"/>
                  <a:pt x="14934" y="0"/>
                  <a:pt x="33356" y="0"/>
                </a:cubicBez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53" name="Shape 50"/>
          <p:cNvSpPr/>
          <p:nvPr/>
        </p:nvSpPr>
        <p:spPr>
          <a:xfrm>
            <a:off x="6344386" y="3195588"/>
            <a:ext cx="297527" cy="264469"/>
          </a:xfrm>
          <a:custGeom>
            <a:avLst/>
            <a:gdLst/>
            <a:ahLst/>
            <a:cxnLst/>
            <a:rect l="l" t="t" r="r" b="b"/>
            <a:pathLst>
              <a:path w="297527" h="264469">
                <a:moveTo>
                  <a:pt x="198351" y="74382"/>
                </a:moveTo>
                <a:cubicBezTo>
                  <a:pt x="198351" y="124589"/>
                  <a:pt x="153929" y="165293"/>
                  <a:pt x="99176" y="165293"/>
                </a:cubicBezTo>
                <a:cubicBezTo>
                  <a:pt x="85384" y="165293"/>
                  <a:pt x="72264" y="162710"/>
                  <a:pt x="60332" y="158061"/>
                </a:cubicBezTo>
                <a:lnTo>
                  <a:pt x="18182" y="180376"/>
                </a:lnTo>
                <a:cubicBezTo>
                  <a:pt x="13378" y="182907"/>
                  <a:pt x="7490" y="182029"/>
                  <a:pt x="3616" y="178206"/>
                </a:cubicBezTo>
                <a:cubicBezTo>
                  <a:pt x="-258" y="174384"/>
                  <a:pt x="-1136" y="168444"/>
                  <a:pt x="1446" y="163640"/>
                </a:cubicBezTo>
                <a:lnTo>
                  <a:pt x="19835" y="128928"/>
                </a:lnTo>
                <a:cubicBezTo>
                  <a:pt x="7387" y="113742"/>
                  <a:pt x="0" y="94837"/>
                  <a:pt x="0" y="74382"/>
                </a:cubicBezTo>
                <a:cubicBezTo>
                  <a:pt x="0" y="24174"/>
                  <a:pt x="44422" y="-16529"/>
                  <a:pt x="99176" y="-16529"/>
                </a:cubicBezTo>
                <a:cubicBezTo>
                  <a:pt x="153929" y="-16529"/>
                  <a:pt x="198351" y="24174"/>
                  <a:pt x="198351" y="74382"/>
                </a:cubicBezTo>
                <a:close/>
                <a:moveTo>
                  <a:pt x="198351" y="264469"/>
                </a:moveTo>
                <a:cubicBezTo>
                  <a:pt x="149745" y="264469"/>
                  <a:pt x="109300" y="232391"/>
                  <a:pt x="100829" y="190087"/>
                </a:cubicBezTo>
                <a:cubicBezTo>
                  <a:pt x="162813" y="189312"/>
                  <a:pt x="216689" y="145199"/>
                  <a:pt x="222629" y="85384"/>
                </a:cubicBezTo>
                <a:cubicBezTo>
                  <a:pt x="265657" y="95302"/>
                  <a:pt x="297527" y="130995"/>
                  <a:pt x="297527" y="173557"/>
                </a:cubicBezTo>
                <a:cubicBezTo>
                  <a:pt x="297527" y="194012"/>
                  <a:pt x="290141" y="212918"/>
                  <a:pt x="277692" y="228104"/>
                </a:cubicBezTo>
                <a:lnTo>
                  <a:pt x="296081" y="262816"/>
                </a:lnTo>
                <a:cubicBezTo>
                  <a:pt x="298612" y="267619"/>
                  <a:pt x="297734" y="273508"/>
                  <a:pt x="293911" y="277382"/>
                </a:cubicBezTo>
                <a:cubicBezTo>
                  <a:pt x="290089" y="281256"/>
                  <a:pt x="284149" y="282134"/>
                  <a:pt x="279345" y="279552"/>
                </a:cubicBezTo>
                <a:lnTo>
                  <a:pt x="237195" y="257237"/>
                </a:lnTo>
                <a:cubicBezTo>
                  <a:pt x="225263" y="261886"/>
                  <a:pt x="212143" y="264469"/>
                  <a:pt x="198351" y="264469"/>
                </a:cubicBez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54" name="Text 51"/>
          <p:cNvSpPr/>
          <p:nvPr/>
        </p:nvSpPr>
        <p:spPr>
          <a:xfrm>
            <a:off x="6761966" y="3169154"/>
            <a:ext cx="1190108" cy="3173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82" b="1" dirty="0">
                <a:solidFill>
                  <a:srgbClr val="343A40"/>
                </a:solidFill>
                <a:latin typeface="阿里妈妈数黑体" pitchFamily="34" charset="0"/>
                <a:ea typeface="阿里妈妈数黑体" pitchFamily="34" charset="-122"/>
                <a:cs typeface="阿里妈妈数黑体" pitchFamily="34" charset="-120"/>
              </a:rPr>
              <a:t>沟通高效</a:t>
            </a:r>
            <a:endParaRPr lang="en-US" sz="1600" dirty="0"/>
          </a:p>
        </p:txBody>
      </p:sp>
      <p:sp>
        <p:nvSpPr>
          <p:cNvPr id="55" name="Shape 52"/>
          <p:cNvSpPr/>
          <p:nvPr/>
        </p:nvSpPr>
        <p:spPr>
          <a:xfrm>
            <a:off x="6342331" y="3592218"/>
            <a:ext cx="33356" cy="493675"/>
          </a:xfrm>
          <a:custGeom>
            <a:avLst/>
            <a:gdLst/>
            <a:ahLst/>
            <a:cxnLst/>
            <a:rect l="l" t="t" r="r" b="b"/>
            <a:pathLst>
              <a:path w="33356" h="493675">
                <a:moveTo>
                  <a:pt x="0" y="0"/>
                </a:moveTo>
                <a:lnTo>
                  <a:pt x="33356" y="0"/>
                </a:lnTo>
                <a:lnTo>
                  <a:pt x="33356" y="493675"/>
                </a:lnTo>
                <a:lnTo>
                  <a:pt x="0" y="493675"/>
                </a:lnTo>
                <a:lnTo>
                  <a:pt x="0" y="0"/>
                </a:ln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56" name="Text 53"/>
          <p:cNvSpPr/>
          <p:nvPr/>
        </p:nvSpPr>
        <p:spPr>
          <a:xfrm>
            <a:off x="6464737" y="3592218"/>
            <a:ext cx="5315818" cy="2468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49" b="1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定期同步</a:t>
            </a:r>
            <a:endParaRPr lang="en-US" sz="1600" dirty="0"/>
          </a:p>
        </p:txBody>
      </p:sp>
      <p:sp>
        <p:nvSpPr>
          <p:cNvPr id="57" name="Text 54"/>
          <p:cNvSpPr/>
          <p:nvPr/>
        </p:nvSpPr>
        <p:spPr>
          <a:xfrm>
            <a:off x="6464737" y="3874184"/>
            <a:ext cx="5307002" cy="2115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11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每周进行项目进度同步会议，及时沟通进展与问题。</a:t>
            </a:r>
            <a:endParaRPr lang="en-US" sz="1600" dirty="0"/>
          </a:p>
        </p:txBody>
      </p:sp>
      <p:sp>
        <p:nvSpPr>
          <p:cNvPr id="58" name="Shape 55"/>
          <p:cNvSpPr/>
          <p:nvPr/>
        </p:nvSpPr>
        <p:spPr>
          <a:xfrm>
            <a:off x="6342331" y="4156224"/>
            <a:ext cx="33356" cy="493675"/>
          </a:xfrm>
          <a:custGeom>
            <a:avLst/>
            <a:gdLst/>
            <a:ahLst/>
            <a:cxnLst/>
            <a:rect l="l" t="t" r="r" b="b"/>
            <a:pathLst>
              <a:path w="33356" h="493675">
                <a:moveTo>
                  <a:pt x="0" y="0"/>
                </a:moveTo>
                <a:lnTo>
                  <a:pt x="33356" y="0"/>
                </a:lnTo>
                <a:lnTo>
                  <a:pt x="33356" y="493675"/>
                </a:lnTo>
                <a:lnTo>
                  <a:pt x="0" y="493675"/>
                </a:lnTo>
                <a:lnTo>
                  <a:pt x="0" y="0"/>
                </a:ln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59" name="Text 56"/>
          <p:cNvSpPr/>
          <p:nvPr/>
        </p:nvSpPr>
        <p:spPr>
          <a:xfrm>
            <a:off x="6464737" y="4156224"/>
            <a:ext cx="5315818" cy="2468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49" b="1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接口协商</a:t>
            </a:r>
            <a:endParaRPr lang="en-US" sz="1600" dirty="0"/>
          </a:p>
        </p:txBody>
      </p:sp>
      <p:sp>
        <p:nvSpPr>
          <p:cNvPr id="60" name="Text 57"/>
          <p:cNvSpPr/>
          <p:nvPr/>
        </p:nvSpPr>
        <p:spPr>
          <a:xfrm>
            <a:off x="6464737" y="4438190"/>
            <a:ext cx="5307002" cy="2115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11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前后端接口契约先行，减少集成阶段的问题。</a:t>
            </a:r>
            <a:endParaRPr lang="en-US" sz="1600" dirty="0"/>
          </a:p>
        </p:txBody>
      </p:sp>
      <p:sp>
        <p:nvSpPr>
          <p:cNvPr id="61" name="Shape 58"/>
          <p:cNvSpPr/>
          <p:nvPr/>
        </p:nvSpPr>
        <p:spPr>
          <a:xfrm>
            <a:off x="6342331" y="4720230"/>
            <a:ext cx="33356" cy="493675"/>
          </a:xfrm>
          <a:custGeom>
            <a:avLst/>
            <a:gdLst/>
            <a:ahLst/>
            <a:cxnLst/>
            <a:rect l="l" t="t" r="r" b="b"/>
            <a:pathLst>
              <a:path w="33356" h="493675">
                <a:moveTo>
                  <a:pt x="0" y="0"/>
                </a:moveTo>
                <a:lnTo>
                  <a:pt x="33356" y="0"/>
                </a:lnTo>
                <a:lnTo>
                  <a:pt x="33356" y="493675"/>
                </a:lnTo>
                <a:lnTo>
                  <a:pt x="0" y="493675"/>
                </a:lnTo>
                <a:lnTo>
                  <a:pt x="0" y="0"/>
                </a:lnTo>
                <a:close/>
              </a:path>
            </a:pathLst>
          </a:custGeom>
          <a:solidFill>
            <a:srgbClr val="6C757D"/>
          </a:solidFill>
          <a:ln/>
        </p:spPr>
      </p:sp>
      <p:sp>
        <p:nvSpPr>
          <p:cNvPr id="62" name="Text 59"/>
          <p:cNvSpPr/>
          <p:nvPr/>
        </p:nvSpPr>
        <p:spPr>
          <a:xfrm>
            <a:off x="6464737" y="4720230"/>
            <a:ext cx="5315818" cy="2468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49" b="1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Git</a:t>
            </a:r>
            <a:r>
              <a:rPr lang="zh-CN" altLang="en-US" sz="1249" b="1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管理</a:t>
            </a:r>
            <a:endParaRPr lang="en-US" sz="1600" dirty="0"/>
          </a:p>
        </p:txBody>
      </p:sp>
      <p:sp>
        <p:nvSpPr>
          <p:cNvPr id="63" name="Text 60"/>
          <p:cNvSpPr/>
          <p:nvPr/>
        </p:nvSpPr>
        <p:spPr>
          <a:xfrm>
            <a:off x="6464737" y="5002196"/>
            <a:ext cx="5307002" cy="2115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11" dirty="0" err="1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使用Git进行</a:t>
            </a:r>
            <a:r>
              <a:rPr lang="zh-CN" altLang="en-US" sz="1111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文档管理</a:t>
            </a:r>
            <a:r>
              <a:rPr lang="en-US" sz="1111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，</a:t>
            </a:r>
            <a:r>
              <a:rPr lang="zh-CN" altLang="en-US" sz="1111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定时更新</a:t>
            </a:r>
            <a:r>
              <a:rPr lang="en-US" sz="1111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。</a:t>
            </a:r>
            <a:endParaRPr lang="en-US" sz="1600" dirty="0"/>
          </a:p>
        </p:txBody>
      </p:sp>
      <p:sp>
        <p:nvSpPr>
          <p:cNvPr id="64" name="Shape 61"/>
          <p:cNvSpPr/>
          <p:nvPr/>
        </p:nvSpPr>
        <p:spPr>
          <a:xfrm>
            <a:off x="352625" y="5495763"/>
            <a:ext cx="11486751" cy="537753"/>
          </a:xfrm>
          <a:custGeom>
            <a:avLst/>
            <a:gdLst/>
            <a:ahLst/>
            <a:cxnLst/>
            <a:rect l="l" t="t" r="r" b="b"/>
            <a:pathLst>
              <a:path w="11486751" h="537753">
                <a:moveTo>
                  <a:pt x="105787" y="0"/>
                </a:moveTo>
                <a:lnTo>
                  <a:pt x="11380964" y="0"/>
                </a:lnTo>
                <a:cubicBezTo>
                  <a:pt x="11439388" y="0"/>
                  <a:pt x="11486751" y="47362"/>
                  <a:pt x="11486751" y="105787"/>
                </a:cubicBezTo>
                <a:lnTo>
                  <a:pt x="11486751" y="431966"/>
                </a:lnTo>
                <a:cubicBezTo>
                  <a:pt x="11486751" y="490390"/>
                  <a:pt x="11439388" y="537753"/>
                  <a:pt x="11380964" y="537753"/>
                </a:cubicBezTo>
                <a:lnTo>
                  <a:pt x="105787" y="537753"/>
                </a:lnTo>
                <a:cubicBezTo>
                  <a:pt x="47362" y="537753"/>
                  <a:pt x="0" y="490390"/>
                  <a:pt x="0" y="431966"/>
                </a:cubicBezTo>
                <a:lnTo>
                  <a:pt x="0" y="105787"/>
                </a:lnTo>
                <a:cubicBezTo>
                  <a:pt x="0" y="47401"/>
                  <a:pt x="47401" y="0"/>
                  <a:pt x="105787" y="0"/>
                </a:cubicBezTo>
                <a:close/>
              </a:path>
            </a:pathLst>
          </a:custGeom>
          <a:solidFill>
            <a:srgbClr val="343A40"/>
          </a:solidFill>
          <a:ln/>
          <a:effectLst>
            <a:outerShdw blurRad="132234" dist="88156" dir="5400000" algn="bl" rotWithShape="0">
              <a:srgbClr val="000000">
                <a:alpha val="10196"/>
              </a:srgbClr>
            </a:outerShdw>
          </a:effectLst>
        </p:spPr>
      </p:sp>
      <p:sp>
        <p:nvSpPr>
          <p:cNvPr id="65" name="Shape 62"/>
          <p:cNvSpPr/>
          <p:nvPr/>
        </p:nvSpPr>
        <p:spPr>
          <a:xfrm>
            <a:off x="526703" y="5665378"/>
            <a:ext cx="154273" cy="176312"/>
          </a:xfrm>
          <a:custGeom>
            <a:avLst/>
            <a:gdLst/>
            <a:ahLst/>
            <a:cxnLst/>
            <a:rect l="l" t="t" r="r" b="b"/>
            <a:pathLst>
              <a:path w="154273" h="176312">
                <a:moveTo>
                  <a:pt x="0" y="74382"/>
                </a:moveTo>
                <a:cubicBezTo>
                  <a:pt x="0" y="51551"/>
                  <a:pt x="18492" y="33059"/>
                  <a:pt x="41323" y="33059"/>
                </a:cubicBezTo>
                <a:lnTo>
                  <a:pt x="44078" y="33059"/>
                </a:lnTo>
                <a:cubicBezTo>
                  <a:pt x="50173" y="33059"/>
                  <a:pt x="55098" y="37983"/>
                  <a:pt x="55098" y="44078"/>
                </a:cubicBezTo>
                <a:cubicBezTo>
                  <a:pt x="55098" y="50173"/>
                  <a:pt x="50173" y="55098"/>
                  <a:pt x="44078" y="55098"/>
                </a:cubicBezTo>
                <a:lnTo>
                  <a:pt x="41323" y="55098"/>
                </a:lnTo>
                <a:cubicBezTo>
                  <a:pt x="30682" y="55098"/>
                  <a:pt x="22039" y="63741"/>
                  <a:pt x="22039" y="74382"/>
                </a:cubicBezTo>
                <a:lnTo>
                  <a:pt x="22039" y="77137"/>
                </a:lnTo>
                <a:lnTo>
                  <a:pt x="44078" y="77137"/>
                </a:lnTo>
                <a:cubicBezTo>
                  <a:pt x="56234" y="77137"/>
                  <a:pt x="66117" y="87020"/>
                  <a:pt x="66117" y="99176"/>
                </a:cubicBezTo>
                <a:lnTo>
                  <a:pt x="66117" y="121215"/>
                </a:lnTo>
                <a:cubicBezTo>
                  <a:pt x="66117" y="133371"/>
                  <a:pt x="56234" y="143254"/>
                  <a:pt x="44078" y="143254"/>
                </a:cubicBezTo>
                <a:lnTo>
                  <a:pt x="22039" y="143254"/>
                </a:lnTo>
                <a:cubicBezTo>
                  <a:pt x="9883" y="143254"/>
                  <a:pt x="0" y="133371"/>
                  <a:pt x="0" y="121215"/>
                </a:cubicBezTo>
                <a:lnTo>
                  <a:pt x="0" y="74382"/>
                </a:lnTo>
                <a:close/>
                <a:moveTo>
                  <a:pt x="88156" y="74382"/>
                </a:moveTo>
                <a:cubicBezTo>
                  <a:pt x="88156" y="51551"/>
                  <a:pt x="106648" y="33059"/>
                  <a:pt x="129479" y="33059"/>
                </a:cubicBezTo>
                <a:lnTo>
                  <a:pt x="132234" y="33059"/>
                </a:lnTo>
                <a:cubicBezTo>
                  <a:pt x="138329" y="33059"/>
                  <a:pt x="143254" y="37983"/>
                  <a:pt x="143254" y="44078"/>
                </a:cubicBezTo>
                <a:cubicBezTo>
                  <a:pt x="143254" y="50173"/>
                  <a:pt x="138329" y="55098"/>
                  <a:pt x="132234" y="55098"/>
                </a:cubicBezTo>
                <a:lnTo>
                  <a:pt x="129479" y="55098"/>
                </a:lnTo>
                <a:cubicBezTo>
                  <a:pt x="118839" y="55098"/>
                  <a:pt x="110195" y="63741"/>
                  <a:pt x="110195" y="74382"/>
                </a:cubicBezTo>
                <a:lnTo>
                  <a:pt x="110195" y="77137"/>
                </a:lnTo>
                <a:lnTo>
                  <a:pt x="132234" y="77137"/>
                </a:lnTo>
                <a:cubicBezTo>
                  <a:pt x="144390" y="77137"/>
                  <a:pt x="154273" y="87020"/>
                  <a:pt x="154273" y="99176"/>
                </a:cubicBezTo>
                <a:lnTo>
                  <a:pt x="154273" y="121215"/>
                </a:lnTo>
                <a:cubicBezTo>
                  <a:pt x="154273" y="133371"/>
                  <a:pt x="144390" y="143254"/>
                  <a:pt x="132234" y="143254"/>
                </a:cubicBezTo>
                <a:lnTo>
                  <a:pt x="110195" y="143254"/>
                </a:lnTo>
                <a:cubicBezTo>
                  <a:pt x="98039" y="143254"/>
                  <a:pt x="88156" y="133371"/>
                  <a:pt x="88156" y="121215"/>
                </a:cubicBezTo>
                <a:lnTo>
                  <a:pt x="88156" y="74382"/>
                </a:ln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66" name="Text 63"/>
          <p:cNvSpPr/>
          <p:nvPr/>
        </p:nvSpPr>
        <p:spPr>
          <a:xfrm>
            <a:off x="787467" y="5636783"/>
            <a:ext cx="10990169" cy="2556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49" b="1" dirty="0">
                <a:solidFill>
                  <a:srgbClr val="FFC10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协作核心:</a:t>
            </a:r>
            <a:r>
              <a:rPr lang="en-US" sz="1249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 在两人小组中，</a:t>
            </a:r>
            <a:r>
              <a:rPr lang="en-US" sz="1249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清晰的责任边界</a:t>
            </a:r>
            <a:r>
              <a:rPr lang="en-US" sz="1249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和</a:t>
            </a:r>
            <a:r>
              <a:rPr lang="en-US" sz="1249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开放的沟通渠道</a:t>
            </a:r>
            <a:r>
              <a:rPr lang="en-US" sz="1249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是项目顺利推进的最重要保障。定期的同步会议和代码审查机制确保了信息对齐和质量把控。</a:t>
            </a:r>
            <a:endParaRPr lang="en-US" sz="1600" dirty="0"/>
          </a:p>
        </p:txBody>
      </p:sp>
      <p:sp>
        <p:nvSpPr>
          <p:cNvPr id="67" name="Shape 0">
            <a:extLst>
              <a:ext uri="{FF2B5EF4-FFF2-40B4-BE49-F238E27FC236}">
                <a16:creationId xmlns:a16="http://schemas.microsoft.com/office/drawing/2014/main" id="{6AD2BC25-0FEF-CD5E-912A-B0ADC8BC8CA6}"/>
              </a:ext>
            </a:extLst>
          </p:cNvPr>
          <p:cNvSpPr/>
          <p:nvPr/>
        </p:nvSpPr>
        <p:spPr>
          <a:xfrm>
            <a:off x="371707" y="446108"/>
            <a:ext cx="464634" cy="297366"/>
          </a:xfrm>
          <a:custGeom>
            <a:avLst/>
            <a:gdLst/>
            <a:ahLst/>
            <a:cxnLst/>
            <a:rect l="l" t="t" r="r" b="b"/>
            <a:pathLst>
              <a:path w="464634" h="297366">
                <a:moveTo>
                  <a:pt x="148683" y="0"/>
                </a:moveTo>
                <a:lnTo>
                  <a:pt x="315951" y="0"/>
                </a:lnTo>
                <a:cubicBezTo>
                  <a:pt x="398067" y="0"/>
                  <a:pt x="464634" y="66568"/>
                  <a:pt x="464634" y="148683"/>
                </a:cubicBezTo>
                <a:lnTo>
                  <a:pt x="464634" y="148683"/>
                </a:lnTo>
                <a:cubicBezTo>
                  <a:pt x="464634" y="230798"/>
                  <a:pt x="398067" y="297366"/>
                  <a:pt x="315951" y="297366"/>
                </a:cubicBezTo>
                <a:lnTo>
                  <a:pt x="148683" y="297366"/>
                </a:lnTo>
                <a:cubicBezTo>
                  <a:pt x="66568" y="297366"/>
                  <a:pt x="0" y="230798"/>
                  <a:pt x="0" y="148683"/>
                </a:cubicBezTo>
                <a:lnTo>
                  <a:pt x="0" y="148683"/>
                </a:lnTo>
                <a:cubicBezTo>
                  <a:pt x="0" y="66568"/>
                  <a:pt x="66568" y="0"/>
                  <a:pt x="148683" y="0"/>
                </a:cubicBez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68" name="Text 1">
            <a:extLst>
              <a:ext uri="{FF2B5EF4-FFF2-40B4-BE49-F238E27FC236}">
                <a16:creationId xmlns:a16="http://schemas.microsoft.com/office/drawing/2014/main" id="{9A4B04F8-1D55-B116-6F75-6FC15EEF6053}"/>
              </a:ext>
            </a:extLst>
          </p:cNvPr>
          <p:cNvSpPr/>
          <p:nvPr/>
        </p:nvSpPr>
        <p:spPr>
          <a:xfrm>
            <a:off x="371707" y="446108"/>
            <a:ext cx="538976" cy="297366"/>
          </a:xfrm>
          <a:prstGeom prst="rect">
            <a:avLst/>
          </a:prstGeom>
          <a:noFill/>
          <a:ln/>
        </p:spPr>
        <p:txBody>
          <a:bodyPr wrap="square" lIns="148683" tIns="37171" rIns="148683" bIns="37171" rtlCol="0" anchor="ctr"/>
          <a:lstStyle/>
          <a:p>
            <a:pPr>
              <a:lnSpc>
                <a:spcPct val="130000"/>
              </a:lnSpc>
            </a:pPr>
            <a:r>
              <a:rPr lang="en-US" sz="1171" b="1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05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slides_tmpl/image/25-10-09-16:35:25-d3jn7j8s8jdo4os5dj2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63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86208" y="381000"/>
            <a:ext cx="5438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en-US" sz="3600" b="1" dirty="0">
                <a:solidFill>
                  <a:srgbClr val="343A40"/>
                </a:solidFill>
                <a:latin typeface="阿里妈妈数黑体" pitchFamily="34" charset="0"/>
                <a:ea typeface="阿里妈妈数黑体" pitchFamily="34" charset="-122"/>
                <a:cs typeface="阿里妈妈数黑体" pitchFamily="34" charset="-120"/>
              </a:rPr>
              <a:t>最大的财富:实践中的成长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1143000" y="914367"/>
            <a:ext cx="1066800" cy="38100"/>
          </a:xfrm>
          <a:custGeom>
            <a:avLst/>
            <a:gdLst/>
            <a:ahLst/>
            <a:cxnLst/>
            <a:rect l="l" t="t" r="r" b="b"/>
            <a:pathLst>
              <a:path w="1066800" h="38100">
                <a:moveTo>
                  <a:pt x="0" y="0"/>
                </a:moveTo>
                <a:lnTo>
                  <a:pt x="1066800" y="0"/>
                </a:lnTo>
                <a:lnTo>
                  <a:pt x="10668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7" name="Shape 4"/>
          <p:cNvSpPr/>
          <p:nvPr/>
        </p:nvSpPr>
        <p:spPr>
          <a:xfrm>
            <a:off x="381000" y="1104788"/>
            <a:ext cx="3705225" cy="2533650"/>
          </a:xfrm>
          <a:custGeom>
            <a:avLst/>
            <a:gdLst/>
            <a:ahLst/>
            <a:cxnLst/>
            <a:rect l="l" t="t" r="r" b="b"/>
            <a:pathLst>
              <a:path w="3705225" h="2533650">
                <a:moveTo>
                  <a:pt x="114293" y="0"/>
                </a:moveTo>
                <a:lnTo>
                  <a:pt x="3590932" y="0"/>
                </a:lnTo>
                <a:cubicBezTo>
                  <a:pt x="3654054" y="0"/>
                  <a:pt x="3705225" y="51171"/>
                  <a:pt x="3705225" y="114293"/>
                </a:cubicBezTo>
                <a:lnTo>
                  <a:pt x="3705225" y="2419357"/>
                </a:lnTo>
                <a:cubicBezTo>
                  <a:pt x="3705225" y="2482479"/>
                  <a:pt x="3654054" y="2533650"/>
                  <a:pt x="3590932" y="2533650"/>
                </a:cubicBezTo>
                <a:lnTo>
                  <a:pt x="114293" y="2533650"/>
                </a:lnTo>
                <a:cubicBezTo>
                  <a:pt x="51171" y="2533650"/>
                  <a:pt x="0" y="2482479"/>
                  <a:pt x="0" y="2419357"/>
                </a:cubicBezTo>
                <a:lnTo>
                  <a:pt x="0" y="114293"/>
                </a:lnTo>
                <a:cubicBezTo>
                  <a:pt x="0" y="51171"/>
                  <a:pt x="51171" y="0"/>
                  <a:pt x="114293" y="0"/>
                </a:cubicBezTo>
                <a:close/>
              </a:path>
            </a:pathLst>
          </a:custGeom>
          <a:solidFill>
            <a:srgbClr val="343A40"/>
          </a:solidFill>
          <a:ln/>
          <a:effectLst>
            <a:outerShdw blurRad="142875" dist="95250" dir="5400000" algn="bl" rotWithShape="0">
              <a:srgbClr val="000000">
                <a:alpha val="10196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61943" y="1276141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53578" y="25003"/>
                </a:moveTo>
                <a:cubicBezTo>
                  <a:pt x="53578" y="11207"/>
                  <a:pt x="64785" y="0"/>
                  <a:pt x="78581" y="0"/>
                </a:cubicBezTo>
                <a:lnTo>
                  <a:pt x="89297" y="0"/>
                </a:lnTo>
                <a:cubicBezTo>
                  <a:pt x="97200" y="0"/>
                  <a:pt x="103584" y="6385"/>
                  <a:pt x="103584" y="14288"/>
                </a:cubicBezTo>
                <a:lnTo>
                  <a:pt x="103584" y="214313"/>
                </a:lnTo>
                <a:cubicBezTo>
                  <a:pt x="103584" y="222215"/>
                  <a:pt x="97200" y="228600"/>
                  <a:pt x="89297" y="228600"/>
                </a:cubicBezTo>
                <a:lnTo>
                  <a:pt x="75009" y="228600"/>
                </a:lnTo>
                <a:cubicBezTo>
                  <a:pt x="61704" y="228600"/>
                  <a:pt x="50497" y="219492"/>
                  <a:pt x="47327" y="207169"/>
                </a:cubicBezTo>
                <a:cubicBezTo>
                  <a:pt x="47015" y="207169"/>
                  <a:pt x="46747" y="207169"/>
                  <a:pt x="46434" y="207169"/>
                </a:cubicBezTo>
                <a:cubicBezTo>
                  <a:pt x="26700" y="207169"/>
                  <a:pt x="10716" y="191185"/>
                  <a:pt x="10716" y="171450"/>
                </a:cubicBezTo>
                <a:cubicBezTo>
                  <a:pt x="10716" y="163413"/>
                  <a:pt x="13395" y="156002"/>
                  <a:pt x="17859" y="150019"/>
                </a:cubicBezTo>
                <a:cubicBezTo>
                  <a:pt x="9198" y="143500"/>
                  <a:pt x="3572" y="133142"/>
                  <a:pt x="3572" y="121444"/>
                </a:cubicBezTo>
                <a:cubicBezTo>
                  <a:pt x="3572" y="107647"/>
                  <a:pt x="11430" y="95637"/>
                  <a:pt x="22860" y="89699"/>
                </a:cubicBezTo>
                <a:cubicBezTo>
                  <a:pt x="19690" y="84341"/>
                  <a:pt x="17859" y="78090"/>
                  <a:pt x="17859" y="71438"/>
                </a:cubicBezTo>
                <a:cubicBezTo>
                  <a:pt x="17859" y="51703"/>
                  <a:pt x="33844" y="35719"/>
                  <a:pt x="53578" y="35719"/>
                </a:cubicBezTo>
                <a:lnTo>
                  <a:pt x="53578" y="25003"/>
                </a:lnTo>
                <a:close/>
                <a:moveTo>
                  <a:pt x="175022" y="25003"/>
                </a:moveTo>
                <a:lnTo>
                  <a:pt x="175022" y="35719"/>
                </a:lnTo>
                <a:cubicBezTo>
                  <a:pt x="194756" y="35719"/>
                  <a:pt x="210741" y="51703"/>
                  <a:pt x="210741" y="71438"/>
                </a:cubicBezTo>
                <a:cubicBezTo>
                  <a:pt x="210741" y="78135"/>
                  <a:pt x="208910" y="84386"/>
                  <a:pt x="205740" y="89699"/>
                </a:cubicBezTo>
                <a:cubicBezTo>
                  <a:pt x="217215" y="95637"/>
                  <a:pt x="225028" y="107603"/>
                  <a:pt x="225028" y="121444"/>
                </a:cubicBezTo>
                <a:cubicBezTo>
                  <a:pt x="225028" y="133142"/>
                  <a:pt x="219402" y="143500"/>
                  <a:pt x="210741" y="150019"/>
                </a:cubicBezTo>
                <a:cubicBezTo>
                  <a:pt x="215205" y="156002"/>
                  <a:pt x="217884" y="163413"/>
                  <a:pt x="217884" y="171450"/>
                </a:cubicBezTo>
                <a:cubicBezTo>
                  <a:pt x="217884" y="191185"/>
                  <a:pt x="201900" y="207169"/>
                  <a:pt x="182166" y="207169"/>
                </a:cubicBezTo>
                <a:cubicBezTo>
                  <a:pt x="181853" y="207169"/>
                  <a:pt x="181585" y="207169"/>
                  <a:pt x="181273" y="207169"/>
                </a:cubicBezTo>
                <a:cubicBezTo>
                  <a:pt x="178103" y="219492"/>
                  <a:pt x="166896" y="228600"/>
                  <a:pt x="153591" y="228600"/>
                </a:cubicBezTo>
                <a:lnTo>
                  <a:pt x="139303" y="228600"/>
                </a:lnTo>
                <a:cubicBezTo>
                  <a:pt x="131400" y="228600"/>
                  <a:pt x="125016" y="222215"/>
                  <a:pt x="125016" y="214313"/>
                </a:cubicBezTo>
                <a:lnTo>
                  <a:pt x="125016" y="14288"/>
                </a:lnTo>
                <a:cubicBezTo>
                  <a:pt x="125016" y="6385"/>
                  <a:pt x="131400" y="0"/>
                  <a:pt x="139303" y="0"/>
                </a:cubicBezTo>
                <a:lnTo>
                  <a:pt x="150019" y="0"/>
                </a:lnTo>
                <a:cubicBezTo>
                  <a:pt x="163815" y="0"/>
                  <a:pt x="175022" y="11207"/>
                  <a:pt x="175022" y="25003"/>
                </a:cubicBez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9" name="Text 6"/>
          <p:cNvSpPr/>
          <p:nvPr/>
        </p:nvSpPr>
        <p:spPr>
          <a:xfrm>
            <a:off x="933353" y="1257156"/>
            <a:ext cx="12382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F8F9FA"/>
                </a:solidFill>
                <a:latin typeface="阿里妈妈数黑体" pitchFamily="34" charset="0"/>
                <a:ea typeface="阿里妈妈数黑体" pitchFamily="34" charset="-122"/>
                <a:cs typeface="阿里妈妈数黑体" pitchFamily="34" charset="-120"/>
              </a:rPr>
              <a:t>工程思维提升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533368" y="1638072"/>
            <a:ext cx="3476625" cy="1009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亲历软件工程的</a:t>
            </a:r>
            <a:r>
              <a:rPr lang="en-US" sz="1200" b="1" dirty="0">
                <a:solidFill>
                  <a:srgbClr val="FFC10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完整生命周期</a:t>
            </a:r>
            <a:r>
              <a:rPr lang="en-US" sz="1200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，深刻理解了文档和流程的价值。学会了从全局视角规划项目，而不仅仅是关注代码实现。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533368" y="2818721"/>
            <a:ext cx="76200" cy="76200"/>
          </a:xfrm>
          <a:custGeom>
            <a:avLst/>
            <a:gdLst/>
            <a:ahLst/>
            <a:cxnLst/>
            <a:rect l="l" t="t" r="r" b="b"/>
            <a:pathLst>
              <a:path w="76200" h="76200">
                <a:moveTo>
                  <a:pt x="38100" y="0"/>
                </a:moveTo>
                <a:lnTo>
                  <a:pt x="38100" y="0"/>
                </a:lnTo>
                <a:cubicBezTo>
                  <a:pt x="59128" y="0"/>
                  <a:pt x="76200" y="17072"/>
                  <a:pt x="76200" y="38100"/>
                </a:cubicBezTo>
                <a:lnTo>
                  <a:pt x="76200" y="38100"/>
                </a:lnTo>
                <a:cubicBezTo>
                  <a:pt x="76200" y="59128"/>
                  <a:pt x="59128" y="76200"/>
                  <a:pt x="38100" y="76200"/>
                </a:cubicBezTo>
                <a:lnTo>
                  <a:pt x="38100" y="76200"/>
                </a:lnTo>
                <a:cubicBezTo>
                  <a:pt x="17072" y="76200"/>
                  <a:pt x="0" y="59128"/>
                  <a:pt x="0" y="381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12" name="Text 9"/>
          <p:cNvSpPr/>
          <p:nvPr/>
        </p:nvSpPr>
        <p:spPr>
          <a:xfrm>
            <a:off x="685736" y="2761604"/>
            <a:ext cx="12668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规范化流程的重要性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533368" y="3085407"/>
            <a:ext cx="76200" cy="76200"/>
          </a:xfrm>
          <a:custGeom>
            <a:avLst/>
            <a:gdLst/>
            <a:ahLst/>
            <a:cxnLst/>
            <a:rect l="l" t="t" r="r" b="b"/>
            <a:pathLst>
              <a:path w="76200" h="76200">
                <a:moveTo>
                  <a:pt x="38100" y="0"/>
                </a:moveTo>
                <a:lnTo>
                  <a:pt x="38100" y="0"/>
                </a:lnTo>
                <a:cubicBezTo>
                  <a:pt x="59128" y="0"/>
                  <a:pt x="76200" y="17072"/>
                  <a:pt x="76200" y="38100"/>
                </a:cubicBezTo>
                <a:lnTo>
                  <a:pt x="76200" y="38100"/>
                </a:lnTo>
                <a:cubicBezTo>
                  <a:pt x="76200" y="59128"/>
                  <a:pt x="59128" y="76200"/>
                  <a:pt x="38100" y="76200"/>
                </a:cubicBezTo>
                <a:lnTo>
                  <a:pt x="38100" y="76200"/>
                </a:lnTo>
                <a:cubicBezTo>
                  <a:pt x="17072" y="76200"/>
                  <a:pt x="0" y="59128"/>
                  <a:pt x="0" y="381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14" name="Text 11"/>
          <p:cNvSpPr/>
          <p:nvPr/>
        </p:nvSpPr>
        <p:spPr>
          <a:xfrm>
            <a:off x="685736" y="3028290"/>
            <a:ext cx="12668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文档驱动开发的价值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33368" y="3352093"/>
            <a:ext cx="76200" cy="76200"/>
          </a:xfrm>
          <a:custGeom>
            <a:avLst/>
            <a:gdLst/>
            <a:ahLst/>
            <a:cxnLst/>
            <a:rect l="l" t="t" r="r" b="b"/>
            <a:pathLst>
              <a:path w="76200" h="76200">
                <a:moveTo>
                  <a:pt x="38100" y="0"/>
                </a:moveTo>
                <a:lnTo>
                  <a:pt x="38100" y="0"/>
                </a:lnTo>
                <a:cubicBezTo>
                  <a:pt x="59128" y="0"/>
                  <a:pt x="76200" y="17072"/>
                  <a:pt x="76200" y="38100"/>
                </a:cubicBezTo>
                <a:lnTo>
                  <a:pt x="76200" y="38100"/>
                </a:lnTo>
                <a:cubicBezTo>
                  <a:pt x="76200" y="59128"/>
                  <a:pt x="59128" y="76200"/>
                  <a:pt x="38100" y="76200"/>
                </a:cubicBezTo>
                <a:lnTo>
                  <a:pt x="38100" y="76200"/>
                </a:lnTo>
                <a:cubicBezTo>
                  <a:pt x="17072" y="76200"/>
                  <a:pt x="0" y="59128"/>
                  <a:pt x="0" y="381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16" name="Text 13"/>
          <p:cNvSpPr/>
          <p:nvPr/>
        </p:nvSpPr>
        <p:spPr>
          <a:xfrm>
            <a:off x="685736" y="3294971"/>
            <a:ext cx="12668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质量保障的多层次性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4241762" y="1104788"/>
            <a:ext cx="3705225" cy="2533650"/>
          </a:xfrm>
          <a:custGeom>
            <a:avLst/>
            <a:gdLst/>
            <a:ahLst/>
            <a:cxnLst/>
            <a:rect l="l" t="t" r="r" b="b"/>
            <a:pathLst>
              <a:path w="3705225" h="2533650">
                <a:moveTo>
                  <a:pt x="114293" y="0"/>
                </a:moveTo>
                <a:lnTo>
                  <a:pt x="3590932" y="0"/>
                </a:lnTo>
                <a:cubicBezTo>
                  <a:pt x="3654054" y="0"/>
                  <a:pt x="3705225" y="51171"/>
                  <a:pt x="3705225" y="114293"/>
                </a:cubicBezTo>
                <a:lnTo>
                  <a:pt x="3705225" y="2419357"/>
                </a:lnTo>
                <a:cubicBezTo>
                  <a:pt x="3705225" y="2482479"/>
                  <a:pt x="3654054" y="2533650"/>
                  <a:pt x="3590932" y="2533650"/>
                </a:cubicBezTo>
                <a:lnTo>
                  <a:pt x="114293" y="2533650"/>
                </a:lnTo>
                <a:cubicBezTo>
                  <a:pt x="51171" y="2533650"/>
                  <a:pt x="0" y="2482479"/>
                  <a:pt x="0" y="2419357"/>
                </a:cubicBezTo>
                <a:lnTo>
                  <a:pt x="0" y="114293"/>
                </a:lnTo>
                <a:cubicBezTo>
                  <a:pt x="0" y="51171"/>
                  <a:pt x="51171" y="0"/>
                  <a:pt x="114293" y="0"/>
                </a:cubicBezTo>
                <a:close/>
              </a:path>
            </a:pathLst>
          </a:custGeom>
          <a:solidFill>
            <a:srgbClr val="0056B3"/>
          </a:solidFill>
          <a:ln/>
          <a:effectLst>
            <a:outerShdw blurRad="142875" dist="95250" dir="5400000" algn="bl" rotWithShape="0">
              <a:srgbClr val="000000">
                <a:alpha val="10196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422705" y="1276141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57150" y="142875"/>
                </a:moveTo>
                <a:lnTo>
                  <a:pt x="10939" y="142875"/>
                </a:lnTo>
                <a:cubicBezTo>
                  <a:pt x="-179" y="142875"/>
                  <a:pt x="-7010" y="130775"/>
                  <a:pt x="-1295" y="121221"/>
                </a:cubicBezTo>
                <a:lnTo>
                  <a:pt x="22324" y="81841"/>
                </a:lnTo>
                <a:cubicBezTo>
                  <a:pt x="26209" y="75367"/>
                  <a:pt x="33174" y="71438"/>
                  <a:pt x="40719" y="71438"/>
                </a:cubicBezTo>
                <a:lnTo>
                  <a:pt x="83135" y="71438"/>
                </a:lnTo>
                <a:cubicBezTo>
                  <a:pt x="117113" y="13886"/>
                  <a:pt x="167789" y="10984"/>
                  <a:pt x="201677" y="15939"/>
                </a:cubicBezTo>
                <a:cubicBezTo>
                  <a:pt x="207392" y="16788"/>
                  <a:pt x="211857" y="21253"/>
                  <a:pt x="212661" y="26923"/>
                </a:cubicBezTo>
                <a:cubicBezTo>
                  <a:pt x="217616" y="60811"/>
                  <a:pt x="214714" y="111487"/>
                  <a:pt x="157163" y="145465"/>
                </a:cubicBezTo>
                <a:lnTo>
                  <a:pt x="157163" y="187881"/>
                </a:lnTo>
                <a:cubicBezTo>
                  <a:pt x="157163" y="195426"/>
                  <a:pt x="153233" y="202391"/>
                  <a:pt x="146759" y="206276"/>
                </a:cubicBezTo>
                <a:lnTo>
                  <a:pt x="107379" y="229895"/>
                </a:lnTo>
                <a:cubicBezTo>
                  <a:pt x="97869" y="235610"/>
                  <a:pt x="85725" y="228734"/>
                  <a:pt x="85725" y="217661"/>
                </a:cubicBezTo>
                <a:lnTo>
                  <a:pt x="85725" y="171450"/>
                </a:lnTo>
                <a:cubicBezTo>
                  <a:pt x="85725" y="155689"/>
                  <a:pt x="72911" y="142875"/>
                  <a:pt x="57150" y="142875"/>
                </a:cubicBezTo>
                <a:lnTo>
                  <a:pt x="57105" y="142875"/>
                </a:lnTo>
                <a:close/>
                <a:moveTo>
                  <a:pt x="178594" y="71438"/>
                </a:moveTo>
                <a:cubicBezTo>
                  <a:pt x="178594" y="59609"/>
                  <a:pt x="168991" y="50006"/>
                  <a:pt x="157163" y="50006"/>
                </a:cubicBezTo>
                <a:cubicBezTo>
                  <a:pt x="145334" y="50006"/>
                  <a:pt x="135731" y="59609"/>
                  <a:pt x="135731" y="71438"/>
                </a:cubicBezTo>
                <a:cubicBezTo>
                  <a:pt x="135731" y="83266"/>
                  <a:pt x="145334" y="92869"/>
                  <a:pt x="157163" y="92869"/>
                </a:cubicBezTo>
                <a:cubicBezTo>
                  <a:pt x="168991" y="92869"/>
                  <a:pt x="178594" y="83266"/>
                  <a:pt x="178594" y="71438"/>
                </a:cubicBez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19" name="Text 16"/>
          <p:cNvSpPr/>
          <p:nvPr/>
        </p:nvSpPr>
        <p:spPr>
          <a:xfrm>
            <a:off x="4794116" y="1257156"/>
            <a:ext cx="12382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F8F9FA"/>
                </a:solidFill>
                <a:latin typeface="阿里妈妈数黑体" pitchFamily="34" charset="0"/>
                <a:ea typeface="阿里妈妈数黑体" pitchFamily="34" charset="-122"/>
                <a:cs typeface="阿里妈妈数黑体" pitchFamily="34" charset="-120"/>
              </a:rPr>
              <a:t>技术能力飞跃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4394130" y="1638072"/>
            <a:ext cx="347662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通过</a:t>
            </a:r>
            <a:r>
              <a:rPr lang="en-US" sz="1200" b="1" dirty="0">
                <a:solidFill>
                  <a:srgbClr val="FFC10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全栈实践</a:t>
            </a:r>
            <a:r>
              <a:rPr lang="en-US" sz="1200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，深化了对现代开发框架、状态管理、工程规范的理解。掌握了从设计到部署的完整技术链条。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4394130" y="2552040"/>
            <a:ext cx="76200" cy="76200"/>
          </a:xfrm>
          <a:custGeom>
            <a:avLst/>
            <a:gdLst/>
            <a:ahLst/>
            <a:cxnLst/>
            <a:rect l="l" t="t" r="r" b="b"/>
            <a:pathLst>
              <a:path w="76200" h="76200">
                <a:moveTo>
                  <a:pt x="38100" y="0"/>
                </a:moveTo>
                <a:lnTo>
                  <a:pt x="38100" y="0"/>
                </a:lnTo>
                <a:cubicBezTo>
                  <a:pt x="59128" y="0"/>
                  <a:pt x="76200" y="17072"/>
                  <a:pt x="76200" y="38100"/>
                </a:cubicBezTo>
                <a:lnTo>
                  <a:pt x="76200" y="38100"/>
                </a:lnTo>
                <a:cubicBezTo>
                  <a:pt x="76200" y="59128"/>
                  <a:pt x="59128" y="76200"/>
                  <a:pt x="38100" y="76200"/>
                </a:cubicBezTo>
                <a:lnTo>
                  <a:pt x="38100" y="76200"/>
                </a:lnTo>
                <a:cubicBezTo>
                  <a:pt x="17072" y="76200"/>
                  <a:pt x="0" y="59128"/>
                  <a:pt x="0" y="381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22" name="Text 19"/>
          <p:cNvSpPr/>
          <p:nvPr/>
        </p:nvSpPr>
        <p:spPr>
          <a:xfrm>
            <a:off x="4546498" y="2494922"/>
            <a:ext cx="12096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React生态深度应用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4394130" y="2818721"/>
            <a:ext cx="76200" cy="76200"/>
          </a:xfrm>
          <a:custGeom>
            <a:avLst/>
            <a:gdLst/>
            <a:ahLst/>
            <a:cxnLst/>
            <a:rect l="l" t="t" r="r" b="b"/>
            <a:pathLst>
              <a:path w="76200" h="76200">
                <a:moveTo>
                  <a:pt x="38100" y="0"/>
                </a:moveTo>
                <a:lnTo>
                  <a:pt x="38100" y="0"/>
                </a:lnTo>
                <a:cubicBezTo>
                  <a:pt x="59128" y="0"/>
                  <a:pt x="76200" y="17072"/>
                  <a:pt x="76200" y="38100"/>
                </a:cubicBezTo>
                <a:lnTo>
                  <a:pt x="76200" y="38100"/>
                </a:lnTo>
                <a:cubicBezTo>
                  <a:pt x="76200" y="59128"/>
                  <a:pt x="59128" y="76200"/>
                  <a:pt x="38100" y="76200"/>
                </a:cubicBezTo>
                <a:lnTo>
                  <a:pt x="38100" y="76200"/>
                </a:lnTo>
                <a:cubicBezTo>
                  <a:pt x="17072" y="76200"/>
                  <a:pt x="0" y="59128"/>
                  <a:pt x="0" y="381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24" name="Text 21"/>
          <p:cNvSpPr/>
          <p:nvPr/>
        </p:nvSpPr>
        <p:spPr>
          <a:xfrm>
            <a:off x="4546498" y="2761604"/>
            <a:ext cx="13239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FastAPI后端开发实践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4394130" y="3085407"/>
            <a:ext cx="76200" cy="76200"/>
          </a:xfrm>
          <a:custGeom>
            <a:avLst/>
            <a:gdLst/>
            <a:ahLst/>
            <a:cxnLst/>
            <a:rect l="l" t="t" r="r" b="b"/>
            <a:pathLst>
              <a:path w="76200" h="76200">
                <a:moveTo>
                  <a:pt x="38100" y="0"/>
                </a:moveTo>
                <a:lnTo>
                  <a:pt x="38100" y="0"/>
                </a:lnTo>
                <a:cubicBezTo>
                  <a:pt x="59128" y="0"/>
                  <a:pt x="76200" y="17072"/>
                  <a:pt x="76200" y="38100"/>
                </a:cubicBezTo>
                <a:lnTo>
                  <a:pt x="76200" y="38100"/>
                </a:lnTo>
                <a:cubicBezTo>
                  <a:pt x="76200" y="59128"/>
                  <a:pt x="59128" y="76200"/>
                  <a:pt x="38100" y="76200"/>
                </a:cubicBezTo>
                <a:lnTo>
                  <a:pt x="38100" y="76200"/>
                </a:lnTo>
                <a:cubicBezTo>
                  <a:pt x="17072" y="76200"/>
                  <a:pt x="0" y="59128"/>
                  <a:pt x="0" y="381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26" name="Text 23"/>
          <p:cNvSpPr/>
          <p:nvPr/>
        </p:nvSpPr>
        <p:spPr>
          <a:xfrm>
            <a:off x="4546498" y="3028290"/>
            <a:ext cx="11334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数据库设计与优化</a:t>
            </a:r>
            <a:endParaRPr lang="en-US" sz="1600" dirty="0"/>
          </a:p>
        </p:txBody>
      </p:sp>
      <p:sp>
        <p:nvSpPr>
          <p:cNvPr id="27" name="Shape 24"/>
          <p:cNvSpPr/>
          <p:nvPr/>
        </p:nvSpPr>
        <p:spPr>
          <a:xfrm>
            <a:off x="4394130" y="3352093"/>
            <a:ext cx="76200" cy="76200"/>
          </a:xfrm>
          <a:custGeom>
            <a:avLst/>
            <a:gdLst/>
            <a:ahLst/>
            <a:cxnLst/>
            <a:rect l="l" t="t" r="r" b="b"/>
            <a:pathLst>
              <a:path w="76200" h="76200">
                <a:moveTo>
                  <a:pt x="38100" y="0"/>
                </a:moveTo>
                <a:lnTo>
                  <a:pt x="38100" y="0"/>
                </a:lnTo>
                <a:cubicBezTo>
                  <a:pt x="59128" y="0"/>
                  <a:pt x="76200" y="17072"/>
                  <a:pt x="76200" y="38100"/>
                </a:cubicBezTo>
                <a:lnTo>
                  <a:pt x="76200" y="38100"/>
                </a:lnTo>
                <a:cubicBezTo>
                  <a:pt x="76200" y="59128"/>
                  <a:pt x="59128" y="76200"/>
                  <a:pt x="38100" y="76200"/>
                </a:cubicBezTo>
                <a:lnTo>
                  <a:pt x="38100" y="76200"/>
                </a:lnTo>
                <a:cubicBezTo>
                  <a:pt x="17072" y="76200"/>
                  <a:pt x="0" y="59128"/>
                  <a:pt x="0" y="381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28" name="Text 25"/>
          <p:cNvSpPr/>
          <p:nvPr/>
        </p:nvSpPr>
        <p:spPr>
          <a:xfrm>
            <a:off x="4546498" y="3294971"/>
            <a:ext cx="11334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altLang="zh-CN" sz="1050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Docker</a:t>
            </a:r>
            <a:r>
              <a:rPr lang="zh-CN" altLang="en-US" sz="1050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部署掌握</a:t>
            </a:r>
            <a:endParaRPr lang="en-US" sz="1600" dirty="0"/>
          </a:p>
        </p:txBody>
      </p:sp>
      <p:sp>
        <p:nvSpPr>
          <p:cNvPr id="29" name="Shape 26"/>
          <p:cNvSpPr/>
          <p:nvPr/>
        </p:nvSpPr>
        <p:spPr>
          <a:xfrm>
            <a:off x="8102525" y="1104788"/>
            <a:ext cx="3705225" cy="2533650"/>
          </a:xfrm>
          <a:custGeom>
            <a:avLst/>
            <a:gdLst/>
            <a:ahLst/>
            <a:cxnLst/>
            <a:rect l="l" t="t" r="r" b="b"/>
            <a:pathLst>
              <a:path w="3705225" h="2533650">
                <a:moveTo>
                  <a:pt x="114293" y="0"/>
                </a:moveTo>
                <a:lnTo>
                  <a:pt x="3590932" y="0"/>
                </a:lnTo>
                <a:cubicBezTo>
                  <a:pt x="3654054" y="0"/>
                  <a:pt x="3705225" y="51171"/>
                  <a:pt x="3705225" y="114293"/>
                </a:cubicBezTo>
                <a:lnTo>
                  <a:pt x="3705225" y="2419357"/>
                </a:lnTo>
                <a:cubicBezTo>
                  <a:pt x="3705225" y="2482479"/>
                  <a:pt x="3654054" y="2533650"/>
                  <a:pt x="3590932" y="2533650"/>
                </a:cubicBezTo>
                <a:lnTo>
                  <a:pt x="114293" y="2533650"/>
                </a:lnTo>
                <a:cubicBezTo>
                  <a:pt x="51171" y="2533650"/>
                  <a:pt x="0" y="2482479"/>
                  <a:pt x="0" y="2419357"/>
                </a:cubicBezTo>
                <a:lnTo>
                  <a:pt x="0" y="114293"/>
                </a:lnTo>
                <a:cubicBezTo>
                  <a:pt x="0" y="51171"/>
                  <a:pt x="51171" y="0"/>
                  <a:pt x="114293" y="0"/>
                </a:cubicBezTo>
                <a:close/>
              </a:path>
            </a:pathLst>
          </a:custGeom>
          <a:solidFill>
            <a:srgbClr val="FFC107"/>
          </a:solidFill>
          <a:ln/>
          <a:effectLst>
            <a:outerShdw blurRad="142875" dist="95250" dir="5400000" algn="bl" rotWithShape="0">
              <a:srgbClr val="000000">
                <a:alpha val="10196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8269180" y="1276141"/>
            <a:ext cx="257175" cy="228600"/>
          </a:xfrm>
          <a:custGeom>
            <a:avLst/>
            <a:gdLst/>
            <a:ahLst/>
            <a:cxnLst/>
            <a:rect l="l" t="t" r="r" b="b"/>
            <a:pathLst>
              <a:path w="257175" h="228600">
                <a:moveTo>
                  <a:pt x="120060" y="38040"/>
                </a:moveTo>
                <a:lnTo>
                  <a:pt x="68000" y="95905"/>
                </a:lnTo>
                <a:cubicBezTo>
                  <a:pt x="65946" y="98182"/>
                  <a:pt x="66035" y="101709"/>
                  <a:pt x="68223" y="103897"/>
                </a:cubicBezTo>
                <a:cubicBezTo>
                  <a:pt x="81841" y="117515"/>
                  <a:pt x="103942" y="117515"/>
                  <a:pt x="117559" y="103897"/>
                </a:cubicBezTo>
                <a:lnTo>
                  <a:pt x="131758" y="89699"/>
                </a:lnTo>
                <a:cubicBezTo>
                  <a:pt x="133633" y="87823"/>
                  <a:pt x="135999" y="86797"/>
                  <a:pt x="138410" y="86618"/>
                </a:cubicBezTo>
                <a:cubicBezTo>
                  <a:pt x="141446" y="86350"/>
                  <a:pt x="144572" y="87377"/>
                  <a:pt x="146893" y="89699"/>
                </a:cubicBezTo>
                <a:lnTo>
                  <a:pt x="225743" y="167878"/>
                </a:lnTo>
                <a:lnTo>
                  <a:pt x="257175" y="142875"/>
                </a:lnTo>
                <a:lnTo>
                  <a:pt x="257175" y="14288"/>
                </a:lnTo>
                <a:lnTo>
                  <a:pt x="207169" y="42863"/>
                </a:lnTo>
                <a:lnTo>
                  <a:pt x="196542" y="35763"/>
                </a:lnTo>
                <a:cubicBezTo>
                  <a:pt x="189488" y="31075"/>
                  <a:pt x="181228" y="28575"/>
                  <a:pt x="172745" y="28575"/>
                </a:cubicBezTo>
                <a:lnTo>
                  <a:pt x="141312" y="28575"/>
                </a:lnTo>
                <a:cubicBezTo>
                  <a:pt x="140821" y="28575"/>
                  <a:pt x="140285" y="28575"/>
                  <a:pt x="139794" y="28620"/>
                </a:cubicBezTo>
                <a:cubicBezTo>
                  <a:pt x="132249" y="29021"/>
                  <a:pt x="125150" y="32415"/>
                  <a:pt x="120060" y="38040"/>
                </a:cubicBezTo>
                <a:close/>
                <a:moveTo>
                  <a:pt x="52060" y="81573"/>
                </a:moveTo>
                <a:lnTo>
                  <a:pt x="99745" y="28575"/>
                </a:lnTo>
                <a:lnTo>
                  <a:pt x="82064" y="28575"/>
                </a:lnTo>
                <a:cubicBezTo>
                  <a:pt x="70678" y="28575"/>
                  <a:pt x="59784" y="33084"/>
                  <a:pt x="51748" y="41121"/>
                </a:cubicBezTo>
                <a:lnTo>
                  <a:pt x="50006" y="42863"/>
                </a:lnTo>
                <a:lnTo>
                  <a:pt x="0" y="14288"/>
                </a:lnTo>
                <a:lnTo>
                  <a:pt x="0" y="142875"/>
                </a:lnTo>
                <a:lnTo>
                  <a:pt x="69830" y="201052"/>
                </a:lnTo>
                <a:cubicBezTo>
                  <a:pt x="80099" y="209624"/>
                  <a:pt x="93047" y="214313"/>
                  <a:pt x="106397" y="214313"/>
                </a:cubicBezTo>
                <a:lnTo>
                  <a:pt x="113407" y="214313"/>
                </a:lnTo>
                <a:lnTo>
                  <a:pt x="110282" y="211187"/>
                </a:lnTo>
                <a:cubicBezTo>
                  <a:pt x="106085" y="206990"/>
                  <a:pt x="106085" y="200204"/>
                  <a:pt x="110282" y="196051"/>
                </a:cubicBezTo>
                <a:cubicBezTo>
                  <a:pt x="114479" y="191899"/>
                  <a:pt x="121265" y="191854"/>
                  <a:pt x="125417" y="196051"/>
                </a:cubicBezTo>
                <a:lnTo>
                  <a:pt x="143723" y="214357"/>
                </a:lnTo>
                <a:lnTo>
                  <a:pt x="147742" y="214357"/>
                </a:lnTo>
                <a:cubicBezTo>
                  <a:pt x="156270" y="214357"/>
                  <a:pt x="164619" y="212437"/>
                  <a:pt x="172209" y="208865"/>
                </a:cubicBezTo>
                <a:lnTo>
                  <a:pt x="160288" y="196900"/>
                </a:lnTo>
                <a:cubicBezTo>
                  <a:pt x="156091" y="192703"/>
                  <a:pt x="156091" y="185916"/>
                  <a:pt x="160288" y="181764"/>
                </a:cubicBezTo>
                <a:cubicBezTo>
                  <a:pt x="164485" y="177611"/>
                  <a:pt x="171271" y="177567"/>
                  <a:pt x="175424" y="181764"/>
                </a:cubicBezTo>
                <a:lnTo>
                  <a:pt x="189711" y="196051"/>
                </a:lnTo>
                <a:lnTo>
                  <a:pt x="197525" y="188238"/>
                </a:lnTo>
                <a:cubicBezTo>
                  <a:pt x="201498" y="184264"/>
                  <a:pt x="202659" y="178504"/>
                  <a:pt x="200918" y="173459"/>
                </a:cubicBezTo>
                <a:lnTo>
                  <a:pt x="139348" y="112380"/>
                </a:lnTo>
                <a:lnTo>
                  <a:pt x="132695" y="119033"/>
                </a:lnTo>
                <a:cubicBezTo>
                  <a:pt x="110683" y="141044"/>
                  <a:pt x="75054" y="141044"/>
                  <a:pt x="53042" y="119033"/>
                </a:cubicBezTo>
                <a:cubicBezTo>
                  <a:pt x="42773" y="108764"/>
                  <a:pt x="42371" y="92288"/>
                  <a:pt x="52060" y="81528"/>
                </a:cubicBezTo>
                <a:close/>
              </a:path>
            </a:pathLst>
          </a:custGeom>
          <a:solidFill>
            <a:srgbClr val="343A40"/>
          </a:solidFill>
          <a:ln/>
        </p:spPr>
      </p:sp>
      <p:sp>
        <p:nvSpPr>
          <p:cNvPr id="31" name="Text 28"/>
          <p:cNvSpPr/>
          <p:nvPr/>
        </p:nvSpPr>
        <p:spPr>
          <a:xfrm>
            <a:off x="8654878" y="1257156"/>
            <a:ext cx="12382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343A40"/>
                </a:solidFill>
                <a:latin typeface="阿里妈妈数黑体" pitchFamily="34" charset="0"/>
                <a:ea typeface="阿里妈妈数黑体" pitchFamily="34" charset="-122"/>
                <a:cs typeface="阿里妈妈数黑体" pitchFamily="34" charset="-120"/>
              </a:rPr>
              <a:t>团队协作感悟</a:t>
            </a:r>
            <a:endParaRPr lang="en-US" sz="1600" dirty="0"/>
          </a:p>
        </p:txBody>
      </p:sp>
      <p:sp>
        <p:nvSpPr>
          <p:cNvPr id="32" name="Text 29"/>
          <p:cNvSpPr/>
          <p:nvPr/>
        </p:nvSpPr>
        <p:spPr>
          <a:xfrm>
            <a:off x="8254893" y="1638072"/>
            <a:ext cx="3476625" cy="1009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深刻体会到</a:t>
            </a:r>
            <a:r>
              <a:rPr lang="en-US" sz="1200" dirty="0">
                <a:solidFill>
                  <a:srgbClr val="343A40"/>
                </a:solidFill>
                <a:highlight>
                  <a:srgbClr val="343A40">
                    <a:alpha val="10000"/>
                  </a:srgbClr>
                </a:highlight>
                <a:latin typeface="MiSans" pitchFamily="34" charset="0"/>
                <a:ea typeface="MiSans" pitchFamily="34" charset="-122"/>
                <a:cs typeface="MiSans" pitchFamily="34" charset="-120"/>
              </a:rPr>
              <a:t> 沟通成本是软件开发中最关键的因素之一 </a:t>
            </a:r>
            <a:r>
              <a:rPr lang="en-US" sz="1200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。清晰的分工、及时的同步、相互的代码审查是保障项目质量的核心。</a:t>
            </a:r>
            <a:endParaRPr lang="en-US" sz="1600" dirty="0"/>
          </a:p>
        </p:txBody>
      </p:sp>
      <p:sp>
        <p:nvSpPr>
          <p:cNvPr id="33" name="Shape 30"/>
          <p:cNvSpPr/>
          <p:nvPr/>
        </p:nvSpPr>
        <p:spPr>
          <a:xfrm>
            <a:off x="8254893" y="2818721"/>
            <a:ext cx="76200" cy="76200"/>
          </a:xfrm>
          <a:custGeom>
            <a:avLst/>
            <a:gdLst/>
            <a:ahLst/>
            <a:cxnLst/>
            <a:rect l="l" t="t" r="r" b="b"/>
            <a:pathLst>
              <a:path w="76200" h="76200">
                <a:moveTo>
                  <a:pt x="38100" y="0"/>
                </a:moveTo>
                <a:lnTo>
                  <a:pt x="38100" y="0"/>
                </a:lnTo>
                <a:cubicBezTo>
                  <a:pt x="59128" y="0"/>
                  <a:pt x="76200" y="17072"/>
                  <a:pt x="76200" y="38100"/>
                </a:cubicBezTo>
                <a:lnTo>
                  <a:pt x="76200" y="38100"/>
                </a:lnTo>
                <a:cubicBezTo>
                  <a:pt x="76200" y="59128"/>
                  <a:pt x="59128" y="76200"/>
                  <a:pt x="38100" y="76200"/>
                </a:cubicBezTo>
                <a:lnTo>
                  <a:pt x="38100" y="76200"/>
                </a:lnTo>
                <a:cubicBezTo>
                  <a:pt x="17072" y="76200"/>
                  <a:pt x="0" y="59128"/>
                  <a:pt x="0" y="381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343A40"/>
          </a:solidFill>
          <a:ln/>
        </p:spPr>
      </p:sp>
      <p:sp>
        <p:nvSpPr>
          <p:cNvPr id="34" name="Text 31"/>
          <p:cNvSpPr/>
          <p:nvPr/>
        </p:nvSpPr>
        <p:spPr>
          <a:xfrm>
            <a:off x="8407260" y="2761604"/>
            <a:ext cx="11334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有效沟通的重要性</a:t>
            </a:r>
            <a:endParaRPr lang="en-US" sz="1600" dirty="0"/>
          </a:p>
        </p:txBody>
      </p:sp>
      <p:sp>
        <p:nvSpPr>
          <p:cNvPr id="35" name="Shape 32"/>
          <p:cNvSpPr/>
          <p:nvPr/>
        </p:nvSpPr>
        <p:spPr>
          <a:xfrm>
            <a:off x="8254893" y="3085407"/>
            <a:ext cx="76200" cy="76200"/>
          </a:xfrm>
          <a:custGeom>
            <a:avLst/>
            <a:gdLst/>
            <a:ahLst/>
            <a:cxnLst/>
            <a:rect l="l" t="t" r="r" b="b"/>
            <a:pathLst>
              <a:path w="76200" h="76200">
                <a:moveTo>
                  <a:pt x="38100" y="0"/>
                </a:moveTo>
                <a:lnTo>
                  <a:pt x="38100" y="0"/>
                </a:lnTo>
                <a:cubicBezTo>
                  <a:pt x="59128" y="0"/>
                  <a:pt x="76200" y="17072"/>
                  <a:pt x="76200" y="38100"/>
                </a:cubicBezTo>
                <a:lnTo>
                  <a:pt x="76200" y="38100"/>
                </a:lnTo>
                <a:cubicBezTo>
                  <a:pt x="76200" y="59128"/>
                  <a:pt x="59128" y="76200"/>
                  <a:pt x="38100" y="76200"/>
                </a:cubicBezTo>
                <a:lnTo>
                  <a:pt x="38100" y="76200"/>
                </a:lnTo>
                <a:cubicBezTo>
                  <a:pt x="17072" y="76200"/>
                  <a:pt x="0" y="59128"/>
                  <a:pt x="0" y="381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343A40"/>
          </a:solidFill>
          <a:ln/>
        </p:spPr>
      </p:sp>
      <p:sp>
        <p:nvSpPr>
          <p:cNvPr id="36" name="Text 33"/>
          <p:cNvSpPr/>
          <p:nvPr/>
        </p:nvSpPr>
        <p:spPr>
          <a:xfrm>
            <a:off x="8407260" y="3028290"/>
            <a:ext cx="10001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代码审查的价值</a:t>
            </a:r>
            <a:endParaRPr lang="en-US" sz="1600" dirty="0"/>
          </a:p>
        </p:txBody>
      </p:sp>
      <p:sp>
        <p:nvSpPr>
          <p:cNvPr id="37" name="Shape 34"/>
          <p:cNvSpPr/>
          <p:nvPr/>
        </p:nvSpPr>
        <p:spPr>
          <a:xfrm>
            <a:off x="8254893" y="3352093"/>
            <a:ext cx="76200" cy="76200"/>
          </a:xfrm>
          <a:custGeom>
            <a:avLst/>
            <a:gdLst/>
            <a:ahLst/>
            <a:cxnLst/>
            <a:rect l="l" t="t" r="r" b="b"/>
            <a:pathLst>
              <a:path w="76200" h="76200">
                <a:moveTo>
                  <a:pt x="38100" y="0"/>
                </a:moveTo>
                <a:lnTo>
                  <a:pt x="38100" y="0"/>
                </a:lnTo>
                <a:cubicBezTo>
                  <a:pt x="59128" y="0"/>
                  <a:pt x="76200" y="17072"/>
                  <a:pt x="76200" y="38100"/>
                </a:cubicBezTo>
                <a:lnTo>
                  <a:pt x="76200" y="38100"/>
                </a:lnTo>
                <a:cubicBezTo>
                  <a:pt x="76200" y="59128"/>
                  <a:pt x="59128" y="76200"/>
                  <a:pt x="38100" y="76200"/>
                </a:cubicBezTo>
                <a:lnTo>
                  <a:pt x="38100" y="76200"/>
                </a:lnTo>
                <a:cubicBezTo>
                  <a:pt x="17072" y="76200"/>
                  <a:pt x="0" y="59128"/>
                  <a:pt x="0" y="381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343A40"/>
          </a:solidFill>
          <a:ln/>
        </p:spPr>
      </p:sp>
      <p:sp>
        <p:nvSpPr>
          <p:cNvPr id="38" name="Text 35"/>
          <p:cNvSpPr/>
          <p:nvPr/>
        </p:nvSpPr>
        <p:spPr>
          <a:xfrm>
            <a:off x="8407260" y="3294971"/>
            <a:ext cx="11334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文档化沟通的效力</a:t>
            </a:r>
            <a:endParaRPr lang="en-US" sz="1600" dirty="0"/>
          </a:p>
        </p:txBody>
      </p:sp>
      <p:sp>
        <p:nvSpPr>
          <p:cNvPr id="39" name="Shape 36"/>
          <p:cNvSpPr/>
          <p:nvPr/>
        </p:nvSpPr>
        <p:spPr>
          <a:xfrm>
            <a:off x="399020" y="3790211"/>
            <a:ext cx="11409920" cy="1485900"/>
          </a:xfrm>
          <a:custGeom>
            <a:avLst/>
            <a:gdLst/>
            <a:ahLst/>
            <a:cxnLst/>
            <a:rect l="l" t="t" r="r" b="b"/>
            <a:pathLst>
              <a:path w="11409920" h="1485900">
                <a:moveTo>
                  <a:pt x="36041" y="0"/>
                </a:moveTo>
                <a:lnTo>
                  <a:pt x="11295625" y="0"/>
                </a:lnTo>
                <a:cubicBezTo>
                  <a:pt x="11358706" y="0"/>
                  <a:pt x="11409920" y="51214"/>
                  <a:pt x="11409920" y="114295"/>
                </a:cubicBezTo>
                <a:lnTo>
                  <a:pt x="11409920" y="1371605"/>
                </a:lnTo>
                <a:cubicBezTo>
                  <a:pt x="11409920" y="1434686"/>
                  <a:pt x="11358706" y="1485900"/>
                  <a:pt x="11295625" y="1485900"/>
                </a:cubicBezTo>
                <a:lnTo>
                  <a:pt x="36041" y="1485900"/>
                </a:lnTo>
                <a:cubicBezTo>
                  <a:pt x="16136" y="1485900"/>
                  <a:pt x="0" y="1469764"/>
                  <a:pt x="0" y="1449859"/>
                </a:cubicBezTo>
                <a:lnTo>
                  <a:pt x="0" y="36041"/>
                </a:lnTo>
                <a:cubicBezTo>
                  <a:pt x="0" y="16136"/>
                  <a:pt x="16136" y="0"/>
                  <a:pt x="36041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blurRad="142875" dist="95250" dir="5400000" algn="bl" rotWithShape="0">
              <a:srgbClr val="000000">
                <a:alpha val="10196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399020" y="3790211"/>
            <a:ext cx="36041" cy="1485900"/>
          </a:xfrm>
          <a:custGeom>
            <a:avLst/>
            <a:gdLst/>
            <a:ahLst/>
            <a:cxnLst/>
            <a:rect l="l" t="t" r="r" b="b"/>
            <a:pathLst>
              <a:path w="36041" h="1485900">
                <a:moveTo>
                  <a:pt x="36041" y="0"/>
                </a:moveTo>
                <a:lnTo>
                  <a:pt x="36041" y="0"/>
                </a:lnTo>
                <a:lnTo>
                  <a:pt x="36041" y="1485900"/>
                </a:lnTo>
                <a:lnTo>
                  <a:pt x="36041" y="1485900"/>
                </a:lnTo>
                <a:cubicBezTo>
                  <a:pt x="16136" y="1485900"/>
                  <a:pt x="0" y="1469764"/>
                  <a:pt x="0" y="1449859"/>
                </a:cubicBezTo>
                <a:lnTo>
                  <a:pt x="0" y="36041"/>
                </a:lnTo>
                <a:cubicBezTo>
                  <a:pt x="0" y="16136"/>
                  <a:pt x="16136" y="0"/>
                  <a:pt x="36041" y="0"/>
                </a:cubicBezTo>
                <a:close/>
              </a:path>
            </a:pathLst>
          </a:custGeom>
          <a:solidFill>
            <a:srgbClr val="DC3545"/>
          </a:solidFill>
          <a:ln/>
        </p:spPr>
      </p:sp>
      <p:sp>
        <p:nvSpPr>
          <p:cNvPr id="41" name="Shape 38"/>
          <p:cNvSpPr/>
          <p:nvPr/>
        </p:nvSpPr>
        <p:spPr>
          <a:xfrm>
            <a:off x="597983" y="3980627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14300" y="0"/>
                </a:moveTo>
                <a:cubicBezTo>
                  <a:pt x="120863" y="0"/>
                  <a:pt x="126891" y="3617"/>
                  <a:pt x="130016" y="9376"/>
                </a:cubicBezTo>
                <a:lnTo>
                  <a:pt x="226457" y="187970"/>
                </a:lnTo>
                <a:cubicBezTo>
                  <a:pt x="229448" y="193506"/>
                  <a:pt x="229314" y="200204"/>
                  <a:pt x="226100" y="205606"/>
                </a:cubicBezTo>
                <a:cubicBezTo>
                  <a:pt x="222885" y="211009"/>
                  <a:pt x="217036" y="214313"/>
                  <a:pt x="210741" y="214313"/>
                </a:cubicBezTo>
                <a:lnTo>
                  <a:pt x="17859" y="214313"/>
                </a:lnTo>
                <a:cubicBezTo>
                  <a:pt x="11564" y="214313"/>
                  <a:pt x="5760" y="211009"/>
                  <a:pt x="2500" y="205606"/>
                </a:cubicBezTo>
                <a:cubicBezTo>
                  <a:pt x="-759" y="200204"/>
                  <a:pt x="-848" y="193506"/>
                  <a:pt x="2143" y="187970"/>
                </a:cubicBezTo>
                <a:lnTo>
                  <a:pt x="98584" y="9376"/>
                </a:lnTo>
                <a:cubicBezTo>
                  <a:pt x="101709" y="3617"/>
                  <a:pt x="107737" y="0"/>
                  <a:pt x="114300" y="0"/>
                </a:cubicBezTo>
                <a:close/>
                <a:moveTo>
                  <a:pt x="114300" y="75009"/>
                </a:moveTo>
                <a:cubicBezTo>
                  <a:pt x="108362" y="75009"/>
                  <a:pt x="103584" y="79787"/>
                  <a:pt x="103584" y="85725"/>
                </a:cubicBezTo>
                <a:lnTo>
                  <a:pt x="103584" y="135731"/>
                </a:lnTo>
                <a:cubicBezTo>
                  <a:pt x="103584" y="141669"/>
                  <a:pt x="108362" y="146447"/>
                  <a:pt x="114300" y="146447"/>
                </a:cubicBezTo>
                <a:cubicBezTo>
                  <a:pt x="120238" y="146447"/>
                  <a:pt x="125016" y="141669"/>
                  <a:pt x="125016" y="135731"/>
                </a:cubicBezTo>
                <a:lnTo>
                  <a:pt x="125016" y="85725"/>
                </a:lnTo>
                <a:cubicBezTo>
                  <a:pt x="125016" y="79787"/>
                  <a:pt x="120238" y="75009"/>
                  <a:pt x="114300" y="75009"/>
                </a:cubicBezTo>
                <a:close/>
                <a:moveTo>
                  <a:pt x="126221" y="171450"/>
                </a:moveTo>
                <a:cubicBezTo>
                  <a:pt x="126492" y="167025"/>
                  <a:pt x="124286" y="162815"/>
                  <a:pt x="120492" y="160521"/>
                </a:cubicBezTo>
                <a:cubicBezTo>
                  <a:pt x="116699" y="158226"/>
                  <a:pt x="111946" y="158226"/>
                  <a:pt x="108152" y="160521"/>
                </a:cubicBezTo>
                <a:cubicBezTo>
                  <a:pt x="104359" y="162815"/>
                  <a:pt x="102152" y="167025"/>
                  <a:pt x="102424" y="171450"/>
                </a:cubicBezTo>
                <a:cubicBezTo>
                  <a:pt x="102152" y="175875"/>
                  <a:pt x="104359" y="180085"/>
                  <a:pt x="108152" y="182379"/>
                </a:cubicBezTo>
                <a:cubicBezTo>
                  <a:pt x="111946" y="184674"/>
                  <a:pt x="116699" y="184674"/>
                  <a:pt x="120492" y="182379"/>
                </a:cubicBezTo>
                <a:cubicBezTo>
                  <a:pt x="124286" y="180085"/>
                  <a:pt x="126492" y="175875"/>
                  <a:pt x="126221" y="171450"/>
                </a:cubicBezTo>
                <a:close/>
              </a:path>
            </a:pathLst>
          </a:custGeom>
          <a:solidFill>
            <a:srgbClr val="DC3545"/>
          </a:solidFill>
          <a:ln/>
        </p:spPr>
      </p:sp>
      <p:sp>
        <p:nvSpPr>
          <p:cNvPr id="42" name="Text 39"/>
          <p:cNvSpPr/>
          <p:nvPr/>
        </p:nvSpPr>
        <p:spPr>
          <a:xfrm>
            <a:off x="969394" y="3942578"/>
            <a:ext cx="12573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343A40"/>
                </a:solidFill>
                <a:latin typeface="阿里妈妈数黑体" pitchFamily="34" charset="0"/>
                <a:ea typeface="阿里妈妈数黑体" pitchFamily="34" charset="-122"/>
                <a:cs typeface="阿里妈妈数黑体" pitchFamily="34" charset="-120"/>
              </a:rPr>
              <a:t>反思与不足</a:t>
            </a:r>
            <a:endParaRPr lang="en-US" sz="1600" dirty="0"/>
          </a:p>
        </p:txBody>
      </p:sp>
      <p:sp>
        <p:nvSpPr>
          <p:cNvPr id="43" name="Shape 40"/>
          <p:cNvSpPr/>
          <p:nvPr/>
        </p:nvSpPr>
        <p:spPr>
          <a:xfrm>
            <a:off x="587429" y="4361627"/>
            <a:ext cx="36041" cy="762000"/>
          </a:xfrm>
          <a:custGeom>
            <a:avLst/>
            <a:gdLst/>
            <a:ahLst/>
            <a:cxnLst/>
            <a:rect l="l" t="t" r="r" b="b"/>
            <a:pathLst>
              <a:path w="36041" h="762000">
                <a:moveTo>
                  <a:pt x="0" y="0"/>
                </a:moveTo>
                <a:lnTo>
                  <a:pt x="36041" y="0"/>
                </a:lnTo>
                <a:lnTo>
                  <a:pt x="36041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solidFill>
            <a:srgbClr val="DC3545"/>
          </a:solidFill>
          <a:ln/>
        </p:spPr>
      </p:sp>
      <p:sp>
        <p:nvSpPr>
          <p:cNvPr id="44" name="Text 41"/>
          <p:cNvSpPr/>
          <p:nvPr/>
        </p:nvSpPr>
        <p:spPr>
          <a:xfrm>
            <a:off x="719684" y="4361627"/>
            <a:ext cx="35337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需求变更管理</a:t>
            </a:r>
            <a:endParaRPr lang="en-US" sz="1600" dirty="0"/>
          </a:p>
        </p:txBody>
      </p:sp>
      <p:sp>
        <p:nvSpPr>
          <p:cNvPr id="45" name="Text 42"/>
          <p:cNvSpPr/>
          <p:nvPr/>
        </p:nvSpPr>
        <p:spPr>
          <a:xfrm>
            <a:off x="719684" y="4666287"/>
            <a:ext cx="35242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需求变更流程可更严谨，建立</a:t>
            </a:r>
            <a:r>
              <a:rPr lang="en-US" sz="1200" dirty="0">
                <a:solidFill>
                  <a:srgbClr val="DC3545"/>
                </a:solidFill>
                <a:highlight>
                  <a:srgbClr val="DC3545">
                    <a:alpha val="10000"/>
                  </a:srgbClr>
                </a:highlight>
                <a:latin typeface="MiSans" pitchFamily="34" charset="0"/>
                <a:ea typeface="MiSans" pitchFamily="34" charset="-122"/>
                <a:cs typeface="MiSans" pitchFamily="34" charset="-120"/>
              </a:rPr>
              <a:t> 正式的变更控制机制 </a:t>
            </a:r>
            <a:r>
              <a:rPr lang="en-US" sz="1200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。</a:t>
            </a:r>
            <a:endParaRPr lang="en-US" sz="1600" dirty="0"/>
          </a:p>
        </p:txBody>
      </p:sp>
      <p:sp>
        <p:nvSpPr>
          <p:cNvPr id="46" name="Shape 43"/>
          <p:cNvSpPr/>
          <p:nvPr/>
        </p:nvSpPr>
        <p:spPr>
          <a:xfrm>
            <a:off x="4334599" y="4361627"/>
            <a:ext cx="36041" cy="762000"/>
          </a:xfrm>
          <a:custGeom>
            <a:avLst/>
            <a:gdLst/>
            <a:ahLst/>
            <a:cxnLst/>
            <a:rect l="l" t="t" r="r" b="b"/>
            <a:pathLst>
              <a:path w="36041" h="762000">
                <a:moveTo>
                  <a:pt x="0" y="0"/>
                </a:moveTo>
                <a:lnTo>
                  <a:pt x="36041" y="0"/>
                </a:lnTo>
                <a:lnTo>
                  <a:pt x="36041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solidFill>
            <a:srgbClr val="DC3545"/>
          </a:solidFill>
          <a:ln/>
        </p:spPr>
      </p:sp>
      <p:sp>
        <p:nvSpPr>
          <p:cNvPr id="47" name="Text 44"/>
          <p:cNvSpPr/>
          <p:nvPr/>
        </p:nvSpPr>
        <p:spPr>
          <a:xfrm>
            <a:off x="4466855" y="4361627"/>
            <a:ext cx="35337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zh-CN" altLang="en-US" sz="1350" b="1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安全与性能</a:t>
            </a:r>
            <a:endParaRPr lang="en-US" sz="1600" dirty="0"/>
          </a:p>
        </p:txBody>
      </p:sp>
      <p:sp>
        <p:nvSpPr>
          <p:cNvPr id="48" name="Text 45"/>
          <p:cNvSpPr/>
          <p:nvPr/>
        </p:nvSpPr>
        <p:spPr>
          <a:xfrm>
            <a:off x="4476380" y="4660463"/>
            <a:ext cx="35242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zh-CN" altLang="en-US" sz="1200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缺乏系统性的安全威胁建模，</a:t>
            </a:r>
            <a:r>
              <a:rPr lang="zh-CN" altLang="en-US" sz="1200" b="1" dirty="0">
                <a:solidFill>
                  <a:srgbClr val="DC3545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防御性设计</a:t>
            </a:r>
            <a:r>
              <a:rPr lang="zh-CN" altLang="en-US" sz="1200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考虑不周</a:t>
            </a:r>
            <a:endParaRPr lang="en-US" sz="1600" dirty="0"/>
          </a:p>
        </p:txBody>
      </p:sp>
      <p:sp>
        <p:nvSpPr>
          <p:cNvPr id="49" name="Shape 46"/>
          <p:cNvSpPr/>
          <p:nvPr/>
        </p:nvSpPr>
        <p:spPr>
          <a:xfrm>
            <a:off x="8081769" y="4361627"/>
            <a:ext cx="36041" cy="762000"/>
          </a:xfrm>
          <a:custGeom>
            <a:avLst/>
            <a:gdLst/>
            <a:ahLst/>
            <a:cxnLst/>
            <a:rect l="l" t="t" r="r" b="b"/>
            <a:pathLst>
              <a:path w="36041" h="762000">
                <a:moveTo>
                  <a:pt x="0" y="0"/>
                </a:moveTo>
                <a:lnTo>
                  <a:pt x="36041" y="0"/>
                </a:lnTo>
                <a:lnTo>
                  <a:pt x="36041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solidFill>
            <a:srgbClr val="DC3545"/>
          </a:solidFill>
          <a:ln/>
        </p:spPr>
      </p:sp>
      <p:sp>
        <p:nvSpPr>
          <p:cNvPr id="50" name="Text 47"/>
          <p:cNvSpPr/>
          <p:nvPr/>
        </p:nvSpPr>
        <p:spPr>
          <a:xfrm>
            <a:off x="8214025" y="4361627"/>
            <a:ext cx="35337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zh-CN" altLang="en-US" sz="1350" b="1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工程自动化流水线</a:t>
            </a:r>
            <a:endParaRPr lang="en-US" sz="1600" dirty="0"/>
          </a:p>
        </p:txBody>
      </p:sp>
      <p:sp>
        <p:nvSpPr>
          <p:cNvPr id="51" name="Text 48"/>
          <p:cNvSpPr/>
          <p:nvPr/>
        </p:nvSpPr>
        <p:spPr>
          <a:xfrm>
            <a:off x="8214025" y="4666287"/>
            <a:ext cx="35242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zh-CN" altLang="en-US" sz="1200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未建立</a:t>
            </a:r>
            <a:r>
              <a:rPr lang="en-US" altLang="zh-CN" sz="1200" b="1" dirty="0">
                <a:solidFill>
                  <a:srgbClr val="DC3545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CI/CD</a:t>
            </a:r>
            <a:r>
              <a:rPr lang="zh-CN" altLang="en-US" sz="1200" b="1" dirty="0">
                <a:solidFill>
                  <a:srgbClr val="DC3545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持续集成</a:t>
            </a:r>
            <a:r>
              <a:rPr lang="zh-CN" altLang="en-US" sz="1200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部署流程</a:t>
            </a:r>
            <a:endParaRPr lang="en-US" sz="1600" dirty="0"/>
          </a:p>
        </p:txBody>
      </p:sp>
      <p:sp>
        <p:nvSpPr>
          <p:cNvPr id="52" name="Shape 49"/>
          <p:cNvSpPr/>
          <p:nvPr/>
        </p:nvSpPr>
        <p:spPr>
          <a:xfrm>
            <a:off x="381000" y="5428120"/>
            <a:ext cx="11430000" cy="476250"/>
          </a:xfrm>
          <a:custGeom>
            <a:avLst/>
            <a:gdLst/>
            <a:ahLst/>
            <a:cxnLst/>
            <a:rect l="l" t="t" r="r" b="b"/>
            <a:pathLst>
              <a:path w="11430000" h="476250">
                <a:moveTo>
                  <a:pt x="114300" y="0"/>
                </a:moveTo>
                <a:lnTo>
                  <a:pt x="11315700" y="0"/>
                </a:lnTo>
                <a:cubicBezTo>
                  <a:pt x="11378784" y="0"/>
                  <a:pt x="11430000" y="51216"/>
                  <a:pt x="11430000" y="114300"/>
                </a:cubicBezTo>
                <a:lnTo>
                  <a:pt x="11430000" y="361950"/>
                </a:lnTo>
                <a:cubicBezTo>
                  <a:pt x="11430000" y="425034"/>
                  <a:pt x="11378784" y="476250"/>
                  <a:pt x="11315700" y="476250"/>
                </a:cubicBezTo>
                <a:lnTo>
                  <a:pt x="114300" y="476250"/>
                </a:lnTo>
                <a:cubicBezTo>
                  <a:pt x="51216" y="476250"/>
                  <a:pt x="0" y="425034"/>
                  <a:pt x="0" y="36195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solidFill>
            <a:srgbClr val="343A40"/>
          </a:solidFill>
          <a:ln/>
          <a:effectLst>
            <a:outerShdw blurRad="142875" dist="95250" dir="5400000" algn="bl" rotWithShape="0">
              <a:srgbClr val="000000">
                <a:alpha val="10196"/>
              </a:srgbClr>
            </a:outerShdw>
          </a:effectLst>
        </p:spPr>
      </p:sp>
      <p:sp>
        <p:nvSpPr>
          <p:cNvPr id="53" name="Shape 50"/>
          <p:cNvSpPr/>
          <p:nvPr/>
        </p:nvSpPr>
        <p:spPr>
          <a:xfrm>
            <a:off x="523811" y="5583543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0" y="64294"/>
                </a:moveTo>
                <a:cubicBezTo>
                  <a:pt x="0" y="44559"/>
                  <a:pt x="15984" y="28575"/>
                  <a:pt x="35719" y="28575"/>
                </a:cubicBezTo>
                <a:lnTo>
                  <a:pt x="38100" y="28575"/>
                </a:lnTo>
                <a:cubicBezTo>
                  <a:pt x="43369" y="28575"/>
                  <a:pt x="47625" y="32831"/>
                  <a:pt x="47625" y="38100"/>
                </a:cubicBezTo>
                <a:cubicBezTo>
                  <a:pt x="47625" y="43369"/>
                  <a:pt x="43369" y="47625"/>
                  <a:pt x="38100" y="47625"/>
                </a:cubicBezTo>
                <a:lnTo>
                  <a:pt x="35719" y="47625"/>
                </a:lnTo>
                <a:cubicBezTo>
                  <a:pt x="26521" y="47625"/>
                  <a:pt x="19050" y="55096"/>
                  <a:pt x="19050" y="64294"/>
                </a:cubicBezTo>
                <a:lnTo>
                  <a:pt x="19050" y="66675"/>
                </a:lnTo>
                <a:lnTo>
                  <a:pt x="38100" y="66675"/>
                </a:lnTo>
                <a:cubicBezTo>
                  <a:pt x="48607" y="66675"/>
                  <a:pt x="57150" y="75218"/>
                  <a:pt x="57150" y="85725"/>
                </a:cubicBezTo>
                <a:lnTo>
                  <a:pt x="57150" y="104775"/>
                </a:lnTo>
                <a:cubicBezTo>
                  <a:pt x="57150" y="115282"/>
                  <a:pt x="48607" y="123825"/>
                  <a:pt x="38100" y="123825"/>
                </a:cubicBezTo>
                <a:lnTo>
                  <a:pt x="19050" y="123825"/>
                </a:lnTo>
                <a:cubicBezTo>
                  <a:pt x="8543" y="123825"/>
                  <a:pt x="0" y="115282"/>
                  <a:pt x="0" y="104775"/>
                </a:cubicBezTo>
                <a:lnTo>
                  <a:pt x="0" y="64294"/>
                </a:lnTo>
                <a:close/>
                <a:moveTo>
                  <a:pt x="76200" y="64294"/>
                </a:moveTo>
                <a:cubicBezTo>
                  <a:pt x="76200" y="44559"/>
                  <a:pt x="92184" y="28575"/>
                  <a:pt x="111919" y="28575"/>
                </a:cubicBezTo>
                <a:lnTo>
                  <a:pt x="114300" y="28575"/>
                </a:lnTo>
                <a:cubicBezTo>
                  <a:pt x="119569" y="28575"/>
                  <a:pt x="123825" y="32831"/>
                  <a:pt x="123825" y="38100"/>
                </a:cubicBezTo>
                <a:cubicBezTo>
                  <a:pt x="123825" y="43369"/>
                  <a:pt x="119569" y="47625"/>
                  <a:pt x="114300" y="47625"/>
                </a:cubicBezTo>
                <a:lnTo>
                  <a:pt x="111919" y="47625"/>
                </a:lnTo>
                <a:cubicBezTo>
                  <a:pt x="102721" y="47625"/>
                  <a:pt x="95250" y="55096"/>
                  <a:pt x="95250" y="64294"/>
                </a:cubicBezTo>
                <a:lnTo>
                  <a:pt x="95250" y="66675"/>
                </a:lnTo>
                <a:lnTo>
                  <a:pt x="114300" y="66675"/>
                </a:lnTo>
                <a:cubicBezTo>
                  <a:pt x="124807" y="66675"/>
                  <a:pt x="133350" y="75218"/>
                  <a:pt x="133350" y="85725"/>
                </a:cubicBezTo>
                <a:lnTo>
                  <a:pt x="133350" y="104775"/>
                </a:lnTo>
                <a:cubicBezTo>
                  <a:pt x="133350" y="115282"/>
                  <a:pt x="124807" y="123825"/>
                  <a:pt x="114300" y="123825"/>
                </a:cubicBezTo>
                <a:lnTo>
                  <a:pt x="95250" y="123825"/>
                </a:lnTo>
                <a:cubicBezTo>
                  <a:pt x="84743" y="123825"/>
                  <a:pt x="76200" y="115282"/>
                  <a:pt x="76200" y="104775"/>
                </a:cubicBezTo>
                <a:lnTo>
                  <a:pt x="76200" y="64294"/>
                </a:ln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54" name="Text 51"/>
          <p:cNvSpPr/>
          <p:nvPr/>
        </p:nvSpPr>
        <p:spPr>
          <a:xfrm>
            <a:off x="742886" y="5542355"/>
            <a:ext cx="110299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这个项目不仅是作业，更是将理论转化为实践的宝贵机会。我们看到了不足，也明确了方向。</a:t>
            </a:r>
            <a:endParaRPr lang="en-US" sz="1600" dirty="0"/>
          </a:p>
        </p:txBody>
      </p:sp>
      <p:sp>
        <p:nvSpPr>
          <p:cNvPr id="55" name="Shape 0">
            <a:extLst>
              <a:ext uri="{FF2B5EF4-FFF2-40B4-BE49-F238E27FC236}">
                <a16:creationId xmlns:a16="http://schemas.microsoft.com/office/drawing/2014/main" id="{78CBCB46-ED7B-EAE9-2E50-EBD4423E9C84}"/>
              </a:ext>
            </a:extLst>
          </p:cNvPr>
          <p:cNvSpPr/>
          <p:nvPr/>
        </p:nvSpPr>
        <p:spPr>
          <a:xfrm>
            <a:off x="381000" y="457265"/>
            <a:ext cx="485775" cy="304800"/>
          </a:xfrm>
          <a:custGeom>
            <a:avLst/>
            <a:gdLst/>
            <a:ahLst/>
            <a:cxnLst/>
            <a:rect l="l" t="t" r="r" b="b"/>
            <a:pathLst>
              <a:path w="485775" h="304800">
                <a:moveTo>
                  <a:pt x="152400" y="0"/>
                </a:moveTo>
                <a:lnTo>
                  <a:pt x="333375" y="0"/>
                </a:lnTo>
                <a:cubicBezTo>
                  <a:pt x="417487" y="0"/>
                  <a:pt x="485775" y="68288"/>
                  <a:pt x="485775" y="152400"/>
                </a:cubicBezTo>
                <a:lnTo>
                  <a:pt x="485775" y="152400"/>
                </a:lnTo>
                <a:cubicBezTo>
                  <a:pt x="485775" y="236512"/>
                  <a:pt x="417487" y="304800"/>
                  <a:pt x="333375" y="304800"/>
                </a:cubicBezTo>
                <a:lnTo>
                  <a:pt x="152400" y="304800"/>
                </a:lnTo>
                <a:cubicBezTo>
                  <a:pt x="68288" y="304800"/>
                  <a:pt x="0" y="236512"/>
                  <a:pt x="0" y="152400"/>
                </a:cubicBezTo>
                <a:lnTo>
                  <a:pt x="0" y="152400"/>
                </a:lnTo>
                <a:cubicBezTo>
                  <a:pt x="0" y="68288"/>
                  <a:pt x="68288" y="0"/>
                  <a:pt x="152400" y="0"/>
                </a:cubicBez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56" name="Text 1">
            <a:extLst>
              <a:ext uri="{FF2B5EF4-FFF2-40B4-BE49-F238E27FC236}">
                <a16:creationId xmlns:a16="http://schemas.microsoft.com/office/drawing/2014/main" id="{EC035420-AA8A-2E6C-0BBC-1AA16E144499}"/>
              </a:ext>
            </a:extLst>
          </p:cNvPr>
          <p:cNvSpPr/>
          <p:nvPr/>
        </p:nvSpPr>
        <p:spPr>
          <a:xfrm>
            <a:off x="381000" y="457265"/>
            <a:ext cx="561975" cy="304800"/>
          </a:xfrm>
          <a:prstGeom prst="rect">
            <a:avLst/>
          </a:prstGeom>
          <a:noFill/>
          <a:ln/>
        </p:spPr>
        <p:txBody>
          <a:bodyPr wrap="square" lIns="152400" tIns="38100" rIns="152400" bIns="3810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06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slides_tmpl/image/25-10-09-16:35:25-d3jn7j8s8jdo4os5dj2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63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08625" y="362318"/>
            <a:ext cx="2391299" cy="4347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en-US" sz="3423" b="1" dirty="0">
                <a:solidFill>
                  <a:srgbClr val="343A40"/>
                </a:solidFill>
                <a:latin typeface="阿里妈妈数黑体" pitchFamily="34" charset="0"/>
                <a:ea typeface="阿里妈妈数黑体" pitchFamily="34" charset="-122"/>
                <a:cs typeface="阿里妈妈数黑体" pitchFamily="34" charset="-120"/>
              </a:rPr>
              <a:t>总结与展望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1086954" y="869537"/>
            <a:ext cx="1014490" cy="36232"/>
          </a:xfrm>
          <a:custGeom>
            <a:avLst/>
            <a:gdLst/>
            <a:ahLst/>
            <a:cxnLst/>
            <a:rect l="l" t="t" r="r" b="b"/>
            <a:pathLst>
              <a:path w="1014490" h="36232">
                <a:moveTo>
                  <a:pt x="0" y="0"/>
                </a:moveTo>
                <a:lnTo>
                  <a:pt x="1014490" y="0"/>
                </a:lnTo>
                <a:lnTo>
                  <a:pt x="1014490" y="36232"/>
                </a:lnTo>
                <a:lnTo>
                  <a:pt x="0" y="36232"/>
                </a:lnTo>
                <a:lnTo>
                  <a:pt x="0" y="0"/>
                </a:ln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7" name="Shape 4"/>
          <p:cNvSpPr/>
          <p:nvPr/>
        </p:nvSpPr>
        <p:spPr>
          <a:xfrm>
            <a:off x="362318" y="1050616"/>
            <a:ext cx="11467364" cy="1775358"/>
          </a:xfrm>
          <a:custGeom>
            <a:avLst/>
            <a:gdLst/>
            <a:ahLst/>
            <a:cxnLst/>
            <a:rect l="l" t="t" r="r" b="b"/>
            <a:pathLst>
              <a:path w="11467364" h="1775358">
                <a:moveTo>
                  <a:pt x="108687" y="0"/>
                </a:moveTo>
                <a:lnTo>
                  <a:pt x="11358677" y="0"/>
                </a:lnTo>
                <a:cubicBezTo>
                  <a:pt x="11418703" y="0"/>
                  <a:pt x="11467364" y="48661"/>
                  <a:pt x="11467364" y="108687"/>
                </a:cubicBezTo>
                <a:lnTo>
                  <a:pt x="11467364" y="1666671"/>
                </a:lnTo>
                <a:cubicBezTo>
                  <a:pt x="11467364" y="1726697"/>
                  <a:pt x="11418703" y="1775358"/>
                  <a:pt x="11358677" y="1775358"/>
                </a:cubicBezTo>
                <a:lnTo>
                  <a:pt x="108687" y="1775358"/>
                </a:lnTo>
                <a:cubicBezTo>
                  <a:pt x="48661" y="1775358"/>
                  <a:pt x="0" y="1726697"/>
                  <a:pt x="0" y="1666671"/>
                </a:cubicBezTo>
                <a:lnTo>
                  <a:pt x="0" y="108687"/>
                </a:lnTo>
                <a:cubicBezTo>
                  <a:pt x="0" y="48701"/>
                  <a:pt x="48701" y="0"/>
                  <a:pt x="108687" y="0"/>
                </a:cubicBezTo>
                <a:close/>
              </a:path>
            </a:pathLst>
          </a:custGeom>
          <a:solidFill>
            <a:srgbClr val="343A40"/>
          </a:solidFill>
          <a:ln/>
          <a:effectLst>
            <a:outerShdw blurRad="135869" dist="90579" dir="5400000" algn="bl" rotWithShape="0">
              <a:srgbClr val="000000">
                <a:alpha val="10196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34388" y="1231704"/>
            <a:ext cx="217391" cy="217391"/>
          </a:xfrm>
          <a:custGeom>
            <a:avLst/>
            <a:gdLst/>
            <a:ahLst/>
            <a:cxnLst/>
            <a:rect l="l" t="t" r="r" b="b"/>
            <a:pathLst>
              <a:path w="217391" h="217391">
                <a:moveTo>
                  <a:pt x="142663" y="149456"/>
                </a:moveTo>
                <a:cubicBezTo>
                  <a:pt x="183933" y="149456"/>
                  <a:pt x="217391" y="115998"/>
                  <a:pt x="217391" y="74728"/>
                </a:cubicBezTo>
                <a:cubicBezTo>
                  <a:pt x="217391" y="33458"/>
                  <a:pt x="183933" y="0"/>
                  <a:pt x="142663" y="0"/>
                </a:cubicBezTo>
                <a:cubicBezTo>
                  <a:pt x="101392" y="0"/>
                  <a:pt x="67935" y="33458"/>
                  <a:pt x="67935" y="74728"/>
                </a:cubicBezTo>
                <a:cubicBezTo>
                  <a:pt x="67935" y="82668"/>
                  <a:pt x="69166" y="90353"/>
                  <a:pt x="71459" y="97529"/>
                </a:cubicBezTo>
                <a:lnTo>
                  <a:pt x="2972" y="166015"/>
                </a:lnTo>
                <a:cubicBezTo>
                  <a:pt x="1061" y="167926"/>
                  <a:pt x="0" y="170516"/>
                  <a:pt x="0" y="173233"/>
                </a:cubicBezTo>
                <a:lnTo>
                  <a:pt x="0" y="207201"/>
                </a:lnTo>
                <a:cubicBezTo>
                  <a:pt x="0" y="212848"/>
                  <a:pt x="4543" y="217391"/>
                  <a:pt x="10190" y="217391"/>
                </a:cubicBezTo>
                <a:lnTo>
                  <a:pt x="44158" y="217391"/>
                </a:lnTo>
                <a:cubicBezTo>
                  <a:pt x="49805" y="217391"/>
                  <a:pt x="54348" y="212848"/>
                  <a:pt x="54348" y="207201"/>
                </a:cubicBezTo>
                <a:lnTo>
                  <a:pt x="54348" y="190217"/>
                </a:lnTo>
                <a:lnTo>
                  <a:pt x="71331" y="190217"/>
                </a:lnTo>
                <a:cubicBezTo>
                  <a:pt x="76978" y="190217"/>
                  <a:pt x="81522" y="185674"/>
                  <a:pt x="81522" y="180027"/>
                </a:cubicBezTo>
                <a:lnTo>
                  <a:pt x="81522" y="163043"/>
                </a:lnTo>
                <a:lnTo>
                  <a:pt x="98505" y="163043"/>
                </a:lnTo>
                <a:cubicBezTo>
                  <a:pt x="101223" y="163043"/>
                  <a:pt x="103813" y="161982"/>
                  <a:pt x="105723" y="160071"/>
                </a:cubicBezTo>
                <a:lnTo>
                  <a:pt x="119862" y="145932"/>
                </a:lnTo>
                <a:cubicBezTo>
                  <a:pt x="127038" y="148225"/>
                  <a:pt x="134723" y="149456"/>
                  <a:pt x="142663" y="149456"/>
                </a:cubicBezTo>
                <a:close/>
                <a:moveTo>
                  <a:pt x="159646" y="40761"/>
                </a:moveTo>
                <a:cubicBezTo>
                  <a:pt x="169020" y="40761"/>
                  <a:pt x="176630" y="48371"/>
                  <a:pt x="176630" y="57744"/>
                </a:cubicBezTo>
                <a:cubicBezTo>
                  <a:pt x="176630" y="67118"/>
                  <a:pt x="169020" y="74728"/>
                  <a:pt x="159646" y="74728"/>
                </a:cubicBezTo>
                <a:cubicBezTo>
                  <a:pt x="150273" y="74728"/>
                  <a:pt x="142663" y="67118"/>
                  <a:pt x="142663" y="57744"/>
                </a:cubicBezTo>
                <a:cubicBezTo>
                  <a:pt x="142663" y="48371"/>
                  <a:pt x="150273" y="40761"/>
                  <a:pt x="159646" y="40761"/>
                </a:cubicBez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9" name="Text 6"/>
          <p:cNvSpPr/>
          <p:nvPr/>
        </p:nvSpPr>
        <p:spPr>
          <a:xfrm>
            <a:off x="887587" y="1195517"/>
            <a:ext cx="1413040" cy="289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712" b="1" dirty="0">
                <a:solidFill>
                  <a:srgbClr val="F8F9FA"/>
                </a:solidFill>
                <a:latin typeface="阿里妈妈数黑体" pitchFamily="34" charset="0"/>
                <a:ea typeface="阿里妈妈数黑体" pitchFamily="34" charset="-122"/>
                <a:cs typeface="阿里妈妈数黑体" pitchFamily="34" charset="-120"/>
              </a:rPr>
              <a:t>项目成功关键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1573589" y="1594022"/>
            <a:ext cx="579709" cy="579709"/>
          </a:xfrm>
          <a:custGeom>
            <a:avLst/>
            <a:gdLst/>
            <a:ahLst/>
            <a:cxnLst/>
            <a:rect l="l" t="t" r="r" b="b"/>
            <a:pathLst>
              <a:path w="579709" h="579709">
                <a:moveTo>
                  <a:pt x="289854" y="0"/>
                </a:moveTo>
                <a:lnTo>
                  <a:pt x="289854" y="0"/>
                </a:lnTo>
                <a:cubicBezTo>
                  <a:pt x="449937" y="0"/>
                  <a:pt x="579709" y="129772"/>
                  <a:pt x="579709" y="289854"/>
                </a:cubicBezTo>
                <a:lnTo>
                  <a:pt x="579709" y="289854"/>
                </a:lnTo>
                <a:cubicBezTo>
                  <a:pt x="579709" y="449937"/>
                  <a:pt x="449937" y="579709"/>
                  <a:pt x="289854" y="579709"/>
                </a:cubicBezTo>
                <a:lnTo>
                  <a:pt x="289854" y="579709"/>
                </a:lnTo>
                <a:cubicBezTo>
                  <a:pt x="129772" y="579709"/>
                  <a:pt x="0" y="449937"/>
                  <a:pt x="0" y="289854"/>
                </a:cubicBezTo>
                <a:lnTo>
                  <a:pt x="0" y="289854"/>
                </a:lnTo>
                <a:cubicBezTo>
                  <a:pt x="0" y="129772"/>
                  <a:pt x="129772" y="0"/>
                  <a:pt x="289854" y="0"/>
                </a:cubicBez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11" name="Shape 8"/>
          <p:cNvSpPr/>
          <p:nvPr/>
        </p:nvSpPr>
        <p:spPr>
          <a:xfrm>
            <a:off x="1754687" y="1775102"/>
            <a:ext cx="217391" cy="217391"/>
          </a:xfrm>
          <a:custGeom>
            <a:avLst/>
            <a:gdLst/>
            <a:ahLst/>
            <a:cxnLst/>
            <a:rect l="l" t="t" r="r" b="b"/>
            <a:pathLst>
              <a:path w="217391" h="217391">
                <a:moveTo>
                  <a:pt x="190217" y="108695"/>
                </a:moveTo>
                <a:cubicBezTo>
                  <a:pt x="190217" y="63702"/>
                  <a:pt x="153688" y="27174"/>
                  <a:pt x="108695" y="27174"/>
                </a:cubicBezTo>
                <a:cubicBezTo>
                  <a:pt x="63702" y="27174"/>
                  <a:pt x="27174" y="63702"/>
                  <a:pt x="27174" y="108695"/>
                </a:cubicBezTo>
                <a:cubicBezTo>
                  <a:pt x="27174" y="153688"/>
                  <a:pt x="63702" y="190217"/>
                  <a:pt x="108695" y="190217"/>
                </a:cubicBezTo>
                <a:cubicBezTo>
                  <a:pt x="153688" y="190217"/>
                  <a:pt x="190217" y="153688"/>
                  <a:pt x="190217" y="108695"/>
                </a:cubicBezTo>
                <a:close/>
                <a:moveTo>
                  <a:pt x="0" y="108695"/>
                </a:moveTo>
                <a:cubicBezTo>
                  <a:pt x="0" y="48705"/>
                  <a:pt x="48705" y="0"/>
                  <a:pt x="108695" y="0"/>
                </a:cubicBezTo>
                <a:cubicBezTo>
                  <a:pt x="168686" y="0"/>
                  <a:pt x="217391" y="48705"/>
                  <a:pt x="217391" y="108695"/>
                </a:cubicBezTo>
                <a:cubicBezTo>
                  <a:pt x="217391" y="168686"/>
                  <a:pt x="168686" y="217391"/>
                  <a:pt x="108695" y="217391"/>
                </a:cubicBezTo>
                <a:cubicBezTo>
                  <a:pt x="48705" y="217391"/>
                  <a:pt x="0" y="168686"/>
                  <a:pt x="0" y="108695"/>
                </a:cubicBezTo>
                <a:close/>
                <a:moveTo>
                  <a:pt x="108695" y="142663"/>
                </a:moveTo>
                <a:cubicBezTo>
                  <a:pt x="127442" y="142663"/>
                  <a:pt x="142663" y="127442"/>
                  <a:pt x="142663" y="108695"/>
                </a:cubicBezTo>
                <a:cubicBezTo>
                  <a:pt x="142663" y="89948"/>
                  <a:pt x="127442" y="74728"/>
                  <a:pt x="108695" y="74728"/>
                </a:cubicBezTo>
                <a:cubicBezTo>
                  <a:pt x="89948" y="74728"/>
                  <a:pt x="74728" y="89948"/>
                  <a:pt x="74728" y="108695"/>
                </a:cubicBezTo>
                <a:cubicBezTo>
                  <a:pt x="74728" y="127442"/>
                  <a:pt x="89948" y="142663"/>
                  <a:pt x="108695" y="142663"/>
                </a:cubicBezTo>
                <a:close/>
                <a:moveTo>
                  <a:pt x="108695" y="47554"/>
                </a:moveTo>
                <a:cubicBezTo>
                  <a:pt x="142440" y="47554"/>
                  <a:pt x="169837" y="74951"/>
                  <a:pt x="169837" y="108695"/>
                </a:cubicBezTo>
                <a:cubicBezTo>
                  <a:pt x="169837" y="142440"/>
                  <a:pt x="142440" y="169837"/>
                  <a:pt x="108695" y="169837"/>
                </a:cubicBezTo>
                <a:cubicBezTo>
                  <a:pt x="74951" y="169837"/>
                  <a:pt x="47554" y="142440"/>
                  <a:pt x="47554" y="108695"/>
                </a:cubicBezTo>
                <a:cubicBezTo>
                  <a:pt x="47554" y="74951"/>
                  <a:pt x="74951" y="47554"/>
                  <a:pt x="108695" y="47554"/>
                </a:cubicBezTo>
                <a:close/>
                <a:moveTo>
                  <a:pt x="95108" y="108695"/>
                </a:moveTo>
                <a:cubicBezTo>
                  <a:pt x="95108" y="101197"/>
                  <a:pt x="101197" y="95108"/>
                  <a:pt x="108695" y="95108"/>
                </a:cubicBezTo>
                <a:cubicBezTo>
                  <a:pt x="116194" y="95108"/>
                  <a:pt x="122282" y="101197"/>
                  <a:pt x="122282" y="108695"/>
                </a:cubicBezTo>
                <a:cubicBezTo>
                  <a:pt x="122282" y="116194"/>
                  <a:pt x="116194" y="122282"/>
                  <a:pt x="108695" y="122282"/>
                </a:cubicBezTo>
                <a:cubicBezTo>
                  <a:pt x="101197" y="122282"/>
                  <a:pt x="95108" y="116194"/>
                  <a:pt x="95108" y="108695"/>
                </a:cubicBezTo>
                <a:close/>
              </a:path>
            </a:pathLst>
          </a:custGeom>
          <a:solidFill>
            <a:srgbClr val="343A40"/>
          </a:solidFill>
          <a:ln/>
        </p:spPr>
      </p:sp>
      <p:sp>
        <p:nvSpPr>
          <p:cNvPr id="12" name="Text 9"/>
          <p:cNvSpPr/>
          <p:nvPr/>
        </p:nvSpPr>
        <p:spPr>
          <a:xfrm>
            <a:off x="470983" y="2246133"/>
            <a:ext cx="2780790" cy="2173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141" b="1" dirty="0">
                <a:solidFill>
                  <a:srgbClr val="FFC10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明确的目标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475512" y="2499658"/>
            <a:ext cx="2771733" cy="1811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999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清晰的定位与价值主张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4394635" y="1594022"/>
            <a:ext cx="579709" cy="579709"/>
          </a:xfrm>
          <a:custGeom>
            <a:avLst/>
            <a:gdLst/>
            <a:ahLst/>
            <a:cxnLst/>
            <a:rect l="l" t="t" r="r" b="b"/>
            <a:pathLst>
              <a:path w="579709" h="579709">
                <a:moveTo>
                  <a:pt x="289854" y="0"/>
                </a:moveTo>
                <a:lnTo>
                  <a:pt x="289854" y="0"/>
                </a:lnTo>
                <a:cubicBezTo>
                  <a:pt x="449937" y="0"/>
                  <a:pt x="579709" y="129772"/>
                  <a:pt x="579709" y="289854"/>
                </a:cubicBezTo>
                <a:lnTo>
                  <a:pt x="579709" y="289854"/>
                </a:lnTo>
                <a:cubicBezTo>
                  <a:pt x="579709" y="449937"/>
                  <a:pt x="449937" y="579709"/>
                  <a:pt x="289854" y="579709"/>
                </a:cubicBezTo>
                <a:lnTo>
                  <a:pt x="289854" y="579709"/>
                </a:lnTo>
                <a:cubicBezTo>
                  <a:pt x="129772" y="579709"/>
                  <a:pt x="0" y="449937"/>
                  <a:pt x="0" y="289854"/>
                </a:cubicBezTo>
                <a:lnTo>
                  <a:pt x="0" y="289854"/>
                </a:lnTo>
                <a:cubicBezTo>
                  <a:pt x="0" y="129772"/>
                  <a:pt x="129772" y="0"/>
                  <a:pt x="289854" y="0"/>
                </a:cubicBez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15" name="Shape 12"/>
          <p:cNvSpPr/>
          <p:nvPr/>
        </p:nvSpPr>
        <p:spPr>
          <a:xfrm>
            <a:off x="4562146" y="1775102"/>
            <a:ext cx="244565" cy="217391"/>
          </a:xfrm>
          <a:custGeom>
            <a:avLst/>
            <a:gdLst/>
            <a:ahLst/>
            <a:cxnLst/>
            <a:rect l="l" t="t" r="r" b="b"/>
            <a:pathLst>
              <a:path w="244565" h="217391">
                <a:moveTo>
                  <a:pt x="95151" y="41228"/>
                </a:moveTo>
                <a:lnTo>
                  <a:pt x="95151" y="62288"/>
                </a:lnTo>
                <a:lnTo>
                  <a:pt x="95363" y="62500"/>
                </a:lnTo>
                <a:cubicBezTo>
                  <a:pt x="98123" y="27514"/>
                  <a:pt x="127377" y="0"/>
                  <a:pt x="163086" y="0"/>
                </a:cubicBezTo>
                <a:cubicBezTo>
                  <a:pt x="171620" y="0"/>
                  <a:pt x="179814" y="1571"/>
                  <a:pt x="187330" y="4458"/>
                </a:cubicBezTo>
                <a:cubicBezTo>
                  <a:pt x="191576" y="6072"/>
                  <a:pt x="192340" y="11464"/>
                  <a:pt x="189155" y="14691"/>
                </a:cubicBezTo>
                <a:lnTo>
                  <a:pt x="151494" y="52352"/>
                </a:lnTo>
                <a:cubicBezTo>
                  <a:pt x="150220" y="53626"/>
                  <a:pt x="149499" y="55367"/>
                  <a:pt x="149499" y="57150"/>
                </a:cubicBezTo>
                <a:lnTo>
                  <a:pt x="149499" y="74728"/>
                </a:lnTo>
                <a:cubicBezTo>
                  <a:pt x="149499" y="78464"/>
                  <a:pt x="152556" y="81522"/>
                  <a:pt x="156292" y="81522"/>
                </a:cubicBezTo>
                <a:lnTo>
                  <a:pt x="173870" y="81522"/>
                </a:lnTo>
                <a:cubicBezTo>
                  <a:pt x="175653" y="81522"/>
                  <a:pt x="177394" y="80800"/>
                  <a:pt x="178668" y="79526"/>
                </a:cubicBezTo>
                <a:lnTo>
                  <a:pt x="216329" y="41865"/>
                </a:lnTo>
                <a:cubicBezTo>
                  <a:pt x="219556" y="38638"/>
                  <a:pt x="224949" y="39445"/>
                  <a:pt x="226562" y="43690"/>
                </a:cubicBezTo>
                <a:cubicBezTo>
                  <a:pt x="229449" y="51206"/>
                  <a:pt x="231020" y="59400"/>
                  <a:pt x="231020" y="67935"/>
                </a:cubicBezTo>
                <a:cubicBezTo>
                  <a:pt x="231020" y="93665"/>
                  <a:pt x="216711" y="116083"/>
                  <a:pt x="195567" y="127590"/>
                </a:cubicBezTo>
                <a:lnTo>
                  <a:pt x="230171" y="162194"/>
                </a:lnTo>
                <a:cubicBezTo>
                  <a:pt x="238111" y="170134"/>
                  <a:pt x="238111" y="183041"/>
                  <a:pt x="230171" y="191024"/>
                </a:cubicBezTo>
                <a:lnTo>
                  <a:pt x="204653" y="216542"/>
                </a:lnTo>
                <a:cubicBezTo>
                  <a:pt x="196713" y="224481"/>
                  <a:pt x="183806" y="224481"/>
                  <a:pt x="175823" y="216542"/>
                </a:cubicBezTo>
                <a:lnTo>
                  <a:pt x="122325" y="163043"/>
                </a:lnTo>
                <a:cubicBezTo>
                  <a:pt x="110691" y="151409"/>
                  <a:pt x="108059" y="134213"/>
                  <a:pt x="114470" y="120032"/>
                </a:cubicBezTo>
                <a:lnTo>
                  <a:pt x="75959" y="81522"/>
                </a:lnTo>
                <a:lnTo>
                  <a:pt x="54900" y="81522"/>
                </a:lnTo>
                <a:cubicBezTo>
                  <a:pt x="50357" y="81522"/>
                  <a:pt x="46111" y="79271"/>
                  <a:pt x="43606" y="75492"/>
                </a:cubicBezTo>
                <a:lnTo>
                  <a:pt x="9935" y="25008"/>
                </a:lnTo>
                <a:cubicBezTo>
                  <a:pt x="8152" y="22334"/>
                  <a:pt x="8492" y="18724"/>
                  <a:pt x="10785" y="16432"/>
                </a:cubicBezTo>
                <a:lnTo>
                  <a:pt x="30061" y="-2845"/>
                </a:lnTo>
                <a:cubicBezTo>
                  <a:pt x="32354" y="-5138"/>
                  <a:pt x="35920" y="-5477"/>
                  <a:pt x="38638" y="-3694"/>
                </a:cubicBezTo>
                <a:lnTo>
                  <a:pt x="89122" y="29934"/>
                </a:lnTo>
                <a:cubicBezTo>
                  <a:pt x="92901" y="32439"/>
                  <a:pt x="95151" y="36685"/>
                  <a:pt x="95151" y="41228"/>
                </a:cubicBezTo>
                <a:close/>
                <a:moveTo>
                  <a:pt x="91542" y="125934"/>
                </a:moveTo>
                <a:cubicBezTo>
                  <a:pt x="88867" y="141644"/>
                  <a:pt x="92561" y="158245"/>
                  <a:pt x="102751" y="171535"/>
                </a:cubicBezTo>
                <a:lnTo>
                  <a:pt x="62415" y="211829"/>
                </a:lnTo>
                <a:cubicBezTo>
                  <a:pt x="50484" y="223760"/>
                  <a:pt x="31123" y="223760"/>
                  <a:pt x="19192" y="211829"/>
                </a:cubicBezTo>
                <a:cubicBezTo>
                  <a:pt x="7261" y="199898"/>
                  <a:pt x="7261" y="180536"/>
                  <a:pt x="19192" y="168605"/>
                </a:cubicBezTo>
                <a:lnTo>
                  <a:pt x="76681" y="111116"/>
                </a:lnTo>
                <a:lnTo>
                  <a:pt x="91542" y="125976"/>
                </a:lnTo>
                <a:close/>
              </a:path>
            </a:pathLst>
          </a:custGeom>
          <a:solidFill>
            <a:srgbClr val="343A40"/>
          </a:solidFill>
          <a:ln/>
        </p:spPr>
      </p:sp>
      <p:sp>
        <p:nvSpPr>
          <p:cNvPr id="16" name="Text 13"/>
          <p:cNvSpPr/>
          <p:nvPr/>
        </p:nvSpPr>
        <p:spPr>
          <a:xfrm>
            <a:off x="3292029" y="2246133"/>
            <a:ext cx="2780790" cy="2173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141" b="1" dirty="0">
                <a:solidFill>
                  <a:srgbClr val="FFC10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合理的技术选型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3296558" y="2499658"/>
            <a:ext cx="2771733" cy="1811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999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平衡性能与开发效率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7215682" y="1594022"/>
            <a:ext cx="579709" cy="579709"/>
          </a:xfrm>
          <a:custGeom>
            <a:avLst/>
            <a:gdLst/>
            <a:ahLst/>
            <a:cxnLst/>
            <a:rect l="l" t="t" r="r" b="b"/>
            <a:pathLst>
              <a:path w="579709" h="579709">
                <a:moveTo>
                  <a:pt x="289854" y="0"/>
                </a:moveTo>
                <a:lnTo>
                  <a:pt x="289854" y="0"/>
                </a:lnTo>
                <a:cubicBezTo>
                  <a:pt x="449937" y="0"/>
                  <a:pt x="579709" y="129772"/>
                  <a:pt x="579709" y="289854"/>
                </a:cubicBezTo>
                <a:lnTo>
                  <a:pt x="579709" y="289854"/>
                </a:lnTo>
                <a:cubicBezTo>
                  <a:pt x="579709" y="449937"/>
                  <a:pt x="449937" y="579709"/>
                  <a:pt x="289854" y="579709"/>
                </a:cubicBezTo>
                <a:lnTo>
                  <a:pt x="289854" y="579709"/>
                </a:lnTo>
                <a:cubicBezTo>
                  <a:pt x="129772" y="579709"/>
                  <a:pt x="0" y="449937"/>
                  <a:pt x="0" y="289854"/>
                </a:cubicBezTo>
                <a:lnTo>
                  <a:pt x="0" y="289854"/>
                </a:lnTo>
                <a:cubicBezTo>
                  <a:pt x="0" y="129772"/>
                  <a:pt x="129772" y="0"/>
                  <a:pt x="289854" y="0"/>
                </a:cubicBez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19" name="Shape 16"/>
          <p:cNvSpPr/>
          <p:nvPr/>
        </p:nvSpPr>
        <p:spPr>
          <a:xfrm>
            <a:off x="7423953" y="1775102"/>
            <a:ext cx="163043" cy="217391"/>
          </a:xfrm>
          <a:custGeom>
            <a:avLst/>
            <a:gdLst/>
            <a:ahLst/>
            <a:cxnLst/>
            <a:rect l="l" t="t" r="r" b="b"/>
            <a:pathLst>
              <a:path w="163043" h="217391">
                <a:moveTo>
                  <a:pt x="132218" y="13587"/>
                </a:moveTo>
                <a:lnTo>
                  <a:pt x="135869" y="13587"/>
                </a:lnTo>
                <a:cubicBezTo>
                  <a:pt x="150857" y="13587"/>
                  <a:pt x="163043" y="25773"/>
                  <a:pt x="163043" y="40761"/>
                </a:cubicBezTo>
                <a:lnTo>
                  <a:pt x="163043" y="190217"/>
                </a:lnTo>
                <a:cubicBezTo>
                  <a:pt x="163043" y="205205"/>
                  <a:pt x="150857" y="217391"/>
                  <a:pt x="135869" y="217391"/>
                </a:cubicBezTo>
                <a:lnTo>
                  <a:pt x="27174" y="217391"/>
                </a:lnTo>
                <a:cubicBezTo>
                  <a:pt x="12186" y="217391"/>
                  <a:pt x="0" y="205205"/>
                  <a:pt x="0" y="190217"/>
                </a:cubicBezTo>
                <a:lnTo>
                  <a:pt x="0" y="40761"/>
                </a:lnTo>
                <a:cubicBezTo>
                  <a:pt x="0" y="25773"/>
                  <a:pt x="12186" y="13587"/>
                  <a:pt x="27174" y="13587"/>
                </a:cubicBezTo>
                <a:lnTo>
                  <a:pt x="30825" y="13587"/>
                </a:lnTo>
                <a:cubicBezTo>
                  <a:pt x="35496" y="5477"/>
                  <a:pt x="44285" y="0"/>
                  <a:pt x="54348" y="0"/>
                </a:cubicBezTo>
                <a:lnTo>
                  <a:pt x="108695" y="0"/>
                </a:lnTo>
                <a:cubicBezTo>
                  <a:pt x="118758" y="0"/>
                  <a:pt x="127547" y="5477"/>
                  <a:pt x="132218" y="13587"/>
                </a:cubicBezTo>
                <a:close/>
                <a:moveTo>
                  <a:pt x="105299" y="47554"/>
                </a:moveTo>
                <a:cubicBezTo>
                  <a:pt x="110946" y="47554"/>
                  <a:pt x="115489" y="43011"/>
                  <a:pt x="115489" y="37364"/>
                </a:cubicBezTo>
                <a:cubicBezTo>
                  <a:pt x="115489" y="31717"/>
                  <a:pt x="110946" y="27174"/>
                  <a:pt x="105299" y="27174"/>
                </a:cubicBezTo>
                <a:lnTo>
                  <a:pt x="57744" y="27174"/>
                </a:lnTo>
                <a:cubicBezTo>
                  <a:pt x="52097" y="27174"/>
                  <a:pt x="47554" y="31717"/>
                  <a:pt x="47554" y="37364"/>
                </a:cubicBezTo>
                <a:cubicBezTo>
                  <a:pt x="47554" y="43011"/>
                  <a:pt x="52097" y="47554"/>
                  <a:pt x="57744" y="47554"/>
                </a:cubicBezTo>
                <a:lnTo>
                  <a:pt x="105299" y="47554"/>
                </a:lnTo>
                <a:close/>
                <a:moveTo>
                  <a:pt x="117357" y="110691"/>
                </a:moveTo>
                <a:cubicBezTo>
                  <a:pt x="120329" y="105936"/>
                  <a:pt x="118886" y="99652"/>
                  <a:pt x="114130" y="96637"/>
                </a:cubicBezTo>
                <a:cubicBezTo>
                  <a:pt x="109375" y="93622"/>
                  <a:pt x="103091" y="95108"/>
                  <a:pt x="100076" y="99864"/>
                </a:cubicBezTo>
                <a:lnTo>
                  <a:pt x="74006" y="141601"/>
                </a:lnTo>
                <a:lnTo>
                  <a:pt x="62542" y="126316"/>
                </a:lnTo>
                <a:cubicBezTo>
                  <a:pt x="59146" y="121815"/>
                  <a:pt x="52777" y="120881"/>
                  <a:pt x="48276" y="124278"/>
                </a:cubicBezTo>
                <a:cubicBezTo>
                  <a:pt x="43775" y="127675"/>
                  <a:pt x="42841" y="134043"/>
                  <a:pt x="46238" y="138544"/>
                </a:cubicBezTo>
                <a:lnTo>
                  <a:pt x="66618" y="165718"/>
                </a:lnTo>
                <a:cubicBezTo>
                  <a:pt x="68614" y="168393"/>
                  <a:pt x="71841" y="169921"/>
                  <a:pt x="75195" y="169794"/>
                </a:cubicBezTo>
                <a:cubicBezTo>
                  <a:pt x="78549" y="169667"/>
                  <a:pt x="81606" y="167883"/>
                  <a:pt x="83390" y="164996"/>
                </a:cubicBezTo>
                <a:lnTo>
                  <a:pt x="117357" y="110649"/>
                </a:lnTo>
                <a:close/>
              </a:path>
            </a:pathLst>
          </a:custGeom>
          <a:solidFill>
            <a:srgbClr val="343A40"/>
          </a:solidFill>
          <a:ln/>
        </p:spPr>
      </p:sp>
      <p:sp>
        <p:nvSpPr>
          <p:cNvPr id="20" name="Text 17"/>
          <p:cNvSpPr/>
          <p:nvPr/>
        </p:nvSpPr>
        <p:spPr>
          <a:xfrm>
            <a:off x="6113075" y="2246133"/>
            <a:ext cx="2780790" cy="2173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141" b="1" dirty="0">
                <a:solidFill>
                  <a:srgbClr val="FFC10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严格的阶段评审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6117604" y="2499658"/>
            <a:ext cx="2771733" cy="1811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999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确保每个阶段的质量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10036728" y="1594022"/>
            <a:ext cx="579709" cy="579709"/>
          </a:xfrm>
          <a:custGeom>
            <a:avLst/>
            <a:gdLst/>
            <a:ahLst/>
            <a:cxnLst/>
            <a:rect l="l" t="t" r="r" b="b"/>
            <a:pathLst>
              <a:path w="579709" h="579709">
                <a:moveTo>
                  <a:pt x="289854" y="0"/>
                </a:moveTo>
                <a:lnTo>
                  <a:pt x="289854" y="0"/>
                </a:lnTo>
                <a:cubicBezTo>
                  <a:pt x="449937" y="0"/>
                  <a:pt x="579709" y="129772"/>
                  <a:pt x="579709" y="289854"/>
                </a:cubicBezTo>
                <a:lnTo>
                  <a:pt x="579709" y="289854"/>
                </a:lnTo>
                <a:cubicBezTo>
                  <a:pt x="579709" y="449937"/>
                  <a:pt x="449937" y="579709"/>
                  <a:pt x="289854" y="579709"/>
                </a:cubicBezTo>
                <a:lnTo>
                  <a:pt x="289854" y="579709"/>
                </a:lnTo>
                <a:cubicBezTo>
                  <a:pt x="129772" y="579709"/>
                  <a:pt x="0" y="449937"/>
                  <a:pt x="0" y="289854"/>
                </a:cubicBezTo>
                <a:lnTo>
                  <a:pt x="0" y="289854"/>
                </a:lnTo>
                <a:cubicBezTo>
                  <a:pt x="0" y="129772"/>
                  <a:pt x="129772" y="0"/>
                  <a:pt x="289854" y="0"/>
                </a:cubicBez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23" name="Shape 20"/>
          <p:cNvSpPr/>
          <p:nvPr/>
        </p:nvSpPr>
        <p:spPr>
          <a:xfrm>
            <a:off x="10204239" y="1775102"/>
            <a:ext cx="244565" cy="217391"/>
          </a:xfrm>
          <a:custGeom>
            <a:avLst/>
            <a:gdLst/>
            <a:ahLst/>
            <a:cxnLst/>
            <a:rect l="l" t="t" r="r" b="b"/>
            <a:pathLst>
              <a:path w="244565" h="217391">
                <a:moveTo>
                  <a:pt x="114173" y="36175"/>
                </a:moveTo>
                <a:lnTo>
                  <a:pt x="64665" y="91202"/>
                </a:lnTo>
                <a:cubicBezTo>
                  <a:pt x="62712" y="93368"/>
                  <a:pt x="62797" y="96722"/>
                  <a:pt x="64878" y="98802"/>
                </a:cubicBezTo>
                <a:cubicBezTo>
                  <a:pt x="77828" y="111752"/>
                  <a:pt x="98845" y="111752"/>
                  <a:pt x="111795" y="98802"/>
                </a:cubicBezTo>
                <a:lnTo>
                  <a:pt x="125297" y="85300"/>
                </a:lnTo>
                <a:cubicBezTo>
                  <a:pt x="127080" y="83517"/>
                  <a:pt x="129331" y="82541"/>
                  <a:pt x="131623" y="82371"/>
                </a:cubicBezTo>
                <a:cubicBezTo>
                  <a:pt x="134511" y="82116"/>
                  <a:pt x="137483" y="83093"/>
                  <a:pt x="139691" y="85300"/>
                </a:cubicBezTo>
                <a:lnTo>
                  <a:pt x="214673" y="159646"/>
                </a:lnTo>
                <a:lnTo>
                  <a:pt x="244565" y="135869"/>
                </a:lnTo>
                <a:lnTo>
                  <a:pt x="244565" y="13587"/>
                </a:lnTo>
                <a:lnTo>
                  <a:pt x="197010" y="40761"/>
                </a:lnTo>
                <a:lnTo>
                  <a:pt x="186905" y="34010"/>
                </a:lnTo>
                <a:cubicBezTo>
                  <a:pt x="180197" y="29552"/>
                  <a:pt x="172342" y="27174"/>
                  <a:pt x="164274" y="27174"/>
                </a:cubicBezTo>
                <a:lnTo>
                  <a:pt x="134383" y="27174"/>
                </a:lnTo>
                <a:cubicBezTo>
                  <a:pt x="133916" y="27174"/>
                  <a:pt x="133407" y="27174"/>
                  <a:pt x="132940" y="27216"/>
                </a:cubicBezTo>
                <a:cubicBezTo>
                  <a:pt x="125764" y="27598"/>
                  <a:pt x="119013" y="30825"/>
                  <a:pt x="114173" y="36175"/>
                </a:cubicBezTo>
                <a:close/>
                <a:moveTo>
                  <a:pt x="49507" y="77573"/>
                </a:moveTo>
                <a:lnTo>
                  <a:pt x="94854" y="27174"/>
                </a:lnTo>
                <a:lnTo>
                  <a:pt x="78040" y="27174"/>
                </a:lnTo>
                <a:cubicBezTo>
                  <a:pt x="67213" y="27174"/>
                  <a:pt x="56853" y="31462"/>
                  <a:pt x="49210" y="39105"/>
                </a:cubicBezTo>
                <a:lnTo>
                  <a:pt x="47554" y="40761"/>
                </a:lnTo>
                <a:lnTo>
                  <a:pt x="0" y="13587"/>
                </a:lnTo>
                <a:lnTo>
                  <a:pt x="0" y="135869"/>
                </a:lnTo>
                <a:lnTo>
                  <a:pt x="66406" y="191193"/>
                </a:lnTo>
                <a:cubicBezTo>
                  <a:pt x="76172" y="199346"/>
                  <a:pt x="88485" y="203804"/>
                  <a:pt x="101180" y="203804"/>
                </a:cubicBezTo>
                <a:lnTo>
                  <a:pt x="107846" y="203804"/>
                </a:lnTo>
                <a:lnTo>
                  <a:pt x="104874" y="200832"/>
                </a:lnTo>
                <a:cubicBezTo>
                  <a:pt x="100883" y="196841"/>
                  <a:pt x="100883" y="190387"/>
                  <a:pt x="104874" y="186438"/>
                </a:cubicBezTo>
                <a:cubicBezTo>
                  <a:pt x="108865" y="182489"/>
                  <a:pt x="115319" y="182447"/>
                  <a:pt x="119268" y="186438"/>
                </a:cubicBezTo>
                <a:lnTo>
                  <a:pt x="136676" y="203846"/>
                </a:lnTo>
                <a:lnTo>
                  <a:pt x="140497" y="203846"/>
                </a:lnTo>
                <a:cubicBezTo>
                  <a:pt x="148607" y="203846"/>
                  <a:pt x="156547" y="202021"/>
                  <a:pt x="163765" y="198624"/>
                </a:cubicBezTo>
                <a:lnTo>
                  <a:pt x="152428" y="187245"/>
                </a:lnTo>
                <a:cubicBezTo>
                  <a:pt x="148437" y="183254"/>
                  <a:pt x="148437" y="176800"/>
                  <a:pt x="152428" y="172851"/>
                </a:cubicBezTo>
                <a:cubicBezTo>
                  <a:pt x="156419" y="168902"/>
                  <a:pt x="162873" y="168860"/>
                  <a:pt x="166822" y="172851"/>
                </a:cubicBezTo>
                <a:lnTo>
                  <a:pt x="180409" y="186438"/>
                </a:lnTo>
                <a:lnTo>
                  <a:pt x="187839" y="179008"/>
                </a:lnTo>
                <a:cubicBezTo>
                  <a:pt x="191618" y="175229"/>
                  <a:pt x="192722" y="169752"/>
                  <a:pt x="191066" y="164954"/>
                </a:cubicBezTo>
                <a:lnTo>
                  <a:pt x="132515" y="106870"/>
                </a:lnTo>
                <a:lnTo>
                  <a:pt x="126189" y="113196"/>
                </a:lnTo>
                <a:cubicBezTo>
                  <a:pt x="105256" y="134128"/>
                  <a:pt x="71374" y="134128"/>
                  <a:pt x="50441" y="113196"/>
                </a:cubicBezTo>
                <a:cubicBezTo>
                  <a:pt x="40676" y="103430"/>
                  <a:pt x="40294" y="87763"/>
                  <a:pt x="49507" y="77530"/>
                </a:cubicBezTo>
                <a:close/>
              </a:path>
            </a:pathLst>
          </a:custGeom>
          <a:solidFill>
            <a:srgbClr val="343A40"/>
          </a:solidFill>
          <a:ln/>
        </p:spPr>
      </p:sp>
      <p:sp>
        <p:nvSpPr>
          <p:cNvPr id="24" name="Text 21"/>
          <p:cNvSpPr/>
          <p:nvPr/>
        </p:nvSpPr>
        <p:spPr>
          <a:xfrm>
            <a:off x="8934121" y="2246133"/>
            <a:ext cx="2780790" cy="2173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141" b="1" dirty="0">
                <a:solidFill>
                  <a:srgbClr val="FFC10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紧密的团队协作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8938650" y="2499658"/>
            <a:ext cx="2771733" cy="1811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999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高效沟通与互相支持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362318" y="2951488"/>
            <a:ext cx="5679334" cy="2951912"/>
          </a:xfrm>
          <a:custGeom>
            <a:avLst/>
            <a:gdLst/>
            <a:ahLst/>
            <a:cxnLst/>
            <a:rect l="l" t="t" r="r" b="b"/>
            <a:pathLst>
              <a:path w="5679334" h="2951912">
                <a:moveTo>
                  <a:pt x="34273" y="0"/>
                </a:moveTo>
                <a:lnTo>
                  <a:pt x="5645061" y="0"/>
                </a:lnTo>
                <a:cubicBezTo>
                  <a:pt x="5663990" y="0"/>
                  <a:pt x="5679334" y="15345"/>
                  <a:pt x="5679334" y="34273"/>
                </a:cubicBezTo>
                <a:lnTo>
                  <a:pt x="5679334" y="2843223"/>
                </a:lnTo>
                <a:cubicBezTo>
                  <a:pt x="5679334" y="2903250"/>
                  <a:pt x="5630672" y="2951912"/>
                  <a:pt x="5570645" y="2951912"/>
                </a:cubicBezTo>
                <a:lnTo>
                  <a:pt x="108689" y="2951912"/>
                </a:lnTo>
                <a:cubicBezTo>
                  <a:pt x="48662" y="2951912"/>
                  <a:pt x="0" y="2903250"/>
                  <a:pt x="0" y="2843223"/>
                </a:cubicBezTo>
                <a:lnTo>
                  <a:pt x="0" y="34273"/>
                </a:lnTo>
                <a:cubicBezTo>
                  <a:pt x="0" y="15357"/>
                  <a:pt x="15357" y="0"/>
                  <a:pt x="34273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blurRad="135869" dist="90579" dir="5400000" algn="bl" rotWithShape="0">
              <a:srgbClr val="000000">
                <a:alpha val="10196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362318" y="2951488"/>
            <a:ext cx="5679334" cy="34273"/>
          </a:xfrm>
          <a:custGeom>
            <a:avLst/>
            <a:gdLst/>
            <a:ahLst/>
            <a:cxnLst/>
            <a:rect l="l" t="t" r="r" b="b"/>
            <a:pathLst>
              <a:path w="5679334" h="34273">
                <a:moveTo>
                  <a:pt x="34273" y="0"/>
                </a:moveTo>
                <a:lnTo>
                  <a:pt x="5645061" y="0"/>
                </a:lnTo>
                <a:cubicBezTo>
                  <a:pt x="5663990" y="0"/>
                  <a:pt x="5679334" y="15345"/>
                  <a:pt x="5679334" y="34273"/>
                </a:cubicBezTo>
                <a:lnTo>
                  <a:pt x="5679334" y="34273"/>
                </a:lnTo>
                <a:lnTo>
                  <a:pt x="0" y="34273"/>
                </a:lnTo>
                <a:lnTo>
                  <a:pt x="0" y="34273"/>
                </a:lnTo>
                <a:cubicBezTo>
                  <a:pt x="0" y="15357"/>
                  <a:pt x="15357" y="0"/>
                  <a:pt x="34273" y="0"/>
                </a:cubicBez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28" name="Shape 25"/>
          <p:cNvSpPr/>
          <p:nvPr/>
        </p:nvSpPr>
        <p:spPr>
          <a:xfrm>
            <a:off x="534388" y="3149707"/>
            <a:ext cx="217391" cy="217391"/>
          </a:xfrm>
          <a:custGeom>
            <a:avLst/>
            <a:gdLst/>
            <a:ahLst/>
            <a:cxnLst/>
            <a:rect l="l" t="t" r="r" b="b"/>
            <a:pathLst>
              <a:path w="217391" h="217391">
                <a:moveTo>
                  <a:pt x="54348" y="135869"/>
                </a:moveTo>
                <a:lnTo>
                  <a:pt x="10402" y="135869"/>
                </a:lnTo>
                <a:cubicBezTo>
                  <a:pt x="-170" y="135869"/>
                  <a:pt x="-6666" y="124363"/>
                  <a:pt x="-1231" y="115277"/>
                </a:cubicBezTo>
                <a:lnTo>
                  <a:pt x="21230" y="77828"/>
                </a:lnTo>
                <a:cubicBezTo>
                  <a:pt x="24924" y="71671"/>
                  <a:pt x="31547" y="67935"/>
                  <a:pt x="38723" y="67935"/>
                </a:cubicBezTo>
                <a:lnTo>
                  <a:pt x="79059" y="67935"/>
                </a:lnTo>
                <a:cubicBezTo>
                  <a:pt x="111370" y="13205"/>
                  <a:pt x="159561" y="10445"/>
                  <a:pt x="191788" y="15158"/>
                </a:cubicBezTo>
                <a:cubicBezTo>
                  <a:pt x="197223" y="15965"/>
                  <a:pt x="201469" y="20211"/>
                  <a:pt x="202233" y="25603"/>
                </a:cubicBezTo>
                <a:cubicBezTo>
                  <a:pt x="206946" y="57829"/>
                  <a:pt x="204186" y="106020"/>
                  <a:pt x="149456" y="138332"/>
                </a:cubicBezTo>
                <a:lnTo>
                  <a:pt x="149456" y="178668"/>
                </a:lnTo>
                <a:cubicBezTo>
                  <a:pt x="149456" y="185844"/>
                  <a:pt x="145720" y="192467"/>
                  <a:pt x="139563" y="196161"/>
                </a:cubicBezTo>
                <a:lnTo>
                  <a:pt x="102114" y="218622"/>
                </a:lnTo>
                <a:cubicBezTo>
                  <a:pt x="93070" y="224057"/>
                  <a:pt x="81522" y="217518"/>
                  <a:pt x="81522" y="206988"/>
                </a:cubicBezTo>
                <a:lnTo>
                  <a:pt x="81522" y="163043"/>
                </a:lnTo>
                <a:cubicBezTo>
                  <a:pt x="81522" y="148055"/>
                  <a:pt x="69336" y="135869"/>
                  <a:pt x="54348" y="135869"/>
                </a:cubicBezTo>
                <a:lnTo>
                  <a:pt x="54305" y="135869"/>
                </a:lnTo>
                <a:close/>
                <a:moveTo>
                  <a:pt x="169837" y="67935"/>
                </a:moveTo>
                <a:cubicBezTo>
                  <a:pt x="169837" y="56686"/>
                  <a:pt x="160704" y="47554"/>
                  <a:pt x="149456" y="47554"/>
                </a:cubicBezTo>
                <a:cubicBezTo>
                  <a:pt x="138208" y="47554"/>
                  <a:pt x="129076" y="56686"/>
                  <a:pt x="129076" y="67935"/>
                </a:cubicBezTo>
                <a:cubicBezTo>
                  <a:pt x="129076" y="79183"/>
                  <a:pt x="138208" y="88315"/>
                  <a:pt x="149456" y="88315"/>
                </a:cubicBezTo>
                <a:cubicBezTo>
                  <a:pt x="160704" y="88315"/>
                  <a:pt x="169837" y="79183"/>
                  <a:pt x="169837" y="67935"/>
                </a:cubicBez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29" name="Text 26"/>
          <p:cNvSpPr/>
          <p:nvPr/>
        </p:nvSpPr>
        <p:spPr>
          <a:xfrm>
            <a:off x="887587" y="3113520"/>
            <a:ext cx="978259" cy="289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712" b="1" dirty="0">
                <a:solidFill>
                  <a:srgbClr val="343A40"/>
                </a:solidFill>
                <a:latin typeface="阿里妈妈数黑体" pitchFamily="34" charset="0"/>
                <a:ea typeface="阿里妈妈数黑体" pitchFamily="34" charset="-122"/>
                <a:cs typeface="阿里妈妈数黑体" pitchFamily="34" charset="-120"/>
              </a:rPr>
              <a:t>未来展望</a:t>
            </a:r>
            <a:endParaRPr lang="en-US" sz="1600" dirty="0"/>
          </a:p>
        </p:txBody>
      </p:sp>
      <p:sp>
        <p:nvSpPr>
          <p:cNvPr id="30" name="Shape 27"/>
          <p:cNvSpPr/>
          <p:nvPr/>
        </p:nvSpPr>
        <p:spPr>
          <a:xfrm>
            <a:off x="507215" y="3512025"/>
            <a:ext cx="289854" cy="289854"/>
          </a:xfrm>
          <a:custGeom>
            <a:avLst/>
            <a:gdLst/>
            <a:ahLst/>
            <a:cxnLst/>
            <a:rect l="l" t="t" r="r" b="b"/>
            <a:pathLst>
              <a:path w="289854" h="289854">
                <a:moveTo>
                  <a:pt x="144927" y="0"/>
                </a:moveTo>
                <a:lnTo>
                  <a:pt x="144927" y="0"/>
                </a:lnTo>
                <a:cubicBezTo>
                  <a:pt x="224968" y="0"/>
                  <a:pt x="289854" y="64886"/>
                  <a:pt x="289854" y="144927"/>
                </a:cubicBezTo>
                <a:lnTo>
                  <a:pt x="289854" y="144927"/>
                </a:lnTo>
                <a:cubicBezTo>
                  <a:pt x="289854" y="224968"/>
                  <a:pt x="224968" y="289854"/>
                  <a:pt x="144927" y="289854"/>
                </a:cubicBezTo>
                <a:lnTo>
                  <a:pt x="144927" y="289854"/>
                </a:lnTo>
                <a:cubicBezTo>
                  <a:pt x="64886" y="289854"/>
                  <a:pt x="0" y="224968"/>
                  <a:pt x="0" y="144927"/>
                </a:cubicBezTo>
                <a:lnTo>
                  <a:pt x="0" y="144927"/>
                </a:lnTo>
                <a:cubicBezTo>
                  <a:pt x="0" y="64886"/>
                  <a:pt x="64886" y="0"/>
                  <a:pt x="144927" y="0"/>
                </a:cubicBez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31" name="Text 28"/>
          <p:cNvSpPr/>
          <p:nvPr/>
        </p:nvSpPr>
        <p:spPr>
          <a:xfrm>
            <a:off x="475512" y="3512025"/>
            <a:ext cx="353260" cy="289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999" b="1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1</a:t>
            </a:r>
            <a:endParaRPr lang="en-US" sz="1600" dirty="0"/>
          </a:p>
        </p:txBody>
      </p:sp>
      <p:sp>
        <p:nvSpPr>
          <p:cNvPr id="32" name="Text 29"/>
          <p:cNvSpPr/>
          <p:nvPr/>
        </p:nvSpPr>
        <p:spPr>
          <a:xfrm>
            <a:off x="905642" y="3512025"/>
            <a:ext cx="2690211" cy="2536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84" b="1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支持流式输出</a:t>
            </a:r>
            <a:endParaRPr lang="en-US" sz="1600" dirty="0"/>
          </a:p>
        </p:txBody>
      </p:sp>
      <p:sp>
        <p:nvSpPr>
          <p:cNvPr id="33" name="Text 30"/>
          <p:cNvSpPr/>
          <p:nvPr/>
        </p:nvSpPr>
        <p:spPr>
          <a:xfrm>
            <a:off x="905642" y="3801738"/>
            <a:ext cx="2681153" cy="2173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41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实现大模型的流式响应，</a:t>
            </a:r>
            <a:r>
              <a:rPr lang="en-US" sz="1141" dirty="0">
                <a:solidFill>
                  <a:srgbClr val="343A40"/>
                </a:solidFill>
                <a:highlight>
                  <a:srgbClr val="FFC107">
                    <a:alpha val="20000"/>
                  </a:srgbClr>
                </a:highlight>
                <a:latin typeface="MiSans" pitchFamily="34" charset="0"/>
                <a:ea typeface="MiSans" pitchFamily="34" charset="-122"/>
                <a:cs typeface="MiSans" pitchFamily="34" charset="-120"/>
              </a:rPr>
              <a:t> 提升用户体验 </a:t>
            </a:r>
            <a:r>
              <a:rPr lang="en-US" sz="1141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。</a:t>
            </a:r>
            <a:endParaRPr lang="en-US" sz="1600" dirty="0"/>
          </a:p>
        </p:txBody>
      </p:sp>
      <p:sp>
        <p:nvSpPr>
          <p:cNvPr id="34" name="Shape 31"/>
          <p:cNvSpPr/>
          <p:nvPr/>
        </p:nvSpPr>
        <p:spPr>
          <a:xfrm>
            <a:off x="507215" y="4091531"/>
            <a:ext cx="289854" cy="289854"/>
          </a:xfrm>
          <a:custGeom>
            <a:avLst/>
            <a:gdLst/>
            <a:ahLst/>
            <a:cxnLst/>
            <a:rect l="l" t="t" r="r" b="b"/>
            <a:pathLst>
              <a:path w="289854" h="289854">
                <a:moveTo>
                  <a:pt x="144927" y="0"/>
                </a:moveTo>
                <a:lnTo>
                  <a:pt x="144927" y="0"/>
                </a:lnTo>
                <a:cubicBezTo>
                  <a:pt x="224968" y="0"/>
                  <a:pt x="289854" y="64886"/>
                  <a:pt x="289854" y="144927"/>
                </a:cubicBezTo>
                <a:lnTo>
                  <a:pt x="289854" y="144927"/>
                </a:lnTo>
                <a:cubicBezTo>
                  <a:pt x="289854" y="224968"/>
                  <a:pt x="224968" y="289854"/>
                  <a:pt x="144927" y="289854"/>
                </a:cubicBezTo>
                <a:lnTo>
                  <a:pt x="144927" y="289854"/>
                </a:lnTo>
                <a:cubicBezTo>
                  <a:pt x="64886" y="289854"/>
                  <a:pt x="0" y="224968"/>
                  <a:pt x="0" y="144927"/>
                </a:cubicBezTo>
                <a:lnTo>
                  <a:pt x="0" y="144927"/>
                </a:lnTo>
                <a:cubicBezTo>
                  <a:pt x="0" y="64886"/>
                  <a:pt x="64886" y="0"/>
                  <a:pt x="144927" y="0"/>
                </a:cubicBez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35" name="Text 32"/>
          <p:cNvSpPr/>
          <p:nvPr/>
        </p:nvSpPr>
        <p:spPr>
          <a:xfrm>
            <a:off x="475512" y="4091531"/>
            <a:ext cx="353260" cy="289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999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2</a:t>
            </a:r>
            <a:endParaRPr lang="en-US" sz="1600" dirty="0"/>
          </a:p>
        </p:txBody>
      </p:sp>
      <p:sp>
        <p:nvSpPr>
          <p:cNvPr id="36" name="Text 33"/>
          <p:cNvSpPr/>
          <p:nvPr/>
        </p:nvSpPr>
        <p:spPr>
          <a:xfrm>
            <a:off x="905642" y="4091531"/>
            <a:ext cx="2545284" cy="2536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84" b="1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增加文件处理</a:t>
            </a:r>
            <a:endParaRPr lang="en-US" sz="1600" dirty="0"/>
          </a:p>
        </p:txBody>
      </p:sp>
      <p:sp>
        <p:nvSpPr>
          <p:cNvPr id="37" name="Text 34"/>
          <p:cNvSpPr/>
          <p:nvPr/>
        </p:nvSpPr>
        <p:spPr>
          <a:xfrm>
            <a:off x="905642" y="4381252"/>
            <a:ext cx="2536226" cy="2173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41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支持文档上传与处理，扩展应用场景。</a:t>
            </a:r>
            <a:endParaRPr lang="en-US" sz="1600" dirty="0"/>
          </a:p>
        </p:txBody>
      </p:sp>
      <p:sp>
        <p:nvSpPr>
          <p:cNvPr id="38" name="Shape 35"/>
          <p:cNvSpPr/>
          <p:nvPr/>
        </p:nvSpPr>
        <p:spPr>
          <a:xfrm>
            <a:off x="507215" y="4671045"/>
            <a:ext cx="289854" cy="289854"/>
          </a:xfrm>
          <a:custGeom>
            <a:avLst/>
            <a:gdLst/>
            <a:ahLst/>
            <a:cxnLst/>
            <a:rect l="l" t="t" r="r" b="b"/>
            <a:pathLst>
              <a:path w="289854" h="289854">
                <a:moveTo>
                  <a:pt x="144927" y="0"/>
                </a:moveTo>
                <a:lnTo>
                  <a:pt x="144927" y="0"/>
                </a:lnTo>
                <a:cubicBezTo>
                  <a:pt x="224968" y="0"/>
                  <a:pt x="289854" y="64886"/>
                  <a:pt x="289854" y="144927"/>
                </a:cubicBezTo>
                <a:lnTo>
                  <a:pt x="289854" y="144927"/>
                </a:lnTo>
                <a:cubicBezTo>
                  <a:pt x="289854" y="224968"/>
                  <a:pt x="224968" y="289854"/>
                  <a:pt x="144927" y="289854"/>
                </a:cubicBezTo>
                <a:lnTo>
                  <a:pt x="144927" y="289854"/>
                </a:lnTo>
                <a:cubicBezTo>
                  <a:pt x="64886" y="289854"/>
                  <a:pt x="0" y="224968"/>
                  <a:pt x="0" y="144927"/>
                </a:cubicBezTo>
                <a:lnTo>
                  <a:pt x="0" y="144927"/>
                </a:lnTo>
                <a:cubicBezTo>
                  <a:pt x="0" y="64886"/>
                  <a:pt x="64886" y="0"/>
                  <a:pt x="144927" y="0"/>
                </a:cubicBezTo>
                <a:close/>
              </a:path>
            </a:pathLst>
          </a:custGeom>
          <a:solidFill>
            <a:srgbClr val="6C757D"/>
          </a:solidFill>
          <a:ln/>
        </p:spPr>
      </p:sp>
      <p:sp>
        <p:nvSpPr>
          <p:cNvPr id="39" name="Text 36"/>
          <p:cNvSpPr/>
          <p:nvPr/>
        </p:nvSpPr>
        <p:spPr>
          <a:xfrm>
            <a:off x="475512" y="4671045"/>
            <a:ext cx="353260" cy="289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999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3</a:t>
            </a:r>
            <a:endParaRPr lang="en-US" sz="1600" dirty="0"/>
          </a:p>
        </p:txBody>
      </p:sp>
      <p:sp>
        <p:nvSpPr>
          <p:cNvPr id="40" name="Text 37"/>
          <p:cNvSpPr/>
          <p:nvPr/>
        </p:nvSpPr>
        <p:spPr>
          <a:xfrm>
            <a:off x="905642" y="4671045"/>
            <a:ext cx="2581516" cy="2536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84" b="1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优化移动端体验</a:t>
            </a:r>
            <a:endParaRPr lang="en-US" sz="1600" dirty="0"/>
          </a:p>
        </p:txBody>
      </p:sp>
      <p:sp>
        <p:nvSpPr>
          <p:cNvPr id="41" name="Text 38"/>
          <p:cNvSpPr/>
          <p:nvPr/>
        </p:nvSpPr>
        <p:spPr>
          <a:xfrm>
            <a:off x="905642" y="4960758"/>
            <a:ext cx="2572458" cy="2173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41" dirty="0" err="1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开发</a:t>
            </a:r>
            <a:r>
              <a:rPr lang="zh-CN" altLang="en-US" sz="1141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适应</a:t>
            </a:r>
            <a:r>
              <a:rPr lang="en-US" sz="1141" dirty="0" err="1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移动</a:t>
            </a:r>
            <a:r>
              <a:rPr lang="zh-CN" altLang="en-US" sz="1141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端的界面</a:t>
            </a:r>
            <a:r>
              <a:rPr lang="en-US" sz="1141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，</a:t>
            </a:r>
            <a:r>
              <a:rPr lang="en-US" sz="1141" dirty="0" err="1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提供更好支持</a:t>
            </a:r>
            <a:r>
              <a:rPr lang="en-US" sz="1141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。</a:t>
            </a:r>
            <a:endParaRPr lang="en-US" sz="1600" dirty="0"/>
          </a:p>
        </p:txBody>
      </p:sp>
      <p:sp>
        <p:nvSpPr>
          <p:cNvPr id="42" name="Shape 39"/>
          <p:cNvSpPr/>
          <p:nvPr/>
        </p:nvSpPr>
        <p:spPr>
          <a:xfrm>
            <a:off x="507215" y="5250550"/>
            <a:ext cx="289854" cy="289854"/>
          </a:xfrm>
          <a:custGeom>
            <a:avLst/>
            <a:gdLst/>
            <a:ahLst/>
            <a:cxnLst/>
            <a:rect l="l" t="t" r="r" b="b"/>
            <a:pathLst>
              <a:path w="289854" h="289854">
                <a:moveTo>
                  <a:pt x="144927" y="0"/>
                </a:moveTo>
                <a:lnTo>
                  <a:pt x="144927" y="0"/>
                </a:lnTo>
                <a:cubicBezTo>
                  <a:pt x="224968" y="0"/>
                  <a:pt x="289854" y="64886"/>
                  <a:pt x="289854" y="144927"/>
                </a:cubicBezTo>
                <a:lnTo>
                  <a:pt x="289854" y="144927"/>
                </a:lnTo>
                <a:cubicBezTo>
                  <a:pt x="289854" y="224968"/>
                  <a:pt x="224968" y="289854"/>
                  <a:pt x="144927" y="289854"/>
                </a:cubicBezTo>
                <a:lnTo>
                  <a:pt x="144927" y="289854"/>
                </a:lnTo>
                <a:cubicBezTo>
                  <a:pt x="64886" y="289854"/>
                  <a:pt x="0" y="224968"/>
                  <a:pt x="0" y="144927"/>
                </a:cubicBezTo>
                <a:lnTo>
                  <a:pt x="0" y="144927"/>
                </a:lnTo>
                <a:cubicBezTo>
                  <a:pt x="0" y="64886"/>
                  <a:pt x="64886" y="0"/>
                  <a:pt x="144927" y="0"/>
                </a:cubicBezTo>
                <a:close/>
              </a:path>
            </a:pathLst>
          </a:custGeom>
          <a:solidFill>
            <a:srgbClr val="343A40"/>
          </a:solidFill>
          <a:ln/>
        </p:spPr>
      </p:sp>
      <p:sp>
        <p:nvSpPr>
          <p:cNvPr id="43" name="Text 40"/>
          <p:cNvSpPr/>
          <p:nvPr/>
        </p:nvSpPr>
        <p:spPr>
          <a:xfrm>
            <a:off x="475512" y="5250550"/>
            <a:ext cx="353260" cy="289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999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4</a:t>
            </a:r>
            <a:endParaRPr lang="en-US" sz="1600" dirty="0"/>
          </a:p>
        </p:txBody>
      </p:sp>
      <p:sp>
        <p:nvSpPr>
          <p:cNvPr id="44" name="Text 41"/>
          <p:cNvSpPr/>
          <p:nvPr/>
        </p:nvSpPr>
        <p:spPr>
          <a:xfrm>
            <a:off x="905642" y="5250550"/>
            <a:ext cx="2690211" cy="2536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84" b="1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搭建CI/CD流水线</a:t>
            </a:r>
            <a:endParaRPr lang="en-US" sz="1600" dirty="0"/>
          </a:p>
        </p:txBody>
      </p:sp>
      <p:sp>
        <p:nvSpPr>
          <p:cNvPr id="45" name="Text 42"/>
          <p:cNvSpPr/>
          <p:nvPr/>
        </p:nvSpPr>
        <p:spPr>
          <a:xfrm>
            <a:off x="905642" y="5540272"/>
            <a:ext cx="2681153" cy="2173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41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实现自动化测试与部署，提升开发效率。</a:t>
            </a:r>
            <a:endParaRPr lang="en-US" sz="1600" dirty="0"/>
          </a:p>
        </p:txBody>
      </p:sp>
      <p:sp>
        <p:nvSpPr>
          <p:cNvPr id="46" name="Shape 43"/>
          <p:cNvSpPr/>
          <p:nvPr/>
        </p:nvSpPr>
        <p:spPr>
          <a:xfrm>
            <a:off x="6149307" y="2934351"/>
            <a:ext cx="5679334" cy="2971007"/>
          </a:xfrm>
          <a:custGeom>
            <a:avLst/>
            <a:gdLst/>
            <a:ahLst/>
            <a:cxnLst/>
            <a:rect l="l" t="t" r="r" b="b"/>
            <a:pathLst>
              <a:path w="5679334" h="2971007">
                <a:moveTo>
                  <a:pt x="108709" y="0"/>
                </a:moveTo>
                <a:lnTo>
                  <a:pt x="5570625" y="0"/>
                </a:lnTo>
                <a:cubicBezTo>
                  <a:pt x="5630664" y="0"/>
                  <a:pt x="5679334" y="48671"/>
                  <a:pt x="5679334" y="108709"/>
                </a:cubicBezTo>
                <a:lnTo>
                  <a:pt x="5679334" y="2862298"/>
                </a:lnTo>
                <a:cubicBezTo>
                  <a:pt x="5679334" y="2922296"/>
                  <a:pt x="5630623" y="2971007"/>
                  <a:pt x="5570625" y="2971007"/>
                </a:cubicBezTo>
                <a:lnTo>
                  <a:pt x="108709" y="2971007"/>
                </a:lnTo>
                <a:cubicBezTo>
                  <a:pt x="48671" y="2971007"/>
                  <a:pt x="0" y="2922337"/>
                  <a:pt x="0" y="2862298"/>
                </a:cubicBezTo>
                <a:lnTo>
                  <a:pt x="0" y="108709"/>
                </a:lnTo>
                <a:cubicBezTo>
                  <a:pt x="0" y="48711"/>
                  <a:pt x="48711" y="0"/>
                  <a:pt x="108709" y="0"/>
                </a:cubicBezTo>
                <a:close/>
              </a:path>
            </a:pathLst>
          </a:custGeom>
          <a:solidFill>
            <a:srgbClr val="0056B3"/>
          </a:solidFill>
          <a:ln/>
          <a:effectLst>
            <a:outerShdw blurRad="135869" dist="90579" dir="5400000" algn="bl" rotWithShape="0">
              <a:srgbClr val="000000">
                <a:alpha val="10196"/>
              </a:srgbClr>
            </a:outerShdw>
          </a:effectLst>
        </p:spPr>
      </p:sp>
      <p:sp>
        <p:nvSpPr>
          <p:cNvPr id="47" name="Shape 44"/>
          <p:cNvSpPr/>
          <p:nvPr/>
        </p:nvSpPr>
        <p:spPr>
          <a:xfrm>
            <a:off x="6321377" y="3803728"/>
            <a:ext cx="217391" cy="217391"/>
          </a:xfrm>
          <a:custGeom>
            <a:avLst/>
            <a:gdLst/>
            <a:ahLst/>
            <a:cxnLst/>
            <a:rect l="l" t="t" r="r" b="b"/>
            <a:pathLst>
              <a:path w="217391" h="217391">
                <a:moveTo>
                  <a:pt x="102327" y="36982"/>
                </a:moveTo>
                <a:lnTo>
                  <a:pt x="108695" y="45771"/>
                </a:lnTo>
                <a:lnTo>
                  <a:pt x="115064" y="36982"/>
                </a:lnTo>
                <a:cubicBezTo>
                  <a:pt x="125679" y="22291"/>
                  <a:pt x="142748" y="13587"/>
                  <a:pt x="160878" y="13587"/>
                </a:cubicBezTo>
                <a:cubicBezTo>
                  <a:pt x="192085" y="13587"/>
                  <a:pt x="217391" y="38893"/>
                  <a:pt x="217391" y="70100"/>
                </a:cubicBezTo>
                <a:lnTo>
                  <a:pt x="217391" y="71204"/>
                </a:lnTo>
                <a:cubicBezTo>
                  <a:pt x="217391" y="118843"/>
                  <a:pt x="157990" y="174167"/>
                  <a:pt x="126995" y="197817"/>
                </a:cubicBezTo>
                <a:cubicBezTo>
                  <a:pt x="121730" y="201808"/>
                  <a:pt x="115277" y="203804"/>
                  <a:pt x="108695" y="203804"/>
                </a:cubicBezTo>
                <a:cubicBezTo>
                  <a:pt x="102114" y="203804"/>
                  <a:pt x="95618" y="201851"/>
                  <a:pt x="90396" y="197817"/>
                </a:cubicBezTo>
                <a:cubicBezTo>
                  <a:pt x="59400" y="174167"/>
                  <a:pt x="0" y="118843"/>
                  <a:pt x="0" y="71204"/>
                </a:cubicBezTo>
                <a:lnTo>
                  <a:pt x="0" y="70100"/>
                </a:lnTo>
                <a:cubicBezTo>
                  <a:pt x="0" y="38893"/>
                  <a:pt x="25306" y="13587"/>
                  <a:pt x="56513" y="13587"/>
                </a:cubicBezTo>
                <a:cubicBezTo>
                  <a:pt x="74643" y="13587"/>
                  <a:pt x="91712" y="22291"/>
                  <a:pt x="102327" y="36982"/>
                </a:cubicBez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48" name="Text 45"/>
          <p:cNvSpPr/>
          <p:nvPr/>
        </p:nvSpPr>
        <p:spPr>
          <a:xfrm>
            <a:off x="6674576" y="3767541"/>
            <a:ext cx="543477" cy="289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712" b="1" dirty="0">
                <a:solidFill>
                  <a:srgbClr val="F8F9FA"/>
                </a:solidFill>
                <a:latin typeface="阿里妈妈数黑体" pitchFamily="34" charset="0"/>
                <a:ea typeface="阿里妈妈数黑体" pitchFamily="34" charset="-122"/>
                <a:cs typeface="阿里妈妈数黑体" pitchFamily="34" charset="-120"/>
              </a:rPr>
              <a:t>致谢</a:t>
            </a:r>
            <a:endParaRPr lang="en-US" sz="1600" dirty="0"/>
          </a:p>
        </p:txBody>
      </p:sp>
      <p:sp>
        <p:nvSpPr>
          <p:cNvPr id="49" name="Shape 46"/>
          <p:cNvSpPr/>
          <p:nvPr/>
        </p:nvSpPr>
        <p:spPr>
          <a:xfrm>
            <a:off x="6311340" y="4166046"/>
            <a:ext cx="34273" cy="525361"/>
          </a:xfrm>
          <a:custGeom>
            <a:avLst/>
            <a:gdLst/>
            <a:ahLst/>
            <a:cxnLst/>
            <a:rect l="l" t="t" r="r" b="b"/>
            <a:pathLst>
              <a:path w="34273" h="525361">
                <a:moveTo>
                  <a:pt x="0" y="0"/>
                </a:moveTo>
                <a:lnTo>
                  <a:pt x="34273" y="0"/>
                </a:lnTo>
                <a:lnTo>
                  <a:pt x="34273" y="525361"/>
                </a:lnTo>
                <a:lnTo>
                  <a:pt x="0" y="525361"/>
                </a:lnTo>
                <a:lnTo>
                  <a:pt x="0" y="0"/>
                </a:ln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50" name="Text 47"/>
          <p:cNvSpPr/>
          <p:nvPr/>
        </p:nvSpPr>
        <p:spPr>
          <a:xfrm>
            <a:off x="6473373" y="4166046"/>
            <a:ext cx="5289842" cy="5253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84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感谢</a:t>
            </a:r>
            <a:r>
              <a:rPr lang="en-US" sz="1284" b="1" dirty="0">
                <a:solidFill>
                  <a:srgbClr val="FFC10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《软件工程》课程</a:t>
            </a:r>
            <a:r>
              <a:rPr lang="en-US" sz="1284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提供的宝贵实践机会，让我们将理论知识应用于真实项目。</a:t>
            </a:r>
            <a:endParaRPr lang="en-US" sz="1600" dirty="0"/>
          </a:p>
        </p:txBody>
      </p:sp>
      <p:sp>
        <p:nvSpPr>
          <p:cNvPr id="57" name="Shape 0">
            <a:extLst>
              <a:ext uri="{FF2B5EF4-FFF2-40B4-BE49-F238E27FC236}">
                <a16:creationId xmlns:a16="http://schemas.microsoft.com/office/drawing/2014/main" id="{5E411DE6-BE58-E4B0-8A51-A6D5B59CF864}"/>
              </a:ext>
            </a:extLst>
          </p:cNvPr>
          <p:cNvSpPr/>
          <p:nvPr/>
        </p:nvSpPr>
        <p:spPr>
          <a:xfrm>
            <a:off x="371707" y="446108"/>
            <a:ext cx="464634" cy="297366"/>
          </a:xfrm>
          <a:custGeom>
            <a:avLst/>
            <a:gdLst/>
            <a:ahLst/>
            <a:cxnLst/>
            <a:rect l="l" t="t" r="r" b="b"/>
            <a:pathLst>
              <a:path w="464634" h="297366">
                <a:moveTo>
                  <a:pt x="148683" y="0"/>
                </a:moveTo>
                <a:lnTo>
                  <a:pt x="315951" y="0"/>
                </a:lnTo>
                <a:cubicBezTo>
                  <a:pt x="398067" y="0"/>
                  <a:pt x="464634" y="66568"/>
                  <a:pt x="464634" y="148683"/>
                </a:cubicBezTo>
                <a:lnTo>
                  <a:pt x="464634" y="148683"/>
                </a:lnTo>
                <a:cubicBezTo>
                  <a:pt x="464634" y="230798"/>
                  <a:pt x="398067" y="297366"/>
                  <a:pt x="315951" y="297366"/>
                </a:cubicBezTo>
                <a:lnTo>
                  <a:pt x="148683" y="297366"/>
                </a:lnTo>
                <a:cubicBezTo>
                  <a:pt x="66568" y="297366"/>
                  <a:pt x="0" y="230798"/>
                  <a:pt x="0" y="148683"/>
                </a:cubicBezTo>
                <a:lnTo>
                  <a:pt x="0" y="148683"/>
                </a:lnTo>
                <a:cubicBezTo>
                  <a:pt x="0" y="66568"/>
                  <a:pt x="66568" y="0"/>
                  <a:pt x="148683" y="0"/>
                </a:cubicBezTo>
                <a:close/>
              </a:path>
            </a:pathLst>
          </a:custGeom>
          <a:solidFill>
            <a:srgbClr val="FFC107"/>
          </a:solidFill>
          <a:ln/>
        </p:spPr>
      </p:sp>
      <p:sp>
        <p:nvSpPr>
          <p:cNvPr id="58" name="Text 1">
            <a:extLst>
              <a:ext uri="{FF2B5EF4-FFF2-40B4-BE49-F238E27FC236}">
                <a16:creationId xmlns:a16="http://schemas.microsoft.com/office/drawing/2014/main" id="{11E1B80B-8202-A104-DA12-70F7E225AA3B}"/>
              </a:ext>
            </a:extLst>
          </p:cNvPr>
          <p:cNvSpPr/>
          <p:nvPr/>
        </p:nvSpPr>
        <p:spPr>
          <a:xfrm>
            <a:off x="371707" y="446108"/>
            <a:ext cx="538976" cy="297366"/>
          </a:xfrm>
          <a:prstGeom prst="rect">
            <a:avLst/>
          </a:prstGeom>
          <a:noFill/>
          <a:ln/>
        </p:spPr>
        <p:txBody>
          <a:bodyPr wrap="square" lIns="148683" tIns="37171" rIns="148683" bIns="37171" rtlCol="0" anchor="ctr"/>
          <a:lstStyle/>
          <a:p>
            <a:pPr>
              <a:lnSpc>
                <a:spcPct val="130000"/>
              </a:lnSpc>
            </a:pPr>
            <a:r>
              <a:rPr lang="en-US" sz="1171" b="1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07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 0" descr="https://kimi-img.moonshot.cn/pub/slides/slides_tmpl/image/25-10-09-16:35:25-d3jn7j8s8jdo4os5dj20.jpg">
            <a:extLst>
              <a:ext uri="{FF2B5EF4-FFF2-40B4-BE49-F238E27FC236}">
                <a16:creationId xmlns:a16="http://schemas.microsoft.com/office/drawing/2014/main" id="{D928D74D-FF7C-4532-137F-1D09F75FAA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635"/>
            <a:ext cx="12192000" cy="6858635"/>
          </a:xfrm>
          <a:prstGeom prst="rect">
            <a:avLst/>
          </a:prstGeom>
        </p:spPr>
      </p:pic>
      <p:sp>
        <p:nvSpPr>
          <p:cNvPr id="2" name="Shape 18">
            <a:extLst>
              <a:ext uri="{FF2B5EF4-FFF2-40B4-BE49-F238E27FC236}">
                <a16:creationId xmlns:a16="http://schemas.microsoft.com/office/drawing/2014/main" id="{FFDAFEF0-A7E7-F71D-E370-B50929FDB8FE}"/>
              </a:ext>
            </a:extLst>
          </p:cNvPr>
          <p:cNvSpPr/>
          <p:nvPr/>
        </p:nvSpPr>
        <p:spPr>
          <a:xfrm>
            <a:off x="995142" y="1986822"/>
            <a:ext cx="4539408" cy="3323964"/>
          </a:xfrm>
          <a:custGeom>
            <a:avLst/>
            <a:gdLst/>
            <a:ahLst/>
            <a:cxnLst/>
            <a:rect l="l" t="t" r="r" b="b"/>
            <a:pathLst>
              <a:path w="3707780" h="1281386">
                <a:moveTo>
                  <a:pt x="35161" y="0"/>
                </a:moveTo>
                <a:lnTo>
                  <a:pt x="3672619" y="0"/>
                </a:lnTo>
                <a:cubicBezTo>
                  <a:pt x="3692038" y="0"/>
                  <a:pt x="3707780" y="15742"/>
                  <a:pt x="3707780" y="35161"/>
                </a:cubicBezTo>
                <a:lnTo>
                  <a:pt x="3707780" y="1169879"/>
                </a:lnTo>
                <a:cubicBezTo>
                  <a:pt x="3707780" y="1231463"/>
                  <a:pt x="3657857" y="1281386"/>
                  <a:pt x="3596274" y="1281386"/>
                </a:cubicBezTo>
                <a:lnTo>
                  <a:pt x="111506" y="1281386"/>
                </a:lnTo>
                <a:cubicBezTo>
                  <a:pt x="49923" y="1281386"/>
                  <a:pt x="0" y="1231463"/>
                  <a:pt x="0" y="1169879"/>
                </a:cubicBezTo>
                <a:lnTo>
                  <a:pt x="0" y="35161"/>
                </a:lnTo>
                <a:cubicBezTo>
                  <a:pt x="0" y="15755"/>
                  <a:pt x="15755" y="0"/>
                  <a:pt x="35161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blurRad="139390" dist="92927" dir="5400000" algn="bl" rotWithShape="0">
              <a:srgbClr val="000000">
                <a:alpha val="10196"/>
              </a:srgbClr>
            </a:outerShdw>
          </a:effectLst>
        </p:spPr>
      </p:sp>
      <p:sp>
        <p:nvSpPr>
          <p:cNvPr id="3" name="Shape 19">
            <a:extLst>
              <a:ext uri="{FF2B5EF4-FFF2-40B4-BE49-F238E27FC236}">
                <a16:creationId xmlns:a16="http://schemas.microsoft.com/office/drawing/2014/main" id="{6F281BA7-52AF-12E4-5B15-6BD137306616}"/>
              </a:ext>
            </a:extLst>
          </p:cNvPr>
          <p:cNvSpPr/>
          <p:nvPr/>
        </p:nvSpPr>
        <p:spPr>
          <a:xfrm>
            <a:off x="995142" y="1986823"/>
            <a:ext cx="4539408" cy="53323"/>
          </a:xfrm>
          <a:custGeom>
            <a:avLst/>
            <a:gdLst/>
            <a:ahLst/>
            <a:cxnLst/>
            <a:rect l="l" t="t" r="r" b="b"/>
            <a:pathLst>
              <a:path w="3707780" h="35161">
                <a:moveTo>
                  <a:pt x="35161" y="0"/>
                </a:moveTo>
                <a:lnTo>
                  <a:pt x="3672619" y="0"/>
                </a:lnTo>
                <a:cubicBezTo>
                  <a:pt x="3692038" y="0"/>
                  <a:pt x="3707780" y="15742"/>
                  <a:pt x="3707780" y="35161"/>
                </a:cubicBezTo>
                <a:lnTo>
                  <a:pt x="3707780" y="35161"/>
                </a:lnTo>
                <a:lnTo>
                  <a:pt x="0" y="35161"/>
                </a:lnTo>
                <a:lnTo>
                  <a:pt x="0" y="35161"/>
                </a:lnTo>
                <a:cubicBezTo>
                  <a:pt x="0" y="15755"/>
                  <a:pt x="15755" y="0"/>
                  <a:pt x="35161" y="0"/>
                </a:cubicBez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4" name="Shape 34">
            <a:extLst>
              <a:ext uri="{FF2B5EF4-FFF2-40B4-BE49-F238E27FC236}">
                <a16:creationId xmlns:a16="http://schemas.microsoft.com/office/drawing/2014/main" id="{607450B4-A4C3-7773-812B-CDC58BF33941}"/>
              </a:ext>
            </a:extLst>
          </p:cNvPr>
          <p:cNvSpPr/>
          <p:nvPr/>
        </p:nvSpPr>
        <p:spPr>
          <a:xfrm>
            <a:off x="6367529" y="1986823"/>
            <a:ext cx="4991491" cy="3323963"/>
          </a:xfrm>
          <a:custGeom>
            <a:avLst/>
            <a:gdLst/>
            <a:ahLst/>
            <a:cxnLst/>
            <a:rect l="l" t="t" r="r" b="b"/>
            <a:pathLst>
              <a:path w="3707780" h="1281386">
                <a:moveTo>
                  <a:pt x="35161" y="0"/>
                </a:moveTo>
                <a:lnTo>
                  <a:pt x="3672619" y="0"/>
                </a:lnTo>
                <a:cubicBezTo>
                  <a:pt x="3692038" y="0"/>
                  <a:pt x="3707780" y="15742"/>
                  <a:pt x="3707780" y="35161"/>
                </a:cubicBezTo>
                <a:lnTo>
                  <a:pt x="3707780" y="1169879"/>
                </a:lnTo>
                <a:cubicBezTo>
                  <a:pt x="3707780" y="1231463"/>
                  <a:pt x="3657857" y="1281386"/>
                  <a:pt x="3596274" y="1281386"/>
                </a:cubicBezTo>
                <a:lnTo>
                  <a:pt x="111506" y="1281386"/>
                </a:lnTo>
                <a:cubicBezTo>
                  <a:pt x="49923" y="1281386"/>
                  <a:pt x="0" y="1231463"/>
                  <a:pt x="0" y="1169879"/>
                </a:cubicBezTo>
                <a:lnTo>
                  <a:pt x="0" y="35161"/>
                </a:lnTo>
                <a:cubicBezTo>
                  <a:pt x="0" y="15755"/>
                  <a:pt x="15755" y="0"/>
                  <a:pt x="35161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blurRad="139390" dist="92927" dir="5400000" algn="bl" rotWithShape="0">
              <a:srgbClr val="000000">
                <a:alpha val="10196"/>
              </a:srgbClr>
            </a:outerShdw>
          </a:effectLst>
        </p:spPr>
      </p:sp>
      <p:sp>
        <p:nvSpPr>
          <p:cNvPr id="5" name="Shape 35">
            <a:extLst>
              <a:ext uri="{FF2B5EF4-FFF2-40B4-BE49-F238E27FC236}">
                <a16:creationId xmlns:a16="http://schemas.microsoft.com/office/drawing/2014/main" id="{25981BEA-DE1F-5103-E5C1-891709E58AF1}"/>
              </a:ext>
            </a:extLst>
          </p:cNvPr>
          <p:cNvSpPr/>
          <p:nvPr/>
        </p:nvSpPr>
        <p:spPr>
          <a:xfrm>
            <a:off x="6367529" y="1986824"/>
            <a:ext cx="4991491" cy="52555"/>
          </a:xfrm>
          <a:custGeom>
            <a:avLst/>
            <a:gdLst/>
            <a:ahLst/>
            <a:cxnLst/>
            <a:rect l="l" t="t" r="r" b="b"/>
            <a:pathLst>
              <a:path w="3707780" h="35161">
                <a:moveTo>
                  <a:pt x="35161" y="0"/>
                </a:moveTo>
                <a:lnTo>
                  <a:pt x="3672619" y="0"/>
                </a:lnTo>
                <a:cubicBezTo>
                  <a:pt x="3692038" y="0"/>
                  <a:pt x="3707780" y="15742"/>
                  <a:pt x="3707780" y="35161"/>
                </a:cubicBezTo>
                <a:lnTo>
                  <a:pt x="3707780" y="35161"/>
                </a:lnTo>
                <a:lnTo>
                  <a:pt x="0" y="35161"/>
                </a:lnTo>
                <a:lnTo>
                  <a:pt x="0" y="35161"/>
                </a:lnTo>
                <a:cubicBezTo>
                  <a:pt x="0" y="15755"/>
                  <a:pt x="15755" y="0"/>
                  <a:pt x="35161" y="0"/>
                </a:cubicBezTo>
                <a:close/>
              </a:path>
            </a:pathLst>
          </a:custGeom>
          <a:solidFill>
            <a:srgbClr val="343A40"/>
          </a:solidFill>
          <a:ln/>
        </p:spPr>
      </p:sp>
      <p:sp>
        <p:nvSpPr>
          <p:cNvPr id="8" name="Text 2">
            <a:extLst>
              <a:ext uri="{FF2B5EF4-FFF2-40B4-BE49-F238E27FC236}">
                <a16:creationId xmlns:a16="http://schemas.microsoft.com/office/drawing/2014/main" id="{C4D47A8D-5B54-E356-DADE-C657EBE9284C}"/>
              </a:ext>
            </a:extLst>
          </p:cNvPr>
          <p:cNvSpPr/>
          <p:nvPr/>
        </p:nvSpPr>
        <p:spPr>
          <a:xfrm>
            <a:off x="4900350" y="797100"/>
            <a:ext cx="2391299" cy="4347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zh-CN" altLang="en-US" sz="3423" b="1" dirty="0">
                <a:solidFill>
                  <a:srgbClr val="343A40"/>
                </a:solidFill>
                <a:latin typeface="阿里妈妈数黑体" pitchFamily="34" charset="0"/>
                <a:ea typeface="阿里妈妈数黑体" pitchFamily="34" charset="-122"/>
                <a:cs typeface="阿里妈妈数黑体" pitchFamily="34" charset="-120"/>
              </a:rPr>
              <a:t>本阶段分工</a:t>
            </a:r>
            <a:endParaRPr lang="en-US" sz="1600" dirty="0"/>
          </a:p>
        </p:txBody>
      </p:sp>
      <p:sp>
        <p:nvSpPr>
          <p:cNvPr id="10" name="Text 11">
            <a:extLst>
              <a:ext uri="{FF2B5EF4-FFF2-40B4-BE49-F238E27FC236}">
                <a16:creationId xmlns:a16="http://schemas.microsoft.com/office/drawing/2014/main" id="{E8E13778-5369-936C-C341-907E7AD636B1}"/>
              </a:ext>
            </a:extLst>
          </p:cNvPr>
          <p:cNvSpPr/>
          <p:nvPr/>
        </p:nvSpPr>
        <p:spPr>
          <a:xfrm>
            <a:off x="2912615" y="2731790"/>
            <a:ext cx="1075505" cy="2468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388" b="1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黄飞扬</a:t>
            </a:r>
            <a:endParaRPr lang="en-US" sz="1600" dirty="0"/>
          </a:p>
        </p:txBody>
      </p:sp>
      <p:sp>
        <p:nvSpPr>
          <p:cNvPr id="11" name="Text 24">
            <a:extLst>
              <a:ext uri="{FF2B5EF4-FFF2-40B4-BE49-F238E27FC236}">
                <a16:creationId xmlns:a16="http://schemas.microsoft.com/office/drawing/2014/main" id="{14C819DC-030B-1A15-63F0-48750F933EDB}"/>
              </a:ext>
            </a:extLst>
          </p:cNvPr>
          <p:cNvSpPr/>
          <p:nvPr/>
        </p:nvSpPr>
        <p:spPr>
          <a:xfrm>
            <a:off x="8665605" y="2659295"/>
            <a:ext cx="1027285" cy="2468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388" b="1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谷强</a:t>
            </a:r>
            <a:endParaRPr lang="en-US" sz="1600" dirty="0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E7EA36FA-5FAF-D44D-ED8C-0A9D93360F93}"/>
              </a:ext>
            </a:extLst>
          </p:cNvPr>
          <p:cNvSpPr/>
          <p:nvPr/>
        </p:nvSpPr>
        <p:spPr>
          <a:xfrm>
            <a:off x="2983140" y="2236145"/>
            <a:ext cx="423150" cy="423150"/>
          </a:xfrm>
          <a:custGeom>
            <a:avLst/>
            <a:gdLst/>
            <a:ahLst/>
            <a:cxnLst/>
            <a:rect l="l" t="t" r="r" b="b"/>
            <a:pathLst>
              <a:path w="423150" h="423150">
                <a:moveTo>
                  <a:pt x="211575" y="0"/>
                </a:moveTo>
                <a:lnTo>
                  <a:pt x="211575" y="0"/>
                </a:lnTo>
                <a:cubicBezTo>
                  <a:pt x="328346" y="0"/>
                  <a:pt x="423150" y="94804"/>
                  <a:pt x="423150" y="211575"/>
                </a:cubicBezTo>
                <a:lnTo>
                  <a:pt x="423150" y="211575"/>
                </a:lnTo>
                <a:cubicBezTo>
                  <a:pt x="423150" y="328346"/>
                  <a:pt x="328346" y="423150"/>
                  <a:pt x="211575" y="423150"/>
                </a:cubicBezTo>
                <a:lnTo>
                  <a:pt x="211575" y="423150"/>
                </a:lnTo>
                <a:cubicBezTo>
                  <a:pt x="94804" y="423150"/>
                  <a:pt x="0" y="328346"/>
                  <a:pt x="0" y="211575"/>
                </a:cubicBezTo>
                <a:lnTo>
                  <a:pt x="0" y="211575"/>
                </a:lnTo>
                <a:cubicBezTo>
                  <a:pt x="0" y="94804"/>
                  <a:pt x="94804" y="0"/>
                  <a:pt x="211575" y="0"/>
                </a:cubicBezTo>
                <a:close/>
              </a:path>
            </a:pathLst>
          </a:custGeom>
          <a:solidFill>
            <a:srgbClr val="343A40"/>
          </a:solidFill>
          <a:ln/>
        </p:spPr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9F12CFC5-060B-7AE9-B2AA-886A270A75D6}"/>
              </a:ext>
            </a:extLst>
          </p:cNvPr>
          <p:cNvSpPr/>
          <p:nvPr/>
        </p:nvSpPr>
        <p:spPr>
          <a:xfrm>
            <a:off x="2939062" y="2236145"/>
            <a:ext cx="511306" cy="423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388" b="1" dirty="0">
                <a:solidFill>
                  <a:srgbClr val="FFC107"/>
                </a:solidFill>
                <a:latin typeface="阿里妈妈数黑体" pitchFamily="34" charset="0"/>
                <a:ea typeface="阿里妈妈数黑体" pitchFamily="34" charset="-122"/>
                <a:cs typeface="阿里妈妈数黑体" pitchFamily="34" charset="-120"/>
              </a:rPr>
              <a:t>黄</a:t>
            </a:r>
            <a:endParaRPr lang="en-US" sz="1600" dirty="0"/>
          </a:p>
        </p:txBody>
      </p:sp>
      <p:sp>
        <p:nvSpPr>
          <p:cNvPr id="14" name="Shape 22">
            <a:extLst>
              <a:ext uri="{FF2B5EF4-FFF2-40B4-BE49-F238E27FC236}">
                <a16:creationId xmlns:a16="http://schemas.microsoft.com/office/drawing/2014/main" id="{B5CB7E62-9C7A-F155-0F6A-C591CE1BADB9}"/>
              </a:ext>
            </a:extLst>
          </p:cNvPr>
          <p:cNvSpPr/>
          <p:nvPr/>
        </p:nvSpPr>
        <p:spPr>
          <a:xfrm>
            <a:off x="8617385" y="2178261"/>
            <a:ext cx="423150" cy="423150"/>
          </a:xfrm>
          <a:custGeom>
            <a:avLst/>
            <a:gdLst/>
            <a:ahLst/>
            <a:cxnLst/>
            <a:rect l="l" t="t" r="r" b="b"/>
            <a:pathLst>
              <a:path w="423150" h="423150">
                <a:moveTo>
                  <a:pt x="211575" y="0"/>
                </a:moveTo>
                <a:lnTo>
                  <a:pt x="211575" y="0"/>
                </a:lnTo>
                <a:cubicBezTo>
                  <a:pt x="328346" y="0"/>
                  <a:pt x="423150" y="94804"/>
                  <a:pt x="423150" y="211575"/>
                </a:cubicBezTo>
                <a:lnTo>
                  <a:pt x="423150" y="211575"/>
                </a:lnTo>
                <a:cubicBezTo>
                  <a:pt x="423150" y="328346"/>
                  <a:pt x="328346" y="423150"/>
                  <a:pt x="211575" y="423150"/>
                </a:cubicBezTo>
                <a:lnTo>
                  <a:pt x="211575" y="423150"/>
                </a:lnTo>
                <a:cubicBezTo>
                  <a:pt x="94804" y="423150"/>
                  <a:pt x="0" y="328346"/>
                  <a:pt x="0" y="211575"/>
                </a:cubicBezTo>
                <a:lnTo>
                  <a:pt x="0" y="211575"/>
                </a:lnTo>
                <a:cubicBezTo>
                  <a:pt x="0" y="94804"/>
                  <a:pt x="94804" y="0"/>
                  <a:pt x="211575" y="0"/>
                </a:cubicBez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15" name="Text 23">
            <a:extLst>
              <a:ext uri="{FF2B5EF4-FFF2-40B4-BE49-F238E27FC236}">
                <a16:creationId xmlns:a16="http://schemas.microsoft.com/office/drawing/2014/main" id="{EA248850-612D-0156-837E-A8EBADFA70A7}"/>
              </a:ext>
            </a:extLst>
          </p:cNvPr>
          <p:cNvSpPr/>
          <p:nvPr/>
        </p:nvSpPr>
        <p:spPr>
          <a:xfrm>
            <a:off x="8573307" y="2178261"/>
            <a:ext cx="511306" cy="423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388" b="1" dirty="0">
                <a:solidFill>
                  <a:srgbClr val="F8F9FA"/>
                </a:solidFill>
                <a:latin typeface="阿里妈妈数黑体" pitchFamily="34" charset="0"/>
                <a:ea typeface="阿里妈妈数黑体" pitchFamily="34" charset="-122"/>
                <a:cs typeface="阿里妈妈数黑体" pitchFamily="34" charset="-120"/>
              </a:rPr>
              <a:t>谷</a:t>
            </a:r>
            <a:endParaRPr lang="en-US" sz="1600" dirty="0"/>
          </a:p>
        </p:txBody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6E85041C-E6AC-55BC-B1FF-23C29713A07E}"/>
              </a:ext>
            </a:extLst>
          </p:cNvPr>
          <p:cNvSpPr/>
          <p:nvPr/>
        </p:nvSpPr>
        <p:spPr>
          <a:xfrm>
            <a:off x="2771595" y="3165751"/>
            <a:ext cx="70525" cy="70525"/>
          </a:xfrm>
          <a:custGeom>
            <a:avLst/>
            <a:gdLst/>
            <a:ahLst/>
            <a:cxnLst/>
            <a:rect l="l" t="t" r="r" b="b"/>
            <a:pathLst>
              <a:path w="70525" h="70525">
                <a:moveTo>
                  <a:pt x="35262" y="0"/>
                </a:moveTo>
                <a:lnTo>
                  <a:pt x="35262" y="0"/>
                </a:lnTo>
                <a:cubicBezTo>
                  <a:pt x="54724" y="0"/>
                  <a:pt x="70525" y="15801"/>
                  <a:pt x="70525" y="35262"/>
                </a:cubicBezTo>
                <a:lnTo>
                  <a:pt x="70525" y="35262"/>
                </a:lnTo>
                <a:cubicBezTo>
                  <a:pt x="70525" y="54724"/>
                  <a:pt x="54724" y="70525"/>
                  <a:pt x="35262" y="70525"/>
                </a:cubicBezTo>
                <a:lnTo>
                  <a:pt x="35262" y="70525"/>
                </a:lnTo>
                <a:cubicBezTo>
                  <a:pt x="15801" y="70525"/>
                  <a:pt x="0" y="54724"/>
                  <a:pt x="0" y="35262"/>
                </a:cubicBezTo>
                <a:lnTo>
                  <a:pt x="0" y="35262"/>
                </a:lnTo>
                <a:cubicBezTo>
                  <a:pt x="0" y="15801"/>
                  <a:pt x="15801" y="0"/>
                  <a:pt x="35262" y="0"/>
                </a:cubicBez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BBEC34AC-0B48-70B8-0A6F-CA61F8D0DF05}"/>
              </a:ext>
            </a:extLst>
          </p:cNvPr>
          <p:cNvSpPr/>
          <p:nvPr/>
        </p:nvSpPr>
        <p:spPr>
          <a:xfrm>
            <a:off x="2912615" y="3112887"/>
            <a:ext cx="802221" cy="176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zh-CN" altLang="en-US" sz="1000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甘特图更新</a:t>
            </a:r>
            <a:endParaRPr lang="en-US" dirty="0"/>
          </a:p>
        </p:txBody>
      </p:sp>
      <p:sp>
        <p:nvSpPr>
          <p:cNvPr id="18" name="Shape 13">
            <a:extLst>
              <a:ext uri="{FF2B5EF4-FFF2-40B4-BE49-F238E27FC236}">
                <a16:creationId xmlns:a16="http://schemas.microsoft.com/office/drawing/2014/main" id="{747C4DBF-A2AF-9E2A-2442-5C9ED97E56B4}"/>
              </a:ext>
            </a:extLst>
          </p:cNvPr>
          <p:cNvSpPr/>
          <p:nvPr/>
        </p:nvSpPr>
        <p:spPr>
          <a:xfrm>
            <a:off x="2771595" y="3476323"/>
            <a:ext cx="70525" cy="70525"/>
          </a:xfrm>
          <a:custGeom>
            <a:avLst/>
            <a:gdLst/>
            <a:ahLst/>
            <a:cxnLst/>
            <a:rect l="l" t="t" r="r" b="b"/>
            <a:pathLst>
              <a:path w="70525" h="70525">
                <a:moveTo>
                  <a:pt x="35262" y="0"/>
                </a:moveTo>
                <a:lnTo>
                  <a:pt x="35262" y="0"/>
                </a:lnTo>
                <a:cubicBezTo>
                  <a:pt x="54724" y="0"/>
                  <a:pt x="70525" y="15801"/>
                  <a:pt x="70525" y="35262"/>
                </a:cubicBezTo>
                <a:lnTo>
                  <a:pt x="70525" y="35262"/>
                </a:lnTo>
                <a:cubicBezTo>
                  <a:pt x="70525" y="54724"/>
                  <a:pt x="54724" y="70525"/>
                  <a:pt x="35262" y="70525"/>
                </a:cubicBezTo>
                <a:lnTo>
                  <a:pt x="35262" y="70525"/>
                </a:lnTo>
                <a:cubicBezTo>
                  <a:pt x="15801" y="70525"/>
                  <a:pt x="0" y="54724"/>
                  <a:pt x="0" y="35262"/>
                </a:cubicBezTo>
                <a:lnTo>
                  <a:pt x="0" y="35262"/>
                </a:lnTo>
                <a:cubicBezTo>
                  <a:pt x="0" y="15801"/>
                  <a:pt x="15801" y="0"/>
                  <a:pt x="35262" y="0"/>
                </a:cubicBez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19" name="Text 14">
            <a:extLst>
              <a:ext uri="{FF2B5EF4-FFF2-40B4-BE49-F238E27FC236}">
                <a16:creationId xmlns:a16="http://schemas.microsoft.com/office/drawing/2014/main" id="{26B90763-4ECE-EB6B-F0C0-F2E0E5FF4765}"/>
              </a:ext>
            </a:extLst>
          </p:cNvPr>
          <p:cNvSpPr/>
          <p:nvPr/>
        </p:nvSpPr>
        <p:spPr>
          <a:xfrm>
            <a:off x="2912615" y="3423459"/>
            <a:ext cx="802221" cy="176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zh-CN" altLang="en-US" sz="1000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补全会议纪要</a:t>
            </a:r>
            <a:endParaRPr lang="en-US" dirty="0"/>
          </a:p>
        </p:txBody>
      </p:sp>
      <p:sp>
        <p:nvSpPr>
          <p:cNvPr id="20" name="Shape 13">
            <a:extLst>
              <a:ext uri="{FF2B5EF4-FFF2-40B4-BE49-F238E27FC236}">
                <a16:creationId xmlns:a16="http://schemas.microsoft.com/office/drawing/2014/main" id="{71C3DF41-6648-EBE2-AF3A-87A70146B944}"/>
              </a:ext>
            </a:extLst>
          </p:cNvPr>
          <p:cNvSpPr/>
          <p:nvPr/>
        </p:nvSpPr>
        <p:spPr>
          <a:xfrm>
            <a:off x="2771595" y="3785073"/>
            <a:ext cx="70525" cy="70525"/>
          </a:xfrm>
          <a:custGeom>
            <a:avLst/>
            <a:gdLst/>
            <a:ahLst/>
            <a:cxnLst/>
            <a:rect l="l" t="t" r="r" b="b"/>
            <a:pathLst>
              <a:path w="70525" h="70525">
                <a:moveTo>
                  <a:pt x="35262" y="0"/>
                </a:moveTo>
                <a:lnTo>
                  <a:pt x="35262" y="0"/>
                </a:lnTo>
                <a:cubicBezTo>
                  <a:pt x="54724" y="0"/>
                  <a:pt x="70525" y="15801"/>
                  <a:pt x="70525" y="35262"/>
                </a:cubicBezTo>
                <a:lnTo>
                  <a:pt x="70525" y="35262"/>
                </a:lnTo>
                <a:cubicBezTo>
                  <a:pt x="70525" y="54724"/>
                  <a:pt x="54724" y="70525"/>
                  <a:pt x="35262" y="70525"/>
                </a:cubicBezTo>
                <a:lnTo>
                  <a:pt x="35262" y="70525"/>
                </a:lnTo>
                <a:cubicBezTo>
                  <a:pt x="15801" y="70525"/>
                  <a:pt x="0" y="54724"/>
                  <a:pt x="0" y="35262"/>
                </a:cubicBezTo>
                <a:lnTo>
                  <a:pt x="0" y="35262"/>
                </a:lnTo>
                <a:cubicBezTo>
                  <a:pt x="0" y="15801"/>
                  <a:pt x="15801" y="0"/>
                  <a:pt x="35262" y="0"/>
                </a:cubicBez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21" name="Text 14">
            <a:extLst>
              <a:ext uri="{FF2B5EF4-FFF2-40B4-BE49-F238E27FC236}">
                <a16:creationId xmlns:a16="http://schemas.microsoft.com/office/drawing/2014/main" id="{8D60808D-C35F-7578-0321-23B14E0C8703}"/>
              </a:ext>
            </a:extLst>
          </p:cNvPr>
          <p:cNvSpPr/>
          <p:nvPr/>
        </p:nvSpPr>
        <p:spPr>
          <a:xfrm>
            <a:off x="2912615" y="3732209"/>
            <a:ext cx="802221" cy="176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zh-CN" altLang="en-US" sz="1000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制作总结报告</a:t>
            </a:r>
            <a:endParaRPr lang="en-US" dirty="0"/>
          </a:p>
        </p:txBody>
      </p:sp>
      <p:sp>
        <p:nvSpPr>
          <p:cNvPr id="22" name="Shape 13">
            <a:extLst>
              <a:ext uri="{FF2B5EF4-FFF2-40B4-BE49-F238E27FC236}">
                <a16:creationId xmlns:a16="http://schemas.microsoft.com/office/drawing/2014/main" id="{82F3EE15-F8D3-9790-5780-41BC762C3DC8}"/>
              </a:ext>
            </a:extLst>
          </p:cNvPr>
          <p:cNvSpPr/>
          <p:nvPr/>
        </p:nvSpPr>
        <p:spPr>
          <a:xfrm>
            <a:off x="2771595" y="4089299"/>
            <a:ext cx="70525" cy="70525"/>
          </a:xfrm>
          <a:custGeom>
            <a:avLst/>
            <a:gdLst/>
            <a:ahLst/>
            <a:cxnLst/>
            <a:rect l="l" t="t" r="r" b="b"/>
            <a:pathLst>
              <a:path w="70525" h="70525">
                <a:moveTo>
                  <a:pt x="35262" y="0"/>
                </a:moveTo>
                <a:lnTo>
                  <a:pt x="35262" y="0"/>
                </a:lnTo>
                <a:cubicBezTo>
                  <a:pt x="54724" y="0"/>
                  <a:pt x="70525" y="15801"/>
                  <a:pt x="70525" y="35262"/>
                </a:cubicBezTo>
                <a:lnTo>
                  <a:pt x="70525" y="35262"/>
                </a:lnTo>
                <a:cubicBezTo>
                  <a:pt x="70525" y="54724"/>
                  <a:pt x="54724" y="70525"/>
                  <a:pt x="35262" y="70525"/>
                </a:cubicBezTo>
                <a:lnTo>
                  <a:pt x="35262" y="70525"/>
                </a:lnTo>
                <a:cubicBezTo>
                  <a:pt x="15801" y="70525"/>
                  <a:pt x="0" y="54724"/>
                  <a:pt x="0" y="35262"/>
                </a:cubicBezTo>
                <a:lnTo>
                  <a:pt x="0" y="35262"/>
                </a:lnTo>
                <a:cubicBezTo>
                  <a:pt x="0" y="15801"/>
                  <a:pt x="15801" y="0"/>
                  <a:pt x="35262" y="0"/>
                </a:cubicBez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23" name="Text 14">
            <a:extLst>
              <a:ext uri="{FF2B5EF4-FFF2-40B4-BE49-F238E27FC236}">
                <a16:creationId xmlns:a16="http://schemas.microsoft.com/office/drawing/2014/main" id="{B1E6EEB5-8E4C-40BD-BBA9-F3FC38FF9675}"/>
              </a:ext>
            </a:extLst>
          </p:cNvPr>
          <p:cNvSpPr/>
          <p:nvPr/>
        </p:nvSpPr>
        <p:spPr>
          <a:xfrm>
            <a:off x="2912615" y="4036435"/>
            <a:ext cx="802221" cy="176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zh-CN" altLang="en-US" sz="1000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审查总结</a:t>
            </a:r>
            <a:r>
              <a:rPr lang="en-US" altLang="zh-CN" sz="1000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ppt</a:t>
            </a:r>
            <a:endParaRPr lang="en-US" dirty="0"/>
          </a:p>
        </p:txBody>
      </p:sp>
      <p:sp>
        <p:nvSpPr>
          <p:cNvPr id="24" name="Shape 13">
            <a:extLst>
              <a:ext uri="{FF2B5EF4-FFF2-40B4-BE49-F238E27FC236}">
                <a16:creationId xmlns:a16="http://schemas.microsoft.com/office/drawing/2014/main" id="{F6DDB658-1FBD-4D25-7A58-B295CF47510E}"/>
              </a:ext>
            </a:extLst>
          </p:cNvPr>
          <p:cNvSpPr/>
          <p:nvPr/>
        </p:nvSpPr>
        <p:spPr>
          <a:xfrm>
            <a:off x="8391654" y="3170970"/>
            <a:ext cx="70525" cy="70525"/>
          </a:xfrm>
          <a:custGeom>
            <a:avLst/>
            <a:gdLst/>
            <a:ahLst/>
            <a:cxnLst/>
            <a:rect l="l" t="t" r="r" b="b"/>
            <a:pathLst>
              <a:path w="70525" h="70525">
                <a:moveTo>
                  <a:pt x="35262" y="0"/>
                </a:moveTo>
                <a:lnTo>
                  <a:pt x="35262" y="0"/>
                </a:lnTo>
                <a:cubicBezTo>
                  <a:pt x="54724" y="0"/>
                  <a:pt x="70525" y="15801"/>
                  <a:pt x="70525" y="35262"/>
                </a:cubicBezTo>
                <a:lnTo>
                  <a:pt x="70525" y="35262"/>
                </a:lnTo>
                <a:cubicBezTo>
                  <a:pt x="70525" y="54724"/>
                  <a:pt x="54724" y="70525"/>
                  <a:pt x="35262" y="70525"/>
                </a:cubicBezTo>
                <a:lnTo>
                  <a:pt x="35262" y="70525"/>
                </a:lnTo>
                <a:cubicBezTo>
                  <a:pt x="15801" y="70525"/>
                  <a:pt x="0" y="54724"/>
                  <a:pt x="0" y="35262"/>
                </a:cubicBezTo>
                <a:lnTo>
                  <a:pt x="0" y="35262"/>
                </a:lnTo>
                <a:cubicBezTo>
                  <a:pt x="0" y="15801"/>
                  <a:pt x="15801" y="0"/>
                  <a:pt x="35262" y="0"/>
                </a:cubicBez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25" name="Text 14">
            <a:extLst>
              <a:ext uri="{FF2B5EF4-FFF2-40B4-BE49-F238E27FC236}">
                <a16:creationId xmlns:a16="http://schemas.microsoft.com/office/drawing/2014/main" id="{B5742B66-92A2-7C47-631E-0D00A4E9245B}"/>
              </a:ext>
            </a:extLst>
          </p:cNvPr>
          <p:cNvSpPr/>
          <p:nvPr/>
        </p:nvSpPr>
        <p:spPr>
          <a:xfrm>
            <a:off x="8532674" y="3118106"/>
            <a:ext cx="802221" cy="176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zh-CN" altLang="en-US" sz="972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制作总结报告</a:t>
            </a:r>
            <a:endParaRPr lang="en-US" sz="1600" dirty="0"/>
          </a:p>
        </p:txBody>
      </p:sp>
      <p:sp>
        <p:nvSpPr>
          <p:cNvPr id="26" name="Shape 13">
            <a:extLst>
              <a:ext uri="{FF2B5EF4-FFF2-40B4-BE49-F238E27FC236}">
                <a16:creationId xmlns:a16="http://schemas.microsoft.com/office/drawing/2014/main" id="{7AD48C2A-47E5-5687-384B-C2950C9BF6B8}"/>
              </a:ext>
            </a:extLst>
          </p:cNvPr>
          <p:cNvSpPr/>
          <p:nvPr/>
        </p:nvSpPr>
        <p:spPr>
          <a:xfrm>
            <a:off x="8391653" y="3476323"/>
            <a:ext cx="70525" cy="70525"/>
          </a:xfrm>
          <a:custGeom>
            <a:avLst/>
            <a:gdLst/>
            <a:ahLst/>
            <a:cxnLst/>
            <a:rect l="l" t="t" r="r" b="b"/>
            <a:pathLst>
              <a:path w="70525" h="70525">
                <a:moveTo>
                  <a:pt x="35262" y="0"/>
                </a:moveTo>
                <a:lnTo>
                  <a:pt x="35262" y="0"/>
                </a:lnTo>
                <a:cubicBezTo>
                  <a:pt x="54724" y="0"/>
                  <a:pt x="70525" y="15801"/>
                  <a:pt x="70525" y="35262"/>
                </a:cubicBezTo>
                <a:lnTo>
                  <a:pt x="70525" y="35262"/>
                </a:lnTo>
                <a:cubicBezTo>
                  <a:pt x="70525" y="54724"/>
                  <a:pt x="54724" y="70525"/>
                  <a:pt x="35262" y="70525"/>
                </a:cubicBezTo>
                <a:lnTo>
                  <a:pt x="35262" y="70525"/>
                </a:lnTo>
                <a:cubicBezTo>
                  <a:pt x="15801" y="70525"/>
                  <a:pt x="0" y="54724"/>
                  <a:pt x="0" y="35262"/>
                </a:cubicBezTo>
                <a:lnTo>
                  <a:pt x="0" y="35262"/>
                </a:lnTo>
                <a:cubicBezTo>
                  <a:pt x="0" y="15801"/>
                  <a:pt x="15801" y="0"/>
                  <a:pt x="35262" y="0"/>
                </a:cubicBez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27" name="Text 14">
            <a:extLst>
              <a:ext uri="{FF2B5EF4-FFF2-40B4-BE49-F238E27FC236}">
                <a16:creationId xmlns:a16="http://schemas.microsoft.com/office/drawing/2014/main" id="{D44F90DE-61EB-29DE-42C5-9E9B7141C438}"/>
              </a:ext>
            </a:extLst>
          </p:cNvPr>
          <p:cNvSpPr/>
          <p:nvPr/>
        </p:nvSpPr>
        <p:spPr>
          <a:xfrm>
            <a:off x="8532673" y="3423459"/>
            <a:ext cx="802221" cy="176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zh-CN" altLang="en-US" sz="972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制作总结</a:t>
            </a:r>
            <a:r>
              <a:rPr lang="en-US" altLang="zh-CN" sz="972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ppt</a:t>
            </a:r>
            <a:endParaRPr lang="en-US" sz="1600" dirty="0"/>
          </a:p>
        </p:txBody>
      </p:sp>
      <p:sp>
        <p:nvSpPr>
          <p:cNvPr id="28" name="Shape 13">
            <a:extLst>
              <a:ext uri="{FF2B5EF4-FFF2-40B4-BE49-F238E27FC236}">
                <a16:creationId xmlns:a16="http://schemas.microsoft.com/office/drawing/2014/main" id="{535A67B0-DF2F-5592-9939-E612E731068A}"/>
              </a:ext>
            </a:extLst>
          </p:cNvPr>
          <p:cNvSpPr/>
          <p:nvPr/>
        </p:nvSpPr>
        <p:spPr>
          <a:xfrm>
            <a:off x="8391654" y="3781676"/>
            <a:ext cx="70525" cy="70525"/>
          </a:xfrm>
          <a:custGeom>
            <a:avLst/>
            <a:gdLst/>
            <a:ahLst/>
            <a:cxnLst/>
            <a:rect l="l" t="t" r="r" b="b"/>
            <a:pathLst>
              <a:path w="70525" h="70525">
                <a:moveTo>
                  <a:pt x="35262" y="0"/>
                </a:moveTo>
                <a:lnTo>
                  <a:pt x="35262" y="0"/>
                </a:lnTo>
                <a:cubicBezTo>
                  <a:pt x="54724" y="0"/>
                  <a:pt x="70525" y="15801"/>
                  <a:pt x="70525" y="35262"/>
                </a:cubicBezTo>
                <a:lnTo>
                  <a:pt x="70525" y="35262"/>
                </a:lnTo>
                <a:cubicBezTo>
                  <a:pt x="70525" y="54724"/>
                  <a:pt x="54724" y="70525"/>
                  <a:pt x="35262" y="70525"/>
                </a:cubicBezTo>
                <a:lnTo>
                  <a:pt x="35262" y="70525"/>
                </a:lnTo>
                <a:cubicBezTo>
                  <a:pt x="15801" y="70525"/>
                  <a:pt x="0" y="54724"/>
                  <a:pt x="0" y="35262"/>
                </a:cubicBezTo>
                <a:lnTo>
                  <a:pt x="0" y="35262"/>
                </a:lnTo>
                <a:cubicBezTo>
                  <a:pt x="0" y="15801"/>
                  <a:pt x="15801" y="0"/>
                  <a:pt x="35262" y="0"/>
                </a:cubicBez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29" name="Text 14">
            <a:extLst>
              <a:ext uri="{FF2B5EF4-FFF2-40B4-BE49-F238E27FC236}">
                <a16:creationId xmlns:a16="http://schemas.microsoft.com/office/drawing/2014/main" id="{A521EC20-01E1-644F-9B70-46D2D1FECF29}"/>
              </a:ext>
            </a:extLst>
          </p:cNvPr>
          <p:cNvSpPr/>
          <p:nvPr/>
        </p:nvSpPr>
        <p:spPr>
          <a:xfrm>
            <a:off x="8532674" y="3728812"/>
            <a:ext cx="802221" cy="176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zh-CN" altLang="en-US" sz="972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更新项目计划</a:t>
            </a:r>
            <a:endParaRPr lang="en-US" sz="1600" dirty="0"/>
          </a:p>
        </p:txBody>
      </p:sp>
      <p:sp>
        <p:nvSpPr>
          <p:cNvPr id="30" name="Shape 13">
            <a:extLst>
              <a:ext uri="{FF2B5EF4-FFF2-40B4-BE49-F238E27FC236}">
                <a16:creationId xmlns:a16="http://schemas.microsoft.com/office/drawing/2014/main" id="{B3EB8495-2BB4-A593-5B6A-B8E3C9F70572}"/>
              </a:ext>
            </a:extLst>
          </p:cNvPr>
          <p:cNvSpPr/>
          <p:nvPr/>
        </p:nvSpPr>
        <p:spPr>
          <a:xfrm>
            <a:off x="8391654" y="4084571"/>
            <a:ext cx="70525" cy="70525"/>
          </a:xfrm>
          <a:custGeom>
            <a:avLst/>
            <a:gdLst/>
            <a:ahLst/>
            <a:cxnLst/>
            <a:rect l="l" t="t" r="r" b="b"/>
            <a:pathLst>
              <a:path w="70525" h="70525">
                <a:moveTo>
                  <a:pt x="35262" y="0"/>
                </a:moveTo>
                <a:lnTo>
                  <a:pt x="35262" y="0"/>
                </a:lnTo>
                <a:cubicBezTo>
                  <a:pt x="54724" y="0"/>
                  <a:pt x="70525" y="15801"/>
                  <a:pt x="70525" y="35262"/>
                </a:cubicBezTo>
                <a:lnTo>
                  <a:pt x="70525" y="35262"/>
                </a:lnTo>
                <a:cubicBezTo>
                  <a:pt x="70525" y="54724"/>
                  <a:pt x="54724" y="70525"/>
                  <a:pt x="35262" y="70525"/>
                </a:cubicBezTo>
                <a:lnTo>
                  <a:pt x="35262" y="70525"/>
                </a:lnTo>
                <a:cubicBezTo>
                  <a:pt x="15801" y="70525"/>
                  <a:pt x="0" y="54724"/>
                  <a:pt x="0" y="35262"/>
                </a:cubicBezTo>
                <a:lnTo>
                  <a:pt x="0" y="35262"/>
                </a:lnTo>
                <a:cubicBezTo>
                  <a:pt x="0" y="15801"/>
                  <a:pt x="15801" y="0"/>
                  <a:pt x="35262" y="0"/>
                </a:cubicBez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31" name="Text 14">
            <a:extLst>
              <a:ext uri="{FF2B5EF4-FFF2-40B4-BE49-F238E27FC236}">
                <a16:creationId xmlns:a16="http://schemas.microsoft.com/office/drawing/2014/main" id="{E7D1858C-5413-102F-5780-18C749CB68C4}"/>
              </a:ext>
            </a:extLst>
          </p:cNvPr>
          <p:cNvSpPr/>
          <p:nvPr/>
        </p:nvSpPr>
        <p:spPr>
          <a:xfrm>
            <a:off x="8532674" y="4031707"/>
            <a:ext cx="802221" cy="176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zh-CN" altLang="en-US" sz="972" dirty="0">
                <a:solidFill>
                  <a:srgbClr val="21252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补全代码审查</a:t>
            </a:r>
            <a:endParaRPr lang="en-US" sz="1600" dirty="0"/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B370BB6E-1529-AE59-4137-771BB1B75909}"/>
              </a:ext>
            </a:extLst>
          </p:cNvPr>
          <p:cNvSpPr txBox="1"/>
          <p:nvPr/>
        </p:nvSpPr>
        <p:spPr>
          <a:xfrm>
            <a:off x="2670532" y="4656779"/>
            <a:ext cx="9428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评分</a:t>
            </a:r>
            <a:r>
              <a:rPr lang="en-US" altLang="zh-CN" dirty="0"/>
              <a:t>:89</a:t>
            </a:r>
            <a:endParaRPr lang="zh-CN" altLang="en-US" dirty="0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DAD5680E-4397-0C95-9515-97501D9918DF}"/>
              </a:ext>
            </a:extLst>
          </p:cNvPr>
          <p:cNvSpPr txBox="1"/>
          <p:nvPr/>
        </p:nvSpPr>
        <p:spPr>
          <a:xfrm>
            <a:off x="8330830" y="4625575"/>
            <a:ext cx="9428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评分</a:t>
            </a:r>
            <a:r>
              <a:rPr lang="en-US" altLang="zh-CN" dirty="0"/>
              <a:t>:90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85399758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C49A07-F775-C2C1-B81F-7275F3F1B6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 0" descr="https://kimi-img.moonshot.cn/pub/slides/slides_tmpl/image/25-10-09-16:35:25-d3jn7j8s8jdo4os5dj20.jpg">
            <a:extLst>
              <a:ext uri="{FF2B5EF4-FFF2-40B4-BE49-F238E27FC236}">
                <a16:creationId xmlns:a16="http://schemas.microsoft.com/office/drawing/2014/main" id="{0D1BB519-D2D3-167C-BE58-D92B97B84D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635"/>
            <a:ext cx="12192000" cy="6858635"/>
          </a:xfrm>
          <a:prstGeom prst="rect">
            <a:avLst/>
          </a:prstGeom>
        </p:spPr>
      </p:pic>
      <p:sp>
        <p:nvSpPr>
          <p:cNvPr id="2" name="Shape 18">
            <a:extLst>
              <a:ext uri="{FF2B5EF4-FFF2-40B4-BE49-F238E27FC236}">
                <a16:creationId xmlns:a16="http://schemas.microsoft.com/office/drawing/2014/main" id="{F2D66E12-78C0-5641-8D66-301F45A8E4A4}"/>
              </a:ext>
            </a:extLst>
          </p:cNvPr>
          <p:cNvSpPr/>
          <p:nvPr/>
        </p:nvSpPr>
        <p:spPr>
          <a:xfrm>
            <a:off x="229406" y="901031"/>
            <a:ext cx="5742770" cy="5788242"/>
          </a:xfrm>
          <a:custGeom>
            <a:avLst/>
            <a:gdLst/>
            <a:ahLst/>
            <a:cxnLst/>
            <a:rect l="l" t="t" r="r" b="b"/>
            <a:pathLst>
              <a:path w="3707780" h="1281386">
                <a:moveTo>
                  <a:pt x="35161" y="0"/>
                </a:moveTo>
                <a:lnTo>
                  <a:pt x="3672619" y="0"/>
                </a:lnTo>
                <a:cubicBezTo>
                  <a:pt x="3692038" y="0"/>
                  <a:pt x="3707780" y="15742"/>
                  <a:pt x="3707780" y="35161"/>
                </a:cubicBezTo>
                <a:lnTo>
                  <a:pt x="3707780" y="1169879"/>
                </a:lnTo>
                <a:cubicBezTo>
                  <a:pt x="3707780" y="1231463"/>
                  <a:pt x="3657857" y="1281386"/>
                  <a:pt x="3596274" y="1281386"/>
                </a:cubicBezTo>
                <a:lnTo>
                  <a:pt x="111506" y="1281386"/>
                </a:lnTo>
                <a:cubicBezTo>
                  <a:pt x="49923" y="1281386"/>
                  <a:pt x="0" y="1231463"/>
                  <a:pt x="0" y="1169879"/>
                </a:cubicBezTo>
                <a:lnTo>
                  <a:pt x="0" y="35161"/>
                </a:lnTo>
                <a:cubicBezTo>
                  <a:pt x="0" y="15755"/>
                  <a:pt x="15755" y="0"/>
                  <a:pt x="35161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blurRad="139390" dist="92927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zh-CN" altLang="en-US" dirty="0"/>
          </a:p>
        </p:txBody>
      </p:sp>
      <p:sp>
        <p:nvSpPr>
          <p:cNvPr id="3" name="Shape 19">
            <a:extLst>
              <a:ext uri="{FF2B5EF4-FFF2-40B4-BE49-F238E27FC236}">
                <a16:creationId xmlns:a16="http://schemas.microsoft.com/office/drawing/2014/main" id="{ACCF7F92-3351-AD1D-1107-527C748AE801}"/>
              </a:ext>
            </a:extLst>
          </p:cNvPr>
          <p:cNvSpPr/>
          <p:nvPr/>
        </p:nvSpPr>
        <p:spPr>
          <a:xfrm>
            <a:off x="229406" y="901032"/>
            <a:ext cx="5742770" cy="92855"/>
          </a:xfrm>
          <a:custGeom>
            <a:avLst/>
            <a:gdLst/>
            <a:ahLst/>
            <a:cxnLst/>
            <a:rect l="l" t="t" r="r" b="b"/>
            <a:pathLst>
              <a:path w="3707780" h="35161">
                <a:moveTo>
                  <a:pt x="35161" y="0"/>
                </a:moveTo>
                <a:lnTo>
                  <a:pt x="3672619" y="0"/>
                </a:lnTo>
                <a:cubicBezTo>
                  <a:pt x="3692038" y="0"/>
                  <a:pt x="3707780" y="15742"/>
                  <a:pt x="3707780" y="35161"/>
                </a:cubicBezTo>
                <a:lnTo>
                  <a:pt x="3707780" y="35161"/>
                </a:lnTo>
                <a:lnTo>
                  <a:pt x="0" y="35161"/>
                </a:lnTo>
                <a:lnTo>
                  <a:pt x="0" y="35161"/>
                </a:lnTo>
                <a:cubicBezTo>
                  <a:pt x="0" y="15755"/>
                  <a:pt x="15755" y="0"/>
                  <a:pt x="35161" y="0"/>
                </a:cubicBez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4" name="Shape 34">
            <a:extLst>
              <a:ext uri="{FF2B5EF4-FFF2-40B4-BE49-F238E27FC236}">
                <a16:creationId xmlns:a16="http://schemas.microsoft.com/office/drawing/2014/main" id="{8CE95D6A-E734-2685-92C3-F72E7DFAB249}"/>
              </a:ext>
            </a:extLst>
          </p:cNvPr>
          <p:cNvSpPr/>
          <p:nvPr/>
        </p:nvSpPr>
        <p:spPr>
          <a:xfrm>
            <a:off x="6219825" y="901031"/>
            <a:ext cx="5742770" cy="5788242"/>
          </a:xfrm>
          <a:custGeom>
            <a:avLst/>
            <a:gdLst/>
            <a:ahLst/>
            <a:cxnLst/>
            <a:rect l="l" t="t" r="r" b="b"/>
            <a:pathLst>
              <a:path w="3707780" h="1281386">
                <a:moveTo>
                  <a:pt x="35161" y="0"/>
                </a:moveTo>
                <a:lnTo>
                  <a:pt x="3672619" y="0"/>
                </a:lnTo>
                <a:cubicBezTo>
                  <a:pt x="3692038" y="0"/>
                  <a:pt x="3707780" y="15742"/>
                  <a:pt x="3707780" y="35161"/>
                </a:cubicBezTo>
                <a:lnTo>
                  <a:pt x="3707780" y="1169879"/>
                </a:lnTo>
                <a:cubicBezTo>
                  <a:pt x="3707780" y="1231463"/>
                  <a:pt x="3657857" y="1281386"/>
                  <a:pt x="3596274" y="1281386"/>
                </a:cubicBezTo>
                <a:lnTo>
                  <a:pt x="111506" y="1281386"/>
                </a:lnTo>
                <a:cubicBezTo>
                  <a:pt x="49923" y="1281386"/>
                  <a:pt x="0" y="1231463"/>
                  <a:pt x="0" y="1169879"/>
                </a:cubicBezTo>
                <a:lnTo>
                  <a:pt x="0" y="35161"/>
                </a:lnTo>
                <a:cubicBezTo>
                  <a:pt x="0" y="15755"/>
                  <a:pt x="15755" y="0"/>
                  <a:pt x="35161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blurRad="139390" dist="92927" dir="5400000" algn="bl" rotWithShape="0">
              <a:srgbClr val="000000">
                <a:alpha val="10196"/>
              </a:srgbClr>
            </a:outerShdw>
          </a:effectLst>
        </p:spPr>
      </p:sp>
      <p:sp>
        <p:nvSpPr>
          <p:cNvPr id="5" name="Shape 35">
            <a:extLst>
              <a:ext uri="{FF2B5EF4-FFF2-40B4-BE49-F238E27FC236}">
                <a16:creationId xmlns:a16="http://schemas.microsoft.com/office/drawing/2014/main" id="{86A043EB-151A-1556-6C99-5725C8850A86}"/>
              </a:ext>
            </a:extLst>
          </p:cNvPr>
          <p:cNvSpPr/>
          <p:nvPr/>
        </p:nvSpPr>
        <p:spPr>
          <a:xfrm>
            <a:off x="6219825" y="901032"/>
            <a:ext cx="5742770" cy="91518"/>
          </a:xfrm>
          <a:custGeom>
            <a:avLst/>
            <a:gdLst/>
            <a:ahLst/>
            <a:cxnLst/>
            <a:rect l="l" t="t" r="r" b="b"/>
            <a:pathLst>
              <a:path w="3707780" h="35161">
                <a:moveTo>
                  <a:pt x="35161" y="0"/>
                </a:moveTo>
                <a:lnTo>
                  <a:pt x="3672619" y="0"/>
                </a:lnTo>
                <a:cubicBezTo>
                  <a:pt x="3692038" y="0"/>
                  <a:pt x="3707780" y="15742"/>
                  <a:pt x="3707780" y="35161"/>
                </a:cubicBezTo>
                <a:lnTo>
                  <a:pt x="3707780" y="35161"/>
                </a:lnTo>
                <a:lnTo>
                  <a:pt x="0" y="35161"/>
                </a:lnTo>
                <a:lnTo>
                  <a:pt x="0" y="35161"/>
                </a:lnTo>
                <a:cubicBezTo>
                  <a:pt x="0" y="15755"/>
                  <a:pt x="15755" y="0"/>
                  <a:pt x="35161" y="0"/>
                </a:cubicBezTo>
                <a:close/>
              </a:path>
            </a:pathLst>
          </a:custGeom>
          <a:solidFill>
            <a:srgbClr val="343A40"/>
          </a:solidFill>
          <a:ln/>
        </p:spPr>
      </p:sp>
      <p:sp>
        <p:nvSpPr>
          <p:cNvPr id="8" name="Text 2">
            <a:extLst>
              <a:ext uri="{FF2B5EF4-FFF2-40B4-BE49-F238E27FC236}">
                <a16:creationId xmlns:a16="http://schemas.microsoft.com/office/drawing/2014/main" id="{43026CE1-C8C6-608D-31A8-4C758A07DCC8}"/>
              </a:ext>
            </a:extLst>
          </p:cNvPr>
          <p:cNvSpPr/>
          <p:nvPr/>
        </p:nvSpPr>
        <p:spPr>
          <a:xfrm>
            <a:off x="182939" y="168727"/>
            <a:ext cx="3430480" cy="4347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zh-CN" altLang="en-US" sz="3423" b="1" dirty="0">
                <a:solidFill>
                  <a:srgbClr val="343A40"/>
                </a:solidFill>
                <a:latin typeface="阿里妈妈数黑体" pitchFamily="34" charset="0"/>
                <a:ea typeface="阿里妈妈数黑体" pitchFamily="34" charset="-122"/>
                <a:cs typeface="阿里妈妈数黑体" pitchFamily="34" charset="-120"/>
              </a:rPr>
              <a:t>项目总体评价</a:t>
            </a:r>
            <a:endParaRPr lang="en-US" sz="1600" dirty="0"/>
          </a:p>
        </p:txBody>
      </p:sp>
      <p:sp>
        <p:nvSpPr>
          <p:cNvPr id="6" name="Shape 9">
            <a:extLst>
              <a:ext uri="{FF2B5EF4-FFF2-40B4-BE49-F238E27FC236}">
                <a16:creationId xmlns:a16="http://schemas.microsoft.com/office/drawing/2014/main" id="{5D0B5374-7343-09D5-24C4-E8028898B2A0}"/>
              </a:ext>
            </a:extLst>
          </p:cNvPr>
          <p:cNvSpPr/>
          <p:nvPr/>
        </p:nvSpPr>
        <p:spPr>
          <a:xfrm>
            <a:off x="271095" y="1092411"/>
            <a:ext cx="423150" cy="423150"/>
          </a:xfrm>
          <a:custGeom>
            <a:avLst/>
            <a:gdLst/>
            <a:ahLst/>
            <a:cxnLst/>
            <a:rect l="l" t="t" r="r" b="b"/>
            <a:pathLst>
              <a:path w="423150" h="423150">
                <a:moveTo>
                  <a:pt x="211575" y="0"/>
                </a:moveTo>
                <a:lnTo>
                  <a:pt x="211575" y="0"/>
                </a:lnTo>
                <a:cubicBezTo>
                  <a:pt x="328346" y="0"/>
                  <a:pt x="423150" y="94804"/>
                  <a:pt x="423150" y="211575"/>
                </a:cubicBezTo>
                <a:lnTo>
                  <a:pt x="423150" y="211575"/>
                </a:lnTo>
                <a:cubicBezTo>
                  <a:pt x="423150" y="328346"/>
                  <a:pt x="328346" y="423150"/>
                  <a:pt x="211575" y="423150"/>
                </a:cubicBezTo>
                <a:lnTo>
                  <a:pt x="211575" y="423150"/>
                </a:lnTo>
                <a:cubicBezTo>
                  <a:pt x="94804" y="423150"/>
                  <a:pt x="0" y="328346"/>
                  <a:pt x="0" y="211575"/>
                </a:cubicBezTo>
                <a:lnTo>
                  <a:pt x="0" y="211575"/>
                </a:lnTo>
                <a:cubicBezTo>
                  <a:pt x="0" y="94804"/>
                  <a:pt x="94804" y="0"/>
                  <a:pt x="211575" y="0"/>
                </a:cubicBezTo>
                <a:close/>
              </a:path>
            </a:pathLst>
          </a:custGeom>
          <a:solidFill>
            <a:srgbClr val="343A40"/>
          </a:solidFill>
          <a:ln/>
        </p:spPr>
      </p:sp>
      <p:sp>
        <p:nvSpPr>
          <p:cNvPr id="7" name="Text 10">
            <a:extLst>
              <a:ext uri="{FF2B5EF4-FFF2-40B4-BE49-F238E27FC236}">
                <a16:creationId xmlns:a16="http://schemas.microsoft.com/office/drawing/2014/main" id="{3C6A2EBC-2A42-CC27-E480-4E1D309C960F}"/>
              </a:ext>
            </a:extLst>
          </p:cNvPr>
          <p:cNvSpPr/>
          <p:nvPr/>
        </p:nvSpPr>
        <p:spPr>
          <a:xfrm>
            <a:off x="227017" y="1092411"/>
            <a:ext cx="511306" cy="423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388" b="1" dirty="0">
                <a:solidFill>
                  <a:srgbClr val="FFC107"/>
                </a:solidFill>
                <a:latin typeface="阿里妈妈数黑体" pitchFamily="34" charset="0"/>
                <a:ea typeface="阿里妈妈数黑体" pitchFamily="34" charset="-122"/>
                <a:cs typeface="阿里妈妈数黑体" pitchFamily="34" charset="-120"/>
              </a:rPr>
              <a:t>黄</a:t>
            </a:r>
            <a:endParaRPr lang="en-US" sz="1600" dirty="0"/>
          </a:p>
        </p:txBody>
      </p:sp>
      <p:sp>
        <p:nvSpPr>
          <p:cNvPr id="34" name="Text 24">
            <a:extLst>
              <a:ext uri="{FF2B5EF4-FFF2-40B4-BE49-F238E27FC236}">
                <a16:creationId xmlns:a16="http://schemas.microsoft.com/office/drawing/2014/main" id="{B73171CF-61AF-674A-6EEC-C13578DAF508}"/>
              </a:ext>
            </a:extLst>
          </p:cNvPr>
          <p:cNvSpPr/>
          <p:nvPr/>
        </p:nvSpPr>
        <p:spPr>
          <a:xfrm>
            <a:off x="6312123" y="1573445"/>
            <a:ext cx="1588865" cy="1553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388" b="1" dirty="0" err="1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谷强</a:t>
            </a:r>
            <a:r>
              <a:rPr lang="zh-CN" altLang="en-US" sz="1388" b="1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，评分：</a:t>
            </a:r>
            <a:r>
              <a:rPr lang="en-US" altLang="zh-CN" sz="1388" b="1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95</a:t>
            </a:r>
            <a:endParaRPr lang="en-US" sz="1600" dirty="0"/>
          </a:p>
        </p:txBody>
      </p:sp>
      <p:sp>
        <p:nvSpPr>
          <p:cNvPr id="35" name="Shape 22">
            <a:extLst>
              <a:ext uri="{FF2B5EF4-FFF2-40B4-BE49-F238E27FC236}">
                <a16:creationId xmlns:a16="http://schemas.microsoft.com/office/drawing/2014/main" id="{AA8CE236-C433-BB2A-7539-B358C1AADFA0}"/>
              </a:ext>
            </a:extLst>
          </p:cNvPr>
          <p:cNvSpPr/>
          <p:nvPr/>
        </p:nvSpPr>
        <p:spPr>
          <a:xfrm>
            <a:off x="6263903" y="1092411"/>
            <a:ext cx="423150" cy="423150"/>
          </a:xfrm>
          <a:custGeom>
            <a:avLst/>
            <a:gdLst/>
            <a:ahLst/>
            <a:cxnLst/>
            <a:rect l="l" t="t" r="r" b="b"/>
            <a:pathLst>
              <a:path w="423150" h="423150">
                <a:moveTo>
                  <a:pt x="211575" y="0"/>
                </a:moveTo>
                <a:lnTo>
                  <a:pt x="211575" y="0"/>
                </a:lnTo>
                <a:cubicBezTo>
                  <a:pt x="328346" y="0"/>
                  <a:pt x="423150" y="94804"/>
                  <a:pt x="423150" y="211575"/>
                </a:cubicBezTo>
                <a:lnTo>
                  <a:pt x="423150" y="211575"/>
                </a:lnTo>
                <a:cubicBezTo>
                  <a:pt x="423150" y="328346"/>
                  <a:pt x="328346" y="423150"/>
                  <a:pt x="211575" y="423150"/>
                </a:cubicBezTo>
                <a:lnTo>
                  <a:pt x="211575" y="423150"/>
                </a:lnTo>
                <a:cubicBezTo>
                  <a:pt x="94804" y="423150"/>
                  <a:pt x="0" y="328346"/>
                  <a:pt x="0" y="211575"/>
                </a:cubicBezTo>
                <a:lnTo>
                  <a:pt x="0" y="211575"/>
                </a:lnTo>
                <a:cubicBezTo>
                  <a:pt x="0" y="94804"/>
                  <a:pt x="94804" y="0"/>
                  <a:pt x="211575" y="0"/>
                </a:cubicBezTo>
                <a:close/>
              </a:path>
            </a:pathLst>
          </a:custGeom>
          <a:solidFill>
            <a:srgbClr val="0056B3"/>
          </a:solidFill>
          <a:ln/>
        </p:spPr>
      </p:sp>
      <p:sp>
        <p:nvSpPr>
          <p:cNvPr id="36" name="Text 23">
            <a:extLst>
              <a:ext uri="{FF2B5EF4-FFF2-40B4-BE49-F238E27FC236}">
                <a16:creationId xmlns:a16="http://schemas.microsoft.com/office/drawing/2014/main" id="{E5A97ACC-58C5-D9A8-E53D-06EAA852D9FF}"/>
              </a:ext>
            </a:extLst>
          </p:cNvPr>
          <p:cNvSpPr/>
          <p:nvPr/>
        </p:nvSpPr>
        <p:spPr>
          <a:xfrm>
            <a:off x="6219825" y="1092411"/>
            <a:ext cx="511306" cy="423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388" b="1" dirty="0">
                <a:solidFill>
                  <a:srgbClr val="F8F9FA"/>
                </a:solidFill>
                <a:latin typeface="阿里妈妈数黑体" pitchFamily="34" charset="0"/>
                <a:ea typeface="阿里妈妈数黑体" pitchFamily="34" charset="-122"/>
                <a:cs typeface="阿里妈妈数黑体" pitchFamily="34" charset="-120"/>
              </a:rPr>
              <a:t>谷</a:t>
            </a:r>
            <a:endParaRPr lang="en-US" sz="1600" dirty="0"/>
          </a:p>
        </p:txBody>
      </p:sp>
      <p:sp>
        <p:nvSpPr>
          <p:cNvPr id="37" name="Text 24">
            <a:extLst>
              <a:ext uri="{FF2B5EF4-FFF2-40B4-BE49-F238E27FC236}">
                <a16:creationId xmlns:a16="http://schemas.microsoft.com/office/drawing/2014/main" id="{3E96F6CF-B449-7200-CB59-31EAE2802253}"/>
              </a:ext>
            </a:extLst>
          </p:cNvPr>
          <p:cNvSpPr/>
          <p:nvPr/>
        </p:nvSpPr>
        <p:spPr>
          <a:xfrm>
            <a:off x="271095" y="1602426"/>
            <a:ext cx="1586280" cy="2468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zh-CN" altLang="en-US" sz="1388" b="1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黄飞扬，评分：</a:t>
            </a:r>
            <a:r>
              <a:rPr lang="en-US" altLang="zh-CN" sz="1388" b="1" dirty="0">
                <a:solidFill>
                  <a:srgbClr val="343A4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98</a:t>
            </a:r>
            <a:endParaRPr lang="en-US" sz="1600" dirty="0"/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ECAF1C46-9B08-2B62-1812-1E7D8B255214}"/>
              </a:ext>
            </a:extLst>
          </p:cNvPr>
          <p:cNvSpPr txBox="1"/>
          <p:nvPr/>
        </p:nvSpPr>
        <p:spPr>
          <a:xfrm>
            <a:off x="271095" y="2156414"/>
            <a:ext cx="555820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0" i="0" dirty="0">
                <a:effectLst/>
                <a:latin typeface="Roboto" panose="02000000000000000000" pitchFamily="2" charset="0"/>
              </a:rPr>
              <a:t>不仅高质量完成了后端的开发任务，还积极承担了技术指导和质量保障的责任。他展现了扎实的技术功底、强烈的责任心和优秀的团队协作精神。他的工作直接推动了项目的成功，是团队的技术核心和关键贡献者。</a:t>
            </a:r>
            <a:endParaRPr lang="zh-CN" altLang="en-US" dirty="0"/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5F221EBC-49CE-6FB8-3098-F10A0113F5C9}"/>
              </a:ext>
            </a:extLst>
          </p:cNvPr>
          <p:cNvSpPr txBox="1"/>
          <p:nvPr/>
        </p:nvSpPr>
        <p:spPr>
          <a:xfrm>
            <a:off x="271095" y="3575924"/>
            <a:ext cx="5558205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zh-CN" altLang="en-US" b="1" i="0" dirty="0">
                <a:effectLst/>
                <a:latin typeface="Roboto" panose="02000000000000000000" pitchFamily="2" charset="0"/>
              </a:rPr>
              <a:t>技术引领</a:t>
            </a:r>
            <a:r>
              <a:rPr lang="zh-CN" altLang="en-US" b="0" i="0" dirty="0">
                <a:effectLst/>
                <a:latin typeface="Roboto" panose="02000000000000000000" pitchFamily="2" charset="0"/>
              </a:rPr>
              <a:t>：率先完成 </a:t>
            </a:r>
            <a:r>
              <a:rPr lang="en-US" altLang="zh-CN" b="0" i="0" dirty="0" err="1">
                <a:effectLst/>
                <a:latin typeface="Roboto" panose="02000000000000000000" pitchFamily="2" charset="0"/>
              </a:rPr>
              <a:t>FastAPI</a:t>
            </a:r>
            <a:r>
              <a:rPr lang="en-US" altLang="zh-CN" b="0" i="0" dirty="0">
                <a:effectLst/>
                <a:latin typeface="Roboto" panose="02000000000000000000" pitchFamily="2" charset="0"/>
              </a:rPr>
              <a:t> </a:t>
            </a:r>
            <a:r>
              <a:rPr lang="zh-CN" altLang="en-US" b="0" i="0" dirty="0">
                <a:effectLst/>
                <a:latin typeface="Roboto" panose="02000000000000000000" pitchFamily="2" charset="0"/>
              </a:rPr>
              <a:t>后端框架搭建，设计高效的数据库模型和 </a:t>
            </a:r>
            <a:r>
              <a:rPr lang="en-US" altLang="zh-CN" b="0" i="0" dirty="0">
                <a:effectLst/>
                <a:latin typeface="Roboto" panose="02000000000000000000" pitchFamily="2" charset="0"/>
              </a:rPr>
              <a:t>API </a:t>
            </a:r>
            <a:r>
              <a:rPr lang="zh-CN" altLang="en-US" b="0" i="0" dirty="0">
                <a:effectLst/>
                <a:latin typeface="Roboto" panose="02000000000000000000" pitchFamily="2" charset="0"/>
              </a:rPr>
              <a:t>接口，引入先进的错误处理机制和日志系统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zh-CN" altLang="en-US" b="1" i="0" dirty="0">
                <a:effectLst/>
                <a:latin typeface="Roboto" panose="02000000000000000000" pitchFamily="2" charset="0"/>
              </a:rPr>
              <a:t>跨职能支持</a:t>
            </a:r>
            <a:r>
              <a:rPr lang="zh-CN" altLang="en-US" b="0" i="0" dirty="0">
                <a:effectLst/>
                <a:latin typeface="Roboto" panose="02000000000000000000" pitchFamily="2" charset="0"/>
              </a:rPr>
              <a:t>：在前端开发过程中提供及时技术指导，协助解决接口对接难题，主动参与前端代码审查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zh-CN" altLang="en-US" b="1" i="0" dirty="0">
                <a:effectLst/>
                <a:latin typeface="Roboto" panose="02000000000000000000" pitchFamily="2" charset="0"/>
              </a:rPr>
              <a:t>质量保障</a:t>
            </a:r>
            <a:r>
              <a:rPr lang="zh-CN" altLang="en-US" b="0" i="0" dirty="0">
                <a:effectLst/>
                <a:latin typeface="Roboto" panose="02000000000000000000" pitchFamily="2" charset="0"/>
              </a:rPr>
              <a:t>：主导后端测试工作，建立完整的自动化测试框架，严格把控代码质量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zh-CN" altLang="en-US" b="1" i="0" dirty="0">
                <a:effectLst/>
                <a:latin typeface="Roboto" panose="02000000000000000000" pitchFamily="2" charset="0"/>
              </a:rPr>
              <a:t>项目推动</a:t>
            </a:r>
            <a:r>
              <a:rPr lang="zh-CN" altLang="en-US" b="0" i="0" dirty="0">
                <a:effectLst/>
                <a:latin typeface="Roboto" panose="02000000000000000000" pitchFamily="2" charset="0"/>
              </a:rPr>
              <a:t>：主动识别项目风险并提出解决方案，推动技术决策，在关键节点加班确保进度</a:t>
            </a:r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5A2AE14A-3154-C416-5368-9F1E1546A016}"/>
              </a:ext>
            </a:extLst>
          </p:cNvPr>
          <p:cNvSpPr txBox="1"/>
          <p:nvPr/>
        </p:nvSpPr>
        <p:spPr>
          <a:xfrm>
            <a:off x="6421067" y="1879415"/>
            <a:ext cx="5340285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0" i="0" dirty="0">
                <a:effectLst/>
                <a:latin typeface="Roboto" panose="02000000000000000000" pitchFamily="2" charset="0"/>
              </a:rPr>
              <a:t>谷强同学在本项目中完成了前端开发的核心任务，实现了良好的用户界面和交互体验。他在技术学习和问题解决方面表现积极，能够按时完成任务。在与后端的协作中也展现出了良好的团队合作精神。建议在未来项目中进一步提升技术深度和项目主动性。</a:t>
            </a:r>
            <a:endParaRPr lang="zh-CN" altLang="en-US" dirty="0"/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78FBBCE1-35D2-ED04-6A84-BD59D978356D}"/>
              </a:ext>
            </a:extLst>
          </p:cNvPr>
          <p:cNvSpPr txBox="1"/>
          <p:nvPr/>
        </p:nvSpPr>
        <p:spPr>
          <a:xfrm>
            <a:off x="6362700" y="3991422"/>
            <a:ext cx="5558205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zh-CN" altLang="en-US" b="1" i="0" dirty="0">
                <a:effectLst/>
                <a:latin typeface="Roboto" panose="02000000000000000000" pitchFamily="2" charset="0"/>
              </a:rPr>
              <a:t>功能实现</a:t>
            </a:r>
            <a:r>
              <a:rPr lang="zh-CN" altLang="en-US" b="0" i="0" dirty="0">
                <a:effectLst/>
                <a:latin typeface="Roboto" panose="02000000000000000000" pitchFamily="2" charset="0"/>
              </a:rPr>
              <a:t>：完成了所有前端页面的开发，实现了复杂的对话设置菜单功能，优化了用户交互体验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zh-CN" altLang="en-US" b="1" i="0" dirty="0">
                <a:effectLst/>
                <a:latin typeface="Roboto" panose="02000000000000000000" pitchFamily="2" charset="0"/>
              </a:rPr>
              <a:t>界面优化</a:t>
            </a:r>
            <a:r>
              <a:rPr lang="zh-CN" altLang="en-US" b="0" i="0" dirty="0">
                <a:effectLst/>
                <a:latin typeface="Roboto" panose="02000000000000000000" pitchFamily="2" charset="0"/>
              </a:rPr>
              <a:t>：设计并实现直观易用的用户界面，优化页面加载性能和响应速度，确保良好的移动端适配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zh-CN" altLang="en-US" b="1" i="0" dirty="0">
                <a:effectLst/>
                <a:latin typeface="Roboto" panose="02000000000000000000" pitchFamily="2" charset="0"/>
              </a:rPr>
              <a:t>团队协作</a:t>
            </a:r>
            <a:r>
              <a:rPr lang="zh-CN" altLang="en-US" b="0" i="0" dirty="0">
                <a:effectLst/>
                <a:latin typeface="Roboto" panose="02000000000000000000" pitchFamily="2" charset="0"/>
              </a:rPr>
              <a:t>：积极与后端沟通接口需求和问题，及时反馈开发进度和问题，配合完成集成测试和问题修复</a:t>
            </a:r>
          </a:p>
        </p:txBody>
      </p:sp>
    </p:spTree>
    <p:extLst>
      <p:ext uri="{BB962C8B-B14F-4D97-AF65-F5344CB8AC3E}">
        <p14:creationId xmlns:p14="http://schemas.microsoft.com/office/powerpoint/2010/main" val="86088751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slides_tmpl/image/25-10-09-16:35:25-d3jn7j8s8jdo4os5dj20.jpg">
            <a:extLst>
              <a:ext uri="{FF2B5EF4-FFF2-40B4-BE49-F238E27FC236}">
                <a16:creationId xmlns:a16="http://schemas.microsoft.com/office/drawing/2014/main" id="{AC76A54E-8F63-1081-DE74-FD187F655D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635"/>
            <a:ext cx="12192000" cy="6858635"/>
          </a:xfrm>
          <a:prstGeom prst="rect">
            <a:avLst/>
          </a:prstGeom>
        </p:spPr>
      </p:pic>
      <p:sp>
        <p:nvSpPr>
          <p:cNvPr id="4" name="Text 2">
            <a:extLst>
              <a:ext uri="{FF2B5EF4-FFF2-40B4-BE49-F238E27FC236}">
                <a16:creationId xmlns:a16="http://schemas.microsoft.com/office/drawing/2014/main" id="{6BD87E86-95A4-03B6-77CA-2D66F5F12029}"/>
              </a:ext>
            </a:extLst>
          </p:cNvPr>
          <p:cNvSpPr/>
          <p:nvPr/>
        </p:nvSpPr>
        <p:spPr>
          <a:xfrm>
            <a:off x="4900350" y="797100"/>
            <a:ext cx="2391299" cy="4347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zh-CN" altLang="en-US" sz="3423" b="1" dirty="0">
                <a:solidFill>
                  <a:srgbClr val="343A40"/>
                </a:solidFill>
                <a:latin typeface="阿里妈妈数黑体" pitchFamily="34" charset="0"/>
                <a:ea typeface="阿里妈妈数黑体" pitchFamily="34" charset="-122"/>
                <a:cs typeface="阿里妈妈数黑体" pitchFamily="34" charset="-120"/>
              </a:rPr>
              <a:t>参考文献</a:t>
            </a:r>
            <a:endParaRPr lang="en-US" sz="1600" dirty="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D12E19E-299F-1DC6-0397-5D5AD96D1624}"/>
              </a:ext>
            </a:extLst>
          </p:cNvPr>
          <p:cNvSpPr txBox="1"/>
          <p:nvPr/>
        </p:nvSpPr>
        <p:spPr>
          <a:xfrm>
            <a:off x="994636" y="1568439"/>
            <a:ext cx="60949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[1]GB/T 8567-2006, </a:t>
            </a:r>
            <a:r>
              <a:rPr lang="zh-CN" altLang="en-US" dirty="0"/>
              <a:t>计算机软件文档编制规范</a:t>
            </a:r>
            <a:r>
              <a:rPr lang="en-US" altLang="zh-CN" dirty="0"/>
              <a:t>[S].</a:t>
            </a:r>
            <a:endParaRPr lang="zh-CN" altLang="en-US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7BD21343-0F80-289B-E5F6-AE5424937768}"/>
              </a:ext>
            </a:extLst>
          </p:cNvPr>
          <p:cNvSpPr txBox="1"/>
          <p:nvPr/>
        </p:nvSpPr>
        <p:spPr>
          <a:xfrm>
            <a:off x="994636" y="1881404"/>
            <a:ext cx="6617068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[2]React Documentation. </a:t>
            </a:r>
            <a:r>
              <a:rPr lang="en-US" altLang="zh-CN" dirty="0">
                <a:hlinkClick r:id="rId3"/>
              </a:rPr>
              <a:t>https://react.dev/</a:t>
            </a:r>
            <a:endParaRPr lang="en-US" altLang="zh-CN" dirty="0"/>
          </a:p>
          <a:p>
            <a:r>
              <a:rPr lang="en-US" altLang="zh-CN" dirty="0"/>
              <a:t>[3]TypeScript Documentation. </a:t>
            </a:r>
            <a:r>
              <a:rPr lang="en-US" altLang="zh-CN" dirty="0">
                <a:hlinkClick r:id="rId4"/>
              </a:rPr>
              <a:t>https://www.typescriptlang.org/docs/</a:t>
            </a:r>
            <a:endParaRPr lang="en-US" altLang="zh-CN" dirty="0"/>
          </a:p>
          <a:p>
            <a:r>
              <a:rPr lang="en-US" altLang="zh-CN" dirty="0"/>
              <a:t>[4]</a:t>
            </a:r>
            <a:r>
              <a:rPr lang="en-US" altLang="zh-CN" dirty="0" err="1"/>
              <a:t>FastAPI</a:t>
            </a:r>
            <a:r>
              <a:rPr lang="en-US" altLang="zh-CN" dirty="0"/>
              <a:t> Documentation. </a:t>
            </a:r>
            <a:r>
              <a:rPr lang="en-US" altLang="zh-CN" dirty="0">
                <a:hlinkClick r:id="rId5"/>
              </a:rPr>
              <a:t>https://fastapi.tiangolo.com/</a:t>
            </a:r>
            <a:endParaRPr lang="en-US" altLang="zh-CN" dirty="0"/>
          </a:p>
          <a:p>
            <a:r>
              <a:rPr lang="en-US" altLang="zh-CN" dirty="0"/>
              <a:t>[5]Ant Design Documentation. </a:t>
            </a:r>
            <a:r>
              <a:rPr lang="en-US" altLang="zh-CN" dirty="0">
                <a:hlinkClick r:id="rId6"/>
              </a:rPr>
              <a:t>https://ant.design/</a:t>
            </a:r>
            <a:endParaRPr lang="en-US" altLang="zh-CN" dirty="0"/>
          </a:p>
          <a:p>
            <a:r>
              <a:rPr lang="en-US" altLang="zh-CN" dirty="0"/>
              <a:t>[6]MySQL Documentation. </a:t>
            </a:r>
            <a:r>
              <a:rPr lang="en-US" altLang="zh-CN" dirty="0">
                <a:hlinkClick r:id="rId7"/>
              </a:rPr>
              <a:t>https://dev.mysql.com/doc/</a:t>
            </a:r>
            <a:endParaRPr lang="en-US" altLang="zh-CN" dirty="0"/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122858309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 Theme">
  <a:themeElements>
    <a:clrScheme name="Custom">
      <a:dk1>
        <a:srgbClr val="000000"/>
      </a:dk1>
      <a:lt1>
        <a:srgbClr val="FFFFFF"/>
      </a:lt1>
      <a:dk2>
        <a:srgbClr val="333333"/>
      </a:dk2>
      <a:lt2>
        <a:srgbClr val="EEEEEE"/>
      </a:lt2>
      <a:accent1>
        <a:srgbClr val="8DAAC2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161</TotalTime>
  <Words>1175</Words>
  <Application>Microsoft Office PowerPoint</Application>
  <PresentationFormat>宽屏</PresentationFormat>
  <Paragraphs>318</Paragraphs>
  <Slides>15</Slides>
  <Notes>12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20" baseType="lpstr">
      <vt:lpstr>MiSans</vt:lpstr>
      <vt:lpstr>阿里妈妈数黑体</vt:lpstr>
      <vt:lpstr>Arial</vt:lpstr>
      <vt:lpstr>Roboto</vt:lpstr>
      <vt:lpstr>Custom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Moonshot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多端大模型统一平台 - 软件工程课程项目总结报告</dc:title>
  <dc:subject>多端大模型统一平台 - 软件工程课程项目总结报告</dc:subject>
  <dc:creator>Kimi</dc:creator>
  <cp:lastModifiedBy>Feiji Huang</cp:lastModifiedBy>
  <cp:revision>29</cp:revision>
  <dcterms:created xsi:type="dcterms:W3CDTF">2026-01-04T09:44:03Z</dcterms:created>
  <dcterms:modified xsi:type="dcterms:W3CDTF">2026-01-07T08:26:25Z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{"Label":"多端大模型统一平台 - 软件工程课程项目总结报告","ContentProducer":"001191110108MACG2KBH8F10000","ProduceID":"19b8849c-d332-82f3-8000-00009d90b2b0","ReservedCode1":"","ContentPropagator":"001191110108MACG2KBH8F20000","PropagateID":"19b8849c-d332-82f3-8000-00009d90b2b0","ReservedCode2":""}</vt:lpwstr>
  </property>
</Properties>
</file>